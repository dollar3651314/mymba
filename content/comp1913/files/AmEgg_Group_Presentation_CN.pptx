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9.xml" ContentType="application/vnd.openxmlformats-officedocument.presentationml.notesSlide+xml"/>
  <Override PartName="/ppt/charts/chart9.xml" ContentType="application/vnd.openxmlformats-officedocument.drawingml.chart+xml"/>
  <Override PartName="/ppt/notesSlides/notesSlide10.xml" ContentType="application/vnd.openxmlformats-officedocument.presentationml.notesSlide+xml"/>
  <Override PartName="/ppt/charts/chart10.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1.xml" ContentType="application/vnd.openxmlformats-officedocument.drawingml.chart+xml"/>
  <Override PartName="/ppt/notesSlides/notesSlide14.xml" ContentType="application/vnd.openxmlformats-officedocument.presentationml.notesSlide+xml"/>
  <Override PartName="/ppt/charts/chart12.xml" ContentType="application/vnd.openxmlformats-officedocument.drawingml.chart+xml"/>
  <Override PartName="/ppt/notesSlides/notesSlide15.xml" ContentType="application/vnd.openxmlformats-officedocument.presentationml.notesSlide+xml"/>
  <Override PartName="/ppt/charts/chart1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F608EEF5-E553-6FBB-BD22-4B1D83952C13}">
          <p14:sldIdLst>
            <p14:sldId id="256"/>
            <p14:sldId id="257"/>
            <p14:sldId id="258"/>
            <p14:sldId id="259"/>
          </p14:sldIdLst>
        </p14:section>
        <p14:section name="Market &amp; domestic levers" id="{23BB095C-2EBC-188C-F595-2F447B755F49}">
          <p14:sldIdLst>
            <p14:sldId id="260"/>
            <p14:sldId id="261"/>
            <p14:sldId id="262"/>
          </p14:sldIdLst>
        </p14:section>
        <p14:section name="Screening targets" id="{2311384E-E0FF-4CAB-977B-325870CD3C92}">
          <p14:sldIdLst>
            <p14:sldId id="263"/>
            <p14:sldId id="264"/>
            <p14:sldId id="265"/>
            <p14:sldId id="266"/>
          </p14:sldIdLst>
        </p14:section>
        <p14:section name="Recommendation" id="{A3111CBE-35DB-994C-849A-A44F7A147AA3}">
          <p14:sldIdLst>
            <p14:sldId id="267"/>
            <p14:sldId id="268"/>
            <p14:sldId id="269"/>
            <p14:sldId id="270"/>
          </p14:sldIdLst>
        </p14:section>
        <p14:section name="Objectives &amp; risks" id="{037B8822-E8AA-F4D0-EDAF-0A60C10796A1}">
          <p14:sldIdLst>
            <p14:sldId id="271"/>
            <p14:sldId id="272"/>
            <p14:sldId id="273"/>
            <p14:sldId id="274"/>
          </p14:sldIdLst>
        </p14:section>
        <p14:section name="Conclusion" id="{36EBCF9D-980C-FF02-21ED-2341914E63CE}">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目标 </a:t>
            </a:r>
            <a:r>
              <a:rPr lang="en-US" altLang="zh-SG" sz="1400" b="0" i="0" u="none" strike="noStrike">
                <a:solidFill>
                  <a:srgbClr val="23412F"/>
                </a:solidFill>
                <a:latin typeface="+mj-lt"/>
              </a:rPr>
              <a:t>1</a:t>
            </a:r>
            <a:r>
              <a:rPr lang="zh-SG" altLang="en-US" sz="1400" b="0" i="0" u="none" strike="noStrike">
                <a:solidFill>
                  <a:srgbClr val="23412F"/>
                </a:solidFill>
                <a:latin typeface="+mj-lt"/>
              </a:rPr>
              <a:t>：收入（百万美元）</a:t>
            </a:r>
          </a:p>
        </c:rich>
      </c:tx>
      <c:overlay val="0"/>
    </c:title>
    <c:autoTitleDeleted val="0"/>
    <c:plotArea>
      <c:layout/>
      <c:barChart>
        <c:barDir val="col"/>
        <c:grouping val="clustered"/>
        <c:varyColors val="0"/>
        <c:ser>
          <c:idx val="0"/>
          <c:order val="0"/>
          <c:tx>
            <c:strRef>
              <c:f>Sheet1!$B$1</c:f>
              <c:strCache>
                <c:ptCount val="1"/>
                <c:pt idx="0">
                  <c:v>Revenue ($M)</c:v>
                </c:pt>
              </c:strCache>
            </c:strRef>
          </c:tx>
          <c:spPr>
            <a:solidFill>
              <a:srgbClr val="6B7F73"/>
            </a:solidFill>
            <a:effectLst/>
          </c:spPr>
          <c:invertIfNegative val="0"/>
          <c:dPt>
            <c:idx val="0"/>
            <c:invertIfNegative val="0"/>
            <c:bubble3D val="0"/>
            <c:extLst>
              <c:ext xmlns:c16="http://schemas.microsoft.com/office/drawing/2014/chart" uri="{C3380CC4-5D6E-409C-BE32-E72D297353CC}">
                <c16:uniqueId val="{00000001-7E61-984E-865D-6D3ACFA421D9}"/>
              </c:ext>
            </c:extLst>
          </c:dPt>
          <c:dPt>
            <c:idx val="1"/>
            <c:invertIfNegative val="0"/>
            <c:bubble3D val="0"/>
            <c:spPr>
              <a:solidFill>
                <a:srgbClr val="E8A317"/>
              </a:solidFill>
              <a:effectLst/>
            </c:spPr>
            <c:extLst>
              <c:ext xmlns:c16="http://schemas.microsoft.com/office/drawing/2014/chart" uri="{C3380CC4-5D6E-409C-BE32-E72D297353CC}">
                <c16:uniqueId val="{00000003-7E61-984E-865D-6D3ACFA421D9}"/>
              </c:ext>
            </c:extLst>
          </c:dPt>
          <c:dPt>
            <c:idx val="2"/>
            <c:invertIfNegative val="0"/>
            <c:bubble3D val="0"/>
            <c:spPr>
              <a:solidFill>
                <a:srgbClr val="3E7C59"/>
              </a:solidFill>
              <a:effectLst/>
            </c:spPr>
            <c:extLst>
              <c:ext xmlns:c16="http://schemas.microsoft.com/office/drawing/2014/chart" uri="{C3380CC4-5D6E-409C-BE32-E72D297353CC}">
                <c16:uniqueId val="{00000005-7E61-984E-865D-6D3ACFA421D9}"/>
              </c:ext>
            </c:extLst>
          </c:dPt>
          <c:dLbls>
            <c:numFmt formatCode="#,##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当前</c:v>
                </c:pt>
                <c:pt idx="1">
                  <c:v>第 3 年目标</c:v>
                </c:pt>
                <c:pt idx="2">
                  <c:v>我们的方案（第 3 年）</c:v>
                </c:pt>
              </c:strCache>
            </c:strRef>
          </c:cat>
          <c:val>
            <c:numRef>
              <c:f>Sheet1!$B$2:$B$4</c:f>
              <c:numCache>
                <c:formatCode>General</c:formatCode>
                <c:ptCount val="3"/>
                <c:pt idx="0">
                  <c:v>2337</c:v>
                </c:pt>
                <c:pt idx="1">
                  <c:v>3500</c:v>
                </c:pt>
                <c:pt idx="2">
                  <c:v>4128.5</c:v>
                </c:pt>
              </c:numCache>
            </c:numRef>
          </c:val>
          <c:extLst>
            <c:ext xmlns:c16="http://schemas.microsoft.com/office/drawing/2014/chart" uri="{C3380CC4-5D6E-409C-BE32-E72D297353CC}">
              <c16:uniqueId val="{00000006-7E61-984E-865D-6D3ACFA421D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5000"/>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目标 </a:t>
            </a:r>
            <a:r>
              <a:rPr lang="en-US" altLang="zh-SG" sz="1400" b="0" i="0" u="none" strike="noStrike">
                <a:solidFill>
                  <a:srgbClr val="23412F"/>
                </a:solidFill>
                <a:latin typeface="+mj-lt"/>
              </a:rPr>
              <a:t>2</a:t>
            </a:r>
            <a:r>
              <a:rPr lang="zh-SG" altLang="en-US" sz="1400" b="0" i="0" u="none" strike="noStrike">
                <a:solidFill>
                  <a:srgbClr val="23412F"/>
                </a:solidFill>
                <a:latin typeface="+mj-lt"/>
              </a:rPr>
              <a:t>：美国特色产品占比</a:t>
            </a:r>
          </a:p>
        </c:rich>
      </c:tx>
      <c:overlay val="0"/>
    </c:title>
    <c:autoTitleDeleted val="0"/>
    <c:plotArea>
      <c:layout/>
      <c:barChart>
        <c:barDir val="col"/>
        <c:grouping val="clustered"/>
        <c:varyColors val="0"/>
        <c:ser>
          <c:idx val="0"/>
          <c:order val="0"/>
          <c:tx>
            <c:strRef>
              <c:f>Sheet1!$B$1</c:f>
              <c:strCache>
                <c:ptCount val="1"/>
                <c:pt idx="0">
                  <c:v>Specialty share</c:v>
                </c:pt>
              </c:strCache>
            </c:strRef>
          </c:tx>
          <c:spPr>
            <a:solidFill>
              <a:srgbClr val="6B7F73"/>
            </a:solidFill>
            <a:effectLst/>
          </c:spPr>
          <c:invertIfNegative val="0"/>
          <c:dPt>
            <c:idx val="0"/>
            <c:invertIfNegative val="0"/>
            <c:bubble3D val="0"/>
            <c:extLst>
              <c:ext xmlns:c16="http://schemas.microsoft.com/office/drawing/2014/chart" uri="{C3380CC4-5D6E-409C-BE32-E72D297353CC}">
                <c16:uniqueId val="{00000001-24D5-6A4D-903F-BAA7EAE67C62}"/>
              </c:ext>
            </c:extLst>
          </c:dPt>
          <c:dPt>
            <c:idx val="1"/>
            <c:invertIfNegative val="0"/>
            <c:bubble3D val="0"/>
            <c:spPr>
              <a:solidFill>
                <a:srgbClr val="E8A317"/>
              </a:solidFill>
              <a:effectLst/>
            </c:spPr>
            <c:extLst>
              <c:ext xmlns:c16="http://schemas.microsoft.com/office/drawing/2014/chart" uri="{C3380CC4-5D6E-409C-BE32-E72D297353CC}">
                <c16:uniqueId val="{00000003-24D5-6A4D-903F-BAA7EAE67C62}"/>
              </c:ext>
            </c:extLst>
          </c:dPt>
          <c:dPt>
            <c:idx val="2"/>
            <c:invertIfNegative val="0"/>
            <c:bubble3D val="0"/>
            <c:spPr>
              <a:solidFill>
                <a:srgbClr val="3E7C59"/>
              </a:solidFill>
              <a:effectLst/>
            </c:spPr>
            <c:extLst>
              <c:ext xmlns:c16="http://schemas.microsoft.com/office/drawing/2014/chart" uri="{C3380CC4-5D6E-409C-BE32-E72D297353CC}">
                <c16:uniqueId val="{00000005-24D5-6A4D-903F-BAA7EAE67C62}"/>
              </c:ext>
            </c:extLst>
          </c:dPt>
          <c:dLbls>
            <c:numFmt formatCode="0.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当前</c:v>
                </c:pt>
                <c:pt idx="1">
                  <c:v>目标</c:v>
                </c:pt>
                <c:pt idx="2">
                  <c:v>我们的方案（第 3 年）</c:v>
                </c:pt>
              </c:strCache>
            </c:strRef>
          </c:cat>
          <c:val>
            <c:numRef>
              <c:f>Sheet1!$B$2:$B$4</c:f>
              <c:numCache>
                <c:formatCode>General</c:formatCode>
                <c:ptCount val="3"/>
                <c:pt idx="0">
                  <c:v>0.246</c:v>
                </c:pt>
                <c:pt idx="1">
                  <c:v>0.3</c:v>
                </c:pt>
                <c:pt idx="2">
                  <c:v>0.34</c:v>
                </c:pt>
              </c:numCache>
            </c:numRef>
          </c:val>
          <c:extLst>
            <c:ext xmlns:c16="http://schemas.microsoft.com/office/drawing/2014/chart" uri="{C3380CC4-5D6E-409C-BE32-E72D297353CC}">
              <c16:uniqueId val="{00000006-24D5-6A4D-903F-BAA7EAE67C6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0.4"/>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去年大号带壳鸡蛋价格（美元</a:t>
            </a:r>
            <a:r>
              <a:rPr lang="en-US" altLang="zh-SG" sz="1400" b="0" i="0" u="none" strike="noStrike">
                <a:solidFill>
                  <a:srgbClr val="23412F"/>
                </a:solidFill>
                <a:latin typeface="+mj-lt"/>
              </a:rPr>
              <a:t>/</a:t>
            </a:r>
            <a:r>
              <a:rPr lang="zh-SG" altLang="en-US" sz="1400" b="0" i="0" u="none" strike="noStrike">
                <a:solidFill>
                  <a:srgbClr val="23412F"/>
                </a:solidFill>
                <a:latin typeface="+mj-lt"/>
              </a:rPr>
              <a:t>打）</a:t>
            </a:r>
          </a:p>
        </c:rich>
      </c:tx>
      <c:overlay val="0"/>
    </c:title>
    <c:autoTitleDeleted val="0"/>
    <c:plotArea>
      <c:layout/>
      <c:lineChart>
        <c:grouping val="standard"/>
        <c:varyColors val="0"/>
        <c:ser>
          <c:idx val="0"/>
          <c:order val="0"/>
          <c:tx>
            <c:strRef>
              <c:f>Sheet1!$B$1</c:f>
              <c:strCache>
                <c:ptCount val="1"/>
                <c:pt idx="0">
                  <c:v>$ per dozen</c:v>
                </c:pt>
              </c:strCache>
            </c:strRef>
          </c:tx>
          <c:spPr>
            <a:ln w="38100" cap="flat">
              <a:solidFill>
                <a:srgbClr val="E8A317"/>
              </a:solidFill>
              <a:prstDash val="solid"/>
              <a:round/>
            </a:ln>
            <a:effectLst/>
          </c:spPr>
          <c:marker>
            <c:symbol val="none"/>
          </c:marker>
          <c:cat>
            <c:strRef>
              <c:f>Sheet1!$A$2:$A$32</c:f>
              <c:strCache>
                <c:ptCount val="31"/>
                <c:pt idx="0">
                  <c:v>Q1</c:v>
                </c:pt>
                <c:pt idx="8">
                  <c:v>Q2</c:v>
                </c:pt>
                <c:pt idx="16">
                  <c:v>Q3</c:v>
                </c:pt>
                <c:pt idx="24">
                  <c:v>Q4</c:v>
                </c:pt>
              </c:strCache>
            </c:strRef>
          </c:cat>
          <c:val>
            <c:numRef>
              <c:f>Sheet1!$B$2:$B$32</c:f>
              <c:numCache>
                <c:formatCode>General</c:formatCode>
                <c:ptCount val="31"/>
                <c:pt idx="0">
                  <c:v>0.98</c:v>
                </c:pt>
                <c:pt idx="1">
                  <c:v>1</c:v>
                </c:pt>
                <c:pt idx="2">
                  <c:v>1.02</c:v>
                </c:pt>
                <c:pt idx="3">
                  <c:v>1.08</c:v>
                </c:pt>
                <c:pt idx="4">
                  <c:v>1.22</c:v>
                </c:pt>
                <c:pt idx="5">
                  <c:v>1.32</c:v>
                </c:pt>
                <c:pt idx="6">
                  <c:v>1.48</c:v>
                </c:pt>
                <c:pt idx="7">
                  <c:v>1.46</c:v>
                </c:pt>
                <c:pt idx="8">
                  <c:v>1.43</c:v>
                </c:pt>
                <c:pt idx="9">
                  <c:v>1.4</c:v>
                </c:pt>
                <c:pt idx="10">
                  <c:v>1.4</c:v>
                </c:pt>
                <c:pt idx="11">
                  <c:v>1.6</c:v>
                </c:pt>
                <c:pt idx="12">
                  <c:v>1.78</c:v>
                </c:pt>
                <c:pt idx="13">
                  <c:v>1.98</c:v>
                </c:pt>
                <c:pt idx="14">
                  <c:v>2.0299999999999998</c:v>
                </c:pt>
                <c:pt idx="15">
                  <c:v>2</c:v>
                </c:pt>
                <c:pt idx="16">
                  <c:v>2.0299999999999998</c:v>
                </c:pt>
                <c:pt idx="17">
                  <c:v>2.04</c:v>
                </c:pt>
                <c:pt idx="18">
                  <c:v>1.98</c:v>
                </c:pt>
                <c:pt idx="19">
                  <c:v>1.97</c:v>
                </c:pt>
                <c:pt idx="20">
                  <c:v>1.97</c:v>
                </c:pt>
                <c:pt idx="21">
                  <c:v>1.99</c:v>
                </c:pt>
                <c:pt idx="22">
                  <c:v>1.89</c:v>
                </c:pt>
                <c:pt idx="23">
                  <c:v>1.79</c:v>
                </c:pt>
                <c:pt idx="24">
                  <c:v>1.78</c:v>
                </c:pt>
                <c:pt idx="25">
                  <c:v>1.77</c:v>
                </c:pt>
                <c:pt idx="26">
                  <c:v>1.8</c:v>
                </c:pt>
                <c:pt idx="27">
                  <c:v>1.81</c:v>
                </c:pt>
                <c:pt idx="28">
                  <c:v>1.85</c:v>
                </c:pt>
                <c:pt idx="29">
                  <c:v>1.96</c:v>
                </c:pt>
                <c:pt idx="30">
                  <c:v>1.97</c:v>
                </c:pt>
              </c:numCache>
            </c:numRef>
          </c:val>
          <c:smooth val="0"/>
          <c:extLst>
            <c:ext xmlns:c16="http://schemas.microsoft.com/office/drawing/2014/chart" uri="{C3380CC4-5D6E-409C-BE32-E72D297353CC}">
              <c16:uniqueId val="{00000000-5017-674F-B557-3A5700DDF83F}"/>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tickLblSkip val="1"/>
        <c:noMultiLvlLbl val="1"/>
      </c:catAx>
      <c:valAx>
        <c:axId val="2094734552"/>
        <c:scaling>
          <c:orientation val="minMax"/>
          <c:max val="2.5"/>
          <c:min val="0"/>
        </c:scaling>
        <c:delete val="0"/>
        <c:axPos val="l"/>
        <c:majorGridlines>
          <c:spPr>
            <a:ln w="6350" cap="flat">
              <a:solidFill>
                <a:srgbClr val="DDE5DF"/>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每投入 </a:t>
            </a:r>
            <a:r>
              <a:rPr lang="en-US" altLang="zh-SG" sz="1400" b="0" i="0" u="none" strike="noStrike">
                <a:solidFill>
                  <a:srgbClr val="23412F"/>
                </a:solidFill>
                <a:latin typeface="+mj-lt"/>
              </a:rPr>
              <a:t>100 </a:t>
            </a:r>
            <a:r>
              <a:rPr lang="zh-SG" altLang="en-US" sz="1400" b="0" i="0" u="none" strike="noStrike">
                <a:solidFill>
                  <a:srgbClr val="23412F"/>
                </a:solidFill>
                <a:latin typeface="+mj-lt"/>
              </a:rPr>
              <a:t>万美元带来的年度新增利润（百万美元）</a:t>
            </a:r>
          </a:p>
        </c:rich>
      </c:tx>
      <c:overlay val="0"/>
    </c:title>
    <c:autoTitleDeleted val="0"/>
    <c:plotArea>
      <c:layout/>
      <c:barChart>
        <c:barDir val="bar"/>
        <c:grouping val="clustered"/>
        <c:varyColors val="0"/>
        <c:ser>
          <c:idx val="0"/>
          <c:order val="0"/>
          <c:tx>
            <c:strRef>
              <c:f>Sheet1!$B$1</c:f>
              <c:strCache>
                <c:ptCount val="1"/>
                <c:pt idx="0">
                  <c:v>每百万美元年利润</c:v>
                </c:pt>
              </c:strCache>
            </c:strRef>
          </c:tx>
          <c:spPr>
            <a:solidFill>
              <a:srgbClr val="6B7F73"/>
            </a:solidFill>
            <a:effectLst/>
          </c:spPr>
          <c:invertIfNegative val="0"/>
          <c:dPt>
            <c:idx val="0"/>
            <c:invertIfNegative val="0"/>
            <c:bubble3D val="0"/>
            <c:extLst>
              <c:ext xmlns:c16="http://schemas.microsoft.com/office/drawing/2014/chart" uri="{C3380CC4-5D6E-409C-BE32-E72D297353CC}">
                <c16:uniqueId val="{00000001-B629-CF4B-A32D-7E5F2392E4D8}"/>
              </c:ext>
            </c:extLst>
          </c:dPt>
          <c:dPt>
            <c:idx val="1"/>
            <c:invertIfNegative val="0"/>
            <c:bubble3D val="0"/>
            <c:spPr>
              <a:solidFill>
                <a:srgbClr val="9DBF9E"/>
              </a:solidFill>
              <a:effectLst/>
            </c:spPr>
            <c:extLst>
              <c:ext xmlns:c16="http://schemas.microsoft.com/office/drawing/2014/chart" uri="{C3380CC4-5D6E-409C-BE32-E72D297353CC}">
                <c16:uniqueId val="{00000003-B629-CF4B-A32D-7E5F2392E4D8}"/>
              </c:ext>
            </c:extLst>
          </c:dPt>
          <c:dPt>
            <c:idx val="2"/>
            <c:invertIfNegative val="0"/>
            <c:bubble3D val="0"/>
            <c:spPr>
              <a:solidFill>
                <a:srgbClr val="3E7C59"/>
              </a:solidFill>
              <a:effectLst/>
            </c:spPr>
            <c:extLst>
              <c:ext xmlns:c16="http://schemas.microsoft.com/office/drawing/2014/chart" uri="{C3380CC4-5D6E-409C-BE32-E72D297353CC}">
                <c16:uniqueId val="{00000005-B629-CF4B-A32D-7E5F2392E4D8}"/>
              </c:ext>
            </c:extLst>
          </c:dPt>
          <c:dLbls>
            <c:numFmt formatCode="\$0.0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追加营销（扣除成本）</c:v>
                </c:pt>
                <c:pt idx="1">
                  <c:v>散养改造</c:v>
                </c:pt>
                <c:pt idx="2">
                  <c:v>蛋制品加工厂</c:v>
                </c:pt>
              </c:strCache>
            </c:strRef>
          </c:cat>
          <c:val>
            <c:numRef>
              <c:f>Sheet1!$B$2:$B$4</c:f>
              <c:numCache>
                <c:formatCode>General</c:formatCode>
                <c:ptCount val="3"/>
                <c:pt idx="0">
                  <c:v>0.18</c:v>
                </c:pt>
                <c:pt idx="1">
                  <c:v>0.13</c:v>
                </c:pt>
                <c:pt idx="2">
                  <c:v>0.4</c:v>
                </c:pt>
              </c:numCache>
            </c:numRef>
          </c:val>
          <c:extLst>
            <c:ext xmlns:c16="http://schemas.microsoft.com/office/drawing/2014/chart" uri="{C3380CC4-5D6E-409C-BE32-E72D297353CC}">
              <c16:uniqueId val="{00000006-B629-CF4B-A32D-7E5F2392E4D8}"/>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0.5"/>
          <c:min val="0"/>
        </c:scaling>
        <c:delete val="0"/>
        <c:axPos val="t"/>
        <c:majorGridlines>
          <c:spPr>
            <a:ln w="6350" cap="flat">
              <a:solidFill>
                <a:srgbClr val="DDE5DF"/>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美国特色收入桥（百万美元）</a:t>
            </a:r>
          </a:p>
        </c:rich>
      </c:tx>
      <c:overlay val="0"/>
    </c:title>
    <c:autoTitleDeleted val="0"/>
    <c:plotArea>
      <c:layout/>
      <c:barChart>
        <c:barDir val="bar"/>
        <c:grouping val="clustered"/>
        <c:varyColors val="0"/>
        <c:ser>
          <c:idx val="0"/>
          <c:order val="0"/>
          <c:tx>
            <c:strRef>
              <c:f>Sheet1!$B$1</c:f>
              <c:strCache>
                <c:ptCount val="1"/>
                <c:pt idx="0">
                  <c:v>百万美元</c:v>
                </c:pt>
              </c:strCache>
            </c:strRef>
          </c:tx>
          <c:spPr>
            <a:solidFill>
              <a:srgbClr val="6B7F73"/>
            </a:solidFill>
            <a:effectLst/>
          </c:spPr>
          <c:invertIfNegative val="0"/>
          <c:dPt>
            <c:idx val="0"/>
            <c:invertIfNegative val="0"/>
            <c:bubble3D val="0"/>
            <c:extLst>
              <c:ext xmlns:c16="http://schemas.microsoft.com/office/drawing/2014/chart" uri="{C3380CC4-5D6E-409C-BE32-E72D297353CC}">
                <c16:uniqueId val="{00000001-A722-674C-8001-81AB0C47C17B}"/>
              </c:ext>
            </c:extLst>
          </c:dPt>
          <c:dPt>
            <c:idx val="1"/>
            <c:invertIfNegative val="0"/>
            <c:bubble3D val="0"/>
            <c:spPr>
              <a:solidFill>
                <a:srgbClr val="9DBF9E"/>
              </a:solidFill>
              <a:effectLst/>
            </c:spPr>
            <c:extLst>
              <c:ext xmlns:c16="http://schemas.microsoft.com/office/drawing/2014/chart" uri="{C3380CC4-5D6E-409C-BE32-E72D297353CC}">
                <c16:uniqueId val="{00000003-A722-674C-8001-81AB0C47C17B}"/>
              </c:ext>
            </c:extLst>
          </c:dPt>
          <c:dPt>
            <c:idx val="2"/>
            <c:invertIfNegative val="0"/>
            <c:bubble3D val="0"/>
            <c:spPr>
              <a:solidFill>
                <a:srgbClr val="9DBF9E"/>
              </a:solidFill>
              <a:effectLst/>
            </c:spPr>
            <c:extLst>
              <c:ext xmlns:c16="http://schemas.microsoft.com/office/drawing/2014/chart" uri="{C3380CC4-5D6E-409C-BE32-E72D297353CC}">
                <c16:uniqueId val="{00000005-A722-674C-8001-81AB0C47C17B}"/>
              </c:ext>
            </c:extLst>
          </c:dPt>
          <c:dPt>
            <c:idx val="3"/>
            <c:invertIfNegative val="0"/>
            <c:bubble3D val="0"/>
            <c:spPr>
              <a:solidFill>
                <a:srgbClr val="9DBF9E"/>
              </a:solidFill>
              <a:effectLst/>
            </c:spPr>
            <c:extLst>
              <c:ext xmlns:c16="http://schemas.microsoft.com/office/drawing/2014/chart" uri="{C3380CC4-5D6E-409C-BE32-E72D297353CC}">
                <c16:uniqueId val="{00000007-A722-674C-8001-81AB0C47C17B}"/>
              </c:ext>
            </c:extLst>
          </c:dPt>
          <c:dPt>
            <c:idx val="4"/>
            <c:invertIfNegative val="0"/>
            <c:bubble3D val="0"/>
            <c:spPr>
              <a:solidFill>
                <a:srgbClr val="9DBF9E"/>
              </a:solidFill>
              <a:effectLst/>
            </c:spPr>
            <c:extLst>
              <c:ext xmlns:c16="http://schemas.microsoft.com/office/drawing/2014/chart" uri="{C3380CC4-5D6E-409C-BE32-E72D297353CC}">
                <c16:uniqueId val="{00000009-A722-674C-8001-81AB0C47C17B}"/>
              </c:ext>
            </c:extLst>
          </c:dPt>
          <c:dPt>
            <c:idx val="5"/>
            <c:invertIfNegative val="0"/>
            <c:bubble3D val="0"/>
            <c:spPr>
              <a:solidFill>
                <a:srgbClr val="3E7C59"/>
              </a:solidFill>
              <a:effectLst/>
            </c:spPr>
            <c:extLst>
              <c:ext xmlns:c16="http://schemas.microsoft.com/office/drawing/2014/chart" uri="{C3380CC4-5D6E-409C-BE32-E72D297353CC}">
                <c16:uniqueId val="{0000000B-A722-674C-8001-81AB0C47C17B}"/>
              </c:ext>
            </c:extLst>
          </c:dPt>
          <c:dLbls>
            <c:numFmt formatCode="#,##0.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当前特色收入</c:v>
                </c:pt>
                <c:pt idx="1">
                  <c:v>+ 营销（6%）</c:v>
                </c:pt>
                <c:pt idx="2">
                  <c:v>+ 市场增长 2.5%/年</c:v>
                </c:pt>
                <c:pt idx="3">
                  <c:v>+ 2 座加工厂（5000 万）</c:v>
                </c:pt>
                <c:pt idx="4">
                  <c:v>+ 散养改造（2000 万）</c:v>
                </c:pt>
                <c:pt idx="5">
                  <c:v>第 3 年特色收入</c:v>
                </c:pt>
              </c:strCache>
            </c:strRef>
          </c:cat>
          <c:val>
            <c:numRef>
              <c:f>Sheet1!$B$2:$B$7</c:f>
              <c:numCache>
                <c:formatCode>General</c:formatCode>
                <c:ptCount val="6"/>
                <c:pt idx="0">
                  <c:v>576</c:v>
                </c:pt>
                <c:pt idx="1">
                  <c:v>34.6</c:v>
                </c:pt>
                <c:pt idx="2">
                  <c:v>46.9</c:v>
                </c:pt>
                <c:pt idx="3">
                  <c:v>100</c:v>
                </c:pt>
                <c:pt idx="4">
                  <c:v>100</c:v>
                </c:pt>
                <c:pt idx="5">
                  <c:v>857.5</c:v>
                </c:pt>
              </c:numCache>
            </c:numRef>
          </c:val>
          <c:extLst>
            <c:ext xmlns:c16="http://schemas.microsoft.com/office/drawing/2014/chart" uri="{C3380CC4-5D6E-409C-BE32-E72D297353CC}">
              <c16:uniqueId val="{0000000C-A722-674C-8001-81AB0C47C17B}"/>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1000"/>
          <c:min val="0"/>
        </c:scaling>
        <c:delete val="0"/>
        <c:axPos val="t"/>
        <c:majorGridlines>
          <c:spPr>
            <a:ln w="6350" cap="flat">
              <a:solidFill>
                <a:srgbClr val="DDE5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美国特色占比 </a:t>
            </a:r>
            <a:r>
              <a:rPr lang="en" sz="1400" b="0" i="0" u="none" strike="noStrike">
                <a:solidFill>
                  <a:srgbClr val="23412F"/>
                </a:solidFill>
                <a:latin typeface="+mj-lt"/>
              </a:rPr>
              <a:t>vs </a:t>
            </a:r>
            <a:r>
              <a:rPr lang="zh-SG" altLang="en-US" sz="1400" b="0" i="0" u="none" strike="noStrike">
                <a:solidFill>
                  <a:srgbClr val="23412F"/>
                </a:solidFill>
                <a:latin typeface="+mj-lt"/>
              </a:rPr>
              <a:t>目标</a:t>
            </a:r>
          </a:p>
        </c:rich>
      </c:tx>
      <c:overlay val="0"/>
    </c:title>
    <c:autoTitleDeleted val="0"/>
    <c:plotArea>
      <c:layout/>
      <c:barChart>
        <c:barDir val="col"/>
        <c:grouping val="clustered"/>
        <c:varyColors val="0"/>
        <c:ser>
          <c:idx val="0"/>
          <c:order val="0"/>
          <c:tx>
            <c:strRef>
              <c:f>Sheet1!$B$1</c:f>
              <c:strCache>
                <c:ptCount val="1"/>
                <c:pt idx="0">
                  <c:v>特色占比</c:v>
                </c:pt>
              </c:strCache>
            </c:strRef>
          </c:tx>
          <c:spPr>
            <a:solidFill>
              <a:srgbClr val="E8A317"/>
            </a:solidFill>
            <a:effectLst/>
          </c:spPr>
          <c:invertIfNegative val="0"/>
          <c:dLbls>
            <c:numFmt formatCode="0.0%" sourceLinked="0"/>
            <c:spPr>
              <a:noFill/>
              <a:ln>
                <a:noFill/>
              </a:ln>
              <a:effectLst/>
            </c:spPr>
            <c:txPr>
              <a:bodyPr/>
              <a:lstStyle/>
              <a:p>
                <a:pPr>
                  <a:defRPr sz="1100" b="0" i="0" u="none" strike="noStrike">
                    <a:solidFill>
                      <a:srgbClr val="1B2A22"/>
                    </a:solidFill>
                    <a:latin typeface="+mn-lt"/>
                  </a:defRPr>
                </a:pPr>
                <a:endParaRPr lang="zh-S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第0年</c:v>
                </c:pt>
                <c:pt idx="1">
                  <c:v>第1年</c:v>
                </c:pt>
                <c:pt idx="2">
                  <c:v>第2年</c:v>
                </c:pt>
                <c:pt idx="3">
                  <c:v>第3年</c:v>
                </c:pt>
              </c:strCache>
            </c:strRef>
          </c:cat>
          <c:val>
            <c:numRef>
              <c:f>Sheet1!$B$2:$B$5</c:f>
              <c:numCache>
                <c:formatCode>General</c:formatCode>
                <c:ptCount val="4"/>
                <c:pt idx="0">
                  <c:v>0.2465</c:v>
                </c:pt>
                <c:pt idx="1">
                  <c:v>0.28310000000000002</c:v>
                </c:pt>
                <c:pt idx="2">
                  <c:v>0.32269999999999999</c:v>
                </c:pt>
                <c:pt idx="3">
                  <c:v>0.34050000000000002</c:v>
                </c:pt>
              </c:numCache>
            </c:numRef>
          </c:val>
          <c:extLst>
            <c:ext xmlns:c16="http://schemas.microsoft.com/office/drawing/2014/chart" uri="{C3380CC4-5D6E-409C-BE32-E72D297353CC}">
              <c16:uniqueId val="{00000000-E7FA-0D42-A52C-4ED6AE6BC159}"/>
            </c:ext>
          </c:extLst>
        </c:ser>
        <c:dLbls>
          <c:dLblPos val="outEnd"/>
          <c:showLegendKey val="0"/>
          <c:showVal val="1"/>
          <c:showCatName val="0"/>
          <c:showSerName val="0"/>
          <c:showPercent val="0"/>
          <c:showBubbleSize val="0"/>
        </c:dLbls>
        <c:gapWidth val="60"/>
        <c:axId val="2094734554"/>
        <c:axId val="2094734552"/>
      </c:barChart>
      <c:lineChart>
        <c:grouping val="standard"/>
        <c:varyColors val="0"/>
        <c:ser>
          <c:idx val="1"/>
          <c:order val="1"/>
          <c:tx>
            <c:strRef>
              <c:f>Sheet1!$C$1</c:f>
              <c:strCache>
                <c:ptCount val="1"/>
                <c:pt idx="0">
                  <c:v>30% 目标</c:v>
                </c:pt>
              </c:strCache>
            </c:strRef>
          </c:tx>
          <c:spPr>
            <a:ln w="25400" cap="flat">
              <a:solidFill>
                <a:srgbClr val="C0563B"/>
              </a:solidFill>
              <a:prstDash val="dash"/>
              <a:round/>
            </a:ln>
            <a:effectLst/>
          </c:spPr>
          <c:marker>
            <c:symbol val="none"/>
          </c:marker>
          <c:cat>
            <c:strRef>
              <c:f>Sheet1!$A$2:$A$5</c:f>
              <c:strCache>
                <c:ptCount val="4"/>
                <c:pt idx="0">
                  <c:v>第0年</c:v>
                </c:pt>
                <c:pt idx="1">
                  <c:v>第1年</c:v>
                </c:pt>
                <c:pt idx="2">
                  <c:v>第2年</c:v>
                </c:pt>
                <c:pt idx="3">
                  <c:v>第3年</c:v>
                </c:pt>
              </c:strCache>
            </c:strRef>
          </c:cat>
          <c:val>
            <c:numRef>
              <c:f>Sheet1!$C$2:$C$5</c:f>
              <c:numCache>
                <c:formatCode>General</c:formatCode>
                <c:ptCount val="4"/>
                <c:pt idx="0">
                  <c:v>0.3</c:v>
                </c:pt>
                <c:pt idx="1">
                  <c:v>0.3</c:v>
                </c:pt>
                <c:pt idx="2">
                  <c:v>0.3</c:v>
                </c:pt>
                <c:pt idx="3">
                  <c:v>0.3</c:v>
                </c:pt>
              </c:numCache>
            </c:numRef>
          </c:val>
          <c:smooth val="0"/>
          <c:extLst>
            <c:ext xmlns:c16="http://schemas.microsoft.com/office/drawing/2014/chart" uri="{C3380CC4-5D6E-409C-BE32-E72D297353CC}">
              <c16:uniqueId val="{00000001-E7FA-0D42-A52C-4ED6AE6BC15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0.4"/>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各地区平均鸡蛋业务收入（百万美元）</a:t>
            </a:r>
          </a:p>
        </c:rich>
      </c:tx>
      <c:overlay val="0"/>
    </c:title>
    <c:autoTitleDeleted val="0"/>
    <c:plotArea>
      <c:layout/>
      <c:barChart>
        <c:barDir val="col"/>
        <c:grouping val="clustered"/>
        <c:varyColors val="0"/>
        <c:ser>
          <c:idx val="0"/>
          <c:order val="0"/>
          <c:tx>
            <c:strRef>
              <c:f>Sheet1!$B$1</c:f>
              <c:strCache>
                <c:ptCount val="1"/>
                <c:pt idx="0">
                  <c:v>平均收入（百万美元）</c:v>
                </c:pt>
              </c:strCache>
            </c:strRef>
          </c:tx>
          <c:spPr>
            <a:solidFill>
              <a:srgbClr val="3E7C59"/>
            </a:solidFill>
            <a:effectLst/>
          </c:spPr>
          <c:invertIfNegative val="0"/>
          <c:dLbls>
            <c:numFmt formatCode="#,##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北美</c:v>
                </c:pt>
                <c:pt idx="1">
                  <c:v>欧洲</c:v>
                </c:pt>
                <c:pt idx="2">
                  <c:v>拉美</c:v>
                </c:pt>
                <c:pt idx="3">
                  <c:v>亚洲</c:v>
                </c:pt>
              </c:strCache>
            </c:strRef>
          </c:cat>
          <c:val>
            <c:numRef>
              <c:f>Sheet1!$B$2:$B$5</c:f>
              <c:numCache>
                <c:formatCode>General</c:formatCode>
                <c:ptCount val="4"/>
                <c:pt idx="0">
                  <c:v>757</c:v>
                </c:pt>
                <c:pt idx="1">
                  <c:v>244</c:v>
                </c:pt>
                <c:pt idx="2">
                  <c:v>475</c:v>
                </c:pt>
                <c:pt idx="3">
                  <c:v>538</c:v>
                </c:pt>
              </c:numCache>
            </c:numRef>
          </c:val>
          <c:extLst>
            <c:ext xmlns:c16="http://schemas.microsoft.com/office/drawing/2014/chart" uri="{C3380CC4-5D6E-409C-BE32-E72D297353CC}">
              <c16:uniqueId val="{00000000-6D1F-C347-8546-C25CD584649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900"/>
          <c:min val="0"/>
        </c:scaling>
        <c:delete val="0"/>
        <c:axPos val="l"/>
        <c:majorGridlines>
          <c:spPr>
            <a:ln w="6350" cap="flat">
              <a:solidFill>
                <a:srgbClr val="DDE5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各地区收购价 </a:t>
            </a:r>
            <a:r>
              <a:rPr lang="en-US" altLang="zh-SG" sz="1400" b="0" i="0" u="none" strike="noStrike">
                <a:solidFill>
                  <a:srgbClr val="23412F"/>
                </a:solidFill>
                <a:latin typeface="+mj-lt"/>
              </a:rPr>
              <a:t>÷ </a:t>
            </a:r>
            <a:r>
              <a:rPr lang="en" sz="1400" b="0" i="0" u="none" strike="noStrike">
                <a:solidFill>
                  <a:srgbClr val="23412F"/>
                </a:solidFill>
                <a:latin typeface="+mj-lt"/>
              </a:rPr>
              <a:t>EBITA </a:t>
            </a:r>
            <a:r>
              <a:rPr lang="zh-SG" altLang="en-US" sz="1400" b="0" i="0" u="none" strike="noStrike">
                <a:solidFill>
                  <a:srgbClr val="23412F"/>
                </a:solidFill>
                <a:latin typeface="+mj-lt"/>
              </a:rPr>
              <a:t>中位数（倍）</a:t>
            </a:r>
          </a:p>
        </c:rich>
      </c:tx>
      <c:overlay val="0"/>
    </c:title>
    <c:autoTitleDeleted val="0"/>
    <c:plotArea>
      <c:layout/>
      <c:barChart>
        <c:barDir val="col"/>
        <c:grouping val="clustered"/>
        <c:varyColors val="0"/>
        <c:ser>
          <c:idx val="0"/>
          <c:order val="0"/>
          <c:tx>
            <c:strRef>
              <c:f>Sheet1!$B$1</c:f>
              <c:strCache>
                <c:ptCount val="1"/>
                <c:pt idx="0">
                  <c:v>EV/EBITA 中位数</c:v>
                </c:pt>
              </c:strCache>
            </c:strRef>
          </c:tx>
          <c:spPr>
            <a:solidFill>
              <a:srgbClr val="E8A317"/>
            </a:solidFill>
            <a:effectLst/>
          </c:spPr>
          <c:invertIfNegative val="0"/>
          <c:dLbls>
            <c:numFmt formatCode="0.0&quot;x&quot;"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北美</c:v>
                </c:pt>
                <c:pt idx="1">
                  <c:v>欧洲</c:v>
                </c:pt>
                <c:pt idx="2">
                  <c:v>拉美</c:v>
                </c:pt>
                <c:pt idx="3">
                  <c:v>亚洲</c:v>
                </c:pt>
              </c:strCache>
            </c:strRef>
          </c:cat>
          <c:val>
            <c:numRef>
              <c:f>Sheet1!$B$2:$B$5</c:f>
              <c:numCache>
                <c:formatCode>General</c:formatCode>
                <c:ptCount val="4"/>
                <c:pt idx="0">
                  <c:v>10.9</c:v>
                </c:pt>
                <c:pt idx="1">
                  <c:v>7.7</c:v>
                </c:pt>
                <c:pt idx="2">
                  <c:v>4.0999999999999996</c:v>
                </c:pt>
                <c:pt idx="3">
                  <c:v>3</c:v>
                </c:pt>
              </c:numCache>
            </c:numRef>
          </c:val>
          <c:extLst>
            <c:ext xmlns:c16="http://schemas.microsoft.com/office/drawing/2014/chart" uri="{C3380CC4-5D6E-409C-BE32-E72D297353CC}">
              <c16:uniqueId val="{00000000-CAFA-E146-AE2C-53A684EC449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14"/>
          <c:min val="0"/>
        </c:scaling>
        <c:delete val="0"/>
        <c:axPos val="l"/>
        <c:majorGridlines>
          <c:spPr>
            <a:ln w="6350" cap="flat">
              <a:solidFill>
                <a:srgbClr val="DDE5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国家风险分（</a:t>
            </a:r>
            <a:r>
              <a:rPr lang="en-US" altLang="zh-SG" sz="1400" b="0" i="0" u="none" strike="noStrike">
                <a:solidFill>
                  <a:srgbClr val="23412F"/>
                </a:solidFill>
                <a:latin typeface="+mj-lt"/>
              </a:rPr>
              <a:t>1 = </a:t>
            </a:r>
            <a:r>
              <a:rPr lang="zh-SG" altLang="en-US" sz="1400" b="0" i="0" u="none" strike="noStrike">
                <a:solidFill>
                  <a:srgbClr val="23412F"/>
                </a:solidFill>
                <a:latin typeface="+mj-lt"/>
              </a:rPr>
              <a:t>低，</a:t>
            </a:r>
            <a:r>
              <a:rPr lang="en-US" altLang="zh-SG" sz="1400" b="0" i="0" u="none" strike="noStrike">
                <a:solidFill>
                  <a:srgbClr val="23412F"/>
                </a:solidFill>
                <a:latin typeface="+mj-lt"/>
              </a:rPr>
              <a:t>5 = </a:t>
            </a:r>
            <a:r>
              <a:rPr lang="zh-SG" altLang="en-US" sz="1400" b="0" i="0" u="none" strike="noStrike">
                <a:solidFill>
                  <a:srgbClr val="23412F"/>
                </a:solidFill>
                <a:latin typeface="+mj-lt"/>
              </a:rPr>
              <a:t>高）</a:t>
            </a:r>
            <a:r>
              <a:rPr lang="en" sz="1400" b="0" i="0" u="none" strike="noStrike">
                <a:solidFill>
                  <a:srgbClr val="23412F"/>
                </a:solidFill>
                <a:latin typeface="+mj-lt"/>
              </a:rPr>
              <a:t>vs </a:t>
            </a:r>
            <a:r>
              <a:rPr lang="zh-SG" altLang="en-US" sz="1400" b="0" i="0" u="none" strike="noStrike">
                <a:solidFill>
                  <a:srgbClr val="23412F"/>
                </a:solidFill>
                <a:latin typeface="+mj-lt"/>
              </a:rPr>
              <a:t>收购价 </a:t>
            </a:r>
            <a:r>
              <a:rPr lang="en-US" altLang="zh-SG" sz="1400" b="0" i="0" u="none" strike="noStrike">
                <a:solidFill>
                  <a:srgbClr val="23412F"/>
                </a:solidFill>
                <a:latin typeface="+mj-lt"/>
              </a:rPr>
              <a:t>÷ </a:t>
            </a:r>
            <a:r>
              <a:rPr lang="en" sz="1400" b="0" i="0" u="none" strike="noStrike">
                <a:solidFill>
                  <a:srgbClr val="23412F"/>
                </a:solidFill>
                <a:latin typeface="+mj-lt"/>
              </a:rPr>
              <a:t>EBITA</a:t>
            </a:r>
          </a:p>
        </c:rich>
      </c:tx>
      <c:overlay val="0"/>
    </c:title>
    <c:autoTitleDeleted val="0"/>
    <c:plotArea>
      <c:layout/>
      <c:scatterChart>
        <c:scatterStyle val="lineMarker"/>
        <c:varyColors val="0"/>
        <c:ser>
          <c:idx val="0"/>
          <c:order val="0"/>
          <c:tx>
            <c:strRef>
              <c:f>Sheet1!$B$1</c:f>
              <c:strCache>
                <c:ptCount val="1"/>
                <c:pt idx="0">
                  <c:v>EV/EBITA</c:v>
                </c:pt>
              </c:strCache>
            </c:strRef>
          </c:tx>
          <c:spPr>
            <a:ln>
              <a:noFill/>
            </a:ln>
            <a:effectLst/>
          </c:spPr>
          <c:marker>
            <c:symbol val="circle"/>
            <c:size val="10"/>
            <c:spPr>
              <a:solidFill>
                <a:srgbClr val="3E7C59"/>
              </a:solidFill>
              <a:ln w="9525" cap="flat">
                <a:solidFill>
                  <a:srgbClr val="3E7C59"/>
                </a:solidFill>
                <a:prstDash val="solid"/>
                <a:round/>
              </a:ln>
              <a:effectLst/>
            </c:spPr>
          </c:marker>
          <c:xVal>
            <c:numRef>
              <c:f>Sheet1!$A$2:$A$20</c:f>
              <c:numCache>
                <c:formatCode>General</c:formatCode>
                <c:ptCount val="19"/>
                <c:pt idx="0">
                  <c:v>1</c:v>
                </c:pt>
                <c:pt idx="1">
                  <c:v>1</c:v>
                </c:pt>
                <c:pt idx="2">
                  <c:v>1</c:v>
                </c:pt>
                <c:pt idx="3">
                  <c:v>1</c:v>
                </c:pt>
                <c:pt idx="4">
                  <c:v>1</c:v>
                </c:pt>
                <c:pt idx="5">
                  <c:v>5</c:v>
                </c:pt>
                <c:pt idx="6">
                  <c:v>2</c:v>
                </c:pt>
                <c:pt idx="7">
                  <c:v>2</c:v>
                </c:pt>
                <c:pt idx="8">
                  <c:v>5</c:v>
                </c:pt>
                <c:pt idx="9">
                  <c:v>2</c:v>
                </c:pt>
                <c:pt idx="10">
                  <c:v>3</c:v>
                </c:pt>
                <c:pt idx="11">
                  <c:v>3</c:v>
                </c:pt>
                <c:pt idx="12">
                  <c:v>3</c:v>
                </c:pt>
                <c:pt idx="13">
                  <c:v>3</c:v>
                </c:pt>
                <c:pt idx="14">
                  <c:v>3</c:v>
                </c:pt>
                <c:pt idx="15">
                  <c:v>2</c:v>
                </c:pt>
                <c:pt idx="16">
                  <c:v>2</c:v>
                </c:pt>
                <c:pt idx="17">
                  <c:v>5</c:v>
                </c:pt>
                <c:pt idx="18">
                  <c:v>4</c:v>
                </c:pt>
              </c:numCache>
            </c:numRef>
          </c:xVal>
          <c:yVal>
            <c:numRef>
              <c:f>Sheet1!$B$2:$B$20</c:f>
              <c:numCache>
                <c:formatCode>General</c:formatCode>
                <c:ptCount val="19"/>
                <c:pt idx="0">
                  <c:v>12.5</c:v>
                </c:pt>
                <c:pt idx="1">
                  <c:v>10.9</c:v>
                </c:pt>
                <c:pt idx="2">
                  <c:v>10</c:v>
                </c:pt>
                <c:pt idx="3">
                  <c:v>10.7</c:v>
                </c:pt>
                <c:pt idx="4">
                  <c:v>13</c:v>
                </c:pt>
                <c:pt idx="5">
                  <c:v>2.7</c:v>
                </c:pt>
                <c:pt idx="6">
                  <c:v>7.7</c:v>
                </c:pt>
                <c:pt idx="7">
                  <c:v>9.1999999999999993</c:v>
                </c:pt>
                <c:pt idx="8">
                  <c:v>4</c:v>
                </c:pt>
                <c:pt idx="9">
                  <c:v>10.8</c:v>
                </c:pt>
                <c:pt idx="10">
                  <c:v>13.5</c:v>
                </c:pt>
                <c:pt idx="11">
                  <c:v>4.8</c:v>
                </c:pt>
                <c:pt idx="12">
                  <c:v>4</c:v>
                </c:pt>
                <c:pt idx="13">
                  <c:v>4.0999999999999996</c:v>
                </c:pt>
                <c:pt idx="14">
                  <c:v>3</c:v>
                </c:pt>
                <c:pt idx="15">
                  <c:v>5.7</c:v>
                </c:pt>
                <c:pt idx="16">
                  <c:v>4.0999999999999996</c:v>
                </c:pt>
                <c:pt idx="17">
                  <c:v>0.8</c:v>
                </c:pt>
                <c:pt idx="18">
                  <c:v>1.8</c:v>
                </c:pt>
              </c:numCache>
            </c:numRef>
          </c:yVal>
          <c:smooth val="0"/>
          <c:extLst>
            <c:ext xmlns:c16="http://schemas.microsoft.com/office/drawing/2014/chart" uri="{C3380CC4-5D6E-409C-BE32-E72D297353CC}">
              <c16:uniqueId val="{00000000-9F39-AD4D-8F6F-B2EC40764AB7}"/>
            </c:ext>
          </c:extLst>
        </c:ser>
        <c:dLbls>
          <c:showLegendKey val="0"/>
          <c:showVal val="0"/>
          <c:showCatName val="0"/>
          <c:showSerName val="0"/>
          <c:showPercent val="0"/>
          <c:showBubbleSize val="0"/>
        </c:dLbls>
        <c:axId val="2094734554"/>
        <c:axId val="2094734552"/>
      </c:scatterChart>
      <c:valAx>
        <c:axId val="2094734554"/>
        <c:scaling>
          <c:orientation val="minMax"/>
          <c:max val="6"/>
          <c:min val="0"/>
        </c:scaling>
        <c:delete val="0"/>
        <c:axPos val="b"/>
        <c:title>
          <c:tx>
            <c:rich>
              <a:bodyPr/>
              <a:lstStyle/>
              <a:p>
                <a:pPr>
                  <a:defRPr sz="1100" b="0" i="0" u="none" strike="noStrike">
                    <a:solidFill>
                      <a:srgbClr val="6B7F73"/>
                    </a:solidFill>
                    <a:latin typeface="Arial"/>
                  </a:defRPr>
                </a:pPr>
                <a:r>
                  <a:rPr lang="zh-SG" altLang="en-US" sz="1100" b="0" i="0" u="none" strike="noStrike">
                    <a:solidFill>
                      <a:srgbClr val="6B7F73"/>
                    </a:solidFill>
                    <a:latin typeface="Arial"/>
                  </a:rPr>
                  <a:t>国家风险分</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crossBetween val="midCat"/>
      </c:valAx>
      <c:valAx>
        <c:axId val="2094734552"/>
        <c:scaling>
          <c:orientation val="minMax"/>
          <c:max val="15"/>
          <c:min val="0"/>
        </c:scaling>
        <c:delete val="0"/>
        <c:axPos val="l"/>
        <c:majorGridlines>
          <c:spPr>
            <a:ln w="6350" cap="flat">
              <a:solidFill>
                <a:srgbClr val="DDE5DF"/>
              </a:solidFill>
              <a:prstDash val="solid"/>
              <a:round/>
            </a:ln>
          </c:spPr>
        </c:majorGridlines>
        <c:title>
          <c:tx>
            <c:rich>
              <a:bodyPr/>
              <a:lstStyle/>
              <a:p>
                <a:pPr>
                  <a:defRPr sz="1100" b="0" i="0" u="none" strike="noStrike">
                    <a:solidFill>
                      <a:srgbClr val="6B7F73"/>
                    </a:solidFill>
                    <a:latin typeface="Arial"/>
                  </a:defRPr>
                </a:pPr>
                <a:r>
                  <a:rPr lang="en" sz="1100" b="0" i="0" u="none" strike="noStrike">
                    <a:solidFill>
                      <a:srgbClr val="6B7F73"/>
                    </a:solidFill>
                    <a:latin typeface="Arial"/>
                  </a:rPr>
                  <a:t>EV / EBITA（</a:t>
                </a:r>
                <a:r>
                  <a:rPr lang="zh-SG" altLang="en-US" sz="1100" b="0" i="0" u="none" strike="noStrike">
                    <a:solidFill>
                      <a:srgbClr val="6B7F73"/>
                    </a:solidFill>
                    <a:latin typeface="Arial"/>
                  </a:rPr>
                  <a:t>倍）</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en-US" altLang="zh-SG" sz="1400" b="0" i="0" u="none" strike="noStrike">
                <a:solidFill>
                  <a:srgbClr val="23412F"/>
                </a:solidFill>
                <a:latin typeface="+mj-lt"/>
              </a:rPr>
              <a:t>20 </a:t>
            </a:r>
            <a:r>
              <a:rPr lang="zh-SG" altLang="en-US" sz="1400" b="0" i="0" u="none" strike="noStrike">
                <a:solidFill>
                  <a:srgbClr val="23412F"/>
                </a:solidFill>
                <a:latin typeface="+mj-lt"/>
              </a:rPr>
              <a:t>家公司中出现各主题的公司数量</a:t>
            </a:r>
          </a:p>
        </c:rich>
      </c:tx>
      <c:overlay val="0"/>
    </c:title>
    <c:autoTitleDeleted val="0"/>
    <c:plotArea>
      <c:layout/>
      <c:barChart>
        <c:barDir val="bar"/>
        <c:grouping val="clustered"/>
        <c:varyColors val="0"/>
        <c:ser>
          <c:idx val="0"/>
          <c:order val="0"/>
          <c:tx>
            <c:strRef>
              <c:f>Sheet1!$B$1</c:f>
              <c:strCache>
                <c:ptCount val="1"/>
                <c:pt idx="0">
                  <c:v>涉及该主题的公司数</c:v>
                </c:pt>
              </c:strCache>
            </c:strRef>
          </c:tx>
          <c:spPr>
            <a:solidFill>
              <a:srgbClr val="C0563B"/>
            </a:solidFill>
            <a:effectLst/>
          </c:spPr>
          <c:invertIfNegative val="0"/>
          <c:dPt>
            <c:idx val="0"/>
            <c:invertIfNegative val="0"/>
            <c:bubble3D val="0"/>
            <c:extLst>
              <c:ext xmlns:c16="http://schemas.microsoft.com/office/drawing/2014/chart" uri="{C3380CC4-5D6E-409C-BE32-E72D297353CC}">
                <c16:uniqueId val="{00000001-5975-554D-8BDF-2101F8EFFB46}"/>
              </c:ext>
            </c:extLst>
          </c:dPt>
          <c:dPt>
            <c:idx val="1"/>
            <c:invertIfNegative val="0"/>
            <c:bubble3D val="0"/>
            <c:extLst>
              <c:ext xmlns:c16="http://schemas.microsoft.com/office/drawing/2014/chart" uri="{C3380CC4-5D6E-409C-BE32-E72D297353CC}">
                <c16:uniqueId val="{00000003-5975-554D-8BDF-2101F8EFFB46}"/>
              </c:ext>
            </c:extLst>
          </c:dPt>
          <c:dPt>
            <c:idx val="2"/>
            <c:invertIfNegative val="0"/>
            <c:bubble3D val="0"/>
            <c:extLst>
              <c:ext xmlns:c16="http://schemas.microsoft.com/office/drawing/2014/chart" uri="{C3380CC4-5D6E-409C-BE32-E72D297353CC}">
                <c16:uniqueId val="{00000005-5975-554D-8BDF-2101F8EFFB46}"/>
              </c:ext>
            </c:extLst>
          </c:dPt>
          <c:dPt>
            <c:idx val="3"/>
            <c:invertIfNegative val="0"/>
            <c:bubble3D val="0"/>
            <c:extLst>
              <c:ext xmlns:c16="http://schemas.microsoft.com/office/drawing/2014/chart" uri="{C3380CC4-5D6E-409C-BE32-E72D297353CC}">
                <c16:uniqueId val="{00000007-5975-554D-8BDF-2101F8EFFB46}"/>
              </c:ext>
            </c:extLst>
          </c:dPt>
          <c:dPt>
            <c:idx val="4"/>
            <c:invertIfNegative val="0"/>
            <c:bubble3D val="0"/>
            <c:extLst>
              <c:ext xmlns:c16="http://schemas.microsoft.com/office/drawing/2014/chart" uri="{C3380CC4-5D6E-409C-BE32-E72D297353CC}">
                <c16:uniqueId val="{00000009-5975-554D-8BDF-2101F8EFFB46}"/>
              </c:ext>
            </c:extLst>
          </c:dPt>
          <c:dPt>
            <c:idx val="5"/>
            <c:invertIfNegative val="0"/>
            <c:bubble3D val="0"/>
            <c:spPr>
              <a:solidFill>
                <a:srgbClr val="3E7C59"/>
              </a:solidFill>
              <a:effectLst/>
            </c:spPr>
            <c:extLst>
              <c:ext xmlns:c16="http://schemas.microsoft.com/office/drawing/2014/chart" uri="{C3380CC4-5D6E-409C-BE32-E72D297353CC}">
                <c16:uniqueId val="{0000000B-5975-554D-8BDF-2101F8EFFB46}"/>
              </c:ext>
            </c:extLst>
          </c:dPt>
          <c:dPt>
            <c:idx val="6"/>
            <c:invertIfNegative val="0"/>
            <c:bubble3D val="0"/>
            <c:spPr>
              <a:solidFill>
                <a:srgbClr val="3E7C59"/>
              </a:solidFill>
              <a:effectLst/>
            </c:spPr>
            <c:extLst>
              <c:ext xmlns:c16="http://schemas.microsoft.com/office/drawing/2014/chart" uri="{C3380CC4-5D6E-409C-BE32-E72D297353CC}">
                <c16:uniqueId val="{0000000D-5975-554D-8BDF-2101F8EFFB46}"/>
              </c:ext>
            </c:extLst>
          </c:dPt>
          <c:dPt>
            <c:idx val="7"/>
            <c:invertIfNegative val="0"/>
            <c:bubble3D val="0"/>
            <c:spPr>
              <a:solidFill>
                <a:srgbClr val="3E7C59"/>
              </a:solidFill>
              <a:effectLst/>
            </c:spPr>
            <c:extLst>
              <c:ext xmlns:c16="http://schemas.microsoft.com/office/drawing/2014/chart" uri="{C3380CC4-5D6E-409C-BE32-E72D297353CC}">
                <c16:uniqueId val="{0000000F-5975-554D-8BDF-2101F8EFFB46}"/>
              </c:ext>
            </c:extLst>
          </c:dPt>
          <c:dLbls>
            <c:numFmt formatCode="#,##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价格波动</c:v>
                </c:pt>
                <c:pt idx="1">
                  <c:v>动物疫病（禽流感、沙门氏菌）</c:v>
                </c:pt>
                <c:pt idx="2">
                  <c:v>冲突 / 政局不稳</c:v>
                </c:pt>
                <c:pt idx="3">
                  <c:v>法律与竞争行为</c:v>
                </c:pt>
                <c:pt idx="4">
                  <c:v>经营困境</c:v>
                </c:pt>
                <c:pt idx="5">
                  <c:v>散养 / 动物福利转型</c:v>
                </c:pt>
                <c:pt idx="6">
                  <c:v>可持续与创新</c:v>
                </c:pt>
                <c:pt idx="7">
                  <c:v>合作与市场准入</c:v>
                </c:pt>
              </c:strCache>
            </c:strRef>
          </c:cat>
          <c:val>
            <c:numRef>
              <c:f>Sheet1!$B$2:$B$9</c:f>
              <c:numCache>
                <c:formatCode>General</c:formatCode>
                <c:ptCount val="8"/>
                <c:pt idx="0">
                  <c:v>7</c:v>
                </c:pt>
                <c:pt idx="1">
                  <c:v>6</c:v>
                </c:pt>
                <c:pt idx="2">
                  <c:v>4</c:v>
                </c:pt>
                <c:pt idx="3">
                  <c:v>4</c:v>
                </c:pt>
                <c:pt idx="4">
                  <c:v>3</c:v>
                </c:pt>
                <c:pt idx="5">
                  <c:v>5</c:v>
                </c:pt>
                <c:pt idx="6">
                  <c:v>5</c:v>
                </c:pt>
                <c:pt idx="7">
                  <c:v>4</c:v>
                </c:pt>
              </c:numCache>
            </c:numRef>
          </c:val>
          <c:extLst>
            <c:ext xmlns:c16="http://schemas.microsoft.com/office/drawing/2014/chart" uri="{C3380CC4-5D6E-409C-BE32-E72D297353CC}">
              <c16:uniqueId val="{00000010-5975-554D-8BDF-2101F8EFFB46}"/>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8"/>
          <c:min val="0"/>
        </c:scaling>
        <c:delete val="0"/>
        <c:axPos val="t"/>
        <c:majorGridlines>
          <c:spPr>
            <a:ln w="6350" cap="flat">
              <a:solidFill>
                <a:srgbClr val="DDE5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en-US" altLang="zh-SG" sz="1400" b="0" i="0" u="none" strike="noStrike">
                <a:solidFill>
                  <a:srgbClr val="23412F"/>
                </a:solidFill>
                <a:latin typeface="+mj-lt"/>
              </a:rPr>
              <a:t>8 </a:t>
            </a:r>
            <a:r>
              <a:rPr lang="zh-SG" altLang="en-US" sz="1400" b="0" i="0" u="none" strike="noStrike">
                <a:solidFill>
                  <a:srgbClr val="23412F"/>
                </a:solidFill>
                <a:latin typeface="+mj-lt"/>
              </a:rPr>
              <a:t>亿美元资金的使用（百万美元）</a:t>
            </a:r>
          </a:p>
        </c:rich>
      </c:tx>
      <c:overlay val="0"/>
    </c:title>
    <c:autoTitleDeleted val="0"/>
    <c:plotArea>
      <c:layout/>
      <c:barChart>
        <c:barDir val="bar"/>
        <c:grouping val="clustered"/>
        <c:varyColors val="0"/>
        <c:ser>
          <c:idx val="0"/>
          <c:order val="0"/>
          <c:tx>
            <c:strRef>
              <c:f>Sheet1!$B$1</c:f>
              <c:strCache>
                <c:ptCount val="1"/>
                <c:pt idx="0">
                  <c:v>$M</c:v>
                </c:pt>
              </c:strCache>
            </c:strRef>
          </c:tx>
          <c:spPr>
            <a:solidFill>
              <a:srgbClr val="3E7C59"/>
            </a:solidFill>
            <a:effectLst/>
          </c:spPr>
          <c:invertIfNegative val="0"/>
          <c:dPt>
            <c:idx val="0"/>
            <c:invertIfNegative val="0"/>
            <c:bubble3D val="0"/>
            <c:extLst>
              <c:ext xmlns:c16="http://schemas.microsoft.com/office/drawing/2014/chart" uri="{C3380CC4-5D6E-409C-BE32-E72D297353CC}">
                <c16:uniqueId val="{00000001-6DC3-8C4E-A222-E88AE023D674}"/>
              </c:ext>
            </c:extLst>
          </c:dPt>
          <c:dPt>
            <c:idx val="1"/>
            <c:invertIfNegative val="0"/>
            <c:bubble3D val="0"/>
            <c:extLst>
              <c:ext xmlns:c16="http://schemas.microsoft.com/office/drawing/2014/chart" uri="{C3380CC4-5D6E-409C-BE32-E72D297353CC}">
                <c16:uniqueId val="{00000003-6DC3-8C4E-A222-E88AE023D674}"/>
              </c:ext>
            </c:extLst>
          </c:dPt>
          <c:dPt>
            <c:idx val="2"/>
            <c:invertIfNegative val="0"/>
            <c:bubble3D val="0"/>
            <c:extLst>
              <c:ext xmlns:c16="http://schemas.microsoft.com/office/drawing/2014/chart" uri="{C3380CC4-5D6E-409C-BE32-E72D297353CC}">
                <c16:uniqueId val="{00000005-6DC3-8C4E-A222-E88AE023D674}"/>
              </c:ext>
            </c:extLst>
          </c:dPt>
          <c:dPt>
            <c:idx val="3"/>
            <c:invertIfNegative val="0"/>
            <c:bubble3D val="0"/>
            <c:extLst>
              <c:ext xmlns:c16="http://schemas.microsoft.com/office/drawing/2014/chart" uri="{C3380CC4-5D6E-409C-BE32-E72D297353CC}">
                <c16:uniqueId val="{00000007-6DC3-8C4E-A222-E88AE023D674}"/>
              </c:ext>
            </c:extLst>
          </c:dPt>
          <c:dPt>
            <c:idx val="4"/>
            <c:invertIfNegative val="0"/>
            <c:bubble3D val="0"/>
            <c:extLst>
              <c:ext xmlns:c16="http://schemas.microsoft.com/office/drawing/2014/chart" uri="{C3380CC4-5D6E-409C-BE32-E72D297353CC}">
                <c16:uniqueId val="{00000009-6DC3-8C4E-A222-E88AE023D674}"/>
              </c:ext>
            </c:extLst>
          </c:dPt>
          <c:dPt>
            <c:idx val="5"/>
            <c:invertIfNegative val="0"/>
            <c:bubble3D val="0"/>
            <c:spPr>
              <a:solidFill>
                <a:srgbClr val="E8A317"/>
              </a:solidFill>
              <a:effectLst/>
            </c:spPr>
            <c:extLst>
              <c:ext xmlns:c16="http://schemas.microsoft.com/office/drawing/2014/chart" uri="{C3380CC4-5D6E-409C-BE32-E72D297353CC}">
                <c16:uniqueId val="{0000000B-6DC3-8C4E-A222-E88AE023D674}"/>
              </c:ext>
            </c:extLst>
          </c:dPt>
          <c:dPt>
            <c:idx val="6"/>
            <c:invertIfNegative val="0"/>
            <c:bubble3D val="0"/>
            <c:spPr>
              <a:solidFill>
                <a:srgbClr val="E8A317"/>
              </a:solidFill>
              <a:effectLst/>
            </c:spPr>
            <c:extLst>
              <c:ext xmlns:c16="http://schemas.microsoft.com/office/drawing/2014/chart" uri="{C3380CC4-5D6E-409C-BE32-E72D297353CC}">
                <c16:uniqueId val="{0000000D-6DC3-8C4E-A222-E88AE023D674}"/>
              </c:ext>
            </c:extLst>
          </c:dPt>
          <c:dPt>
            <c:idx val="7"/>
            <c:invertIfNegative val="0"/>
            <c:bubble3D val="0"/>
            <c:spPr>
              <a:solidFill>
                <a:srgbClr val="6B7F73"/>
              </a:solidFill>
              <a:effectLst/>
            </c:spPr>
            <c:extLst>
              <c:ext xmlns:c16="http://schemas.microsoft.com/office/drawing/2014/chart" uri="{C3380CC4-5D6E-409C-BE32-E72D297353CC}">
                <c16:uniqueId val="{0000000F-6DC3-8C4E-A222-E88AE023D674}"/>
              </c:ext>
            </c:extLst>
          </c:dPt>
          <c:dLbls>
            <c:numFmt formatCode="#,##0.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 Bound Eggs</c:v>
                </c:pt>
                <c:pt idx="1">
                  <c:v>Free Range Roost</c:v>
                </c:pt>
                <c:pt idx="2">
                  <c:v>Planeta avícola</c:v>
                </c:pt>
                <c:pt idx="3">
                  <c:v>Acres botánicos</c:v>
                </c:pt>
                <c:pt idx="4">
                  <c:v>l'Acre de Noyers</c:v>
                </c:pt>
                <c:pt idx="5">
                  <c:v>加工厂</c:v>
                </c:pt>
                <c:pt idx="6">
                  <c:v>散养改造</c:v>
                </c:pt>
                <c:pt idx="7">
                  <c:v>应急储备</c:v>
                </c:pt>
              </c:strCache>
            </c:strRef>
          </c:cat>
          <c:val>
            <c:numRef>
              <c:f>Sheet1!$B$2:$B$9</c:f>
              <c:numCache>
                <c:formatCode>General</c:formatCode>
                <c:ptCount val="8"/>
                <c:pt idx="0">
                  <c:v>124.5</c:v>
                </c:pt>
                <c:pt idx="1">
                  <c:v>189</c:v>
                </c:pt>
                <c:pt idx="2">
                  <c:v>71.5</c:v>
                </c:pt>
                <c:pt idx="3">
                  <c:v>88</c:v>
                </c:pt>
                <c:pt idx="4">
                  <c:v>115</c:v>
                </c:pt>
                <c:pt idx="5">
                  <c:v>50</c:v>
                </c:pt>
                <c:pt idx="6">
                  <c:v>20</c:v>
                </c:pt>
                <c:pt idx="7">
                  <c:v>142</c:v>
                </c:pt>
              </c:numCache>
            </c:numRef>
          </c:val>
          <c:extLst>
            <c:ext xmlns:c16="http://schemas.microsoft.com/office/drawing/2014/chart" uri="{C3380CC4-5D6E-409C-BE32-E72D297353CC}">
              <c16:uniqueId val="{00000010-6DC3-8C4E-A222-E88AE023D674}"/>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220"/>
          <c:min val="0"/>
        </c:scaling>
        <c:delete val="0"/>
        <c:axPos val="t"/>
        <c:majorGridlines>
          <c:spPr>
            <a:ln w="6350" cap="flat">
              <a:solidFill>
                <a:srgbClr val="DDE5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第 </a:t>
            </a:r>
            <a:r>
              <a:rPr lang="en-US" altLang="zh-SG" sz="1400" b="0" i="0" u="none" strike="noStrike">
                <a:solidFill>
                  <a:srgbClr val="23412F"/>
                </a:solidFill>
                <a:latin typeface="+mj-lt"/>
              </a:rPr>
              <a:t>0–7 </a:t>
            </a:r>
            <a:r>
              <a:rPr lang="zh-SG" altLang="en-US" sz="1400" b="0" i="0" u="none" strike="noStrike">
                <a:solidFill>
                  <a:srgbClr val="23412F"/>
                </a:solidFill>
                <a:latin typeface="+mj-lt"/>
              </a:rPr>
              <a:t>年分来源收入（百万美元）</a:t>
            </a:r>
          </a:p>
        </c:rich>
      </c:tx>
      <c:overlay val="0"/>
    </c:title>
    <c:autoTitleDeleted val="0"/>
    <c:plotArea>
      <c:layout/>
      <c:barChart>
        <c:barDir val="col"/>
        <c:grouping val="stacked"/>
        <c:varyColors val="0"/>
        <c:ser>
          <c:idx val="0"/>
          <c:order val="0"/>
          <c:tx>
            <c:strRef>
              <c:f>Sheet1!$B$1</c:f>
              <c:strCache>
                <c:ptCount val="1"/>
                <c:pt idx="0">
                  <c:v>美国大宗</c:v>
                </c:pt>
              </c:strCache>
            </c:strRef>
          </c:tx>
          <c:spPr>
            <a:solidFill>
              <a:srgbClr val="6B7F73"/>
            </a:solidFill>
            <a:effectLst/>
          </c:spPr>
          <c:invertIfNegative val="0"/>
          <c:cat>
            <c:strRef>
              <c:f>Sheet1!$A$2:$A$9</c:f>
              <c:strCache>
                <c:ptCount val="8"/>
                <c:pt idx="0">
                  <c:v>第0年</c:v>
                </c:pt>
                <c:pt idx="1">
                  <c:v>第1年</c:v>
                </c:pt>
                <c:pt idx="2">
                  <c:v>第2年</c:v>
                </c:pt>
                <c:pt idx="3">
                  <c:v>第3年</c:v>
                </c:pt>
                <c:pt idx="4">
                  <c:v>第4年</c:v>
                </c:pt>
                <c:pt idx="5">
                  <c:v>第5年</c:v>
                </c:pt>
                <c:pt idx="6">
                  <c:v>第6年</c:v>
                </c:pt>
                <c:pt idx="7">
                  <c:v>第7年</c:v>
                </c:pt>
              </c:strCache>
            </c:strRef>
          </c:cat>
          <c:val>
            <c:numRef>
              <c:f>Sheet1!$B$2:$B$9</c:f>
              <c:numCache>
                <c:formatCode>General</c:formatCode>
                <c:ptCount val="8"/>
                <c:pt idx="0">
                  <c:v>1761</c:v>
                </c:pt>
                <c:pt idx="1">
                  <c:v>1711</c:v>
                </c:pt>
                <c:pt idx="2">
                  <c:v>1661</c:v>
                </c:pt>
                <c:pt idx="3">
                  <c:v>1661</c:v>
                </c:pt>
                <c:pt idx="4">
                  <c:v>1661</c:v>
                </c:pt>
                <c:pt idx="5">
                  <c:v>1661</c:v>
                </c:pt>
                <c:pt idx="6">
                  <c:v>1661</c:v>
                </c:pt>
                <c:pt idx="7">
                  <c:v>1661</c:v>
                </c:pt>
              </c:numCache>
            </c:numRef>
          </c:val>
          <c:extLst>
            <c:ext xmlns:c16="http://schemas.microsoft.com/office/drawing/2014/chart" uri="{C3380CC4-5D6E-409C-BE32-E72D297353CC}">
              <c16:uniqueId val="{00000000-A31F-8F48-B754-769802898A4D}"/>
            </c:ext>
          </c:extLst>
        </c:ser>
        <c:ser>
          <c:idx val="1"/>
          <c:order val="1"/>
          <c:tx>
            <c:strRef>
              <c:f>Sheet1!$C$1</c:f>
              <c:strCache>
                <c:ptCount val="1"/>
                <c:pt idx="0">
                  <c:v>美国特色</c:v>
                </c:pt>
              </c:strCache>
            </c:strRef>
          </c:tx>
          <c:spPr>
            <a:solidFill>
              <a:srgbClr val="E8A317"/>
            </a:solidFill>
            <a:effectLst/>
          </c:spPr>
          <c:invertIfNegative val="0"/>
          <c:cat>
            <c:strRef>
              <c:f>Sheet1!$A$2:$A$9</c:f>
              <c:strCache>
                <c:ptCount val="8"/>
                <c:pt idx="0">
                  <c:v>第0年</c:v>
                </c:pt>
                <c:pt idx="1">
                  <c:v>第1年</c:v>
                </c:pt>
                <c:pt idx="2">
                  <c:v>第2年</c:v>
                </c:pt>
                <c:pt idx="3">
                  <c:v>第3年</c:v>
                </c:pt>
                <c:pt idx="4">
                  <c:v>第4年</c:v>
                </c:pt>
                <c:pt idx="5">
                  <c:v>第5年</c:v>
                </c:pt>
                <c:pt idx="6">
                  <c:v>第6年</c:v>
                </c:pt>
                <c:pt idx="7">
                  <c:v>第7年</c:v>
                </c:pt>
              </c:strCache>
            </c:strRef>
          </c:cat>
          <c:val>
            <c:numRef>
              <c:f>Sheet1!$C$2:$C$9</c:f>
              <c:numCache>
                <c:formatCode>General</c:formatCode>
                <c:ptCount val="8"/>
                <c:pt idx="0">
                  <c:v>576</c:v>
                </c:pt>
                <c:pt idx="1">
                  <c:v>675.8</c:v>
                </c:pt>
                <c:pt idx="2">
                  <c:v>791.5</c:v>
                </c:pt>
                <c:pt idx="3">
                  <c:v>857.5</c:v>
                </c:pt>
                <c:pt idx="4">
                  <c:v>873.9</c:v>
                </c:pt>
                <c:pt idx="5">
                  <c:v>890.8</c:v>
                </c:pt>
                <c:pt idx="6">
                  <c:v>908.1</c:v>
                </c:pt>
                <c:pt idx="7">
                  <c:v>925.8</c:v>
                </c:pt>
              </c:numCache>
            </c:numRef>
          </c:val>
          <c:extLst>
            <c:ext xmlns:c16="http://schemas.microsoft.com/office/drawing/2014/chart" uri="{C3380CC4-5D6E-409C-BE32-E72D297353CC}">
              <c16:uniqueId val="{00000001-A31F-8F48-B754-769802898A4D}"/>
            </c:ext>
          </c:extLst>
        </c:ser>
        <c:ser>
          <c:idx val="2"/>
          <c:order val="2"/>
          <c:tx>
            <c:strRef>
              <c:f>Sheet1!$D$1</c:f>
              <c:strCache>
                <c:ptCount val="1"/>
                <c:pt idx="0">
                  <c:v>海外</c:v>
                </c:pt>
              </c:strCache>
            </c:strRef>
          </c:tx>
          <c:spPr>
            <a:solidFill>
              <a:srgbClr val="3E7C59"/>
            </a:solidFill>
            <a:effectLst/>
          </c:spPr>
          <c:invertIfNegative val="0"/>
          <c:cat>
            <c:strRef>
              <c:f>Sheet1!$A$2:$A$9</c:f>
              <c:strCache>
                <c:ptCount val="8"/>
                <c:pt idx="0">
                  <c:v>第0年</c:v>
                </c:pt>
                <c:pt idx="1">
                  <c:v>第1年</c:v>
                </c:pt>
                <c:pt idx="2">
                  <c:v>第2年</c:v>
                </c:pt>
                <c:pt idx="3">
                  <c:v>第3年</c:v>
                </c:pt>
                <c:pt idx="4">
                  <c:v>第4年</c:v>
                </c:pt>
                <c:pt idx="5">
                  <c:v>第5年</c:v>
                </c:pt>
                <c:pt idx="6">
                  <c:v>第6年</c:v>
                </c:pt>
                <c:pt idx="7">
                  <c:v>第7年</c:v>
                </c:pt>
              </c:strCache>
            </c:strRef>
          </c:cat>
          <c:val>
            <c:numRef>
              <c:f>Sheet1!$D$2:$D$9</c:f>
              <c:numCache>
                <c:formatCode>General</c:formatCode>
                <c:ptCount val="8"/>
                <c:pt idx="0">
                  <c:v>0</c:v>
                </c:pt>
                <c:pt idx="1">
                  <c:v>602</c:v>
                </c:pt>
                <c:pt idx="2">
                  <c:v>1264</c:v>
                </c:pt>
                <c:pt idx="3">
                  <c:v>1610</c:v>
                </c:pt>
                <c:pt idx="4">
                  <c:v>1977</c:v>
                </c:pt>
                <c:pt idx="5">
                  <c:v>2278</c:v>
                </c:pt>
                <c:pt idx="6">
                  <c:v>2278</c:v>
                </c:pt>
                <c:pt idx="7">
                  <c:v>2278</c:v>
                </c:pt>
              </c:numCache>
            </c:numRef>
          </c:val>
          <c:extLst>
            <c:ext xmlns:c16="http://schemas.microsoft.com/office/drawing/2014/chart" uri="{C3380CC4-5D6E-409C-BE32-E72D297353CC}">
              <c16:uniqueId val="{00000002-A31F-8F48-B754-769802898A4D}"/>
            </c:ext>
          </c:extLst>
        </c:ser>
        <c:dLbls>
          <c:showLegendKey val="0"/>
          <c:showVal val="0"/>
          <c:showCatName val="0"/>
          <c:showSerName val="0"/>
          <c:showPercent val="0"/>
          <c:showBubbleSize val="0"/>
        </c:dLbls>
        <c:gapWidth val="50"/>
        <c:overlap val="100"/>
        <c:axId val="2094734554"/>
        <c:axId val="2094734552"/>
      </c:barChart>
      <c:lineChart>
        <c:grouping val="standard"/>
        <c:varyColors val="0"/>
        <c:ser>
          <c:idx val="3"/>
          <c:order val="3"/>
          <c:tx>
            <c:strRef>
              <c:f>Sheet1!$E$1</c:f>
              <c:strCache>
                <c:ptCount val="1"/>
                <c:pt idx="0">
                  <c:v>35 亿目标</c:v>
                </c:pt>
              </c:strCache>
            </c:strRef>
          </c:tx>
          <c:spPr>
            <a:ln w="25400" cap="flat">
              <a:solidFill>
                <a:srgbClr val="C0563B"/>
              </a:solidFill>
              <a:prstDash val="dash"/>
              <a:round/>
            </a:ln>
            <a:effectLst/>
          </c:spPr>
          <c:marker>
            <c:symbol val="none"/>
          </c:marker>
          <c:cat>
            <c:strRef>
              <c:f>Sheet1!$A$2:$A$9</c:f>
              <c:strCache>
                <c:ptCount val="8"/>
                <c:pt idx="0">
                  <c:v>第0年</c:v>
                </c:pt>
                <c:pt idx="1">
                  <c:v>第1年</c:v>
                </c:pt>
                <c:pt idx="2">
                  <c:v>第2年</c:v>
                </c:pt>
                <c:pt idx="3">
                  <c:v>第3年</c:v>
                </c:pt>
                <c:pt idx="4">
                  <c:v>第4年</c:v>
                </c:pt>
                <c:pt idx="5">
                  <c:v>第5年</c:v>
                </c:pt>
                <c:pt idx="6">
                  <c:v>第6年</c:v>
                </c:pt>
                <c:pt idx="7">
                  <c:v>第7年</c:v>
                </c:pt>
              </c:strCache>
            </c:strRef>
          </c:cat>
          <c:val>
            <c:numRef>
              <c:f>Sheet1!$E$2:$E$9</c:f>
              <c:numCache>
                <c:formatCode>General</c:formatCode>
                <c:ptCount val="8"/>
                <c:pt idx="0">
                  <c:v>3500</c:v>
                </c:pt>
                <c:pt idx="1">
                  <c:v>3500</c:v>
                </c:pt>
                <c:pt idx="2">
                  <c:v>3500</c:v>
                </c:pt>
                <c:pt idx="3">
                  <c:v>3500</c:v>
                </c:pt>
                <c:pt idx="4">
                  <c:v>3500</c:v>
                </c:pt>
                <c:pt idx="5">
                  <c:v>3500</c:v>
                </c:pt>
                <c:pt idx="6">
                  <c:v>3500</c:v>
                </c:pt>
                <c:pt idx="7">
                  <c:v>3500</c:v>
                </c:pt>
              </c:numCache>
            </c:numRef>
          </c:val>
          <c:smooth val="0"/>
          <c:extLst>
            <c:ext xmlns:c16="http://schemas.microsoft.com/office/drawing/2014/chart" uri="{C3380CC4-5D6E-409C-BE32-E72D297353CC}">
              <c16:uniqueId val="{00000003-A31F-8F48-B754-769802898A4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5500"/>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lang="zh-SG" altLang="en-US" sz="1400" b="0" i="0" u="none" strike="noStrike">
                <a:solidFill>
                  <a:srgbClr val="23412F"/>
                </a:solidFill>
                <a:latin typeface="+mj-lt"/>
              </a:rPr>
              <a:t>大宗价格冲击下的第 </a:t>
            </a:r>
            <a:r>
              <a:rPr lang="en-US" altLang="zh-SG" sz="1400" b="0" i="0" u="none" strike="noStrike">
                <a:solidFill>
                  <a:srgbClr val="23412F"/>
                </a:solidFill>
                <a:latin typeface="+mj-lt"/>
              </a:rPr>
              <a:t>3 </a:t>
            </a:r>
            <a:r>
              <a:rPr lang="zh-SG" altLang="en-US" sz="1400" b="0" i="0" u="none" strike="noStrike">
                <a:solidFill>
                  <a:srgbClr val="23412F"/>
                </a:solidFill>
                <a:latin typeface="+mj-lt"/>
              </a:rPr>
              <a:t>年收入（百万美元）</a:t>
            </a:r>
          </a:p>
        </c:rich>
      </c:tx>
      <c:overlay val="0"/>
    </c:title>
    <c:autoTitleDeleted val="0"/>
    <c:plotArea>
      <c:layout/>
      <c:barChart>
        <c:barDir val="col"/>
        <c:grouping val="clustered"/>
        <c:varyColors val="0"/>
        <c:ser>
          <c:idx val="0"/>
          <c:order val="0"/>
          <c:tx>
            <c:strRef>
              <c:f>Sheet1!$B$1</c:f>
              <c:strCache>
                <c:ptCount val="1"/>
                <c:pt idx="0">
                  <c:v>第 3 年收入</c:v>
                </c:pt>
              </c:strCache>
            </c:strRef>
          </c:tx>
          <c:spPr>
            <a:solidFill>
              <a:srgbClr val="3E7C59"/>
            </a:solidFill>
            <a:effectLst/>
          </c:spPr>
          <c:invertIfNegative val="0"/>
          <c:dLbls>
            <c:numFmt formatCode="#,##0" sourceLinked="0"/>
            <c:spPr>
              <a:noFill/>
              <a:ln>
                <a:noFill/>
              </a:ln>
              <a:effectLst/>
            </c:spPr>
            <c:txPr>
              <a:bodyPr/>
              <a:lstStyle/>
              <a:p>
                <a:pPr>
                  <a:defRPr sz="1100" b="0" i="0" u="none" strike="noStrike">
                    <a:solidFill>
                      <a:srgbClr val="1B2A22"/>
                    </a:solidFill>
                    <a:latin typeface="+mn-lt"/>
                  </a:defRPr>
                </a:pPr>
                <a:endParaRPr lang="zh-S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基准</c:v>
                </c:pt>
                <c:pt idx="1">
                  <c:v>−10%</c:v>
                </c:pt>
                <c:pt idx="2">
                  <c:v>−20%</c:v>
                </c:pt>
                <c:pt idx="3">
                  <c:v>−30%</c:v>
                </c:pt>
                <c:pt idx="4">
                  <c:v>−48%</c:v>
                </c:pt>
                <c:pt idx="5">
                  <c:v>−48%+墨西哥</c:v>
                </c:pt>
              </c:strCache>
            </c:strRef>
          </c:cat>
          <c:val>
            <c:numRef>
              <c:f>Sheet1!$B$2:$B$7</c:f>
              <c:numCache>
                <c:formatCode>General</c:formatCode>
                <c:ptCount val="6"/>
                <c:pt idx="0">
                  <c:v>4128.5</c:v>
                </c:pt>
                <c:pt idx="1">
                  <c:v>3962.4</c:v>
                </c:pt>
                <c:pt idx="2">
                  <c:v>3796.3</c:v>
                </c:pt>
                <c:pt idx="3">
                  <c:v>3630.2</c:v>
                </c:pt>
                <c:pt idx="4">
                  <c:v>3331.2</c:v>
                </c:pt>
                <c:pt idx="5">
                  <c:v>3698.2</c:v>
                </c:pt>
              </c:numCache>
            </c:numRef>
          </c:val>
          <c:extLst>
            <c:ext xmlns:c16="http://schemas.microsoft.com/office/drawing/2014/chart" uri="{C3380CC4-5D6E-409C-BE32-E72D297353CC}">
              <c16:uniqueId val="{00000000-8D3D-AA4C-9C54-AEBB93A300A8}"/>
            </c:ext>
          </c:extLst>
        </c:ser>
        <c:dLbls>
          <c:dLblPos val="outEnd"/>
          <c:showLegendKey val="0"/>
          <c:showVal val="1"/>
          <c:showCatName val="0"/>
          <c:showSerName val="0"/>
          <c:showPercent val="0"/>
          <c:showBubbleSize val="0"/>
        </c:dLbls>
        <c:gapWidth val="50"/>
        <c:axId val="2094734554"/>
        <c:axId val="2094734552"/>
      </c:barChart>
      <c:lineChart>
        <c:grouping val="standard"/>
        <c:varyColors val="0"/>
        <c:ser>
          <c:idx val="1"/>
          <c:order val="1"/>
          <c:tx>
            <c:strRef>
              <c:f>Sheet1!$C$1</c:f>
              <c:strCache>
                <c:ptCount val="1"/>
                <c:pt idx="0">
                  <c:v>35 亿目标</c:v>
                </c:pt>
              </c:strCache>
            </c:strRef>
          </c:tx>
          <c:spPr>
            <a:ln w="25400" cap="flat">
              <a:solidFill>
                <a:srgbClr val="C0563B"/>
              </a:solidFill>
              <a:prstDash val="dash"/>
              <a:round/>
            </a:ln>
            <a:effectLst/>
          </c:spPr>
          <c:marker>
            <c:symbol val="none"/>
          </c:marker>
          <c:cat>
            <c:strRef>
              <c:f>Sheet1!$A$2:$A$7</c:f>
              <c:strCache>
                <c:ptCount val="6"/>
                <c:pt idx="0">
                  <c:v>基准</c:v>
                </c:pt>
                <c:pt idx="1">
                  <c:v>−10%</c:v>
                </c:pt>
                <c:pt idx="2">
                  <c:v>−20%</c:v>
                </c:pt>
                <c:pt idx="3">
                  <c:v>−30%</c:v>
                </c:pt>
                <c:pt idx="4">
                  <c:v>−48%</c:v>
                </c:pt>
                <c:pt idx="5">
                  <c:v>−48%+墨西哥</c:v>
                </c:pt>
              </c:strCache>
            </c:strRef>
          </c:cat>
          <c:val>
            <c:numRef>
              <c:f>Sheet1!$C$2:$C$7</c:f>
              <c:numCache>
                <c:formatCode>General</c:formatCode>
                <c:ptCount val="6"/>
                <c:pt idx="0">
                  <c:v>3500</c:v>
                </c:pt>
                <c:pt idx="1">
                  <c:v>3500</c:v>
                </c:pt>
                <c:pt idx="2">
                  <c:v>3500</c:v>
                </c:pt>
                <c:pt idx="3">
                  <c:v>3500</c:v>
                </c:pt>
                <c:pt idx="4">
                  <c:v>3500</c:v>
                </c:pt>
                <c:pt idx="5">
                  <c:v>3500</c:v>
                </c:pt>
              </c:numCache>
            </c:numRef>
          </c:val>
          <c:smooth val="0"/>
          <c:extLst>
            <c:ext xmlns:c16="http://schemas.microsoft.com/office/drawing/2014/chart" uri="{C3380CC4-5D6E-409C-BE32-E72D297353CC}">
              <c16:uniqueId val="{00000001-8D3D-AA4C-9C54-AEBB93A300A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5000"/>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0756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1
【英文讲稿】
Good morning, everyone. We are a group of five students. Today we talk about American Egg. It is a family company in the US. It sells eggs and makes 2.34 billion dollars a year. The board wants three things. One: more than 3.5 billion dollars in three years. Two: more special eggs, at least 30 percent. Three: work in other countries within seven years. Our idea is simple. Fix the product mix at home. Buy growth in other countries.
【中文意思】
大家早上好。我们是一个五人小组。今天讲 American Egg。这是一家美国家族企业，卖鸡蛋，年收入 23.4 亿美元。董事会有三个目标：一，三年内收入超过 35 亿美元；二，特色鸡蛋占比至少 30%；三，七年内进入其他国家。我们的思路很简单：国内调整产品结构，国外收购带来增长。</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1
【英文讲稿】
This slide shows our five steps. First, we define the problem. Second, we measure the numbers. Third, we look at the companies we can buy. Fourth, we read the text in the case and find themes. Fifth, we make a plan and test it. We use numbers, like averages and correlation. We also use words, like news and risks. Each of us will present four slides.
【中文意思】
这一页是我们的五个步骤：一，定义问题；二，计算数据；三，筛选可收购的公司；四，阅读案例文字并归纳主题；五，制定方案并做测试。我们用了定量方法，比如平均数和相关系数；也用了定性方法，比如新闻和风险。我们每人讲四页。</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1
【英文讲稿】
Here is the problem. Revenue is 2.34 billion dollars. Only 24.6 percent comes from special eggs. Normal eggs make 12.4 percent profit. Special eggs make 20 percent. Egg prices go up and down a lot. In one bad year, revenue fell 48 percent. So the company must grow fast, change its mix, and go global. But it can only use 800 million dollars.
【中文意思】
这是问题所在。收入 23.4 亿美元，特色鸡蛋只占 24.6%。普通鸡蛋利润率 12.4%，特色鸡蛋 20%。蛋价波动很大，有一年收入下跌了 48%。所以公司必须快速增长、调整结构、走向全球，但最多只能用 8 亿美元。</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1
【英文讲稿】
We turned each goal into a number. Goal one: from 2,337 million to 3,500 million dollars. Our plan reaches about 4,130 million in year three. Goal two: from 24.6 percent to 30 percent. Our plan reaches 34 percent. Goal three: the case does not say what "global" means. So this is our own assumption: four or more continents, and about half of revenue from new markets. We go from two countries to eight. By year seven, 47 percent of revenue comes from new markets. Now I hand over to the next speaker.
【中文意思】
我们把每个目标变成数字。目标一：从 23.37 亿到 35 亿美元，我们的方案第三年约 41.3 亿。目标二：从 24.6% 到 30%，我们的方案达到 34%。目标三：案例没有定义“全球化”，所以这是我们自己的假设：覆盖 4 个以上大洲、约一半收入来自新市场。从 2 国到 8 国，第七年 47% 的收入来自新市场。下面交给下一位同学。</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2
【英文讲稿】
Thank you. This chart shows egg prices last year. The average price was 1.67 dollars a dozen. Prices moved by about 21 percent. In one year, the price doubled. The US Bureau of Labor Statistics says the average shop price hit a record of 4.95 dollars in January 2025. In that month alone, bird flu cost about 18.8 million egg-laying hens. So normal eggs are risky. We need a plan that is safe, not just enough.
【中文意思】
谢谢。这张图是去年的蛋价。平均每打 1.67 美元，波动约 21%，一年内价格翻倍。美国劳工统计局（BLS）数据显示，2025 年 1 月平均零售价创纪录达到 4.95 美元；仅当月禽流感就造成约 1880 万只蛋鸡损失。所以普通鸡蛋风险很高，我们的方案要留有余量，不能刚好达标。</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2
【英文讲稿】
The case gives three ways to grow at home. We compare profit for each one million dollars. The case says extra marketing gives a 6 percent upside. This is our assumption: we read it as 6 percent more special egg sales. With that, marketing gives only 18 cents, because it costs money every year. Cage-free change gives 13 cents, but it is the cheapest way to change the mix. A new egg product factory gives 40 cents. That is the best. So we use factories for profit and cage-free for the mix.
【中文意思】
案例给了三种国内增长方式，我们比较每投入 100 万美元带来的利润。案例说追加营销有 6% 的增长空间，我们假设它指特色收入增加 6%。在这个假设下，营销只有 0.18，因为每年都要花钱；散养改造 0.13，但它是调整结构最便宜的方式；蛋制品工厂 0.40，最好。所以用工厂赚利润，用散养改造调结构。</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2
【英文讲稿】
This chart shows how special eggs grow. We start at 576 million dollars. Marketing adds about 35 million. Market growth adds about 47 million. Two factories add 100 million. Cage-free change adds 100 million. We reach about 858 million. The share passes 30 percent in year two, and reaches 34 percent in year three. In November 2023, 38.8 percent of US hens were already cage-free, so the market is ready. Remember, the marketing number is our assumption.
【中文意思】
这张图展示特色鸡蛋如何增长。起点 5.76 亿美元，营销增加约 3500 万，市场增长约 4700 万，两个工厂增加 1 亿，散养改造增加 1 亿，最终约 8.58 亿。占比第二年超过 30%，第三年达到 34%。2023 年 11 月，美国已有 38.8% 的母鸡是散养，市场已经准备好。注意：营销那部分是我们的假设。</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2
【英文讲稿】
Now we look at 20 companies in other regions. North American companies are big, but they are expensive. They cost about 11 times their yearly profit. Asian companies cost only about 3 times. The average company makes 504 million dollars. Almost all of them have the same profit margin, 5 percent. So price, size and risk are what make them different. Now I hand over to the next speaker.
【中文意思】
现在看其他地区的 20 家公司。北美公司规模大但很贵，价格约为年利润的 11 倍；亚洲公司只有约 3 倍。平均每家收入 5.04 亿美元。几乎所有公司利润率都是 5%，所以区分它们的是价格、规模和风险。下面交给下一位同学。</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3
【英文讲稿】
Thank you. We gave each country a risk score from 1 to 5. Then we compared risk with price. The correlation is minus 0.76. This means: more risk, lower price. The cheapest companies are in Syria, Bangladesh and Ukraine. They have war, legal problems, or big losses. So a low price is not good value. We only choose cheap companies if the risk is 3 or lower. But this result has limits. We have only 19 points. We gave the risk scores ourselves. And correlation does not prove cause. Size or data quality may also change the price.
【中文意思】
谢谢。我们给每个国家打了 1 到 5 分的风险分，然后和价格比较。相关系数是 −0.76，意思是风险越高，价格越低。最便宜的公司在叙利亚、孟加拉和乌克兰，那里有战争、法律问题或巨大损失。所以低价不等于划算。我们只选风险 3 分或以下的便宜公司。但这个结果有局限：只有 19 个数据点；风险分是我们自己打的；相关不等于因果，规模或数据质量也可能影响价格。</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3
【英文讲稿】
We also read the words in the case. We put them into themes. Red bars are risks. Green bars are chances. Price changes appear for seven companies. Animal disease appears for six. So keeping birds healthy is very important. Five companies are moving to cage-free eggs. This fits our goal. We also want partners who fit our company culture, because we treat workers well.
【中文意思】
我们也阅读了案例里的文字，把它们归纳成主题。红色是风险，绿色是机会。价格波动出现在 7 家公司，动物疫病出现在 6 家，所以禽类健康非常重要。有 5 家公司正在转向散养，这和我们的目标一致。我们也希望合作方和公司文化相符，因为我们很重视员工。</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3
【英文讲稿】
Here we put numbers and words together in one score. Country risk has the biggest weight, 25 percent. Canyon Crossing has the top score, but it costs more than one billion dollars. That is too much. It is also our biggest US competitor. So we remove it. We choose companies in Japan and India, Thailand, Brazil, Mexico and France. We also keep two backups.
【中文意思】
这里我们把数字和文字结合成一个总分。国家风险权重最大，占 25%。Canyon Crossing 分数最高，但价格超过 10 亿美元，太贵了，而且它是我们在美国最大的竞争对手，所以排除。我们选择日本/印度、泰国、巴西、墨西哥和法国的公司，另外保留两个备选。</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3
【英文讲稿】
This is our plan. At home, we build two factories and change some farms to cage-free. Abroad, we buy one company each year. Year one: Japan and India. Year two: Thailand. Year three: Brazil. Year four: Mexico. Year five: France. The first three add 1.6 billion dollars. One deal a year is easier for our managers. Now I hand over to the next speaker.
【中文意思】
这是我们的方案。国内：建两个工厂，把部分农场改为散养。国外：每年收购一家公司。第一年日本/印度，第二年泰国，第三年巴西，第四年墨西哥，第五年法国。前三家就增加 16 亿美元收入。每年一笔交易，管理层更容易应对。下面交给下一位同学。</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4
【英文讲稿】
Thank you. Now the money. We can use 800 million dollars. We use 658 million. We keep 142 million for safety. We use our own 300 million first. Then we borrow 358 million at 3 percent. The interest is about 11 million a year. The new companies make about 114 million a year. So we can pay the interest more than ten times.
【中文意思】
谢谢。现在讲资金。我们可用 8 亿美元，实际用 6.58 亿，留 1.42 亿作为安全储备。先用自有的 3 亿，再按 3% 借 3.58 亿，每年利息约 1100 万。新公司每年利润约 1.14 亿，足以支付十倍以上的利息。</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4
【英文讲稿】
This chart shows revenue for seven years. The dashed line is the 3.5 billion dollar target. Grey is normal eggs. Yellow is special eggs. Green is other countries. We pass the target in year two. In year three, we reach about 4.13 billion. In year seven, about 4.9 billion. Almost half comes from other countries. We did not add any growth for the new companies, so this is a safe number.
【中文意思】
这张图是七年的收入。虚线是 35 亿目标。灰色是普通鸡蛋，黄色是特色鸡蛋，绿色是海外。第二年超过目标，第三年约 41.3 亿，第七年约 49 亿，接近一半来自海外。我们没有给新公司加任何增长，所以这是保守的数字。</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4
【英文讲稿】
Egg prices can fall, so we tested this. If prices fall 10, 20 or 30 percent, we still pass 3.5 billion. We only fail if prices fall more than 38 percent. If a big fall like 48 percent happens again, we buy the Mexican company one year early. Then revenue goes back to about 3.7 billion. Also, when prices fall, special eggs become a bigger share.
【中文意思】
蛋价可能下跌，所以我们做了测试。价格跌 10%、20% 或 30%，我们仍然超过 35 亿。只有跌幅超过 38% 才会不达标。如果再次出现 48% 的大跌，我们就提前一年收购墨西哥公司，收入回到约 37 亿。另外，价格下跌时，特色鸡蛋的占比反而会上升。</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4
【英文讲稿】
For each goal, the case asks for two objectives and two risks. For goal one, our first objective is to buy three companies by year three. Risks: prices can crash, and we can pay too much. We bid low and keep local leaders. Our second objective is to grow at home. Risks: bird flu, which cost about 18.8 million US hens in January 2025 alone, and factory delays. We use strong bird safety and sell factory products early. Now I hand over to the next speaker.
【中文意思】
案例要求每个目标有两个具体措施和两个风险。目标一的第一个措施是三年内收购三家公司，风险是价格暴跌和出价过高，应对是压低报价并保留当地管理层。第二个措施是国内增长，风险是禽流感（仅 2025 年 1 月美国就损失约 1880 万只蛋鸡）和工厂延期，应对是加强生物安全并提前预售工厂产品。下面交给下一位同学。</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5
【英文讲稿】
Thank you. Goal two is about special eggs. First, cage-free change. Risk: many farms are changing. In November 2023, 38.8 percent of US hens were already cage-free. So prices for cage-free eggs may fall. We only change farms when customers sign a contract. Second, factories and marketing. Risk: people may buy fewer ready-made egg products. We sell to many types of customers. Marketing gives little profit, so we check it after 12 months.
【中文意思】
谢谢。目标二是特色鸡蛋。第一，散养改造。风险是很多农场都在改（2023 年 11 月美国散养比例已达 38.8%），散养蛋价格可能下降，所以只有客户签了合同才改造。第二，工厂和营销。风险是人们可能少买加工蛋制品，所以我们面向多种客户。营销利润很少，所以 12 个月后检查效果。</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5
【英文讲稿】
Goal three is about going global. First, we buy companies on four continents. Risks: politics and money value can change, and cultures are different. We borrow some money in local money, and we keep local managers. Second, we keep our money safe. Risks: lower profit, or a company is sold to someone else. We use a fixed 3 percent rate and keep a backup list.
【中文意思】
目标三是走向全球。第一，在四大洲收购公司。风险是政治和汇率变化，以及文化差异。应对是部分借款用当地货币，并保留当地管理层。第二，保持财务稳健。风险是利润下降或目标公司被别人买走。应对是锁定 3% 固定利率，并准备备选名单。</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5
【英文讲稿】
Our goals can help each other. Each new company helps goal one and goal three. Factories help the mix and the profit. But goals can also fight. Buying a big US company is fast, but it lowers the special egg share. Money for factories means less money for deals. And our managers have limited time. So we do one deal a year.
【中文意思】
目标之间可以互相促进：每收购一家公司，同时帮助目标一和目标三；工厂既改善结构又提高利润。但目标也会冲突：收购美国大公司虽然快，但会降低特色占比；工厂花的钱会减少收购资金；管理层时间也有限。所以我们每年只做一笔交易。</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5
【英文讲稿】
To finish, here are our three points. One: we can meet all three goals with 658 million dollars. Two: a low price is not always good value. Risk matters. Three: egg prices change a lot, so our plan has a safety buffer. Our last slide lists all our sources.
【中文意思】
最后，三个要点。一：用 6.58 亿美元就能实现全部三个目标。二：价格低不一定划算，风险很重要。三：蛋价波动大，所以我们的方案留有安全余量。最后一页列出了我们所有的资料来源。</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演讲人 5
【英文讲稿】
Here are our references, in Harvard style. We used the Sage case, and three outside sources for egg prices, bird flu and cage-free hens. All other numbers are our own calculations from the case. Thank you for listening. We are happy to answer your questions.
【中文意思】
这是我们的参考文献，采用 Harvard 格式：Sage 案例，以及关于蛋价、禽流感和散养比例的三个外部来源。其余数字都是我们基于案例的计算。谢谢大家，欢迎提问。</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3412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8778240" cy="1737360"/>
          </a:xfrm>
          <a:prstGeom prst="rect">
            <a:avLst/>
          </a:prstGeom>
          <a:noFill/>
          <a:ln/>
        </p:spPr>
        <p:txBody>
          <a:bodyPr wrap="square" rtlCol="0"/>
          <a:lstStyle>
            <a:lvl1pPr marL="0" indent="0" algn="l">
              <a:buNone/>
              <a:defRPr lang="en-US" sz="4000" b="1" dirty="0">
                <a:solidFill>
                  <a:schemeClr val="bg1"/>
                </a:solidFill>
                <a:latin typeface="Microsoft YaHei" pitchFamily="34" charset="0"/>
                <a:ea typeface="Microsoft YaHei" pitchFamily="34" charset="-122"/>
                <a:cs typeface="Microsoft YaHei"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731520" y="3749040"/>
            <a:ext cx="8778240" cy="1463040"/>
          </a:xfrm>
          <a:prstGeom prst="rect">
            <a:avLst/>
          </a:prstGeom>
          <a:noFill/>
          <a:ln/>
        </p:spPr>
        <p:txBody>
          <a:bodyPr wrap="square" rtlCol="0"/>
          <a:lstStyle>
            <a:lvl1pPr marL="0" indent="0" algn="l">
              <a:buNone/>
              <a:defRPr lang="en-US" sz="1800" dirty="0">
                <a:solidFill>
                  <a:schemeClr val="accent6"/>
                </a:solidFill>
                <a:latin typeface="Microsoft YaHei" pitchFamily="34" charset="0"/>
                <a:ea typeface="Microsoft YaHei" pitchFamily="34" charset="-122"/>
                <a:cs typeface="Microsoft YaHei" pitchFamily="34" charset="-120"/>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D_DARK">
    <p:bg>
      <p:bgPr>
        <a:solidFill>
          <a:srgbClr val="23412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822960"/>
          </a:xfrm>
          <a:prstGeom prst="rect">
            <a:avLst/>
          </a:prstGeom>
          <a:noFill/>
          <a:ln/>
        </p:spPr>
        <p:txBody>
          <a:bodyPr wrap="square" rtlCol="0"/>
          <a:lstStyle>
            <a:lvl1pPr marL="0" indent="0" algn="l">
              <a:buNone/>
              <a:defRPr lang="en-US" sz="3600" b="1" dirty="0">
                <a:solidFill>
                  <a:schemeClr val="bg1"/>
                </a:solidFill>
                <a:latin typeface="Microsoft YaHei" pitchFamily="34" charset="0"/>
                <a:ea typeface="Microsoft YaHei" pitchFamily="34" charset="-122"/>
                <a:cs typeface="Microsoft YaHei" pitchFamily="34" charset="-120"/>
              </a:defRPr>
            </a:lvl1pPr>
          </a:lstStyle>
          <a:p>
            <a:pPr marL="0" indent="0" algn="l">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rtlCol="0"/>
          <a:lstStyle>
            <a:lvl1pPr marL="0" indent="0" algn="l">
              <a:buNone/>
              <a:defRPr lang="en-US" sz="3200" b="1" dirty="0">
                <a:solidFill>
                  <a:schemeClr val="tx2"/>
                </a:solidFill>
                <a:latin typeface="Microsoft YaHei" pitchFamily="34" charset="0"/>
                <a:ea typeface="Microsoft YaHei" pitchFamily="34" charset="-122"/>
                <a:cs typeface="Microsoft YaHei" pitchFamily="34" charset="-120"/>
              </a:defRPr>
            </a:lvl1pPr>
          </a:lstStyle>
          <a:p>
            <a:pPr marL="0" indent="0" algn="l">
              <a:buNone/>
            </a:pP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rtlCol="0"/>
          <a:lstStyle>
            <a:lvl1pPr marL="0" indent="0" algn="l">
              <a:buNone/>
              <a:defRPr lang="en-US" sz="1600" i="1" dirty="0">
                <a:solidFill>
                  <a:schemeClr val="accent2"/>
                </a:solidFill>
                <a:latin typeface="Microsoft YaHei" pitchFamily="34" charset="0"/>
                <a:ea typeface="Microsoft YaHei" pitchFamily="34" charset="-122"/>
                <a:cs typeface="Microsoft YaHei" pitchFamily="34" charset="-120"/>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8778240" cy="1737360"/>
          </a:xfrm>
          <a:prstGeom prst="rect">
            <a:avLst/>
          </a:prstGeom>
          <a:noFill/>
          <a:ln/>
        </p:spPr>
        <p:txBody>
          <a:bodyPr wrap="square" lIns="0" tIns="0" rIns="0" bIns="0" rtlCol="0" anchor="b"/>
          <a:lstStyle/>
          <a:p>
            <a:pPr marL="0" indent="0" algn="l">
              <a:buNone/>
            </a:pPr>
            <a:r>
              <a:rPr lang="en-US" sz="4000" b="1" dirty="0">
                <a:solidFill>
                  <a:schemeClr val="bg1"/>
                </a:solidFill>
                <a:latin typeface="Microsoft YaHei" pitchFamily="34" charset="0"/>
                <a:ea typeface="Microsoft YaHei" pitchFamily="34" charset="-122"/>
                <a:cs typeface="Microsoft YaHei" pitchFamily="34" charset="-120"/>
              </a:rPr>
              <a:t>American Egg：从 23 亿美元的美国蛋企，到 40 亿美元以上的全球特色蛋领导者</a:t>
            </a:r>
            <a:endParaRPr lang="en-US" sz="4000" dirty="0"/>
          </a:p>
        </p:txBody>
      </p:sp>
      <p:sp>
        <p:nvSpPr>
          <p:cNvPr id="3" name="Text 0"/>
          <p:cNvSpPr>
            <a:spLocks noGrp="1"/>
          </p:cNvSpPr>
          <p:nvPr>
            <p:ph type="body" idx="101" hasCustomPrompt="1"/>
          </p:nvPr>
        </p:nvSpPr>
        <p:spPr>
          <a:xfrm>
            <a:off x="731520" y="3749040"/>
            <a:ext cx="8778240" cy="1463040"/>
          </a:xfrm>
          <a:prstGeom prst="rect">
            <a:avLst/>
          </a:prstGeom>
          <a:noFill/>
          <a:ln/>
        </p:spPr>
        <p:txBody>
          <a:bodyPr wrap="square" lIns="0" tIns="0" rIns="0" bIns="0" rtlCol="0" anchor="t"/>
          <a:lstStyle/>
          <a:p>
            <a:pPr marL="0" indent="0" algn="l">
              <a:buNone/>
            </a:pPr>
            <a:r>
              <a:rPr lang="en-US" sz="1800" dirty="0">
                <a:solidFill>
                  <a:schemeClr val="accent6"/>
                </a:solidFill>
                <a:latin typeface="Microsoft YaHei" pitchFamily="34" charset="0"/>
                <a:ea typeface="Microsoft YaHei" pitchFamily="34" charset="-122"/>
                <a:cs typeface="Microsoft YaHei" pitchFamily="34" charset="-120"/>
              </a:rPr>
              <a:t>COMP1913 国际数据分析 · 小组展示</a:t>
            </a:r>
            <a:endParaRPr lang="en-US" sz="1800" dirty="0"/>
          </a:p>
          <a:p>
            <a:pPr marL="0" indent="0" algn="l">
              <a:buNone/>
            </a:pPr>
            <a:r>
              <a:rPr lang="en-US" sz="1800" dirty="0">
                <a:solidFill>
                  <a:schemeClr val="accent6"/>
                </a:solidFill>
                <a:latin typeface="Microsoft YaHei" pitchFamily="34" charset="0"/>
                <a:ea typeface="Microsoft YaHei" pitchFamily="34" charset="-122"/>
                <a:cs typeface="Microsoft YaHei" pitchFamily="34" charset="-120"/>
              </a:rPr>
              <a:t>Sage 商业案例：战略增长与国际扩张</a:t>
            </a:r>
            <a:endParaRPr lang="en-US" sz="1800" dirty="0"/>
          </a:p>
        </p:txBody>
      </p:sp>
      <p:sp>
        <p:nvSpPr>
          <p:cNvPr id="4" name="Egg motif"/>
          <p:cNvSpPr/>
          <p:nvPr/>
        </p:nvSpPr>
        <p:spPr>
          <a:xfrm>
            <a:off x="9966960" y="1463040"/>
            <a:ext cx="1170432" cy="1463040"/>
          </a:xfrm>
          <a:prstGeom prst="ellipse">
            <a:avLst/>
          </a:prstGeom>
          <a:solidFill>
            <a:schemeClr val="accent1"/>
          </a:solidFill>
          <a:ln w="12700">
            <a:solidFill>
              <a:schemeClr val="accent1"/>
            </a:solidFill>
            <a:prstDash val="solid"/>
          </a:ln>
        </p:spPr>
        <p:txBody>
          <a:bodyPr/>
          <a:lstStyle/>
          <a:p>
            <a:endParaRPr lang="zh-SG" altLang="en-US"/>
          </a:p>
        </p:txBody>
      </p:sp>
      <p:sp>
        <p:nvSpPr>
          <p:cNvPr id="5" name="Egg motif"/>
          <p:cNvSpPr/>
          <p:nvPr/>
        </p:nvSpPr>
        <p:spPr>
          <a:xfrm>
            <a:off x="10607040" y="2926080"/>
            <a:ext cx="804672" cy="1005840"/>
          </a:xfrm>
          <a:prstGeom prst="ellipse">
            <a:avLst/>
          </a:prstGeom>
          <a:solidFill>
            <a:schemeClr val="accent1"/>
          </a:solidFill>
          <a:ln w="12700">
            <a:solidFill>
              <a:schemeClr val="accent1"/>
            </a:solidFill>
            <a:prstDash val="solid"/>
          </a:ln>
        </p:spPr>
        <p:txBody>
          <a:bodyPr/>
          <a:lstStyle/>
          <a:p>
            <a:endParaRPr lang="zh-SG" altLang="en-US"/>
          </a:p>
        </p:txBody>
      </p:sp>
      <p:sp>
        <p:nvSpPr>
          <p:cNvPr id="6" name="Egg motif"/>
          <p:cNvSpPr/>
          <p:nvPr/>
        </p:nvSpPr>
        <p:spPr>
          <a:xfrm>
            <a:off x="9692640" y="4023360"/>
            <a:ext cx="585216" cy="731520"/>
          </a:xfrm>
          <a:prstGeom prst="ellipse">
            <a:avLst/>
          </a:prstGeom>
          <a:solidFill>
            <a:schemeClr val="accent1"/>
          </a:solidFill>
          <a:ln w="12700">
            <a:solidFill>
              <a:schemeClr val="accent1"/>
            </a:solidFill>
            <a:prstDash val="solid"/>
          </a:ln>
        </p:spPr>
        <p:txBody>
          <a:bodyPr/>
          <a:lstStyle/>
          <a:p>
            <a:endParaRPr lang="zh-SG"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我们的分析思路</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五个分析步骤：从界定问题到方案压力测试</a:t>
            </a:r>
            <a:endParaRPr lang="en-US" sz="1600" dirty="0"/>
          </a:p>
        </p:txBody>
      </p:sp>
      <p:sp>
        <p:nvSpPr>
          <p:cNvPr id="4" name="Card"/>
          <p:cNvSpPr/>
          <p:nvPr/>
        </p:nvSpPr>
        <p:spPr>
          <a:xfrm>
            <a:off x="548640"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5" name="Egg badge"/>
          <p:cNvSpPr/>
          <p:nvPr/>
        </p:nvSpPr>
        <p:spPr>
          <a:xfrm>
            <a:off x="731520"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6" name="Text 4"/>
          <p:cNvSpPr txBox="1"/>
          <p:nvPr/>
        </p:nvSpPr>
        <p:spPr>
          <a:xfrm>
            <a:off x="731520"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1</a:t>
            </a:r>
            <a:endParaRPr lang="en-US" sz="1400" dirty="0"/>
          </a:p>
        </p:txBody>
      </p:sp>
      <p:sp>
        <p:nvSpPr>
          <p:cNvPr id="7" name="Text 5"/>
          <p:cNvSpPr txBox="1"/>
          <p:nvPr/>
        </p:nvSpPr>
        <p:spPr>
          <a:xfrm>
            <a:off x="731520"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Microsoft YaHei" pitchFamily="34" charset="0"/>
                <a:ea typeface="Microsoft YaHei" pitchFamily="34" charset="-122"/>
                <a:cs typeface="Microsoft YaHei" pitchFamily="34" charset="-120"/>
              </a:rPr>
              <a:t>界定</a:t>
            </a:r>
            <a:endParaRPr lang="en-US" sz="1800" dirty="0"/>
          </a:p>
        </p:txBody>
      </p:sp>
      <p:sp>
        <p:nvSpPr>
          <p:cNvPr id="8" name="Text 6"/>
          <p:cNvSpPr txBox="1"/>
          <p:nvPr/>
        </p:nvSpPr>
        <p:spPr>
          <a:xfrm>
            <a:off x="731520"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根据案例数据明确问题和三个目标缺口</a:t>
            </a:r>
            <a:endParaRPr lang="en-US" sz="1400" dirty="0"/>
          </a:p>
        </p:txBody>
      </p:sp>
      <p:sp>
        <p:nvSpPr>
          <p:cNvPr id="9" name="Card"/>
          <p:cNvSpPr/>
          <p:nvPr/>
        </p:nvSpPr>
        <p:spPr>
          <a:xfrm>
            <a:off x="2816352"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10" name="Egg badge"/>
          <p:cNvSpPr/>
          <p:nvPr/>
        </p:nvSpPr>
        <p:spPr>
          <a:xfrm>
            <a:off x="2999232"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11" name="Text 9"/>
          <p:cNvSpPr txBox="1"/>
          <p:nvPr/>
        </p:nvSpPr>
        <p:spPr>
          <a:xfrm>
            <a:off x="2999232"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2</a:t>
            </a:r>
            <a:endParaRPr lang="en-US" sz="1400" dirty="0"/>
          </a:p>
        </p:txBody>
      </p:sp>
      <p:sp>
        <p:nvSpPr>
          <p:cNvPr id="12" name="Text 10"/>
          <p:cNvSpPr txBox="1"/>
          <p:nvPr/>
        </p:nvSpPr>
        <p:spPr>
          <a:xfrm>
            <a:off x="2999232"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Microsoft YaHei" pitchFamily="34" charset="0"/>
                <a:ea typeface="Microsoft YaHei" pitchFamily="34" charset="-122"/>
                <a:cs typeface="Microsoft YaHei" pitchFamily="34" charset="-120"/>
              </a:rPr>
              <a:t>量化</a:t>
            </a:r>
            <a:endParaRPr lang="en-US" sz="1800" dirty="0"/>
          </a:p>
        </p:txBody>
      </p:sp>
      <p:sp>
        <p:nvSpPr>
          <p:cNvPr id="13" name="Text 11"/>
          <p:cNvSpPr txBox="1"/>
          <p:nvPr/>
        </p:nvSpPr>
        <p:spPr>
          <a:xfrm>
            <a:off x="2999232"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价格波动、利润率、各项国内举措的回报</a:t>
            </a:r>
            <a:endParaRPr lang="en-US" sz="1400" dirty="0"/>
          </a:p>
        </p:txBody>
      </p:sp>
      <p:sp>
        <p:nvSpPr>
          <p:cNvPr id="14" name="Card"/>
          <p:cNvSpPr/>
          <p:nvPr/>
        </p:nvSpPr>
        <p:spPr>
          <a:xfrm>
            <a:off x="5084064"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15" name="Egg badge"/>
          <p:cNvSpPr/>
          <p:nvPr/>
        </p:nvSpPr>
        <p:spPr>
          <a:xfrm>
            <a:off x="5266944"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16" name="Text 14"/>
          <p:cNvSpPr txBox="1"/>
          <p:nvPr/>
        </p:nvSpPr>
        <p:spPr>
          <a:xfrm>
            <a:off x="5266944"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3</a:t>
            </a:r>
            <a:endParaRPr lang="en-US" sz="1400" dirty="0"/>
          </a:p>
        </p:txBody>
      </p:sp>
      <p:sp>
        <p:nvSpPr>
          <p:cNvPr id="17" name="Text 15"/>
          <p:cNvSpPr txBox="1"/>
          <p:nvPr/>
        </p:nvSpPr>
        <p:spPr>
          <a:xfrm>
            <a:off x="5266944"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Microsoft YaHei" pitchFamily="34" charset="0"/>
                <a:ea typeface="Microsoft YaHei" pitchFamily="34" charset="-122"/>
                <a:cs typeface="Microsoft YaHei" pitchFamily="34" charset="-120"/>
              </a:rPr>
              <a:t>筛选</a:t>
            </a:r>
            <a:endParaRPr lang="en-US" sz="1800" dirty="0"/>
          </a:p>
        </p:txBody>
      </p:sp>
      <p:sp>
        <p:nvSpPr>
          <p:cNvPr id="18" name="Text 16"/>
          <p:cNvSpPr txBox="1"/>
          <p:nvPr/>
        </p:nvSpPr>
        <p:spPr>
          <a:xfrm>
            <a:off x="5266944"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19 个有报价的目标：描述统计、估值倍数、相关性</a:t>
            </a:r>
            <a:endParaRPr lang="en-US" sz="1400" dirty="0"/>
          </a:p>
        </p:txBody>
      </p:sp>
      <p:sp>
        <p:nvSpPr>
          <p:cNvPr id="19" name="Card"/>
          <p:cNvSpPr/>
          <p:nvPr/>
        </p:nvSpPr>
        <p:spPr>
          <a:xfrm>
            <a:off x="7351776"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20" name="Egg badge"/>
          <p:cNvSpPr/>
          <p:nvPr/>
        </p:nvSpPr>
        <p:spPr>
          <a:xfrm>
            <a:off x="7534656"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21" name="Text 19"/>
          <p:cNvSpPr txBox="1"/>
          <p:nvPr/>
        </p:nvSpPr>
        <p:spPr>
          <a:xfrm>
            <a:off x="7534656"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4</a:t>
            </a:r>
            <a:endParaRPr lang="en-US" sz="1400" dirty="0"/>
          </a:p>
        </p:txBody>
      </p:sp>
      <p:sp>
        <p:nvSpPr>
          <p:cNvPr id="22" name="Text 20"/>
          <p:cNvSpPr txBox="1"/>
          <p:nvPr/>
        </p:nvSpPr>
        <p:spPr>
          <a:xfrm>
            <a:off x="7534656"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Microsoft YaHei" pitchFamily="34" charset="0"/>
                <a:ea typeface="Microsoft YaHei" pitchFamily="34" charset="-122"/>
                <a:cs typeface="Microsoft YaHei" pitchFamily="34" charset="-120"/>
              </a:rPr>
              <a:t>解读</a:t>
            </a:r>
            <a:endParaRPr lang="en-US" sz="1800" dirty="0"/>
          </a:p>
        </p:txBody>
      </p:sp>
      <p:sp>
        <p:nvSpPr>
          <p:cNvPr id="23" name="Text 21"/>
          <p:cNvSpPr txBox="1"/>
          <p:nvPr/>
        </p:nvSpPr>
        <p:spPr>
          <a:xfrm>
            <a:off x="7534656"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尽调文字的主题编码；加权评分模型</a:t>
            </a:r>
            <a:endParaRPr lang="en-US" sz="1400" dirty="0"/>
          </a:p>
        </p:txBody>
      </p:sp>
      <p:sp>
        <p:nvSpPr>
          <p:cNvPr id="24" name="Card"/>
          <p:cNvSpPr/>
          <p:nvPr/>
        </p:nvSpPr>
        <p:spPr>
          <a:xfrm>
            <a:off x="9619488"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25" name="Egg badge"/>
          <p:cNvSpPr/>
          <p:nvPr/>
        </p:nvSpPr>
        <p:spPr>
          <a:xfrm>
            <a:off x="9802368"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26" name="Text 24"/>
          <p:cNvSpPr txBox="1"/>
          <p:nvPr/>
        </p:nvSpPr>
        <p:spPr>
          <a:xfrm>
            <a:off x="9802368"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5</a:t>
            </a:r>
            <a:endParaRPr lang="en-US" sz="1400" dirty="0"/>
          </a:p>
        </p:txBody>
      </p:sp>
      <p:sp>
        <p:nvSpPr>
          <p:cNvPr id="27" name="Text 25"/>
          <p:cNvSpPr txBox="1"/>
          <p:nvPr/>
        </p:nvSpPr>
        <p:spPr>
          <a:xfrm>
            <a:off x="9802368"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Microsoft YaHei" pitchFamily="34" charset="0"/>
                <a:ea typeface="Microsoft YaHei" pitchFamily="34" charset="-122"/>
                <a:cs typeface="Microsoft YaHei" pitchFamily="34" charset="-120"/>
              </a:rPr>
              <a:t>决策与测试</a:t>
            </a:r>
            <a:endParaRPr lang="en-US" sz="1800" dirty="0"/>
          </a:p>
        </p:txBody>
      </p:sp>
      <p:sp>
        <p:nvSpPr>
          <p:cNvPr id="28" name="Text 26"/>
          <p:cNvSpPr txBox="1"/>
          <p:nvPr/>
        </p:nvSpPr>
        <p:spPr>
          <a:xfrm>
            <a:off x="9802368"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收购组合、融资、7 年收入路径、价格冲击情景</a:t>
            </a:r>
            <a:endParaRPr lang="en-US" sz="1400" dirty="0"/>
          </a:p>
        </p:txBody>
      </p:sp>
      <p:sp>
        <p:nvSpPr>
          <p:cNvPr id="29" name="Card"/>
          <p:cNvSpPr/>
          <p:nvPr/>
        </p:nvSpPr>
        <p:spPr>
          <a:xfrm>
            <a:off x="548640" y="4572000"/>
            <a:ext cx="11064240" cy="1554480"/>
          </a:xfrm>
          <a:prstGeom prst="roundRect">
            <a:avLst>
              <a:gd name="adj" fmla="val 4706"/>
            </a:avLst>
          </a:prstGeom>
          <a:solidFill>
            <a:schemeClr val="bg2"/>
          </a:solidFill>
          <a:ln w="12700">
            <a:solidFill>
              <a:schemeClr val="bg2"/>
            </a:solidFill>
            <a:prstDash val="solid"/>
          </a:ln>
        </p:spPr>
        <p:txBody>
          <a:bodyPr/>
          <a:lstStyle/>
          <a:p>
            <a:endParaRPr lang="zh-SG" altLang="en-US"/>
          </a:p>
        </p:txBody>
      </p:sp>
      <p:sp>
        <p:nvSpPr>
          <p:cNvPr id="30" name="Text 28"/>
          <p:cNvSpPr txBox="1"/>
          <p:nvPr/>
        </p:nvSpPr>
        <p:spPr>
          <a:xfrm>
            <a:off x="777240" y="4709160"/>
            <a:ext cx="10607040" cy="1280160"/>
          </a:xfrm>
          <a:prstGeom prst="rect">
            <a:avLst/>
          </a:prstGeom>
          <a:noFill/>
          <a:ln/>
        </p:spPr>
        <p:txBody>
          <a:bodyPr wrap="square" lIns="0" tIns="0" rIns="0" bIns="0" rtlCol="0" anchor="ctr"/>
          <a:lstStyle/>
          <a:p>
            <a:pPr marL="0" indent="0">
              <a:spcAft>
                <a:spcPts val="600"/>
              </a:spcAft>
              <a:buNone/>
            </a:pPr>
            <a:r>
              <a:rPr lang="en-US" sz="1400" b="1" dirty="0">
                <a:solidFill>
                  <a:schemeClr val="tx2"/>
                </a:solidFill>
              </a:rPr>
              <a:t>定量方法：</a:t>
            </a:r>
            <a:r>
              <a:rPr lang="en-US" sz="1400" dirty="0">
                <a:solidFill>
                  <a:schemeClr val="tx1"/>
                </a:solidFill>
              </a:rPr>
              <a:t>描述统计（均值、中位数、标准差、变异系数）、EV/EBITA 与 EV/收入倍数、皮尔逊相关系数、加权评分、情景与敏感性分析。</a:t>
            </a:r>
            <a:endParaRPr lang="en-US" sz="1400" dirty="0"/>
          </a:p>
          <a:p>
            <a:pPr marL="0" indent="0">
              <a:spcAft>
                <a:spcPts val="600"/>
              </a:spcAft>
              <a:buNone/>
            </a:pPr>
            <a:r>
              <a:rPr lang="en-US" sz="1400" b="1" dirty="0">
                <a:solidFill>
                  <a:schemeClr val="tx2"/>
                </a:solidFill>
              </a:rPr>
              <a:t>定性方法：</a:t>
            </a:r>
            <a:r>
              <a:rPr lang="en-US" sz="1400" dirty="0">
                <a:solidFill>
                  <a:schemeClr val="tx1"/>
                </a:solidFill>
              </a:rPr>
              <a:t>对 20 家公司的「关键新闻」「国别风险」「经济」文字进行主题编码；区域背景分析（政治、疫病、法律、文化适配）。</a:t>
            </a:r>
            <a:endParaRPr lang="en-US" sz="1400" dirty="0"/>
          </a:p>
        </p:txBody>
      </p:sp>
      <p:sp>
        <p:nvSpPr>
          <p:cNvPr id="31"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业务问题</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盈利但业务单一：以大宗鸡蛋为主、只在美国，面临董事会三大目标</a:t>
            </a:r>
            <a:endParaRPr lang="en-US" sz="1600" dirty="0"/>
          </a:p>
        </p:txBody>
      </p:sp>
      <p:sp>
        <p:nvSpPr>
          <p:cNvPr id="4" name="Card"/>
          <p:cNvSpPr/>
          <p:nvPr/>
        </p:nvSpPr>
        <p:spPr>
          <a:xfrm>
            <a:off x="548640" y="1691640"/>
            <a:ext cx="2606040" cy="1691640"/>
          </a:xfrm>
          <a:prstGeom prst="roundRect">
            <a:avLst>
              <a:gd name="adj" fmla="val 4324"/>
            </a:avLst>
          </a:prstGeom>
          <a:solidFill>
            <a:schemeClr val="bg2"/>
          </a:solidFill>
          <a:ln w="12700">
            <a:solidFill>
              <a:schemeClr val="bg2"/>
            </a:solidFill>
            <a:prstDash val="solid"/>
          </a:ln>
        </p:spPr>
        <p:txBody>
          <a:bodyPr/>
          <a:lstStyle/>
          <a:p>
            <a:endParaRPr lang="zh-SG" altLang="en-US"/>
          </a:p>
        </p:txBody>
      </p:sp>
      <p:sp>
        <p:nvSpPr>
          <p:cNvPr id="5" name="Text 3"/>
          <p:cNvSpPr txBox="1"/>
          <p:nvPr/>
        </p:nvSpPr>
        <p:spPr>
          <a:xfrm>
            <a:off x="777240" y="1783080"/>
            <a:ext cx="219456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23.4 亿</a:t>
            </a:r>
            <a:endParaRPr lang="en-US" sz="3400" dirty="0"/>
          </a:p>
        </p:txBody>
      </p:sp>
      <p:sp>
        <p:nvSpPr>
          <p:cNvPr id="6" name="Text 4"/>
          <p:cNvSpPr txBox="1"/>
          <p:nvPr/>
        </p:nvSpPr>
        <p:spPr>
          <a:xfrm>
            <a:off x="777240" y="2496312"/>
            <a:ext cx="2194560" cy="548640"/>
          </a:xfrm>
          <a:prstGeom prst="rect">
            <a:avLst/>
          </a:prstGeom>
          <a:noFill/>
          <a:ln/>
        </p:spPr>
        <p:txBody>
          <a:bodyPr wrap="square" lIns="0" tIns="0" rIns="0" bIns="0" rtlCol="0" anchor="t"/>
          <a:lstStyle/>
          <a:p>
            <a:pPr marL="0" indent="0">
              <a:buNone/>
            </a:pPr>
            <a:r>
              <a:rPr lang="en-US" sz="1300" dirty="0">
                <a:solidFill>
                  <a:schemeClr val="accent5"/>
                </a:solidFill>
              </a:rPr>
              <a:t>当前收入（美元；大宗 17.6 亿 + 特色 5.8 亿）</a:t>
            </a:r>
            <a:endParaRPr lang="en-US" sz="1300" dirty="0"/>
          </a:p>
        </p:txBody>
      </p:sp>
      <p:sp>
        <p:nvSpPr>
          <p:cNvPr id="7" name="Card"/>
          <p:cNvSpPr/>
          <p:nvPr/>
        </p:nvSpPr>
        <p:spPr>
          <a:xfrm>
            <a:off x="3364992" y="1691640"/>
            <a:ext cx="2606040" cy="1691640"/>
          </a:xfrm>
          <a:prstGeom prst="roundRect">
            <a:avLst>
              <a:gd name="adj" fmla="val 4324"/>
            </a:avLst>
          </a:prstGeom>
          <a:solidFill>
            <a:schemeClr val="bg2"/>
          </a:solidFill>
          <a:ln w="12700">
            <a:solidFill>
              <a:schemeClr val="bg2"/>
            </a:solidFill>
            <a:prstDash val="solid"/>
          </a:ln>
        </p:spPr>
        <p:txBody>
          <a:bodyPr/>
          <a:lstStyle/>
          <a:p>
            <a:endParaRPr lang="zh-SG" altLang="en-US"/>
          </a:p>
        </p:txBody>
      </p:sp>
      <p:sp>
        <p:nvSpPr>
          <p:cNvPr id="8" name="Text 6"/>
          <p:cNvSpPr txBox="1"/>
          <p:nvPr/>
        </p:nvSpPr>
        <p:spPr>
          <a:xfrm>
            <a:off x="3593592" y="1783080"/>
            <a:ext cx="219456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24.6%</a:t>
            </a:r>
            <a:endParaRPr lang="en-US" sz="3400" dirty="0"/>
          </a:p>
        </p:txBody>
      </p:sp>
      <p:sp>
        <p:nvSpPr>
          <p:cNvPr id="9" name="Text 7"/>
          <p:cNvSpPr txBox="1"/>
          <p:nvPr/>
        </p:nvSpPr>
        <p:spPr>
          <a:xfrm>
            <a:off x="3593592" y="2496312"/>
            <a:ext cx="2194560" cy="548640"/>
          </a:xfrm>
          <a:prstGeom prst="rect">
            <a:avLst/>
          </a:prstGeom>
          <a:noFill/>
          <a:ln/>
        </p:spPr>
        <p:txBody>
          <a:bodyPr wrap="square" lIns="0" tIns="0" rIns="0" bIns="0" rtlCol="0" anchor="t"/>
          <a:lstStyle/>
          <a:p>
            <a:pPr marL="0" indent="0">
              <a:buNone/>
            </a:pPr>
            <a:r>
              <a:rPr lang="en-US" sz="1300" dirty="0">
                <a:solidFill>
                  <a:schemeClr val="accent5"/>
                </a:solidFill>
              </a:rPr>
              <a:t>特色产品收入占比（目标 ≥30%）</a:t>
            </a:r>
            <a:endParaRPr lang="en-US" sz="1300" dirty="0"/>
          </a:p>
        </p:txBody>
      </p:sp>
      <p:sp>
        <p:nvSpPr>
          <p:cNvPr id="10" name="Card"/>
          <p:cNvSpPr/>
          <p:nvPr/>
        </p:nvSpPr>
        <p:spPr>
          <a:xfrm>
            <a:off x="6181344" y="1691640"/>
            <a:ext cx="2606040" cy="1691640"/>
          </a:xfrm>
          <a:prstGeom prst="roundRect">
            <a:avLst>
              <a:gd name="adj" fmla="val 4324"/>
            </a:avLst>
          </a:prstGeom>
          <a:solidFill>
            <a:schemeClr val="bg2"/>
          </a:solidFill>
          <a:ln w="12700">
            <a:solidFill>
              <a:schemeClr val="bg2"/>
            </a:solidFill>
            <a:prstDash val="solid"/>
          </a:ln>
        </p:spPr>
        <p:txBody>
          <a:bodyPr/>
          <a:lstStyle/>
          <a:p>
            <a:endParaRPr lang="zh-SG" altLang="en-US"/>
          </a:p>
        </p:txBody>
      </p:sp>
      <p:sp>
        <p:nvSpPr>
          <p:cNvPr id="11" name="Text 9"/>
          <p:cNvSpPr txBox="1"/>
          <p:nvPr/>
        </p:nvSpPr>
        <p:spPr>
          <a:xfrm>
            <a:off x="6409944" y="1783080"/>
            <a:ext cx="219456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14.7%</a:t>
            </a:r>
            <a:endParaRPr lang="en-US" sz="3400" dirty="0"/>
          </a:p>
        </p:txBody>
      </p:sp>
      <p:sp>
        <p:nvSpPr>
          <p:cNvPr id="12" name="Text 10"/>
          <p:cNvSpPr txBox="1"/>
          <p:nvPr/>
        </p:nvSpPr>
        <p:spPr>
          <a:xfrm>
            <a:off x="6409944" y="2496312"/>
            <a:ext cx="2194560" cy="548640"/>
          </a:xfrm>
          <a:prstGeom prst="rect">
            <a:avLst/>
          </a:prstGeom>
          <a:noFill/>
          <a:ln/>
        </p:spPr>
        <p:txBody>
          <a:bodyPr wrap="square" lIns="0" tIns="0" rIns="0" bIns="0" rtlCol="0" anchor="t"/>
          <a:lstStyle/>
          <a:p>
            <a:pPr marL="0" indent="0">
              <a:buNone/>
            </a:pPr>
            <a:r>
              <a:rPr lang="en-US" sz="1300" dirty="0">
                <a:solidFill>
                  <a:schemeClr val="accent5"/>
                </a:solidFill>
              </a:rPr>
              <a:t>利润率：大宗 12.4%，特色 20%</a:t>
            </a:r>
            <a:endParaRPr lang="en-US" sz="1300" dirty="0"/>
          </a:p>
        </p:txBody>
      </p:sp>
      <p:sp>
        <p:nvSpPr>
          <p:cNvPr id="13" name="Card"/>
          <p:cNvSpPr/>
          <p:nvPr/>
        </p:nvSpPr>
        <p:spPr>
          <a:xfrm>
            <a:off x="8997696" y="1691640"/>
            <a:ext cx="2606040" cy="1691640"/>
          </a:xfrm>
          <a:prstGeom prst="roundRect">
            <a:avLst>
              <a:gd name="adj" fmla="val 4324"/>
            </a:avLst>
          </a:prstGeom>
          <a:solidFill>
            <a:schemeClr val="bg2"/>
          </a:solidFill>
          <a:ln w="12700">
            <a:solidFill>
              <a:schemeClr val="bg2"/>
            </a:solidFill>
            <a:prstDash val="solid"/>
          </a:ln>
        </p:spPr>
        <p:txBody>
          <a:bodyPr/>
          <a:lstStyle/>
          <a:p>
            <a:endParaRPr lang="zh-SG" altLang="en-US"/>
          </a:p>
        </p:txBody>
      </p:sp>
      <p:sp>
        <p:nvSpPr>
          <p:cNvPr id="14" name="Text 12"/>
          <p:cNvSpPr txBox="1"/>
          <p:nvPr/>
        </p:nvSpPr>
        <p:spPr>
          <a:xfrm>
            <a:off x="9226296" y="1783080"/>
            <a:ext cx="2194560" cy="685800"/>
          </a:xfrm>
          <a:prstGeom prst="rect">
            <a:avLst/>
          </a:prstGeom>
          <a:noFill/>
          <a:ln/>
        </p:spPr>
        <p:txBody>
          <a:bodyPr wrap="square" lIns="0" tIns="0" rIns="0" bIns="0" rtlCol="0" anchor="b"/>
          <a:lstStyle/>
          <a:p>
            <a:pPr marL="0" indent="0">
              <a:buNone/>
            </a:pPr>
            <a:r>
              <a:rPr lang="en-US" sz="3400" b="1" dirty="0">
                <a:solidFill>
                  <a:schemeClr val="accent4"/>
                </a:solidFill>
                <a:latin typeface="Microsoft YaHei" pitchFamily="34" charset="0"/>
                <a:ea typeface="Microsoft YaHei" pitchFamily="34" charset="-122"/>
                <a:cs typeface="Microsoft YaHei" pitchFamily="34" charset="-120"/>
              </a:rPr>
              <a:t>−48%</a:t>
            </a:r>
            <a:endParaRPr lang="en-US" sz="3400" dirty="0"/>
          </a:p>
        </p:txBody>
      </p:sp>
      <p:sp>
        <p:nvSpPr>
          <p:cNvPr id="15" name="Text 13"/>
          <p:cNvSpPr txBox="1"/>
          <p:nvPr/>
        </p:nvSpPr>
        <p:spPr>
          <a:xfrm>
            <a:off x="9226296" y="2496312"/>
            <a:ext cx="2194560" cy="548640"/>
          </a:xfrm>
          <a:prstGeom prst="rect">
            <a:avLst/>
          </a:prstGeom>
          <a:noFill/>
          <a:ln/>
        </p:spPr>
        <p:txBody>
          <a:bodyPr wrap="square" lIns="0" tIns="0" rIns="0" bIns="0" rtlCol="0" anchor="t"/>
          <a:lstStyle/>
          <a:p>
            <a:pPr marL="0" indent="0">
              <a:buNone/>
            </a:pPr>
            <a:r>
              <a:rPr lang="en-US" sz="1300" dirty="0">
                <a:solidFill>
                  <a:schemeClr val="accent5"/>
                </a:solidFill>
              </a:rPr>
              <a:t>近期低谷年的收入降幅</a:t>
            </a:r>
            <a:endParaRPr lang="en-US" sz="1300" dirty="0"/>
          </a:p>
        </p:txBody>
      </p:sp>
      <p:sp>
        <p:nvSpPr>
          <p:cNvPr id="16" name="Card"/>
          <p:cNvSpPr/>
          <p:nvPr/>
        </p:nvSpPr>
        <p:spPr>
          <a:xfrm>
            <a:off x="548640" y="3703320"/>
            <a:ext cx="11064240" cy="2468880"/>
          </a:xfrm>
          <a:prstGeom prst="roundRect">
            <a:avLst>
              <a:gd name="adj" fmla="val 2963"/>
            </a:avLst>
          </a:prstGeom>
          <a:solidFill>
            <a:schemeClr val="bg2"/>
          </a:solidFill>
          <a:ln w="12700">
            <a:solidFill>
              <a:schemeClr val="bg2"/>
            </a:solidFill>
            <a:prstDash val="solid"/>
          </a:ln>
        </p:spPr>
        <p:txBody>
          <a:bodyPr/>
          <a:lstStyle/>
          <a:p>
            <a:endParaRPr lang="zh-SG" altLang="en-US"/>
          </a:p>
        </p:txBody>
      </p:sp>
      <p:sp>
        <p:nvSpPr>
          <p:cNvPr id="17" name="Text 15"/>
          <p:cNvSpPr txBox="1"/>
          <p:nvPr/>
        </p:nvSpPr>
        <p:spPr>
          <a:xfrm>
            <a:off x="822960" y="3840480"/>
            <a:ext cx="5486400" cy="411480"/>
          </a:xfrm>
          <a:prstGeom prst="rect">
            <a:avLst/>
          </a:prstGeom>
          <a:noFill/>
          <a:ln/>
        </p:spPr>
        <p:txBody>
          <a:bodyPr wrap="square" lIns="0" tIns="0" rIns="0" bIns="0" rtlCol="0" anchor="ctr"/>
          <a:lstStyle/>
          <a:p>
            <a:pPr marL="0" indent="0">
              <a:buNone/>
            </a:pPr>
            <a:r>
              <a:rPr lang="en-US" sz="2000" b="1" dirty="0">
                <a:solidFill>
                  <a:schemeClr val="tx2"/>
                </a:solidFill>
                <a:latin typeface="Microsoft YaHei" pitchFamily="34" charset="0"/>
                <a:ea typeface="Microsoft YaHei" pitchFamily="34" charset="-122"/>
                <a:cs typeface="Microsoft YaHei" pitchFamily="34" charset="-120"/>
              </a:rPr>
              <a:t>问题陈述</a:t>
            </a:r>
            <a:endParaRPr lang="en-US" sz="2000" dirty="0"/>
          </a:p>
        </p:txBody>
      </p:sp>
      <p:sp>
        <p:nvSpPr>
          <p:cNvPr id="18" name="Text 16"/>
          <p:cNvSpPr txBox="1"/>
          <p:nvPr/>
        </p:nvSpPr>
        <p:spPr>
          <a:xfrm>
            <a:off x="822960" y="4297680"/>
            <a:ext cx="1051560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AmEgg 需在三年内增加约 11.6 亿美元收入（+50%），而其最大产品线是价格波动的大宗商品。</a:t>
            </a:r>
            <a:endParaRPr lang="en-US" sz="1600" dirty="0"/>
          </a:p>
          <a:p>
            <a:pPr marL="342900" indent="-342900">
              <a:spcAft>
                <a:spcPts val="800"/>
              </a:spcAft>
              <a:buSzPct val="100000"/>
              <a:buChar char="•"/>
            </a:pPr>
            <a:r>
              <a:rPr lang="en-US" sz="1600" dirty="0">
                <a:solidFill>
                  <a:schemeClr val="tx1"/>
                </a:solidFill>
              </a:rPr>
              <a:t>需把特色产品提升到美国收入的 30% 以上，同时不稀释利润、不超支。</a:t>
            </a:r>
            <a:endParaRPr lang="en-US" sz="1600" dirty="0"/>
          </a:p>
          <a:p>
            <a:pPr marL="342900" indent="-342900">
              <a:spcAft>
                <a:spcPts val="800"/>
              </a:spcAft>
              <a:buSzPct val="100000"/>
              <a:buChar char="•"/>
            </a:pPr>
            <a:r>
              <a:rPr lang="en-US" sz="1600" dirty="0">
                <a:solidFill>
                  <a:schemeClr val="tx1"/>
                </a:solidFill>
              </a:rPr>
              <a:t>需在七年内进入新国家，资金上限 8 亿美元（3 亿储备 + 5 亿 3% 利率贷款）。</a:t>
            </a:r>
            <a:endParaRPr lang="en-US" sz="1600" dirty="0"/>
          </a:p>
        </p:txBody>
      </p:sp>
      <p:sp>
        <p:nvSpPr>
          <p:cNvPr id="19"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来源：Sage 案例表 1 及正文。注：案例交付要求处写作 2.34 "million"，结合上下文应为 billion（十亿）。</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三个目标，三个可衡量的缺口</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收入和结构缺口 3 年内可补齐；全球布局需要 7 年分步推进</a:t>
            </a:r>
            <a:endParaRPr lang="en-US" sz="1600" dirty="0"/>
          </a:p>
        </p:txBody>
      </p:sp>
      <p:graphicFrame>
        <p:nvGraphicFramePr>
          <p:cNvPr id="4" name="Chart 0"/>
          <p:cNvGraphicFramePr/>
          <p:nvPr/>
        </p:nvGraphicFramePr>
        <p:xfrm>
          <a:off x="548640" y="1600200"/>
          <a:ext cx="420624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937760" y="1600200"/>
          <a:ext cx="3657600" cy="4480560"/>
        </p:xfrm>
        <a:graphic>
          <a:graphicData uri="http://schemas.openxmlformats.org/drawingml/2006/chart">
            <c:chart xmlns:c="http://schemas.openxmlformats.org/drawingml/2006/chart" xmlns:r="http://schemas.openxmlformats.org/officeDocument/2006/relationships" r:id="rId4"/>
          </a:graphicData>
        </a:graphic>
      </p:graphicFrame>
      <p:sp>
        <p:nvSpPr>
          <p:cNvPr id="6" name="Card"/>
          <p:cNvSpPr/>
          <p:nvPr/>
        </p:nvSpPr>
        <p:spPr>
          <a:xfrm>
            <a:off x="8869680" y="1691640"/>
            <a:ext cx="2743200" cy="4343400"/>
          </a:xfrm>
          <a:prstGeom prst="roundRect">
            <a:avLst>
              <a:gd name="adj" fmla="val 2667"/>
            </a:avLst>
          </a:prstGeom>
          <a:solidFill>
            <a:schemeClr val="bg2"/>
          </a:solidFill>
          <a:ln w="12700">
            <a:solidFill>
              <a:schemeClr val="bg2"/>
            </a:solidFill>
            <a:prstDash val="solid"/>
          </a:ln>
        </p:spPr>
        <p:txBody>
          <a:bodyPr/>
          <a:lstStyle/>
          <a:p>
            <a:endParaRPr lang="zh-SG" altLang="en-US"/>
          </a:p>
        </p:txBody>
      </p:sp>
      <p:sp>
        <p:nvSpPr>
          <p:cNvPr id="7" name="Text 3"/>
          <p:cNvSpPr txBox="1"/>
          <p:nvPr/>
        </p:nvSpPr>
        <p:spPr>
          <a:xfrm>
            <a:off x="9098280" y="1828800"/>
            <a:ext cx="2377440" cy="411480"/>
          </a:xfrm>
          <a:prstGeom prst="rect">
            <a:avLst/>
          </a:prstGeom>
          <a:noFill/>
          <a:ln/>
        </p:spPr>
        <p:txBody>
          <a:bodyPr wrap="square" lIns="0" tIns="0" rIns="0" bIns="0" rtlCol="0" anchor="ctr"/>
          <a:lstStyle/>
          <a:p>
            <a:pPr marL="0" indent="0">
              <a:buNone/>
            </a:pPr>
            <a:r>
              <a:rPr lang="en-US" sz="1800" b="1" dirty="0">
                <a:solidFill>
                  <a:schemeClr val="tx2"/>
                </a:solidFill>
                <a:latin typeface="Microsoft YaHei" pitchFamily="34" charset="0"/>
                <a:ea typeface="Microsoft YaHei" pitchFamily="34" charset="-122"/>
                <a:cs typeface="Microsoft YaHei" pitchFamily="34" charset="-120"/>
              </a:rPr>
              <a:t>目标 3：全球化</a:t>
            </a:r>
            <a:endParaRPr lang="en-US" sz="1800" dirty="0"/>
          </a:p>
        </p:txBody>
      </p:sp>
      <p:sp>
        <p:nvSpPr>
          <p:cNvPr id="8" name="Text 4"/>
          <p:cNvSpPr txBox="1"/>
          <p:nvPr/>
        </p:nvSpPr>
        <p:spPr>
          <a:xfrm>
            <a:off x="9098280" y="2286000"/>
            <a:ext cx="237744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2 → 8</a:t>
            </a:r>
            <a:endParaRPr lang="en-US" sz="3400" dirty="0"/>
          </a:p>
        </p:txBody>
      </p:sp>
      <p:sp>
        <p:nvSpPr>
          <p:cNvPr id="9" name="Text 5"/>
          <p:cNvSpPr txBox="1"/>
          <p:nvPr/>
        </p:nvSpPr>
        <p:spPr>
          <a:xfrm>
            <a:off x="9098280" y="2999232"/>
            <a:ext cx="2377440" cy="548640"/>
          </a:xfrm>
          <a:prstGeom prst="rect">
            <a:avLst/>
          </a:prstGeom>
          <a:noFill/>
          <a:ln/>
        </p:spPr>
        <p:txBody>
          <a:bodyPr wrap="square" lIns="0" tIns="0" rIns="0" bIns="0" rtlCol="0" anchor="t"/>
          <a:lstStyle/>
          <a:p>
            <a:pPr marL="0" indent="0">
              <a:buNone/>
            </a:pPr>
            <a:r>
              <a:rPr lang="en-US" sz="1300" dirty="0">
                <a:solidFill>
                  <a:schemeClr val="accent5"/>
                </a:solidFill>
              </a:rPr>
              <a:t>个国家（新增日、印、泰、巴、墨、法）</a:t>
            </a:r>
            <a:endParaRPr lang="en-US" sz="1300" dirty="0"/>
          </a:p>
        </p:txBody>
      </p:sp>
      <p:sp>
        <p:nvSpPr>
          <p:cNvPr id="10" name="Text 6"/>
          <p:cNvSpPr txBox="1"/>
          <p:nvPr/>
        </p:nvSpPr>
        <p:spPr>
          <a:xfrm>
            <a:off x="9098280" y="3520440"/>
            <a:ext cx="237744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47%</a:t>
            </a:r>
            <a:endParaRPr lang="en-US" sz="3400" dirty="0"/>
          </a:p>
        </p:txBody>
      </p:sp>
      <p:sp>
        <p:nvSpPr>
          <p:cNvPr id="11" name="Text 7"/>
          <p:cNvSpPr txBox="1"/>
          <p:nvPr/>
        </p:nvSpPr>
        <p:spPr>
          <a:xfrm>
            <a:off x="9098280" y="4233672"/>
            <a:ext cx="2377440" cy="548640"/>
          </a:xfrm>
          <a:prstGeom prst="rect">
            <a:avLst/>
          </a:prstGeom>
          <a:noFill/>
          <a:ln/>
        </p:spPr>
        <p:txBody>
          <a:bodyPr wrap="square" lIns="0" tIns="0" rIns="0" bIns="0" rtlCol="0" anchor="t"/>
          <a:lstStyle/>
          <a:p>
            <a:pPr marL="0" indent="0">
              <a:buNone/>
            </a:pPr>
            <a:r>
              <a:rPr lang="en-US" sz="1300" dirty="0">
                <a:solidFill>
                  <a:schemeClr val="accent5"/>
                </a:solidFill>
              </a:rPr>
              <a:t>第 7 年来自美加以外的收入占比</a:t>
            </a:r>
            <a:endParaRPr lang="en-US" sz="1300" dirty="0"/>
          </a:p>
        </p:txBody>
      </p:sp>
      <p:sp>
        <p:nvSpPr>
          <p:cNvPr id="12" name="Text 8"/>
          <p:cNvSpPr txBox="1"/>
          <p:nvPr/>
        </p:nvSpPr>
        <p:spPr>
          <a:xfrm>
            <a:off x="9098280" y="4754880"/>
            <a:ext cx="2377440" cy="1234440"/>
          </a:xfrm>
          <a:prstGeom prst="rect">
            <a:avLst/>
          </a:prstGeom>
          <a:noFill/>
          <a:ln/>
        </p:spPr>
        <p:txBody>
          <a:bodyPr wrap="square" lIns="0" tIns="0" rIns="0" bIns="0" rtlCol="0" anchor="t"/>
          <a:lstStyle/>
          <a:p>
            <a:pPr marL="0" indent="0">
              <a:buNone/>
            </a:pPr>
            <a:r>
              <a:rPr lang="en-US" sz="1100" i="1" dirty="0">
                <a:solidFill>
                  <a:schemeClr val="accent4"/>
                </a:solidFill>
              </a:rPr>
              <a:t>假设（Assumption）：案例未定义“全球化”，我们定义为覆盖 4 个以上大洲、第 7 年约一半收入来自新市场。</a:t>
            </a:r>
            <a:endParaRPr lang="en-US" sz="11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大宗蛋价是核心波动风险</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大号鸡蛋价格一年内翻倍（变异系数 21%）；特色产品价格经谈判确定，更稳定</a:t>
            </a:r>
            <a:endParaRPr lang="en-US" sz="1600" dirty="0"/>
          </a:p>
        </p:txBody>
      </p:sp>
      <p:graphicFrame>
        <p:nvGraphicFramePr>
          <p:cNvPr id="4" name="Chart 0"/>
          <p:cNvGraphicFramePr/>
          <p:nvPr/>
        </p:nvGraphicFramePr>
        <p:xfrm>
          <a:off x="548640" y="1600200"/>
          <a:ext cx="67665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680960" y="1600200"/>
            <a:ext cx="393192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$1.67</a:t>
            </a:r>
            <a:endParaRPr lang="en-US" sz="3400" dirty="0"/>
          </a:p>
        </p:txBody>
      </p:sp>
      <p:sp>
        <p:nvSpPr>
          <p:cNvPr id="6" name="Text 3"/>
          <p:cNvSpPr txBox="1"/>
          <p:nvPr/>
        </p:nvSpPr>
        <p:spPr>
          <a:xfrm>
            <a:off x="7680960" y="2313432"/>
            <a:ext cx="3931920" cy="548640"/>
          </a:xfrm>
          <a:prstGeom prst="rect">
            <a:avLst/>
          </a:prstGeom>
          <a:noFill/>
          <a:ln/>
        </p:spPr>
        <p:txBody>
          <a:bodyPr wrap="square" lIns="0" tIns="0" rIns="0" bIns="0" rtlCol="0" anchor="t"/>
          <a:lstStyle/>
          <a:p>
            <a:pPr marL="0" indent="0">
              <a:buNone/>
            </a:pPr>
            <a:r>
              <a:rPr lang="en-US" sz="1300" dirty="0">
                <a:solidFill>
                  <a:schemeClr val="accent5"/>
                </a:solidFill>
              </a:rPr>
              <a:t>平均价格（中位数 $1.79）</a:t>
            </a:r>
            <a:endParaRPr lang="en-US" sz="1300" dirty="0"/>
          </a:p>
        </p:txBody>
      </p:sp>
      <p:sp>
        <p:nvSpPr>
          <p:cNvPr id="7" name="Text 4"/>
          <p:cNvSpPr txBox="1"/>
          <p:nvPr/>
        </p:nvSpPr>
        <p:spPr>
          <a:xfrm>
            <a:off x="7680960" y="2788920"/>
            <a:ext cx="393192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±$0.35</a:t>
            </a:r>
            <a:endParaRPr lang="en-US" sz="3400" dirty="0"/>
          </a:p>
        </p:txBody>
      </p:sp>
      <p:sp>
        <p:nvSpPr>
          <p:cNvPr id="8" name="Text 5"/>
          <p:cNvSpPr txBox="1"/>
          <p:nvPr/>
        </p:nvSpPr>
        <p:spPr>
          <a:xfrm>
            <a:off x="7680960" y="3502152"/>
            <a:ext cx="3931920" cy="548640"/>
          </a:xfrm>
          <a:prstGeom prst="rect">
            <a:avLst/>
          </a:prstGeom>
          <a:noFill/>
          <a:ln/>
        </p:spPr>
        <p:txBody>
          <a:bodyPr wrap="square" lIns="0" tIns="0" rIns="0" bIns="0" rtlCol="0" anchor="t"/>
          <a:lstStyle/>
          <a:p>
            <a:pPr marL="0" indent="0">
              <a:buNone/>
            </a:pPr>
            <a:r>
              <a:rPr lang="en-US" sz="1300" dirty="0">
                <a:solidFill>
                  <a:schemeClr val="accent5"/>
                </a:solidFill>
              </a:rPr>
              <a:t>标准差；变异系数 = 20.8%</a:t>
            </a:r>
            <a:endParaRPr lang="en-US" sz="1300" dirty="0"/>
          </a:p>
        </p:txBody>
      </p:sp>
      <p:sp>
        <p:nvSpPr>
          <p:cNvPr id="9" name="Text 6"/>
          <p:cNvSpPr txBox="1"/>
          <p:nvPr/>
        </p:nvSpPr>
        <p:spPr>
          <a:xfrm>
            <a:off x="7680960" y="3977640"/>
            <a:ext cx="3931920" cy="685800"/>
          </a:xfrm>
          <a:prstGeom prst="rect">
            <a:avLst/>
          </a:prstGeom>
          <a:noFill/>
          <a:ln/>
        </p:spPr>
        <p:txBody>
          <a:bodyPr wrap="square" lIns="0" tIns="0" rIns="0" bIns="0" rtlCol="0" anchor="b"/>
          <a:lstStyle/>
          <a:p>
            <a:pPr marL="0" indent="0">
              <a:buNone/>
            </a:pPr>
            <a:r>
              <a:rPr lang="en-US" sz="3400" b="1" dirty="0">
                <a:solidFill>
                  <a:schemeClr val="accent4"/>
                </a:solidFill>
                <a:latin typeface="Microsoft YaHei" pitchFamily="34" charset="0"/>
                <a:ea typeface="Microsoft YaHei" pitchFamily="34" charset="-122"/>
                <a:cs typeface="Microsoft YaHei" pitchFamily="34" charset="-120"/>
              </a:rPr>
              <a:t>+101%</a:t>
            </a:r>
            <a:endParaRPr lang="en-US" sz="3400" dirty="0"/>
          </a:p>
        </p:txBody>
      </p:sp>
      <p:sp>
        <p:nvSpPr>
          <p:cNvPr id="10" name="Text 7"/>
          <p:cNvSpPr txBox="1"/>
          <p:nvPr/>
        </p:nvSpPr>
        <p:spPr>
          <a:xfrm>
            <a:off x="7680960" y="4690872"/>
            <a:ext cx="3931920" cy="548640"/>
          </a:xfrm>
          <a:prstGeom prst="rect">
            <a:avLst/>
          </a:prstGeom>
          <a:noFill/>
          <a:ln/>
        </p:spPr>
        <p:txBody>
          <a:bodyPr wrap="square" lIns="0" tIns="0" rIns="0" bIns="0" rtlCol="0" anchor="t"/>
          <a:lstStyle/>
          <a:p>
            <a:pPr marL="0" indent="0">
              <a:buNone/>
            </a:pPr>
            <a:r>
              <a:rPr lang="en-US" sz="1300" dirty="0">
                <a:solidFill>
                  <a:schemeClr val="accent5"/>
                </a:solidFill>
              </a:rPr>
              <a:t>Q1 → Q4 涨幅（$0.98 → $1.97）</a:t>
            </a:r>
            <a:endParaRPr lang="en-US" sz="1300" dirty="0"/>
          </a:p>
        </p:txBody>
      </p:sp>
      <p:sp>
        <p:nvSpPr>
          <p:cNvPr id="11" name="Card"/>
          <p:cNvSpPr/>
          <p:nvPr/>
        </p:nvSpPr>
        <p:spPr>
          <a:xfrm>
            <a:off x="7680960" y="5257800"/>
            <a:ext cx="3931920" cy="960120"/>
          </a:xfrm>
          <a:prstGeom prst="roundRect">
            <a:avLst>
              <a:gd name="adj" fmla="val 7619"/>
            </a:avLst>
          </a:prstGeom>
          <a:solidFill>
            <a:schemeClr val="bg2"/>
          </a:solidFill>
          <a:ln w="12700">
            <a:solidFill>
              <a:schemeClr val="bg2"/>
            </a:solidFill>
            <a:prstDash val="solid"/>
          </a:ln>
        </p:spPr>
        <p:txBody>
          <a:bodyPr/>
          <a:lstStyle/>
          <a:p>
            <a:endParaRPr lang="zh-SG" altLang="en-US"/>
          </a:p>
        </p:txBody>
      </p:sp>
      <p:sp>
        <p:nvSpPr>
          <p:cNvPr id="12" name="Text 9"/>
          <p:cNvSpPr txBox="1"/>
          <p:nvPr/>
        </p:nvSpPr>
        <p:spPr>
          <a:xfrm>
            <a:off x="7818120" y="5257800"/>
            <a:ext cx="3703320" cy="960120"/>
          </a:xfrm>
          <a:prstGeom prst="rect">
            <a:avLst/>
          </a:prstGeom>
          <a:noFill/>
          <a:ln/>
        </p:spPr>
        <p:txBody>
          <a:bodyPr wrap="square" lIns="0" tIns="0" rIns="0" bIns="0" rtlCol="0" anchor="ctr"/>
          <a:lstStyle/>
          <a:p>
            <a:pPr marL="0" indent="0">
              <a:buNone/>
            </a:pPr>
            <a:r>
              <a:rPr lang="en-US" sz="1200" dirty="0">
                <a:solidFill>
                  <a:schemeClr val="tx1"/>
                </a:solidFill>
              </a:rPr>
              <a:t>美国劳工统计局（BLS）：2025 年 1 月平均零售价创纪录 $4.95/打。禽流感：当月损失约 1880 万只蛋鸡，1–2 月合计约 4300 万（农场局估计）</a:t>
            </a:r>
            <a:endParaRPr lang="en-US" sz="1200" dirty="0"/>
          </a:p>
        </p:txBody>
      </p:sp>
      <p:sp>
        <p:nvSpPr>
          <p:cNvPr id="13"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来源：案例图 1（周数据从图中读取，为近似值）；BLS，经 The Hill（2025）；USDA 与农场局数据，经 Capital FM（2025）。</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国内举措：哪一块钱最有效？</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加工厂利润回报最高；散养改造是调整结构最便宜的方式</a:t>
            </a:r>
            <a:endParaRPr lang="en-US" sz="1600" dirty="0"/>
          </a:p>
        </p:txBody>
      </p:sp>
      <p:graphicFrame>
        <p:nvGraphicFramePr>
          <p:cNvPr id="4" name="Chart 0"/>
          <p:cNvGraphicFramePr/>
          <p:nvPr/>
        </p:nvGraphicFramePr>
        <p:xfrm>
          <a:off x="548640" y="1600200"/>
          <a:ext cx="566928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6492240" y="1645920"/>
            <a:ext cx="51206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6" name="Text 3"/>
          <p:cNvSpPr txBox="1"/>
          <p:nvPr/>
        </p:nvSpPr>
        <p:spPr>
          <a:xfrm>
            <a:off x="6675120" y="1737360"/>
            <a:ext cx="3291840" cy="365760"/>
          </a:xfrm>
          <a:prstGeom prst="rect">
            <a:avLst/>
          </a:prstGeom>
          <a:noFill/>
          <a:ln/>
        </p:spPr>
        <p:txBody>
          <a:bodyPr wrap="square" lIns="0" tIns="0" rIns="0" bIns="0" rtlCol="0" anchor="ctr"/>
          <a:lstStyle/>
          <a:p>
            <a:pPr marL="0" indent="0">
              <a:buNone/>
            </a:pPr>
            <a:r>
              <a:rPr lang="en-US" sz="1600" b="1" dirty="0">
                <a:solidFill>
                  <a:schemeClr val="tx2"/>
                </a:solidFill>
              </a:rPr>
              <a:t>营销 +0.25% 收入</a:t>
            </a:r>
            <a:endParaRPr lang="en-US" sz="1600" dirty="0"/>
          </a:p>
        </p:txBody>
      </p:sp>
      <p:sp>
        <p:nvSpPr>
          <p:cNvPr id="7" name="Text 4"/>
          <p:cNvSpPr txBox="1"/>
          <p:nvPr/>
        </p:nvSpPr>
        <p:spPr>
          <a:xfrm>
            <a:off x="9966960" y="1737360"/>
            <a:ext cx="1508760" cy="365760"/>
          </a:xfrm>
          <a:prstGeom prst="rect">
            <a:avLst/>
          </a:prstGeom>
          <a:noFill/>
          <a:ln/>
        </p:spPr>
        <p:txBody>
          <a:bodyPr wrap="square" lIns="0" tIns="0" rIns="0" bIns="0" rtlCol="0" anchor="ctr"/>
          <a:lstStyle/>
          <a:p>
            <a:pPr marL="0" indent="0" algn="r">
              <a:buNone/>
            </a:pPr>
            <a:r>
              <a:rPr lang="en-US" sz="1200" b="1" dirty="0">
                <a:solidFill>
                  <a:schemeClr val="accent4"/>
                </a:solidFill>
              </a:rPr>
              <a:t>设 KPI 关卡</a:t>
            </a:r>
            <a:endParaRPr lang="en-US" sz="1200" dirty="0"/>
          </a:p>
        </p:txBody>
      </p:sp>
      <p:sp>
        <p:nvSpPr>
          <p:cNvPr id="8" name="Text 5"/>
          <p:cNvSpPr txBox="1"/>
          <p:nvPr/>
        </p:nvSpPr>
        <p:spPr>
          <a:xfrm>
            <a:off x="6675120" y="2121408"/>
            <a:ext cx="4800600" cy="777240"/>
          </a:xfrm>
          <a:prstGeom prst="rect">
            <a:avLst/>
          </a:prstGeom>
          <a:noFill/>
          <a:ln/>
        </p:spPr>
        <p:txBody>
          <a:bodyPr wrap="square" lIns="0" tIns="0" rIns="0" bIns="0" rtlCol="0" anchor="t"/>
          <a:lstStyle/>
          <a:p>
            <a:pPr marL="0" indent="0">
              <a:buNone/>
            </a:pPr>
            <a:r>
              <a:rPr lang="en-US" sz="1300" dirty="0">
                <a:solidFill>
                  <a:schemeClr val="tx1"/>
                </a:solidFill>
              </a:rPr>
              <a:t>每年约 580 万 → 特色 +6%（+3460 万）。利润 690 万 − 成本 580 万 ≈ 每年 +110 万</a:t>
            </a:r>
            <a:endParaRPr lang="en-US" sz="1300" dirty="0"/>
          </a:p>
        </p:txBody>
      </p:sp>
      <p:sp>
        <p:nvSpPr>
          <p:cNvPr id="9" name="Card"/>
          <p:cNvSpPr/>
          <p:nvPr/>
        </p:nvSpPr>
        <p:spPr>
          <a:xfrm>
            <a:off x="6492240" y="3154680"/>
            <a:ext cx="51206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10" name="Text 7"/>
          <p:cNvSpPr txBox="1"/>
          <p:nvPr/>
        </p:nvSpPr>
        <p:spPr>
          <a:xfrm>
            <a:off x="6675120" y="3246120"/>
            <a:ext cx="3291840" cy="365760"/>
          </a:xfrm>
          <a:prstGeom prst="rect">
            <a:avLst/>
          </a:prstGeom>
          <a:noFill/>
          <a:ln/>
        </p:spPr>
        <p:txBody>
          <a:bodyPr wrap="square" lIns="0" tIns="0" rIns="0" bIns="0" rtlCol="0" anchor="ctr"/>
          <a:lstStyle/>
          <a:p>
            <a:pPr marL="0" indent="0">
              <a:buNone/>
            </a:pPr>
            <a:r>
              <a:rPr lang="en-US" sz="1600" b="1" dirty="0">
                <a:solidFill>
                  <a:schemeClr val="tx2"/>
                </a:solidFill>
              </a:rPr>
              <a:t>散养改造</a:t>
            </a:r>
            <a:endParaRPr lang="en-US" sz="1600" dirty="0"/>
          </a:p>
        </p:txBody>
      </p:sp>
      <p:sp>
        <p:nvSpPr>
          <p:cNvPr id="11" name="Text 8"/>
          <p:cNvSpPr txBox="1"/>
          <p:nvPr/>
        </p:nvSpPr>
        <p:spPr>
          <a:xfrm>
            <a:off x="9966960" y="3246120"/>
            <a:ext cx="1508760" cy="365760"/>
          </a:xfrm>
          <a:prstGeom prst="rect">
            <a:avLst/>
          </a:prstGeom>
          <a:noFill/>
          <a:ln/>
        </p:spPr>
        <p:txBody>
          <a:bodyPr wrap="square" lIns="0" tIns="0" rIns="0" bIns="0" rtlCol="0" anchor="ctr"/>
          <a:lstStyle/>
          <a:p>
            <a:pPr marL="0" indent="0" algn="r">
              <a:buNone/>
            </a:pPr>
            <a:r>
              <a:rPr lang="en-US" sz="1200" b="1" dirty="0">
                <a:solidFill>
                  <a:schemeClr val="accent4"/>
                </a:solidFill>
              </a:rPr>
              <a:t>最佳结构举措</a:t>
            </a:r>
            <a:endParaRPr lang="en-US" sz="1200" dirty="0"/>
          </a:p>
        </p:txBody>
      </p:sp>
      <p:sp>
        <p:nvSpPr>
          <p:cNvPr id="12" name="Text 9"/>
          <p:cNvSpPr txBox="1"/>
          <p:nvPr/>
        </p:nvSpPr>
        <p:spPr>
          <a:xfrm>
            <a:off x="6675120" y="3630168"/>
            <a:ext cx="4800600" cy="777240"/>
          </a:xfrm>
          <a:prstGeom prst="rect">
            <a:avLst/>
          </a:prstGeom>
          <a:noFill/>
          <a:ln/>
        </p:spPr>
        <p:txBody>
          <a:bodyPr wrap="square" lIns="0" tIns="0" rIns="0" bIns="0" rtlCol="0" anchor="t"/>
          <a:lstStyle/>
          <a:p>
            <a:pPr marL="0" indent="0">
              <a:buNone/>
            </a:pPr>
            <a:r>
              <a:rPr lang="en-US" sz="1300" dirty="0">
                <a:solidFill>
                  <a:schemeClr val="tx1"/>
                </a:solidFill>
              </a:rPr>
              <a:t>每 100 万把 500 万收入从大宗转为特色；利润率 12.4% → 15%</a:t>
            </a:r>
            <a:endParaRPr lang="en-US" sz="1300" dirty="0"/>
          </a:p>
        </p:txBody>
      </p:sp>
      <p:sp>
        <p:nvSpPr>
          <p:cNvPr id="13" name="Card"/>
          <p:cNvSpPr/>
          <p:nvPr/>
        </p:nvSpPr>
        <p:spPr>
          <a:xfrm>
            <a:off x="6492240" y="4663440"/>
            <a:ext cx="51206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14" name="Text 11"/>
          <p:cNvSpPr txBox="1"/>
          <p:nvPr/>
        </p:nvSpPr>
        <p:spPr>
          <a:xfrm>
            <a:off x="6675120" y="4754880"/>
            <a:ext cx="3291840" cy="365760"/>
          </a:xfrm>
          <a:prstGeom prst="rect">
            <a:avLst/>
          </a:prstGeom>
          <a:noFill/>
          <a:ln/>
        </p:spPr>
        <p:txBody>
          <a:bodyPr wrap="square" lIns="0" tIns="0" rIns="0" bIns="0" rtlCol="0" anchor="ctr"/>
          <a:lstStyle/>
          <a:p>
            <a:pPr marL="0" indent="0">
              <a:buNone/>
            </a:pPr>
            <a:r>
              <a:rPr lang="en-US" sz="1600" b="1" dirty="0">
                <a:solidFill>
                  <a:schemeClr val="tx2"/>
                </a:solidFill>
              </a:rPr>
              <a:t>蛋制品加工厂</a:t>
            </a:r>
            <a:endParaRPr lang="en-US" sz="1600" dirty="0"/>
          </a:p>
        </p:txBody>
      </p:sp>
      <p:sp>
        <p:nvSpPr>
          <p:cNvPr id="15" name="Text 12"/>
          <p:cNvSpPr txBox="1"/>
          <p:nvPr/>
        </p:nvSpPr>
        <p:spPr>
          <a:xfrm>
            <a:off x="9966960" y="4754880"/>
            <a:ext cx="1508760" cy="365760"/>
          </a:xfrm>
          <a:prstGeom prst="rect">
            <a:avLst/>
          </a:prstGeom>
          <a:noFill/>
          <a:ln/>
        </p:spPr>
        <p:txBody>
          <a:bodyPr wrap="square" lIns="0" tIns="0" rIns="0" bIns="0" rtlCol="0" anchor="ctr"/>
          <a:lstStyle/>
          <a:p>
            <a:pPr marL="0" indent="0" algn="r">
              <a:buNone/>
            </a:pPr>
            <a:r>
              <a:rPr lang="en-US" sz="1200" b="1" dirty="0">
                <a:solidFill>
                  <a:schemeClr val="accent4"/>
                </a:solidFill>
              </a:rPr>
              <a:t>最佳利润举措</a:t>
            </a:r>
            <a:endParaRPr lang="en-US" sz="1200" dirty="0"/>
          </a:p>
        </p:txBody>
      </p:sp>
      <p:sp>
        <p:nvSpPr>
          <p:cNvPr id="16" name="Text 13"/>
          <p:cNvSpPr txBox="1"/>
          <p:nvPr/>
        </p:nvSpPr>
        <p:spPr>
          <a:xfrm>
            <a:off x="6675120" y="5138928"/>
            <a:ext cx="4800600" cy="777240"/>
          </a:xfrm>
          <a:prstGeom prst="rect">
            <a:avLst/>
          </a:prstGeom>
          <a:noFill/>
          <a:ln/>
        </p:spPr>
        <p:txBody>
          <a:bodyPr wrap="square" lIns="0" tIns="0" rIns="0" bIns="0" rtlCol="0" anchor="t"/>
          <a:lstStyle/>
          <a:p>
            <a:pPr marL="0" indent="0">
              <a:buNone/>
            </a:pPr>
            <a:r>
              <a:rPr lang="en-US" sz="1300" dirty="0">
                <a:solidFill>
                  <a:schemeClr val="tx1"/>
                </a:solidFill>
              </a:rPr>
              <a:t>2500 万新增 5000 万特色收入，利润率 20%</a:t>
            </a:r>
            <a:endParaRPr lang="en-US" sz="1300" dirty="0"/>
          </a:p>
        </p:txBody>
      </p:sp>
      <p:sp>
        <p:nvSpPr>
          <p:cNvPr id="17" name="Text 14"/>
          <p:cNvSpPr txBox="1"/>
          <p:nvPr/>
        </p:nvSpPr>
        <p:spPr>
          <a:xfrm>
            <a:off x="548640" y="5669280"/>
            <a:ext cx="5669280" cy="594360"/>
          </a:xfrm>
          <a:prstGeom prst="rect">
            <a:avLst/>
          </a:prstGeom>
          <a:noFill/>
          <a:ln/>
        </p:spPr>
        <p:txBody>
          <a:bodyPr wrap="square" lIns="0" tIns="0" rIns="0" bIns="0" rtlCol="0" anchor="t"/>
          <a:lstStyle/>
          <a:p>
            <a:pPr marL="0" indent="0">
              <a:buNone/>
            </a:pPr>
            <a:r>
              <a:rPr lang="en-US" sz="1200" i="1" dirty="0">
                <a:solidFill>
                  <a:schemeClr val="accent4"/>
                </a:solidFill>
              </a:rPr>
              <a:t>假设（Assumption）：案例称追加 0.25% 营销带来“6% 增长空间”，我们理解为特色收入 +6%，而非占比 +6 个百分点。</a:t>
            </a:r>
            <a:endParaRPr lang="en-US" sz="1200" dirty="0"/>
          </a:p>
        </p:txBody>
      </p:sp>
      <p:sp>
        <p:nvSpPr>
          <p:cNvPr id="18"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来源：举措成本与收益来自案例；利润由小组计算（营销按当前收入 23.37 亿、特色 5.76 亿美元计）。</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目标 2：第 3 年特色占比达到 34%</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四项举措把美国特色收入从 5.76 亿提升到 8.58 亿美元，大宗降至 16.61 亿</a:t>
            </a:r>
            <a:endParaRPr lang="en-US" sz="1600" dirty="0"/>
          </a:p>
        </p:txBody>
      </p:sp>
      <p:graphicFrame>
        <p:nvGraphicFramePr>
          <p:cNvPr id="4" name="Chart 0"/>
          <p:cNvGraphicFramePr/>
          <p:nvPr/>
        </p:nvGraphicFramePr>
        <p:xfrm>
          <a:off x="548640" y="1600200"/>
          <a:ext cx="6035040" cy="4023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858000" y="1600200"/>
          <a:ext cx="4754880"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txBox="1"/>
          <p:nvPr/>
        </p:nvSpPr>
        <p:spPr>
          <a:xfrm>
            <a:off x="548640" y="5669280"/>
            <a:ext cx="11064240" cy="457200"/>
          </a:xfrm>
          <a:prstGeom prst="rect">
            <a:avLst/>
          </a:prstGeom>
          <a:noFill/>
          <a:ln/>
        </p:spPr>
        <p:txBody>
          <a:bodyPr wrap="square" lIns="0" tIns="0" rIns="0" bIns="0" rtlCol="0" anchor="t"/>
          <a:lstStyle/>
          <a:p>
            <a:pPr marL="0" indent="0">
              <a:buNone/>
            </a:pPr>
            <a:r>
              <a:rPr lang="en-US" sz="1200" i="1" dirty="0">
                <a:solidFill>
                  <a:schemeClr val="accent4"/>
                </a:solidFill>
              </a:rPr>
              <a:t>假设（Assumption）：营销 = 特色收入 +6%（我们对案例的理解）；除改造部分外，大宗收入保持不变。</a:t>
            </a:r>
            <a:endParaRPr lang="en-US" sz="1200" dirty="0"/>
          </a:p>
        </p:txBody>
      </p:sp>
      <p:sp>
        <p:nvSpPr>
          <p:cNvPr id="7"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来源：小组基于案例数据建模；特色市场年增 2.5%（案例）。外部数据：2023 年 11 月美国散养母鸡占蛋鸡 38.8%（USDA 2023 年 12 月报告，经 O’Keefe, 2024）。</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筛选 20 个国际目标</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亚洲规模可观且估值低；北美目标规模大但价格贵</a:t>
            </a:r>
            <a:endParaRPr lang="en-US" sz="1600" dirty="0"/>
          </a:p>
        </p:txBody>
      </p:sp>
      <p:graphicFrame>
        <p:nvGraphicFramePr>
          <p:cNvPr id="4" name="Chart 0"/>
          <p:cNvGraphicFramePr/>
          <p:nvPr/>
        </p:nvGraphicFramePr>
        <p:xfrm>
          <a:off x="548640" y="1600200"/>
          <a:ext cx="411480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846320" y="1600200"/>
          <a:ext cx="4114800" cy="4480560"/>
        </p:xfrm>
        <a:graphic>
          <a:graphicData uri="http://schemas.openxmlformats.org/drawingml/2006/chart">
            <c:chart xmlns:c="http://schemas.openxmlformats.org/drawingml/2006/chart" xmlns:r="http://schemas.openxmlformats.org/officeDocument/2006/relationships" r:id="rId4"/>
          </a:graphicData>
        </a:graphic>
      </p:graphicFrame>
      <p:sp>
        <p:nvSpPr>
          <p:cNvPr id="6" name="Card"/>
          <p:cNvSpPr/>
          <p:nvPr/>
        </p:nvSpPr>
        <p:spPr>
          <a:xfrm>
            <a:off x="9144000" y="1691640"/>
            <a:ext cx="2468880" cy="4343400"/>
          </a:xfrm>
          <a:prstGeom prst="roundRect">
            <a:avLst>
              <a:gd name="adj" fmla="val 2963"/>
            </a:avLst>
          </a:prstGeom>
          <a:solidFill>
            <a:schemeClr val="bg2"/>
          </a:solidFill>
          <a:ln w="12700">
            <a:solidFill>
              <a:schemeClr val="bg2"/>
            </a:solidFill>
            <a:prstDash val="solid"/>
          </a:ln>
        </p:spPr>
        <p:txBody>
          <a:bodyPr/>
          <a:lstStyle/>
          <a:p>
            <a:endParaRPr lang="zh-SG" altLang="en-US"/>
          </a:p>
        </p:txBody>
      </p:sp>
      <p:sp>
        <p:nvSpPr>
          <p:cNvPr id="7" name="Text 3"/>
          <p:cNvSpPr txBox="1"/>
          <p:nvPr/>
        </p:nvSpPr>
        <p:spPr>
          <a:xfrm>
            <a:off x="9326880" y="1783080"/>
            <a:ext cx="214884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5.04 亿</a:t>
            </a:r>
            <a:endParaRPr lang="en-US" sz="3400" dirty="0"/>
          </a:p>
        </p:txBody>
      </p:sp>
      <p:sp>
        <p:nvSpPr>
          <p:cNvPr id="8" name="Text 4"/>
          <p:cNvSpPr txBox="1"/>
          <p:nvPr/>
        </p:nvSpPr>
        <p:spPr>
          <a:xfrm>
            <a:off x="9326880" y="2496312"/>
            <a:ext cx="2148840" cy="548640"/>
          </a:xfrm>
          <a:prstGeom prst="rect">
            <a:avLst/>
          </a:prstGeom>
          <a:noFill/>
          <a:ln/>
        </p:spPr>
        <p:txBody>
          <a:bodyPr wrap="square" lIns="0" tIns="0" rIns="0" bIns="0" rtlCol="0" anchor="t"/>
          <a:lstStyle/>
          <a:p>
            <a:pPr marL="0" indent="0">
              <a:buNone/>
            </a:pPr>
            <a:r>
              <a:rPr lang="en-US" sz="1300" dirty="0">
                <a:solidFill>
                  <a:schemeClr val="accent5"/>
                </a:solidFill>
              </a:rPr>
              <a:t>20 家公司平均收入（中位数 3.75 亿，标准差 3.46 亿美元）</a:t>
            </a:r>
            <a:endParaRPr lang="en-US" sz="1300" dirty="0"/>
          </a:p>
        </p:txBody>
      </p:sp>
      <p:sp>
        <p:nvSpPr>
          <p:cNvPr id="9" name="Text 5"/>
          <p:cNvSpPr txBox="1"/>
          <p:nvPr/>
        </p:nvSpPr>
        <p:spPr>
          <a:xfrm>
            <a:off x="9326880" y="3154680"/>
            <a:ext cx="214884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5.0%</a:t>
            </a:r>
            <a:endParaRPr lang="en-US" sz="3400" dirty="0"/>
          </a:p>
        </p:txBody>
      </p:sp>
      <p:sp>
        <p:nvSpPr>
          <p:cNvPr id="10" name="Text 6"/>
          <p:cNvSpPr txBox="1"/>
          <p:nvPr/>
        </p:nvSpPr>
        <p:spPr>
          <a:xfrm>
            <a:off x="9326880" y="3867912"/>
            <a:ext cx="2148840" cy="548640"/>
          </a:xfrm>
          <a:prstGeom prst="rect">
            <a:avLst/>
          </a:prstGeom>
          <a:noFill/>
          <a:ln/>
        </p:spPr>
        <p:txBody>
          <a:bodyPr wrap="square" lIns="0" tIns="0" rIns="0" bIns="0" rtlCol="0" anchor="t"/>
          <a:lstStyle/>
          <a:p>
            <a:pPr marL="0" indent="0">
              <a:buNone/>
            </a:pPr>
            <a:r>
              <a:rPr lang="en-US" sz="1300" dirty="0">
                <a:solidFill>
                  <a:schemeClr val="accent5"/>
                </a:solidFill>
              </a:rPr>
              <a:t>20 家中有 19 家的 EBITA 利润率</a:t>
            </a:r>
            <a:endParaRPr lang="en-US" sz="1300" dirty="0"/>
          </a:p>
        </p:txBody>
      </p:sp>
      <p:sp>
        <p:nvSpPr>
          <p:cNvPr id="11" name="Text 7"/>
          <p:cNvSpPr txBox="1"/>
          <p:nvPr/>
        </p:nvSpPr>
        <p:spPr>
          <a:xfrm>
            <a:off x="9326880" y="4526280"/>
            <a:ext cx="214884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7.0x</a:t>
            </a:r>
            <a:endParaRPr lang="en-US" sz="3400" dirty="0"/>
          </a:p>
        </p:txBody>
      </p:sp>
      <p:sp>
        <p:nvSpPr>
          <p:cNvPr id="12" name="Text 8"/>
          <p:cNvSpPr txBox="1"/>
          <p:nvPr/>
        </p:nvSpPr>
        <p:spPr>
          <a:xfrm>
            <a:off x="9326880" y="5239512"/>
            <a:ext cx="2148840" cy="548640"/>
          </a:xfrm>
          <a:prstGeom prst="rect">
            <a:avLst/>
          </a:prstGeom>
          <a:noFill/>
          <a:ln/>
        </p:spPr>
        <p:txBody>
          <a:bodyPr wrap="square" lIns="0" tIns="0" rIns="0" bIns="0" rtlCol="0" anchor="t"/>
          <a:lstStyle/>
          <a:p>
            <a:pPr marL="0" indent="0">
              <a:buNone/>
            </a:pPr>
            <a:r>
              <a:rPr lang="en-US" sz="1300" dirty="0">
                <a:solidFill>
                  <a:schemeClr val="accent5"/>
                </a:solidFill>
              </a:rPr>
              <a:t>EV/EBITA 均值（中位数 5.7x，标准差 4.1x）</a:t>
            </a:r>
            <a:endParaRPr lang="en-US" sz="1300" dirty="0"/>
          </a:p>
        </p:txBody>
      </p:sp>
      <p:sp>
        <p:nvSpPr>
          <p:cNvPr id="13"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来源：案例表 3–6。EV = 收购价区间中点。JBS Eggs（中国）无收购价，仅可合资，因此倍数基于 19 家公司。</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便宜的目标便宜是有原因的</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强负相关（r = −0.76）：是规律，不是因果证明</a:t>
            </a:r>
            <a:endParaRPr lang="en-US" sz="1600" dirty="0"/>
          </a:p>
        </p:txBody>
      </p:sp>
      <p:graphicFrame>
        <p:nvGraphicFramePr>
          <p:cNvPr id="4" name="Chart 0"/>
          <p:cNvGraphicFramePr/>
          <p:nvPr/>
        </p:nvGraphicFramePr>
        <p:xfrm>
          <a:off x="548640" y="1600200"/>
          <a:ext cx="694944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863840" y="1691640"/>
            <a:ext cx="3749040" cy="411480"/>
          </a:xfrm>
          <a:prstGeom prst="rect">
            <a:avLst/>
          </a:prstGeom>
          <a:noFill/>
          <a:ln/>
        </p:spPr>
        <p:txBody>
          <a:bodyPr wrap="square" lIns="0" tIns="0" rIns="0" bIns="0" rtlCol="0" anchor="ctr"/>
          <a:lstStyle/>
          <a:p>
            <a:pPr marL="0" indent="0">
              <a:buNone/>
            </a:pPr>
            <a:r>
              <a:rPr lang="en-US" sz="1800" b="1" dirty="0">
                <a:solidFill>
                  <a:schemeClr val="accent4"/>
                </a:solidFill>
                <a:latin typeface="Microsoft YaHei" pitchFamily="34" charset="0"/>
                <a:ea typeface="Microsoft YaHei" pitchFamily="34" charset="-122"/>
                <a:cs typeface="Microsoft YaHei" pitchFamily="34" charset="-120"/>
              </a:rPr>
              <a:t>我们放弃的「便宜货」</a:t>
            </a:r>
            <a:endParaRPr lang="en-US" sz="1800" dirty="0"/>
          </a:p>
        </p:txBody>
      </p:sp>
      <p:sp>
        <p:nvSpPr>
          <p:cNvPr id="6" name="Card"/>
          <p:cNvSpPr/>
          <p:nvPr/>
        </p:nvSpPr>
        <p:spPr>
          <a:xfrm>
            <a:off x="7863840" y="2240280"/>
            <a:ext cx="3749040" cy="822960"/>
          </a:xfrm>
          <a:prstGeom prst="roundRect">
            <a:avLst>
              <a:gd name="adj" fmla="val 8889"/>
            </a:avLst>
          </a:prstGeom>
          <a:solidFill>
            <a:schemeClr val="bg2"/>
          </a:solidFill>
          <a:ln w="12700">
            <a:solidFill>
              <a:schemeClr val="bg2"/>
            </a:solidFill>
            <a:prstDash val="solid"/>
          </a:ln>
        </p:spPr>
        <p:txBody>
          <a:bodyPr/>
          <a:lstStyle/>
          <a:p>
            <a:endParaRPr lang="zh-SG" altLang="en-US"/>
          </a:p>
        </p:txBody>
      </p:sp>
      <p:sp>
        <p:nvSpPr>
          <p:cNvPr id="7" name="Text 4"/>
          <p:cNvSpPr txBox="1"/>
          <p:nvPr/>
        </p:nvSpPr>
        <p:spPr>
          <a:xfrm>
            <a:off x="8046720" y="2313432"/>
            <a:ext cx="3474720" cy="347472"/>
          </a:xfrm>
          <a:prstGeom prst="rect">
            <a:avLst/>
          </a:prstGeom>
          <a:noFill/>
          <a:ln/>
        </p:spPr>
        <p:txBody>
          <a:bodyPr wrap="square" lIns="0" tIns="0" rIns="0" bIns="0" rtlCol="0" anchor="ctr"/>
          <a:lstStyle/>
          <a:p>
            <a:pPr marL="0" indent="0">
              <a:buNone/>
            </a:pPr>
            <a:r>
              <a:rPr lang="en-US" sz="1400" b="1" dirty="0">
                <a:solidFill>
                  <a:schemeClr val="tx2"/>
                </a:solidFill>
              </a:rPr>
              <a:t>Omega Eggs · 叙利亚</a:t>
            </a:r>
            <a:endParaRPr lang="en-US" sz="1400" dirty="0"/>
          </a:p>
        </p:txBody>
      </p:sp>
      <p:sp>
        <p:nvSpPr>
          <p:cNvPr id="8" name="Text 5"/>
          <p:cNvSpPr txBox="1"/>
          <p:nvPr/>
        </p:nvSpPr>
        <p:spPr>
          <a:xfrm>
            <a:off x="8046720" y="2660904"/>
            <a:ext cx="3474720" cy="329184"/>
          </a:xfrm>
          <a:prstGeom prst="rect">
            <a:avLst/>
          </a:prstGeom>
          <a:noFill/>
          <a:ln/>
        </p:spPr>
        <p:txBody>
          <a:bodyPr wrap="square" lIns="0" tIns="0" rIns="0" bIns="0" rtlCol="0" anchor="ctr"/>
          <a:lstStyle/>
          <a:p>
            <a:pPr marL="0" indent="0">
              <a:buNone/>
            </a:pPr>
            <a:r>
              <a:rPr lang="en-US" sz="1300" dirty="0">
                <a:solidFill>
                  <a:schemeClr val="tx1"/>
                </a:solidFill>
              </a:rPr>
              <a:t>0.8x — 内战</a:t>
            </a:r>
            <a:endParaRPr lang="en-US" sz="1300" dirty="0"/>
          </a:p>
        </p:txBody>
      </p:sp>
      <p:sp>
        <p:nvSpPr>
          <p:cNvPr id="9" name="Card"/>
          <p:cNvSpPr/>
          <p:nvPr/>
        </p:nvSpPr>
        <p:spPr>
          <a:xfrm>
            <a:off x="7863840" y="3200400"/>
            <a:ext cx="3749040" cy="822960"/>
          </a:xfrm>
          <a:prstGeom prst="roundRect">
            <a:avLst>
              <a:gd name="adj" fmla="val 8889"/>
            </a:avLst>
          </a:prstGeom>
          <a:solidFill>
            <a:schemeClr val="bg2"/>
          </a:solidFill>
          <a:ln w="12700">
            <a:solidFill>
              <a:schemeClr val="bg2"/>
            </a:solidFill>
            <a:prstDash val="solid"/>
          </a:ln>
        </p:spPr>
        <p:txBody>
          <a:bodyPr/>
          <a:lstStyle/>
          <a:p>
            <a:endParaRPr lang="zh-SG" altLang="en-US"/>
          </a:p>
        </p:txBody>
      </p:sp>
      <p:sp>
        <p:nvSpPr>
          <p:cNvPr id="10" name="Text 7"/>
          <p:cNvSpPr txBox="1"/>
          <p:nvPr/>
        </p:nvSpPr>
        <p:spPr>
          <a:xfrm>
            <a:off x="8046720" y="3273552"/>
            <a:ext cx="3474720" cy="347472"/>
          </a:xfrm>
          <a:prstGeom prst="rect">
            <a:avLst/>
          </a:prstGeom>
          <a:noFill/>
          <a:ln/>
        </p:spPr>
        <p:txBody>
          <a:bodyPr wrap="square" lIns="0" tIns="0" rIns="0" bIns="0" rtlCol="0" anchor="ctr"/>
          <a:lstStyle/>
          <a:p>
            <a:pPr marL="0" indent="0">
              <a:buNone/>
            </a:pPr>
            <a:r>
              <a:rPr lang="en-US" sz="1400" b="1" dirty="0">
                <a:solidFill>
                  <a:schemeClr val="tx2"/>
                </a:solidFill>
              </a:rPr>
              <a:t>Hen Egg Farms · 孟加拉</a:t>
            </a:r>
            <a:endParaRPr lang="en-US" sz="1400" dirty="0"/>
          </a:p>
        </p:txBody>
      </p:sp>
      <p:sp>
        <p:nvSpPr>
          <p:cNvPr id="11" name="Text 8"/>
          <p:cNvSpPr txBox="1"/>
          <p:nvPr/>
        </p:nvSpPr>
        <p:spPr>
          <a:xfrm>
            <a:off x="8046720" y="3621024"/>
            <a:ext cx="3474720" cy="329184"/>
          </a:xfrm>
          <a:prstGeom prst="rect">
            <a:avLst/>
          </a:prstGeom>
          <a:noFill/>
          <a:ln/>
        </p:spPr>
        <p:txBody>
          <a:bodyPr wrap="square" lIns="0" tIns="0" rIns="0" bIns="0" rtlCol="0" anchor="ctr"/>
          <a:lstStyle/>
          <a:p>
            <a:pPr marL="0" indent="0">
              <a:buNone/>
            </a:pPr>
            <a:r>
              <a:rPr lang="en-US" sz="1300" dirty="0">
                <a:solidFill>
                  <a:schemeClr val="tx1"/>
                </a:solidFill>
              </a:rPr>
              <a:t>1.8x — 涉嫌操纵价格</a:t>
            </a:r>
            <a:endParaRPr lang="en-US" sz="1300" dirty="0"/>
          </a:p>
        </p:txBody>
      </p:sp>
      <p:sp>
        <p:nvSpPr>
          <p:cNvPr id="12" name="Card"/>
          <p:cNvSpPr/>
          <p:nvPr/>
        </p:nvSpPr>
        <p:spPr>
          <a:xfrm>
            <a:off x="7863840" y="4160520"/>
            <a:ext cx="3749040" cy="822960"/>
          </a:xfrm>
          <a:prstGeom prst="roundRect">
            <a:avLst>
              <a:gd name="adj" fmla="val 8889"/>
            </a:avLst>
          </a:prstGeom>
          <a:solidFill>
            <a:schemeClr val="bg2"/>
          </a:solidFill>
          <a:ln w="12700">
            <a:solidFill>
              <a:schemeClr val="bg2"/>
            </a:solidFill>
            <a:prstDash val="solid"/>
          </a:ln>
        </p:spPr>
        <p:txBody>
          <a:bodyPr/>
          <a:lstStyle/>
          <a:p>
            <a:endParaRPr lang="zh-SG" altLang="en-US"/>
          </a:p>
        </p:txBody>
      </p:sp>
      <p:sp>
        <p:nvSpPr>
          <p:cNvPr id="13" name="Text 10"/>
          <p:cNvSpPr txBox="1"/>
          <p:nvPr/>
        </p:nvSpPr>
        <p:spPr>
          <a:xfrm>
            <a:off x="8046720" y="4233672"/>
            <a:ext cx="3474720" cy="347472"/>
          </a:xfrm>
          <a:prstGeom prst="rect">
            <a:avLst/>
          </a:prstGeom>
          <a:noFill/>
          <a:ln/>
        </p:spPr>
        <p:txBody>
          <a:bodyPr wrap="square" lIns="0" tIns="0" rIns="0" bIns="0" rtlCol="0" anchor="ctr"/>
          <a:lstStyle/>
          <a:p>
            <a:pPr marL="0" indent="0">
              <a:buNone/>
            </a:pPr>
            <a:r>
              <a:rPr lang="en-US" sz="1400" b="1" dirty="0">
                <a:solidFill>
                  <a:schemeClr val="tx2"/>
                </a:solidFill>
              </a:rPr>
              <a:t>River Hallow · 乌克兰</a:t>
            </a:r>
            <a:endParaRPr lang="en-US" sz="1400" dirty="0"/>
          </a:p>
        </p:txBody>
      </p:sp>
      <p:sp>
        <p:nvSpPr>
          <p:cNvPr id="14" name="Text 11"/>
          <p:cNvSpPr txBox="1"/>
          <p:nvPr/>
        </p:nvSpPr>
        <p:spPr>
          <a:xfrm>
            <a:off x="8046720" y="4581144"/>
            <a:ext cx="3474720" cy="329184"/>
          </a:xfrm>
          <a:prstGeom prst="rect">
            <a:avLst/>
          </a:prstGeom>
          <a:noFill/>
          <a:ln/>
        </p:spPr>
        <p:txBody>
          <a:bodyPr wrap="square" lIns="0" tIns="0" rIns="0" bIns="0" rtlCol="0" anchor="ctr"/>
          <a:lstStyle/>
          <a:p>
            <a:pPr marL="0" indent="0">
              <a:buNone/>
            </a:pPr>
            <a:r>
              <a:rPr lang="en-US" sz="1300" dirty="0">
                <a:solidFill>
                  <a:schemeClr val="tx1"/>
                </a:solidFill>
              </a:rPr>
              <a:t>2.7x — 战争损失约 5100 万</a:t>
            </a:r>
            <a:endParaRPr lang="en-US" sz="1300" dirty="0"/>
          </a:p>
        </p:txBody>
      </p:sp>
      <p:sp>
        <p:nvSpPr>
          <p:cNvPr id="15" name="Text 12"/>
          <p:cNvSpPr txBox="1"/>
          <p:nvPr/>
        </p:nvSpPr>
        <p:spPr>
          <a:xfrm>
            <a:off x="7863840" y="5120640"/>
            <a:ext cx="3749040" cy="685800"/>
          </a:xfrm>
          <a:prstGeom prst="rect">
            <a:avLst/>
          </a:prstGeom>
          <a:noFill/>
          <a:ln/>
        </p:spPr>
        <p:txBody>
          <a:bodyPr wrap="square" lIns="0" tIns="0" rIns="0" bIns="0" rtlCol="0" anchor="t"/>
          <a:lstStyle/>
          <a:p>
            <a:pPr marL="0" indent="0">
              <a:buNone/>
            </a:pPr>
            <a:r>
              <a:rPr lang="en-US" sz="1300" i="1" dirty="0">
                <a:solidFill>
                  <a:schemeClr val="accent2"/>
                </a:solidFill>
              </a:rPr>
              <a:t>决策规则：只有国家风险 ≤3 且无法律风险时，低倍数才算真正划算。</a:t>
            </a:r>
            <a:endParaRPr lang="en-US" sz="1300" dirty="0"/>
          </a:p>
        </p:txBody>
      </p:sp>
      <p:sp>
        <p:nvSpPr>
          <p:cNvPr id="16" name="Text 13"/>
          <p:cNvSpPr txBox="1"/>
          <p:nvPr/>
        </p:nvSpPr>
        <p:spPr>
          <a:xfrm>
            <a:off x="548640" y="5715000"/>
            <a:ext cx="6949440" cy="548640"/>
          </a:xfrm>
          <a:prstGeom prst="rect">
            <a:avLst/>
          </a:prstGeom>
          <a:noFill/>
          <a:ln/>
        </p:spPr>
        <p:txBody>
          <a:bodyPr wrap="square" lIns="0" tIns="0" rIns="0" bIns="0" rtlCol="0" anchor="t"/>
          <a:lstStyle/>
          <a:p>
            <a:pPr marL="0" indent="0">
              <a:buNone/>
            </a:pPr>
            <a:r>
              <a:rPr lang="en-US" sz="1200" i="1" dirty="0">
                <a:solidFill>
                  <a:schemeClr val="accent4"/>
                </a:solidFill>
              </a:rPr>
              <a:t>局限：只有 19 个数据点；风险分是我们自己打的；相关不等于因果（规模、数据质量也可能影响价格）。</a:t>
            </a:r>
            <a:endParaRPr lang="en-US" sz="1200" dirty="0"/>
          </a:p>
        </p:txBody>
      </p:sp>
      <p:sp>
        <p:nvSpPr>
          <p:cNvPr id="17"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来源：案例表 3–6；风险分由小组根据「国别风险」「经济」两列评定。皮尔逊相关系数基于 19 个有报价的目标计算。</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定性编码：尽调文字告诉我们什么</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价格波动和疫病是主要风险；散养和可持续是机会主题</a:t>
            </a:r>
            <a:endParaRPr lang="en-US" sz="1600" dirty="0"/>
          </a:p>
        </p:txBody>
      </p:sp>
      <p:graphicFrame>
        <p:nvGraphicFramePr>
          <p:cNvPr id="4" name="Chart 0"/>
          <p:cNvGraphicFramePr/>
          <p:nvPr/>
        </p:nvGraphicFramePr>
        <p:xfrm>
          <a:off x="548640" y="1600200"/>
          <a:ext cx="658368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7406640" y="1645920"/>
            <a:ext cx="42062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6" name="Text 3"/>
          <p:cNvSpPr txBox="1"/>
          <p:nvPr/>
        </p:nvSpPr>
        <p:spPr>
          <a:xfrm>
            <a:off x="7589520" y="1737360"/>
            <a:ext cx="3840480" cy="347472"/>
          </a:xfrm>
          <a:prstGeom prst="rect">
            <a:avLst/>
          </a:prstGeom>
          <a:noFill/>
          <a:ln/>
        </p:spPr>
        <p:txBody>
          <a:bodyPr wrap="square" lIns="0" tIns="0" rIns="0" bIns="0" rtlCol="0" anchor="ctr"/>
          <a:lstStyle/>
          <a:p>
            <a:pPr marL="0" indent="0">
              <a:buNone/>
            </a:pPr>
            <a:r>
              <a:rPr lang="en-US" sz="1500" b="1" dirty="0">
                <a:solidFill>
                  <a:schemeClr val="accent4"/>
                </a:solidFill>
              </a:rPr>
              <a:t>风险主题（红色）</a:t>
            </a:r>
            <a:endParaRPr lang="en-US" sz="1500" dirty="0"/>
          </a:p>
        </p:txBody>
      </p:sp>
      <p:sp>
        <p:nvSpPr>
          <p:cNvPr id="7" name="Text 4"/>
          <p:cNvSpPr txBox="1"/>
          <p:nvPr/>
        </p:nvSpPr>
        <p:spPr>
          <a:xfrm>
            <a:off x="7589520" y="2103120"/>
            <a:ext cx="3840480" cy="822960"/>
          </a:xfrm>
          <a:prstGeom prst="rect">
            <a:avLst/>
          </a:prstGeom>
          <a:noFill/>
          <a:ln/>
        </p:spPr>
        <p:txBody>
          <a:bodyPr wrap="square" lIns="0" tIns="0" rIns="0" bIns="0" rtlCol="0" anchor="t"/>
          <a:lstStyle/>
          <a:p>
            <a:pPr marL="0" indent="0">
              <a:buNone/>
            </a:pPr>
            <a:r>
              <a:rPr lang="en-US" sz="1300" dirty="0">
                <a:solidFill>
                  <a:schemeClr val="tx1"/>
                </a:solidFill>
              </a:rPr>
              <a:t>禽流感使墨西哥损失 4300 万只蛋鸡；法国爆发沙门氏菌；4 家公司涉及价格垄断或操纵指控。</a:t>
            </a:r>
            <a:endParaRPr lang="en-US" sz="1300" dirty="0"/>
          </a:p>
        </p:txBody>
      </p:sp>
      <p:sp>
        <p:nvSpPr>
          <p:cNvPr id="8" name="Card"/>
          <p:cNvSpPr/>
          <p:nvPr/>
        </p:nvSpPr>
        <p:spPr>
          <a:xfrm>
            <a:off x="7406640" y="3154680"/>
            <a:ext cx="42062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9" name="Text 6"/>
          <p:cNvSpPr txBox="1"/>
          <p:nvPr/>
        </p:nvSpPr>
        <p:spPr>
          <a:xfrm>
            <a:off x="7589520" y="3246120"/>
            <a:ext cx="3840480" cy="347472"/>
          </a:xfrm>
          <a:prstGeom prst="rect">
            <a:avLst/>
          </a:prstGeom>
          <a:noFill/>
          <a:ln/>
        </p:spPr>
        <p:txBody>
          <a:bodyPr wrap="square" lIns="0" tIns="0" rIns="0" bIns="0" rtlCol="0" anchor="ctr"/>
          <a:lstStyle/>
          <a:p>
            <a:pPr marL="0" indent="0">
              <a:buNone/>
            </a:pPr>
            <a:r>
              <a:rPr lang="en-US" sz="1500" b="1" dirty="0">
                <a:solidFill>
                  <a:schemeClr val="tx2"/>
                </a:solidFill>
              </a:rPr>
              <a:t>机会主题（绿色）</a:t>
            </a:r>
            <a:endParaRPr lang="en-US" sz="1500" dirty="0"/>
          </a:p>
        </p:txBody>
      </p:sp>
      <p:sp>
        <p:nvSpPr>
          <p:cNvPr id="10" name="Text 7"/>
          <p:cNvSpPr txBox="1"/>
          <p:nvPr/>
        </p:nvSpPr>
        <p:spPr>
          <a:xfrm>
            <a:off x="7589520" y="3611880"/>
            <a:ext cx="3840480" cy="822960"/>
          </a:xfrm>
          <a:prstGeom prst="rect">
            <a:avLst/>
          </a:prstGeom>
          <a:noFill/>
          <a:ln/>
        </p:spPr>
        <p:txBody>
          <a:bodyPr wrap="square" lIns="0" tIns="0" rIns="0" bIns="0" rtlCol="0" anchor="t"/>
          <a:lstStyle/>
          <a:p>
            <a:pPr marL="0" indent="0">
              <a:buNone/>
            </a:pPr>
            <a:r>
              <a:rPr lang="en-US" sz="1300" dirty="0">
                <a:solidFill>
                  <a:schemeClr val="tx1"/>
                </a:solidFill>
              </a:rPr>
              <a:t>泰国 Free Range Roost 计划 2000 万只散养产能；巴西 Planeta avícola 目标 250 万只散养蛋鸡并推出鸡蛋订阅。</a:t>
            </a:r>
            <a:endParaRPr lang="en-US" sz="1300" dirty="0"/>
          </a:p>
        </p:txBody>
      </p:sp>
      <p:sp>
        <p:nvSpPr>
          <p:cNvPr id="11" name="Card"/>
          <p:cNvSpPr/>
          <p:nvPr/>
        </p:nvSpPr>
        <p:spPr>
          <a:xfrm>
            <a:off x="7406640" y="4663440"/>
            <a:ext cx="42062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12" name="Text 9"/>
          <p:cNvSpPr txBox="1"/>
          <p:nvPr/>
        </p:nvSpPr>
        <p:spPr>
          <a:xfrm>
            <a:off x="7589520" y="4754880"/>
            <a:ext cx="3840480" cy="347472"/>
          </a:xfrm>
          <a:prstGeom prst="rect">
            <a:avLst/>
          </a:prstGeom>
          <a:noFill/>
          <a:ln/>
        </p:spPr>
        <p:txBody>
          <a:bodyPr wrap="square" lIns="0" tIns="0" rIns="0" bIns="0" rtlCol="0" anchor="ctr"/>
          <a:lstStyle/>
          <a:p>
            <a:pPr marL="0" indent="0">
              <a:buNone/>
            </a:pPr>
            <a:r>
              <a:rPr lang="en-US" sz="1500" b="1" dirty="0">
                <a:solidFill>
                  <a:schemeClr val="tx2"/>
                </a:solidFill>
              </a:rPr>
              <a:t>文化适配</a:t>
            </a:r>
            <a:endParaRPr lang="en-US" sz="1500" dirty="0"/>
          </a:p>
        </p:txBody>
      </p:sp>
      <p:sp>
        <p:nvSpPr>
          <p:cNvPr id="13" name="Text 10"/>
          <p:cNvSpPr txBox="1"/>
          <p:nvPr/>
        </p:nvSpPr>
        <p:spPr>
          <a:xfrm>
            <a:off x="7589520" y="5120640"/>
            <a:ext cx="3840480" cy="822960"/>
          </a:xfrm>
          <a:prstGeom prst="rect">
            <a:avLst/>
          </a:prstGeom>
          <a:noFill/>
          <a:ln/>
        </p:spPr>
        <p:txBody>
          <a:bodyPr wrap="square" lIns="0" tIns="0" rIns="0" bIns="0" rtlCol="0" anchor="t"/>
          <a:lstStyle/>
          <a:p>
            <a:pPr marL="0" indent="0">
              <a:buNone/>
            </a:pPr>
            <a:r>
              <a:rPr lang="en-US" sz="1300" dirty="0">
                <a:solidFill>
                  <a:schemeClr val="tx1"/>
                </a:solidFill>
              </a:rPr>
              <a:t>AmEgg 员工优先、薪酬高于市场，适合劳动力市场稳定、可保留当地管理层的合作方。</a:t>
            </a:r>
            <a:endParaRPr lang="en-US" sz="1300" dirty="0"/>
          </a:p>
        </p:txBody>
      </p:sp>
      <p:sp>
        <p:nvSpPr>
          <p:cNvPr id="14"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方法：由两名组员将每家公司的「关键新闻」「国别风险」「经济」内容（案例表 3–6）编码为主题；统计的是公司数，而非提及次数。</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加权评分模型给目标排名</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经 8 亿美元预算筛选后，日本/印度、泰国、巴西位列前茅</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863840" cy="4309872"/>
        </p:xfrm>
        <a:graphic>
          <a:graphicData uri="http://schemas.openxmlformats.org/drawingml/2006/table">
            <a:tbl>
              <a:tblPr/>
              <a:tblGrid>
                <a:gridCol w="3657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gridCol w="1508760">
                  <a:extLst>
                    <a:ext uri="{9D8B030D-6E8A-4147-A177-3AD203B41FA5}">
                      <a16:colId xmlns:a16="http://schemas.microsoft.com/office/drawing/2014/main" val="20007"/>
                    </a:ext>
                  </a:extLst>
                </a:gridCol>
              </a:tblGrid>
              <a:tr h="384048">
                <a:tc>
                  <a:txBody>
                    <a:bodyPr/>
                    <a:lstStyle/>
                    <a:p>
                      <a:pPr marL="0" indent="0">
                        <a:buNone/>
                      </a:pPr>
                      <a:r>
                        <a:rPr lang="en-US" sz="1100" b="1" dirty="0">
                          <a:solidFill>
                            <a:srgbClr val="FFFFFF"/>
                          </a:solidFill>
                          <a:latin typeface="Microsoft YaHei" pitchFamily="34" charset="0"/>
                          <a:ea typeface="Microsoft YaHei" pitchFamily="34" charset="-122"/>
                          <a:cs typeface="Microsoft YaHei" pitchFamily="34" charset="-120"/>
                        </a:rPr>
                        <a:t>#</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Microsoft YaHei" pitchFamily="34" charset="0"/>
                          <a:ea typeface="Microsoft YaHei" pitchFamily="34" charset="-122"/>
                          <a:cs typeface="Microsoft YaHei" pitchFamily="34" charset="-120"/>
                        </a:rPr>
                        <a:t>目标公司</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Microsoft YaHei" pitchFamily="34" charset="0"/>
                          <a:ea typeface="Microsoft YaHei" pitchFamily="34" charset="-122"/>
                          <a:cs typeface="Microsoft YaHei" pitchFamily="34" charset="-120"/>
                        </a:rPr>
                        <a:t>国家</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Microsoft YaHei" pitchFamily="34" charset="0"/>
                          <a:ea typeface="Microsoft YaHei" pitchFamily="34" charset="-122"/>
                          <a:cs typeface="Microsoft YaHei" pitchFamily="34" charset="-120"/>
                        </a:rPr>
                        <a:t>收入（百万）</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Microsoft YaHei" pitchFamily="34" charset="0"/>
                          <a:ea typeface="Microsoft YaHei" pitchFamily="34" charset="-122"/>
                          <a:cs typeface="Microsoft YaHei" pitchFamily="34" charset="-120"/>
                        </a:rPr>
                        <a:t>价格（百万）</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Microsoft YaHei" pitchFamily="34" charset="0"/>
                          <a:ea typeface="Microsoft YaHei" pitchFamily="34" charset="-122"/>
                          <a:cs typeface="Microsoft YaHei" pitchFamily="34" charset="-120"/>
                        </a:rPr>
                        <a:t>EV/EBITA</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Microsoft YaHei" pitchFamily="34" charset="0"/>
                          <a:ea typeface="Microsoft YaHei" pitchFamily="34" charset="-122"/>
                          <a:cs typeface="Microsoft YaHei" pitchFamily="34" charset="-120"/>
                        </a:rPr>
                        <a:t>得分</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Microsoft YaHei" pitchFamily="34" charset="0"/>
                          <a:ea typeface="Microsoft YaHei" pitchFamily="34" charset="-122"/>
                          <a:cs typeface="Microsoft YaHei" pitchFamily="34" charset="-120"/>
                        </a:rPr>
                        <a:t>决策</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Canyon Crossing Farms</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美国</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1,700</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1,062.5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12.5x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3.96</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排除：超预算、反垄断</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2</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S. Bound Eggs</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日本/印度</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602</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124.5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4.1x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3.52</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Microsoft YaHei" pitchFamily="34" charset="0"/>
                          <a:ea typeface="Microsoft YaHei" pitchFamily="34" charset="-122"/>
                          <a:cs typeface="Microsoft YaHei" pitchFamily="34" charset="-120"/>
                        </a:rPr>
                        <a:t>收购（第1年）</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Free Range Roost Group</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泰国</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662</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189</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5.7x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3.34</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Microsoft YaHei" pitchFamily="34" charset="0"/>
                          <a:ea typeface="Microsoft YaHei" pitchFamily="34" charset="-122"/>
                          <a:cs typeface="Microsoft YaHei" pitchFamily="34" charset="-120"/>
                        </a:rPr>
                        <a:t>收购（第2年）</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4</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l'Acre de Noyers</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法国</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301</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115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7.7x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3.32</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Microsoft YaHei" pitchFamily="34" charset="0"/>
                          <a:ea typeface="Microsoft YaHei" pitchFamily="34" charset="-122"/>
                          <a:cs typeface="Microsoft YaHei" pitchFamily="34" charset="-120"/>
                        </a:rPr>
                        <a:t>收购（第5年）</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Planeta avícola</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巴西</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346</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71.5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4.1x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3.25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Microsoft YaHei" pitchFamily="34" charset="0"/>
                          <a:ea typeface="Microsoft YaHei" pitchFamily="34" charset="-122"/>
                          <a:cs typeface="Microsoft YaHei" pitchFamily="34" charset="-120"/>
                        </a:rPr>
                        <a:t>收购（第3年）</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5"/>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6</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les Acres de la Cabane</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法国</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223</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103.5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9.2x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3.18</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备选（合资 1 亿）</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7</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Acres botánicos</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墨西哥</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367</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88</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4.8x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3.15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Microsoft YaHei" pitchFamily="34" charset="0"/>
                          <a:ea typeface="Microsoft YaHei" pitchFamily="34" charset="-122"/>
                          <a:cs typeface="Microsoft YaHei" pitchFamily="34" charset="-120"/>
                        </a:rPr>
                        <a:t>收购（第4年）</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7"/>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8</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Lácteos recién</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墨西哥</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361</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71.5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4.0x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3.15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备选</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9</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Hollybrook Farm</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英国</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180</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58.5</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10.8x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3.03</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观察</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9"/>
                  </a:ext>
                </a:extLst>
              </a:tr>
              <a:tr h="384048">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10</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Crossroad Lands</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美国</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519</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259</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10.0x</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2.99</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Microsoft YaHei" pitchFamily="34" charset="0"/>
                          <a:ea typeface="Microsoft YaHei" pitchFamily="34" charset="-122"/>
                          <a:cs typeface="Microsoft YaHei" pitchFamily="34" charset="-120"/>
                        </a:rPr>
                        <a:t>拒绝：价格垄断</a:t>
                      </a:r>
                      <a:endParaRPr lang="en-US" sz="11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 name="Card"/>
          <p:cNvSpPr/>
          <p:nvPr/>
        </p:nvSpPr>
        <p:spPr>
          <a:xfrm>
            <a:off x="8686800" y="1600200"/>
            <a:ext cx="2926080" cy="4526280"/>
          </a:xfrm>
          <a:prstGeom prst="roundRect">
            <a:avLst>
              <a:gd name="adj" fmla="val 2500"/>
            </a:avLst>
          </a:prstGeom>
          <a:solidFill>
            <a:schemeClr val="bg2"/>
          </a:solidFill>
          <a:ln w="12700">
            <a:solidFill>
              <a:schemeClr val="bg2"/>
            </a:solidFill>
            <a:prstDash val="solid"/>
          </a:ln>
        </p:spPr>
        <p:txBody>
          <a:bodyPr/>
          <a:lstStyle/>
          <a:p>
            <a:endParaRPr lang="zh-SG" altLang="en-US"/>
          </a:p>
        </p:txBody>
      </p:sp>
      <p:sp>
        <p:nvSpPr>
          <p:cNvPr id="6" name="Text 3"/>
          <p:cNvSpPr txBox="1"/>
          <p:nvPr/>
        </p:nvSpPr>
        <p:spPr>
          <a:xfrm>
            <a:off x="8869680" y="1691640"/>
            <a:ext cx="2651760" cy="365760"/>
          </a:xfrm>
          <a:prstGeom prst="rect">
            <a:avLst/>
          </a:prstGeom>
          <a:noFill/>
          <a:ln/>
        </p:spPr>
        <p:txBody>
          <a:bodyPr wrap="square" lIns="0" tIns="0" rIns="0" bIns="0" rtlCol="0" anchor="ctr"/>
          <a:lstStyle/>
          <a:p>
            <a:pPr marL="0" indent="0">
              <a:buNone/>
            </a:pPr>
            <a:r>
              <a:rPr lang="en-US" sz="1600" b="1" dirty="0">
                <a:solidFill>
                  <a:schemeClr val="tx2"/>
                </a:solidFill>
                <a:latin typeface="Microsoft YaHei" pitchFamily="34" charset="0"/>
                <a:ea typeface="Microsoft YaHei" pitchFamily="34" charset="-122"/>
                <a:cs typeface="Microsoft YaHei" pitchFamily="34" charset="-120"/>
              </a:rPr>
              <a:t>评分标准与权重</a:t>
            </a:r>
            <a:endParaRPr lang="en-US" sz="1600" dirty="0"/>
          </a:p>
        </p:txBody>
      </p:sp>
      <p:sp>
        <p:nvSpPr>
          <p:cNvPr id="7" name="Text 4"/>
          <p:cNvSpPr txBox="1"/>
          <p:nvPr/>
        </p:nvSpPr>
        <p:spPr>
          <a:xfrm>
            <a:off x="8869680" y="2148840"/>
            <a:ext cx="1920240" cy="365760"/>
          </a:xfrm>
          <a:prstGeom prst="rect">
            <a:avLst/>
          </a:prstGeom>
          <a:noFill/>
          <a:ln/>
        </p:spPr>
        <p:txBody>
          <a:bodyPr wrap="square" lIns="0" tIns="0" rIns="0" bIns="0" rtlCol="0" anchor="ctr"/>
          <a:lstStyle/>
          <a:p>
            <a:pPr marL="0" indent="0">
              <a:buNone/>
            </a:pPr>
            <a:r>
              <a:rPr lang="en-US" sz="1400" dirty="0">
                <a:solidFill>
                  <a:schemeClr val="tx1"/>
                </a:solidFill>
              </a:rPr>
              <a:t>国家风险</a:t>
            </a:r>
            <a:endParaRPr lang="en-US" sz="1400" dirty="0"/>
          </a:p>
        </p:txBody>
      </p:sp>
      <p:sp>
        <p:nvSpPr>
          <p:cNvPr id="8" name="Text 5"/>
          <p:cNvSpPr txBox="1"/>
          <p:nvPr/>
        </p:nvSpPr>
        <p:spPr>
          <a:xfrm>
            <a:off x="10789920" y="21488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25%</a:t>
            </a:r>
            <a:endParaRPr lang="en-US" sz="1400" dirty="0"/>
          </a:p>
        </p:txBody>
      </p:sp>
      <p:sp>
        <p:nvSpPr>
          <p:cNvPr id="9" name="Text 6"/>
          <p:cNvSpPr txBox="1"/>
          <p:nvPr/>
        </p:nvSpPr>
        <p:spPr>
          <a:xfrm>
            <a:off x="8869680" y="2606040"/>
            <a:ext cx="1920240" cy="365760"/>
          </a:xfrm>
          <a:prstGeom prst="rect">
            <a:avLst/>
          </a:prstGeom>
          <a:noFill/>
          <a:ln/>
        </p:spPr>
        <p:txBody>
          <a:bodyPr wrap="square" lIns="0" tIns="0" rIns="0" bIns="0" rtlCol="0" anchor="ctr"/>
          <a:lstStyle/>
          <a:p>
            <a:pPr marL="0" indent="0">
              <a:buNone/>
            </a:pPr>
            <a:r>
              <a:rPr lang="en-US" sz="1400" dirty="0">
                <a:solidFill>
                  <a:schemeClr val="tx1"/>
                </a:solidFill>
              </a:rPr>
              <a:t>估值（EV/EBITA）</a:t>
            </a:r>
            <a:endParaRPr lang="en-US" sz="1400" dirty="0"/>
          </a:p>
        </p:txBody>
      </p:sp>
      <p:sp>
        <p:nvSpPr>
          <p:cNvPr id="10" name="Text 7"/>
          <p:cNvSpPr txBox="1"/>
          <p:nvPr/>
        </p:nvSpPr>
        <p:spPr>
          <a:xfrm>
            <a:off x="10789920" y="26060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20%</a:t>
            </a:r>
            <a:endParaRPr lang="en-US" sz="1400" dirty="0"/>
          </a:p>
        </p:txBody>
      </p:sp>
      <p:sp>
        <p:nvSpPr>
          <p:cNvPr id="11" name="Text 8"/>
          <p:cNvSpPr txBox="1"/>
          <p:nvPr/>
        </p:nvSpPr>
        <p:spPr>
          <a:xfrm>
            <a:off x="8869680" y="3063240"/>
            <a:ext cx="1920240" cy="365760"/>
          </a:xfrm>
          <a:prstGeom prst="rect">
            <a:avLst/>
          </a:prstGeom>
          <a:noFill/>
          <a:ln/>
        </p:spPr>
        <p:txBody>
          <a:bodyPr wrap="square" lIns="0" tIns="0" rIns="0" bIns="0" rtlCol="0" anchor="ctr"/>
          <a:lstStyle/>
          <a:p>
            <a:pPr marL="0" indent="0">
              <a:buNone/>
            </a:pPr>
            <a:r>
              <a:rPr lang="en-US" sz="1400" dirty="0">
                <a:solidFill>
                  <a:schemeClr val="tx1"/>
                </a:solidFill>
              </a:rPr>
              <a:t>规模（收入）</a:t>
            </a:r>
            <a:endParaRPr lang="en-US" sz="1400" dirty="0"/>
          </a:p>
        </p:txBody>
      </p:sp>
      <p:sp>
        <p:nvSpPr>
          <p:cNvPr id="4" name="Text 9"/>
          <p:cNvSpPr txBox="1"/>
          <p:nvPr/>
        </p:nvSpPr>
        <p:spPr>
          <a:xfrm>
            <a:off x="10789920" y="30632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20%</a:t>
            </a:r>
            <a:endParaRPr lang="en-US" sz="1400" dirty="0"/>
          </a:p>
        </p:txBody>
      </p:sp>
      <p:sp>
        <p:nvSpPr>
          <p:cNvPr id="13" name="Text 10"/>
          <p:cNvSpPr txBox="1"/>
          <p:nvPr/>
        </p:nvSpPr>
        <p:spPr>
          <a:xfrm>
            <a:off x="8869680" y="3520440"/>
            <a:ext cx="1920240" cy="365760"/>
          </a:xfrm>
          <a:prstGeom prst="rect">
            <a:avLst/>
          </a:prstGeom>
          <a:noFill/>
          <a:ln/>
        </p:spPr>
        <p:txBody>
          <a:bodyPr wrap="square" lIns="0" tIns="0" rIns="0" bIns="0" rtlCol="0" anchor="ctr"/>
          <a:lstStyle/>
          <a:p>
            <a:pPr marL="0" indent="0">
              <a:buNone/>
            </a:pPr>
            <a:r>
              <a:rPr lang="en-US" sz="1400" dirty="0">
                <a:solidFill>
                  <a:schemeClr val="tx1"/>
                </a:solidFill>
              </a:rPr>
              <a:t>散养适配</a:t>
            </a:r>
            <a:endParaRPr lang="en-US" sz="1400" dirty="0"/>
          </a:p>
        </p:txBody>
      </p:sp>
      <p:sp>
        <p:nvSpPr>
          <p:cNvPr id="14" name="Text 11"/>
          <p:cNvSpPr txBox="1"/>
          <p:nvPr/>
        </p:nvSpPr>
        <p:spPr>
          <a:xfrm>
            <a:off x="10789920" y="35204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15%</a:t>
            </a:r>
            <a:endParaRPr lang="en-US" sz="1400" dirty="0"/>
          </a:p>
        </p:txBody>
      </p:sp>
      <p:sp>
        <p:nvSpPr>
          <p:cNvPr id="15" name="Text 12"/>
          <p:cNvSpPr txBox="1"/>
          <p:nvPr/>
        </p:nvSpPr>
        <p:spPr>
          <a:xfrm>
            <a:off x="8869680" y="3977640"/>
            <a:ext cx="1920240" cy="365760"/>
          </a:xfrm>
          <a:prstGeom prst="rect">
            <a:avLst/>
          </a:prstGeom>
          <a:noFill/>
          <a:ln/>
        </p:spPr>
        <p:txBody>
          <a:bodyPr wrap="square" lIns="0" tIns="0" rIns="0" bIns="0" rtlCol="0" anchor="ctr"/>
          <a:lstStyle/>
          <a:p>
            <a:pPr marL="0" indent="0">
              <a:buNone/>
            </a:pPr>
            <a:r>
              <a:rPr lang="en-US" sz="1400" dirty="0">
                <a:solidFill>
                  <a:schemeClr val="tx1"/>
                </a:solidFill>
              </a:rPr>
              <a:t>公司治理</a:t>
            </a:r>
            <a:endParaRPr lang="en-US" sz="1400" dirty="0"/>
          </a:p>
        </p:txBody>
      </p:sp>
      <p:sp>
        <p:nvSpPr>
          <p:cNvPr id="16" name="Text 13"/>
          <p:cNvSpPr txBox="1"/>
          <p:nvPr/>
        </p:nvSpPr>
        <p:spPr>
          <a:xfrm>
            <a:off x="10789920" y="39776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10%</a:t>
            </a:r>
            <a:endParaRPr lang="en-US" sz="1400" dirty="0"/>
          </a:p>
        </p:txBody>
      </p:sp>
      <p:sp>
        <p:nvSpPr>
          <p:cNvPr id="17" name="Text 14"/>
          <p:cNvSpPr txBox="1"/>
          <p:nvPr/>
        </p:nvSpPr>
        <p:spPr>
          <a:xfrm>
            <a:off x="8869680" y="4434840"/>
            <a:ext cx="1920240" cy="365760"/>
          </a:xfrm>
          <a:prstGeom prst="rect">
            <a:avLst/>
          </a:prstGeom>
          <a:noFill/>
          <a:ln/>
        </p:spPr>
        <p:txBody>
          <a:bodyPr wrap="square" lIns="0" tIns="0" rIns="0" bIns="0" rtlCol="0" anchor="ctr"/>
          <a:lstStyle/>
          <a:p>
            <a:pPr marL="0" indent="0">
              <a:buNone/>
            </a:pPr>
            <a:r>
              <a:rPr lang="en-US" sz="1400" dirty="0">
                <a:solidFill>
                  <a:schemeClr val="tx1"/>
                </a:solidFill>
              </a:rPr>
              <a:t>全球化适配（目标 3）</a:t>
            </a:r>
            <a:endParaRPr lang="en-US" sz="1400" dirty="0"/>
          </a:p>
        </p:txBody>
      </p:sp>
      <p:sp>
        <p:nvSpPr>
          <p:cNvPr id="18" name="Text 15"/>
          <p:cNvSpPr txBox="1"/>
          <p:nvPr/>
        </p:nvSpPr>
        <p:spPr>
          <a:xfrm>
            <a:off x="10789920" y="44348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10%</a:t>
            </a:r>
            <a:endParaRPr lang="en-US" sz="1400" dirty="0"/>
          </a:p>
        </p:txBody>
      </p:sp>
      <p:sp>
        <p:nvSpPr>
          <p:cNvPr id="19" name="Text 16"/>
          <p:cNvSpPr txBox="1"/>
          <p:nvPr/>
        </p:nvSpPr>
        <p:spPr>
          <a:xfrm>
            <a:off x="8869680" y="4983480"/>
            <a:ext cx="2651760" cy="1005840"/>
          </a:xfrm>
          <a:prstGeom prst="rect">
            <a:avLst/>
          </a:prstGeom>
          <a:noFill/>
          <a:ln/>
        </p:spPr>
        <p:txBody>
          <a:bodyPr wrap="square" lIns="0" tIns="0" rIns="0" bIns="0" rtlCol="0" anchor="t"/>
          <a:lstStyle/>
          <a:p>
            <a:pPr marL="0" indent="0">
              <a:buNone/>
            </a:pPr>
            <a:r>
              <a:rPr lang="en-US" sz="1200" i="1" dirty="0">
                <a:solidFill>
                  <a:schemeClr val="accent5"/>
                </a:solidFill>
              </a:rPr>
              <a:t>每项指标按最小-最大法换算为 1–5 分；总分 = 加权求和。高亮行为入选公司。</a:t>
            </a:r>
            <a:endParaRPr lang="en-US" sz="1200" dirty="0"/>
          </a:p>
        </p:txBody>
      </p:sp>
      <p:sp>
        <p:nvSpPr>
          <p:cNvPr id="20"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来源：小组基于案例表 2–6 的评分模型。评分后硬性筛选：价格在 8 亿美元资金内、无未解决的法律风险。</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建议：国内调结构，海外买增长</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五年五笔收购，让 AmEgg 覆盖四大洲</a:t>
            </a:r>
            <a:endParaRPr lang="en-US" sz="1600" dirty="0"/>
          </a:p>
        </p:txBody>
      </p:sp>
      <p:sp>
        <p:nvSpPr>
          <p:cNvPr id="4" name="Timeline"/>
          <p:cNvSpPr/>
          <p:nvPr/>
        </p:nvSpPr>
        <p:spPr>
          <a:xfrm>
            <a:off x="822960" y="2057400"/>
            <a:ext cx="10515600" cy="0"/>
          </a:xfrm>
          <a:prstGeom prst="line">
            <a:avLst/>
          </a:prstGeom>
          <a:noFill/>
          <a:ln w="25400">
            <a:solidFill>
              <a:srgbClr val="9DBF9E"/>
            </a:solidFill>
            <a:prstDash val="solid"/>
          </a:ln>
        </p:spPr>
        <p:txBody>
          <a:bodyPr/>
          <a:lstStyle/>
          <a:p>
            <a:endParaRPr lang="zh-SG" altLang="en-US"/>
          </a:p>
        </p:txBody>
      </p:sp>
      <p:sp>
        <p:nvSpPr>
          <p:cNvPr id="5" name="Egg badge"/>
          <p:cNvSpPr/>
          <p:nvPr/>
        </p:nvSpPr>
        <p:spPr>
          <a:xfrm>
            <a:off x="731520" y="1755648"/>
            <a:ext cx="524866" cy="640080"/>
          </a:xfrm>
          <a:prstGeom prst="ellipse">
            <a:avLst/>
          </a:prstGeom>
          <a:solidFill>
            <a:schemeClr val="accent1"/>
          </a:solidFill>
          <a:ln w="12700">
            <a:solidFill>
              <a:schemeClr val="accent1"/>
            </a:solidFill>
            <a:prstDash val="solid"/>
          </a:ln>
        </p:spPr>
        <p:txBody>
          <a:bodyPr/>
          <a:lstStyle/>
          <a:p>
            <a:endParaRPr lang="zh-SG" altLang="en-US"/>
          </a:p>
        </p:txBody>
      </p:sp>
      <p:sp>
        <p:nvSpPr>
          <p:cNvPr id="6" name="Text 4"/>
          <p:cNvSpPr txBox="1"/>
          <p:nvPr/>
        </p:nvSpPr>
        <p:spPr>
          <a:xfrm>
            <a:off x="731520" y="1755648"/>
            <a:ext cx="524866" cy="640080"/>
          </a:xfrm>
          <a:prstGeom prst="rect">
            <a:avLst/>
          </a:prstGeom>
          <a:noFill/>
          <a:ln/>
        </p:spPr>
        <p:txBody>
          <a:bodyPr wrap="square" lIns="0" tIns="0" rIns="0" bIns="0" rtlCol="0" anchor="ctr"/>
          <a:lstStyle/>
          <a:p>
            <a:pPr marL="0" indent="0" algn="ctr">
              <a:buNone/>
            </a:pPr>
            <a:r>
              <a:rPr lang="en-US" sz="1400" b="1" dirty="0">
                <a:solidFill>
                  <a:schemeClr val="tx2"/>
                </a:solidFill>
              </a:rPr>
              <a:t>1年</a:t>
            </a:r>
            <a:endParaRPr lang="en-US" sz="1400" dirty="0"/>
          </a:p>
        </p:txBody>
      </p:sp>
      <p:sp>
        <p:nvSpPr>
          <p:cNvPr id="7" name="Card"/>
          <p:cNvSpPr/>
          <p:nvPr/>
        </p:nvSpPr>
        <p:spPr>
          <a:xfrm>
            <a:off x="548640"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8" name="Text 6"/>
          <p:cNvSpPr txBox="1"/>
          <p:nvPr/>
        </p:nvSpPr>
        <p:spPr>
          <a:xfrm>
            <a:off x="685800" y="2606040"/>
            <a:ext cx="1783080" cy="411480"/>
          </a:xfrm>
          <a:prstGeom prst="rect">
            <a:avLst/>
          </a:prstGeom>
          <a:noFill/>
          <a:ln/>
        </p:spPr>
        <p:txBody>
          <a:bodyPr wrap="square" lIns="0" tIns="0" rIns="0" bIns="0" rtlCol="0" anchor="ctr"/>
          <a:lstStyle/>
          <a:p>
            <a:pPr marL="0" indent="0">
              <a:buNone/>
            </a:pPr>
            <a:r>
              <a:rPr lang="en-US" sz="1400" b="1" dirty="0">
                <a:solidFill>
                  <a:schemeClr val="tx2"/>
                </a:solidFill>
              </a:rPr>
              <a:t>S. Bound Eggs</a:t>
            </a:r>
            <a:endParaRPr lang="en-US" sz="1400" dirty="0"/>
          </a:p>
        </p:txBody>
      </p:sp>
      <p:sp>
        <p:nvSpPr>
          <p:cNvPr id="9" name="Text 7"/>
          <p:cNvSpPr txBox="1"/>
          <p:nvPr/>
        </p:nvSpPr>
        <p:spPr>
          <a:xfrm>
            <a:off x="685800"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日本/印度 · 1.245 亿 · +6.02 亿</a:t>
            </a:r>
            <a:endParaRPr lang="en-US" sz="1200" dirty="0"/>
          </a:p>
        </p:txBody>
      </p:sp>
      <p:sp>
        <p:nvSpPr>
          <p:cNvPr id="10" name="Text 8"/>
          <p:cNvSpPr txBox="1"/>
          <p:nvPr/>
        </p:nvSpPr>
        <p:spPr>
          <a:xfrm>
            <a:off x="685800"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风险最低的亚洲入口；印度合资与冷链</a:t>
            </a:r>
            <a:endParaRPr lang="en-US" sz="1300" dirty="0"/>
          </a:p>
        </p:txBody>
      </p:sp>
      <p:sp>
        <p:nvSpPr>
          <p:cNvPr id="11" name="Egg badge"/>
          <p:cNvSpPr/>
          <p:nvPr/>
        </p:nvSpPr>
        <p:spPr>
          <a:xfrm>
            <a:off x="2999232" y="1755648"/>
            <a:ext cx="524866" cy="640080"/>
          </a:xfrm>
          <a:prstGeom prst="ellipse">
            <a:avLst/>
          </a:prstGeom>
          <a:solidFill>
            <a:schemeClr val="accent1"/>
          </a:solidFill>
          <a:ln w="12700">
            <a:solidFill>
              <a:schemeClr val="accent1"/>
            </a:solidFill>
            <a:prstDash val="solid"/>
          </a:ln>
        </p:spPr>
        <p:txBody>
          <a:bodyPr/>
          <a:lstStyle/>
          <a:p>
            <a:endParaRPr lang="zh-SG" altLang="en-US"/>
          </a:p>
        </p:txBody>
      </p:sp>
      <p:sp>
        <p:nvSpPr>
          <p:cNvPr id="12" name="Text 10"/>
          <p:cNvSpPr txBox="1"/>
          <p:nvPr/>
        </p:nvSpPr>
        <p:spPr>
          <a:xfrm>
            <a:off x="2999232" y="1755648"/>
            <a:ext cx="524866" cy="640080"/>
          </a:xfrm>
          <a:prstGeom prst="rect">
            <a:avLst/>
          </a:prstGeom>
          <a:noFill/>
          <a:ln/>
        </p:spPr>
        <p:txBody>
          <a:bodyPr wrap="square" lIns="0" tIns="0" rIns="0" bIns="0" rtlCol="0" anchor="ctr"/>
          <a:lstStyle/>
          <a:p>
            <a:pPr marL="0" indent="0" algn="ctr">
              <a:buNone/>
            </a:pPr>
            <a:r>
              <a:rPr lang="en-US" sz="1400" b="1" dirty="0">
                <a:solidFill>
                  <a:schemeClr val="tx2"/>
                </a:solidFill>
              </a:rPr>
              <a:t>2年</a:t>
            </a:r>
            <a:endParaRPr lang="en-US" sz="1400" dirty="0"/>
          </a:p>
        </p:txBody>
      </p:sp>
      <p:sp>
        <p:nvSpPr>
          <p:cNvPr id="13" name="Card"/>
          <p:cNvSpPr/>
          <p:nvPr/>
        </p:nvSpPr>
        <p:spPr>
          <a:xfrm>
            <a:off x="2816352"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14" name="Text 12"/>
          <p:cNvSpPr txBox="1"/>
          <p:nvPr/>
        </p:nvSpPr>
        <p:spPr>
          <a:xfrm>
            <a:off x="2953512" y="2606040"/>
            <a:ext cx="1783080" cy="411480"/>
          </a:xfrm>
          <a:prstGeom prst="rect">
            <a:avLst/>
          </a:prstGeom>
          <a:noFill/>
          <a:ln/>
        </p:spPr>
        <p:txBody>
          <a:bodyPr wrap="square" lIns="0" tIns="0" rIns="0" bIns="0" rtlCol="0" anchor="ctr"/>
          <a:lstStyle/>
          <a:p>
            <a:pPr marL="0" indent="0">
              <a:buNone/>
            </a:pPr>
            <a:r>
              <a:rPr lang="en-US" sz="1400" b="1" dirty="0">
                <a:solidFill>
                  <a:schemeClr val="tx2"/>
                </a:solidFill>
              </a:rPr>
              <a:t>Free Range Roost</a:t>
            </a:r>
            <a:endParaRPr lang="en-US" sz="1400" dirty="0"/>
          </a:p>
        </p:txBody>
      </p:sp>
      <p:sp>
        <p:nvSpPr>
          <p:cNvPr id="15" name="Text 13"/>
          <p:cNvSpPr txBox="1"/>
          <p:nvPr/>
        </p:nvSpPr>
        <p:spPr>
          <a:xfrm>
            <a:off x="2953512"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泰国 · 1.89 亿 · +6.62 亿</a:t>
            </a:r>
            <a:endParaRPr lang="en-US" sz="1200" dirty="0"/>
          </a:p>
        </p:txBody>
      </p:sp>
      <p:sp>
        <p:nvSpPr>
          <p:cNvPr id="16" name="Text 14"/>
          <p:cNvSpPr txBox="1"/>
          <p:nvPr/>
        </p:nvSpPr>
        <p:spPr>
          <a:xfrm>
            <a:off x="2953512"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东南亚规模枢纽；2000 万散养计划</a:t>
            </a:r>
            <a:endParaRPr lang="en-US" sz="1300" dirty="0"/>
          </a:p>
        </p:txBody>
      </p:sp>
      <p:sp>
        <p:nvSpPr>
          <p:cNvPr id="17" name="Egg badge"/>
          <p:cNvSpPr/>
          <p:nvPr/>
        </p:nvSpPr>
        <p:spPr>
          <a:xfrm>
            <a:off x="5266944" y="1755648"/>
            <a:ext cx="524866" cy="640080"/>
          </a:xfrm>
          <a:prstGeom prst="ellipse">
            <a:avLst/>
          </a:prstGeom>
          <a:solidFill>
            <a:schemeClr val="accent1"/>
          </a:solidFill>
          <a:ln w="12700">
            <a:solidFill>
              <a:schemeClr val="accent1"/>
            </a:solidFill>
            <a:prstDash val="solid"/>
          </a:ln>
        </p:spPr>
        <p:txBody>
          <a:bodyPr/>
          <a:lstStyle/>
          <a:p>
            <a:endParaRPr lang="zh-SG" altLang="en-US"/>
          </a:p>
        </p:txBody>
      </p:sp>
      <p:sp>
        <p:nvSpPr>
          <p:cNvPr id="18" name="Text 16"/>
          <p:cNvSpPr txBox="1"/>
          <p:nvPr/>
        </p:nvSpPr>
        <p:spPr>
          <a:xfrm>
            <a:off x="5266944" y="1755648"/>
            <a:ext cx="524866" cy="640080"/>
          </a:xfrm>
          <a:prstGeom prst="rect">
            <a:avLst/>
          </a:prstGeom>
          <a:noFill/>
          <a:ln/>
        </p:spPr>
        <p:txBody>
          <a:bodyPr wrap="square" lIns="0" tIns="0" rIns="0" bIns="0" rtlCol="0" anchor="ctr"/>
          <a:lstStyle/>
          <a:p>
            <a:pPr marL="0" indent="0" algn="ctr">
              <a:buNone/>
            </a:pPr>
            <a:r>
              <a:rPr lang="en-US" sz="1400" b="1" dirty="0">
                <a:solidFill>
                  <a:schemeClr val="tx2"/>
                </a:solidFill>
              </a:rPr>
              <a:t>3年</a:t>
            </a:r>
            <a:endParaRPr lang="en-US" sz="1400" dirty="0"/>
          </a:p>
        </p:txBody>
      </p:sp>
      <p:sp>
        <p:nvSpPr>
          <p:cNvPr id="19" name="Card"/>
          <p:cNvSpPr/>
          <p:nvPr/>
        </p:nvSpPr>
        <p:spPr>
          <a:xfrm>
            <a:off x="5084064"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20" name="Text 18"/>
          <p:cNvSpPr txBox="1"/>
          <p:nvPr/>
        </p:nvSpPr>
        <p:spPr>
          <a:xfrm>
            <a:off x="5221224" y="2606040"/>
            <a:ext cx="1783080" cy="411480"/>
          </a:xfrm>
          <a:prstGeom prst="rect">
            <a:avLst/>
          </a:prstGeom>
          <a:noFill/>
          <a:ln/>
        </p:spPr>
        <p:txBody>
          <a:bodyPr wrap="square" lIns="0" tIns="0" rIns="0" bIns="0" rtlCol="0" anchor="ctr"/>
          <a:lstStyle/>
          <a:p>
            <a:pPr marL="0" indent="0">
              <a:buNone/>
            </a:pPr>
            <a:r>
              <a:rPr lang="en-US" sz="1400" b="1" dirty="0">
                <a:solidFill>
                  <a:schemeClr val="tx2"/>
                </a:solidFill>
              </a:rPr>
              <a:t>Planeta avícola</a:t>
            </a:r>
            <a:endParaRPr lang="en-US" sz="1400" dirty="0"/>
          </a:p>
        </p:txBody>
      </p:sp>
      <p:sp>
        <p:nvSpPr>
          <p:cNvPr id="21" name="Text 19"/>
          <p:cNvSpPr txBox="1"/>
          <p:nvPr/>
        </p:nvSpPr>
        <p:spPr>
          <a:xfrm>
            <a:off x="5221224"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巴西 · 7150 万 · +3.46 亿</a:t>
            </a:r>
            <a:endParaRPr lang="en-US" sz="1200" dirty="0"/>
          </a:p>
        </p:txBody>
      </p:sp>
      <p:sp>
        <p:nvSpPr>
          <p:cNvPr id="22" name="Text 20"/>
          <p:cNvSpPr txBox="1"/>
          <p:nvPr/>
        </p:nvSpPr>
        <p:spPr>
          <a:xfrm>
            <a:off x="5221224"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拉美最大经济体；散养与订阅模式</a:t>
            </a:r>
            <a:endParaRPr lang="en-US" sz="1300" dirty="0"/>
          </a:p>
        </p:txBody>
      </p:sp>
      <p:sp>
        <p:nvSpPr>
          <p:cNvPr id="23" name="Egg badge"/>
          <p:cNvSpPr/>
          <p:nvPr/>
        </p:nvSpPr>
        <p:spPr>
          <a:xfrm>
            <a:off x="7534656" y="1755648"/>
            <a:ext cx="524866" cy="640080"/>
          </a:xfrm>
          <a:prstGeom prst="ellipse">
            <a:avLst/>
          </a:prstGeom>
          <a:solidFill>
            <a:schemeClr val="accent1"/>
          </a:solidFill>
          <a:ln w="12700">
            <a:solidFill>
              <a:schemeClr val="accent1"/>
            </a:solidFill>
            <a:prstDash val="solid"/>
          </a:ln>
        </p:spPr>
        <p:txBody>
          <a:bodyPr/>
          <a:lstStyle/>
          <a:p>
            <a:endParaRPr lang="zh-SG" altLang="en-US"/>
          </a:p>
        </p:txBody>
      </p:sp>
      <p:sp>
        <p:nvSpPr>
          <p:cNvPr id="24" name="Text 22"/>
          <p:cNvSpPr txBox="1"/>
          <p:nvPr/>
        </p:nvSpPr>
        <p:spPr>
          <a:xfrm>
            <a:off x="7534656" y="1755648"/>
            <a:ext cx="524866" cy="640080"/>
          </a:xfrm>
          <a:prstGeom prst="rect">
            <a:avLst/>
          </a:prstGeom>
          <a:noFill/>
          <a:ln/>
        </p:spPr>
        <p:txBody>
          <a:bodyPr wrap="square" lIns="0" tIns="0" rIns="0" bIns="0" rtlCol="0" anchor="ctr"/>
          <a:lstStyle/>
          <a:p>
            <a:pPr marL="0" indent="0" algn="ctr">
              <a:buNone/>
            </a:pPr>
            <a:r>
              <a:rPr lang="en-US" sz="1400" b="1" dirty="0">
                <a:solidFill>
                  <a:schemeClr val="tx2"/>
                </a:solidFill>
              </a:rPr>
              <a:t>4年</a:t>
            </a:r>
            <a:endParaRPr lang="en-US" sz="1400" dirty="0"/>
          </a:p>
        </p:txBody>
      </p:sp>
      <p:sp>
        <p:nvSpPr>
          <p:cNvPr id="25" name="Card"/>
          <p:cNvSpPr/>
          <p:nvPr/>
        </p:nvSpPr>
        <p:spPr>
          <a:xfrm>
            <a:off x="7351776"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26" name="Text 24"/>
          <p:cNvSpPr txBox="1"/>
          <p:nvPr/>
        </p:nvSpPr>
        <p:spPr>
          <a:xfrm>
            <a:off x="7488936" y="2606040"/>
            <a:ext cx="1783080" cy="411480"/>
          </a:xfrm>
          <a:prstGeom prst="rect">
            <a:avLst/>
          </a:prstGeom>
          <a:noFill/>
          <a:ln/>
        </p:spPr>
        <p:txBody>
          <a:bodyPr wrap="square" lIns="0" tIns="0" rIns="0" bIns="0" rtlCol="0" anchor="ctr"/>
          <a:lstStyle/>
          <a:p>
            <a:pPr marL="0" indent="0">
              <a:buNone/>
            </a:pPr>
            <a:r>
              <a:rPr lang="en-US" sz="1400" b="1" dirty="0">
                <a:solidFill>
                  <a:schemeClr val="tx2"/>
                </a:solidFill>
              </a:rPr>
              <a:t>Acres botánicos</a:t>
            </a:r>
            <a:endParaRPr lang="en-US" sz="1400" dirty="0"/>
          </a:p>
        </p:txBody>
      </p:sp>
      <p:sp>
        <p:nvSpPr>
          <p:cNvPr id="27" name="Text 25"/>
          <p:cNvSpPr txBox="1"/>
          <p:nvPr/>
        </p:nvSpPr>
        <p:spPr>
          <a:xfrm>
            <a:off x="7488936"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墨西哥 · 8800 万 · +3.67 亿</a:t>
            </a:r>
            <a:endParaRPr lang="en-US" sz="1200" dirty="0"/>
          </a:p>
        </p:txBody>
      </p:sp>
      <p:sp>
        <p:nvSpPr>
          <p:cNvPr id="28" name="Text 26"/>
          <p:cNvSpPr txBox="1"/>
          <p:nvPr/>
        </p:nvSpPr>
        <p:spPr>
          <a:xfrm>
            <a:off x="7488936"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散养；已在美墨两国经营（USMCA）</a:t>
            </a:r>
            <a:endParaRPr lang="en-US" sz="1300" dirty="0"/>
          </a:p>
        </p:txBody>
      </p:sp>
      <p:sp>
        <p:nvSpPr>
          <p:cNvPr id="29" name="Egg badge"/>
          <p:cNvSpPr/>
          <p:nvPr/>
        </p:nvSpPr>
        <p:spPr>
          <a:xfrm>
            <a:off x="9802368" y="1755648"/>
            <a:ext cx="524866" cy="640080"/>
          </a:xfrm>
          <a:prstGeom prst="ellipse">
            <a:avLst/>
          </a:prstGeom>
          <a:solidFill>
            <a:schemeClr val="accent1"/>
          </a:solidFill>
          <a:ln w="12700">
            <a:solidFill>
              <a:schemeClr val="accent1"/>
            </a:solidFill>
            <a:prstDash val="solid"/>
          </a:ln>
        </p:spPr>
        <p:txBody>
          <a:bodyPr/>
          <a:lstStyle/>
          <a:p>
            <a:endParaRPr lang="zh-SG" altLang="en-US"/>
          </a:p>
        </p:txBody>
      </p:sp>
      <p:sp>
        <p:nvSpPr>
          <p:cNvPr id="30" name="Text 28"/>
          <p:cNvSpPr txBox="1"/>
          <p:nvPr/>
        </p:nvSpPr>
        <p:spPr>
          <a:xfrm>
            <a:off x="9802368" y="1755648"/>
            <a:ext cx="524866" cy="640080"/>
          </a:xfrm>
          <a:prstGeom prst="rect">
            <a:avLst/>
          </a:prstGeom>
          <a:noFill/>
          <a:ln/>
        </p:spPr>
        <p:txBody>
          <a:bodyPr wrap="square" lIns="0" tIns="0" rIns="0" bIns="0" rtlCol="0" anchor="ctr"/>
          <a:lstStyle/>
          <a:p>
            <a:pPr marL="0" indent="0" algn="ctr">
              <a:buNone/>
            </a:pPr>
            <a:r>
              <a:rPr lang="en-US" sz="1400" b="1" dirty="0">
                <a:solidFill>
                  <a:schemeClr val="tx2"/>
                </a:solidFill>
              </a:rPr>
              <a:t>5年</a:t>
            </a:r>
            <a:endParaRPr lang="en-US" sz="1400" dirty="0"/>
          </a:p>
        </p:txBody>
      </p:sp>
      <p:sp>
        <p:nvSpPr>
          <p:cNvPr id="31" name="Card"/>
          <p:cNvSpPr/>
          <p:nvPr/>
        </p:nvSpPr>
        <p:spPr>
          <a:xfrm>
            <a:off x="9619488"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32" name="Text 30"/>
          <p:cNvSpPr txBox="1"/>
          <p:nvPr/>
        </p:nvSpPr>
        <p:spPr>
          <a:xfrm>
            <a:off x="9756648" y="2606040"/>
            <a:ext cx="1783080" cy="411480"/>
          </a:xfrm>
          <a:prstGeom prst="rect">
            <a:avLst/>
          </a:prstGeom>
          <a:noFill/>
          <a:ln/>
        </p:spPr>
        <p:txBody>
          <a:bodyPr wrap="square" lIns="0" tIns="0" rIns="0" bIns="0" rtlCol="0" anchor="ctr"/>
          <a:lstStyle/>
          <a:p>
            <a:pPr marL="0" indent="0">
              <a:buNone/>
            </a:pPr>
            <a:r>
              <a:rPr lang="en-US" sz="1400" b="1" dirty="0">
                <a:solidFill>
                  <a:schemeClr val="tx2"/>
                </a:solidFill>
              </a:rPr>
              <a:t>l'Acre de Noyers</a:t>
            </a:r>
            <a:endParaRPr lang="en-US" sz="1400" dirty="0"/>
          </a:p>
        </p:txBody>
      </p:sp>
      <p:sp>
        <p:nvSpPr>
          <p:cNvPr id="33" name="Text 31"/>
          <p:cNvSpPr txBox="1"/>
          <p:nvPr/>
        </p:nvSpPr>
        <p:spPr>
          <a:xfrm>
            <a:off x="9756648"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法国 · 1.15 亿 · +3.01 亿</a:t>
            </a:r>
            <a:endParaRPr lang="en-US" sz="1200" dirty="0"/>
          </a:p>
        </p:txBody>
      </p:sp>
      <p:sp>
        <p:nvSpPr>
          <p:cNvPr id="34" name="Text 32"/>
          <p:cNvSpPr txBox="1"/>
          <p:nvPr/>
        </p:nvSpPr>
        <p:spPr>
          <a:xfrm>
            <a:off x="9756648"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进入欧盟；区块链溯源，转向散养</a:t>
            </a:r>
            <a:endParaRPr lang="en-US" sz="1300" dirty="0"/>
          </a:p>
        </p:txBody>
      </p:sp>
      <p:sp>
        <p:nvSpPr>
          <p:cNvPr id="35" name="Card"/>
          <p:cNvSpPr/>
          <p:nvPr/>
        </p:nvSpPr>
        <p:spPr>
          <a:xfrm>
            <a:off x="548640" y="5120640"/>
            <a:ext cx="11064240" cy="1051560"/>
          </a:xfrm>
          <a:prstGeom prst="roundRect">
            <a:avLst>
              <a:gd name="adj" fmla="val 6957"/>
            </a:avLst>
          </a:prstGeom>
          <a:solidFill>
            <a:schemeClr val="bg2"/>
          </a:solidFill>
          <a:ln w="12700">
            <a:solidFill>
              <a:schemeClr val="bg2"/>
            </a:solidFill>
            <a:prstDash val="solid"/>
          </a:ln>
        </p:spPr>
        <p:txBody>
          <a:bodyPr/>
          <a:lstStyle/>
          <a:p>
            <a:endParaRPr lang="zh-SG" altLang="en-US"/>
          </a:p>
        </p:txBody>
      </p:sp>
      <p:sp>
        <p:nvSpPr>
          <p:cNvPr id="36" name="Text 34"/>
          <p:cNvSpPr txBox="1"/>
          <p:nvPr/>
        </p:nvSpPr>
        <p:spPr>
          <a:xfrm>
            <a:off x="777240" y="5166360"/>
            <a:ext cx="10607040" cy="960120"/>
          </a:xfrm>
          <a:prstGeom prst="rect">
            <a:avLst/>
          </a:prstGeom>
          <a:noFill/>
          <a:ln/>
        </p:spPr>
        <p:txBody>
          <a:bodyPr wrap="square" lIns="0" tIns="0" rIns="0" bIns="0" rtlCol="0" anchor="ctr"/>
          <a:lstStyle/>
          <a:p>
            <a:pPr marL="0" indent="0">
              <a:buNone/>
            </a:pPr>
            <a:r>
              <a:rPr lang="en-US" sz="1400" b="1" dirty="0">
                <a:solidFill>
                  <a:schemeClr val="tx2"/>
                </a:solidFill>
              </a:rPr>
              <a:t>国内（第 1–3 年）：</a:t>
            </a:r>
            <a:r>
              <a:rPr lang="en-US" sz="1400" dirty="0">
                <a:solidFill>
                  <a:schemeClr val="tx1"/>
                </a:solidFill>
              </a:rPr>
              <a:t>2 座蛋制品加工厂（5000 万）、2000 万散养改造、追加 0.25% 特色营销。   </a:t>
            </a:r>
            <a:r>
              <a:rPr lang="en-US" sz="1400" b="1" dirty="0">
                <a:solidFill>
                  <a:schemeClr val="tx2"/>
                </a:solidFill>
              </a:rPr>
              <a:t>备选：</a:t>
            </a:r>
            <a:r>
              <a:rPr lang="en-US" sz="1400" dirty="0">
                <a:solidFill>
                  <a:schemeClr val="tx1"/>
                </a:solidFill>
              </a:rPr>
              <a:t>Lácteos recién（墨西哥）；与 les Acres de la Cabane（法国）1 亿美元合资。</a:t>
            </a:r>
            <a:endParaRPr lang="en-US" sz="1400" dirty="0"/>
          </a:p>
        </p:txBody>
      </p:sp>
      <p:sp>
        <p:nvSpPr>
          <p:cNvPr id="37"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价格 = 案例收购价区间中点；收入 = 当前鸡蛋业务收入（保守起见不加增长）。单位：美元。</a:t>
            </a:r>
            <a:endParaRPr lang="en-US" sz="1000" dirty="0"/>
          </a:p>
        </p:txBody>
      </p:sp>
      <p:sp>
        <p:nvSpPr>
          <p:cNvPr id="38"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资金：使用 6.58 亿，保留 1.42 亿储备</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综合收购价为 5.2 倍 EBITA；新增 EBITA 覆盖新增利息 10 倍以上</a:t>
            </a:r>
            <a:endParaRPr lang="en-US" sz="1600" dirty="0"/>
          </a:p>
        </p:txBody>
      </p:sp>
      <p:graphicFrame>
        <p:nvGraphicFramePr>
          <p:cNvPr id="4" name="Chart 0"/>
          <p:cNvGraphicFramePr/>
          <p:nvPr/>
        </p:nvGraphicFramePr>
        <p:xfrm>
          <a:off x="548640" y="1600200"/>
          <a:ext cx="62179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132320" y="1600200"/>
            <a:ext cx="448056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3 亿 + 3.58 亿</a:t>
            </a:r>
            <a:endParaRPr lang="en-US" sz="3400" dirty="0"/>
          </a:p>
        </p:txBody>
      </p:sp>
      <p:sp>
        <p:nvSpPr>
          <p:cNvPr id="6" name="Text 3"/>
          <p:cNvSpPr txBox="1"/>
          <p:nvPr/>
        </p:nvSpPr>
        <p:spPr>
          <a:xfrm>
            <a:off x="7132320" y="2313432"/>
            <a:ext cx="4480560" cy="548640"/>
          </a:xfrm>
          <a:prstGeom prst="rect">
            <a:avLst/>
          </a:prstGeom>
          <a:noFill/>
          <a:ln/>
        </p:spPr>
        <p:txBody>
          <a:bodyPr wrap="square" lIns="0" tIns="0" rIns="0" bIns="0" rtlCol="0" anchor="t"/>
          <a:lstStyle/>
          <a:p>
            <a:pPr marL="0" indent="0">
              <a:buNone/>
            </a:pPr>
            <a:r>
              <a:rPr lang="en-US" sz="1300" dirty="0">
                <a:solidFill>
                  <a:schemeClr val="accent5"/>
                </a:solidFill>
              </a:rPr>
              <a:t>先用储备，再借 10 年期 3% 贷款</a:t>
            </a:r>
            <a:endParaRPr lang="en-US" sz="1300" dirty="0"/>
          </a:p>
        </p:txBody>
      </p:sp>
      <p:sp>
        <p:nvSpPr>
          <p:cNvPr id="7" name="Text 4"/>
          <p:cNvSpPr txBox="1"/>
          <p:nvPr/>
        </p:nvSpPr>
        <p:spPr>
          <a:xfrm>
            <a:off x="7132320" y="2743200"/>
            <a:ext cx="448056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每年 1070 万</a:t>
            </a:r>
            <a:endParaRPr lang="en-US" sz="3400" dirty="0"/>
          </a:p>
        </p:txBody>
      </p:sp>
      <p:sp>
        <p:nvSpPr>
          <p:cNvPr id="8" name="Text 5"/>
          <p:cNvSpPr txBox="1"/>
          <p:nvPr/>
        </p:nvSpPr>
        <p:spPr>
          <a:xfrm>
            <a:off x="7132320" y="3456432"/>
            <a:ext cx="4480560" cy="548640"/>
          </a:xfrm>
          <a:prstGeom prst="rect">
            <a:avLst/>
          </a:prstGeom>
          <a:noFill/>
          <a:ln/>
        </p:spPr>
        <p:txBody>
          <a:bodyPr wrap="square" lIns="0" tIns="0" rIns="0" bIns="0" rtlCol="0" anchor="t"/>
          <a:lstStyle/>
          <a:p>
            <a:pPr marL="0" indent="0">
              <a:buNone/>
            </a:pPr>
            <a:r>
              <a:rPr lang="en-US" sz="1300" dirty="0">
                <a:solidFill>
                  <a:schemeClr val="accent5"/>
                </a:solidFill>
              </a:rPr>
              <a:t>3.58 亿贷款的利息</a:t>
            </a:r>
            <a:endParaRPr lang="en-US" sz="1300" dirty="0"/>
          </a:p>
        </p:txBody>
      </p:sp>
      <p:sp>
        <p:nvSpPr>
          <p:cNvPr id="9" name="Text 6"/>
          <p:cNvSpPr txBox="1"/>
          <p:nvPr/>
        </p:nvSpPr>
        <p:spPr>
          <a:xfrm>
            <a:off x="7132320" y="3886200"/>
            <a:ext cx="448056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每年 1.139 亿</a:t>
            </a:r>
            <a:endParaRPr lang="en-US" sz="3400" dirty="0"/>
          </a:p>
        </p:txBody>
      </p:sp>
      <p:sp>
        <p:nvSpPr>
          <p:cNvPr id="10" name="Text 7"/>
          <p:cNvSpPr txBox="1"/>
          <p:nvPr/>
        </p:nvSpPr>
        <p:spPr>
          <a:xfrm>
            <a:off x="7132320" y="4599432"/>
            <a:ext cx="4480560" cy="548640"/>
          </a:xfrm>
          <a:prstGeom prst="rect">
            <a:avLst/>
          </a:prstGeom>
          <a:noFill/>
          <a:ln/>
        </p:spPr>
        <p:txBody>
          <a:bodyPr wrap="square" lIns="0" tIns="0" rIns="0" bIns="0" rtlCol="0" anchor="t"/>
          <a:lstStyle/>
          <a:p>
            <a:pPr marL="0" indent="0">
              <a:buNone/>
            </a:pPr>
            <a:r>
              <a:rPr lang="en-US" sz="1300" dirty="0">
                <a:solidFill>
                  <a:schemeClr val="accent5"/>
                </a:solidFill>
              </a:rPr>
              <a:t>5 家公司带来的 EBITA → 利息覆盖 10.6 倍</a:t>
            </a:r>
            <a:endParaRPr lang="en-US" sz="1300" dirty="0"/>
          </a:p>
        </p:txBody>
      </p:sp>
      <p:sp>
        <p:nvSpPr>
          <p:cNvPr id="11" name="Text 8"/>
          <p:cNvSpPr txBox="1"/>
          <p:nvPr/>
        </p:nvSpPr>
        <p:spPr>
          <a:xfrm>
            <a:off x="7132320" y="5029200"/>
            <a:ext cx="448056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5.2x</a:t>
            </a:r>
            <a:endParaRPr lang="en-US" sz="3400" dirty="0"/>
          </a:p>
        </p:txBody>
      </p:sp>
      <p:sp>
        <p:nvSpPr>
          <p:cNvPr id="12" name="Text 9"/>
          <p:cNvSpPr txBox="1"/>
          <p:nvPr/>
        </p:nvSpPr>
        <p:spPr>
          <a:xfrm>
            <a:off x="7132320" y="5742432"/>
            <a:ext cx="4480560" cy="548640"/>
          </a:xfrm>
          <a:prstGeom prst="rect">
            <a:avLst/>
          </a:prstGeom>
          <a:noFill/>
          <a:ln/>
        </p:spPr>
        <p:txBody>
          <a:bodyPr wrap="square" lIns="0" tIns="0" rIns="0" bIns="0" rtlCol="0" anchor="t"/>
          <a:lstStyle/>
          <a:p>
            <a:pPr marL="0" indent="0">
              <a:buNone/>
            </a:pPr>
            <a:r>
              <a:rPr lang="en-US" sz="1300" dirty="0">
                <a:solidFill>
                  <a:schemeClr val="accent5"/>
                </a:solidFill>
              </a:rPr>
              <a:t>综合收购价 ÷ EBITA，美国目标为 11.4x</a:t>
            </a:r>
            <a:endParaRPr lang="en-US" sz="1300" dirty="0"/>
          </a:p>
        </p:txBody>
      </p:sp>
      <p:sp>
        <p:nvSpPr>
          <p:cNvPr id="13"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来源：案例资金条件（3 亿储备，最多 5 亿、3% 利率、10 年期）；小组计算。单位：美元。</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第 2 年达成目标 1；第 3 年 41 亿</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第 7 年海外收入占总收入 47%</a:t>
            </a:r>
            <a:endParaRPr lang="en-US" sz="1600" dirty="0"/>
          </a:p>
        </p:txBody>
      </p:sp>
      <p:graphicFrame>
        <p:nvGraphicFramePr>
          <p:cNvPr id="4" name="Chart 0"/>
          <p:cNvGraphicFramePr/>
          <p:nvPr/>
        </p:nvGraphicFramePr>
        <p:xfrm>
          <a:off x="548640" y="1600200"/>
          <a:ext cx="76809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8503920" y="1691640"/>
            <a:ext cx="3108960" cy="685800"/>
          </a:xfrm>
          <a:prstGeom prst="rect">
            <a:avLst/>
          </a:prstGeom>
          <a:noFill/>
          <a:ln/>
        </p:spPr>
        <p:txBody>
          <a:bodyPr wrap="square" lIns="0" tIns="0" rIns="0" bIns="0" rtlCol="0" anchor="b"/>
          <a:lstStyle/>
          <a:p>
            <a:pPr marL="0" indent="0">
              <a:buNone/>
            </a:pPr>
            <a:r>
              <a:rPr lang="en-US" sz="3400" b="1" dirty="0">
                <a:solidFill>
                  <a:schemeClr val="accent2"/>
                </a:solidFill>
                <a:latin typeface="Microsoft YaHei" pitchFamily="34" charset="0"/>
                <a:ea typeface="Microsoft YaHei" pitchFamily="34" charset="-122"/>
                <a:cs typeface="Microsoft YaHei" pitchFamily="34" charset="-120"/>
              </a:rPr>
              <a:t>37.17 亿</a:t>
            </a:r>
            <a:endParaRPr lang="en-US" sz="3400" dirty="0"/>
          </a:p>
        </p:txBody>
      </p:sp>
      <p:sp>
        <p:nvSpPr>
          <p:cNvPr id="6" name="Text 3"/>
          <p:cNvSpPr txBox="1"/>
          <p:nvPr/>
        </p:nvSpPr>
        <p:spPr>
          <a:xfrm>
            <a:off x="8503920" y="2404872"/>
            <a:ext cx="3108960" cy="548640"/>
          </a:xfrm>
          <a:prstGeom prst="rect">
            <a:avLst/>
          </a:prstGeom>
          <a:noFill/>
          <a:ln/>
        </p:spPr>
        <p:txBody>
          <a:bodyPr wrap="square" lIns="0" tIns="0" rIns="0" bIns="0" rtlCol="0" anchor="t"/>
          <a:lstStyle/>
          <a:p>
            <a:pPr marL="0" indent="0">
              <a:buNone/>
            </a:pPr>
            <a:r>
              <a:rPr lang="en-US" sz="1300" dirty="0">
                <a:solidFill>
                  <a:schemeClr val="accent5"/>
                </a:solidFill>
              </a:rPr>
              <a:t>第 2 年总收入 — 提前一年达标</a:t>
            </a:r>
            <a:endParaRPr lang="en-US" sz="1300" dirty="0"/>
          </a:p>
        </p:txBody>
      </p:sp>
      <p:sp>
        <p:nvSpPr>
          <p:cNvPr id="7" name="Text 4"/>
          <p:cNvSpPr txBox="1"/>
          <p:nvPr/>
        </p:nvSpPr>
        <p:spPr>
          <a:xfrm>
            <a:off x="8503920" y="3108960"/>
            <a:ext cx="310896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41.29 亿</a:t>
            </a:r>
            <a:endParaRPr lang="en-US" sz="3400" dirty="0"/>
          </a:p>
        </p:txBody>
      </p:sp>
      <p:sp>
        <p:nvSpPr>
          <p:cNvPr id="8" name="Text 5"/>
          <p:cNvSpPr txBox="1"/>
          <p:nvPr/>
        </p:nvSpPr>
        <p:spPr>
          <a:xfrm>
            <a:off x="8503920" y="3822192"/>
            <a:ext cx="3108960" cy="548640"/>
          </a:xfrm>
          <a:prstGeom prst="rect">
            <a:avLst/>
          </a:prstGeom>
          <a:noFill/>
          <a:ln/>
        </p:spPr>
        <p:txBody>
          <a:bodyPr wrap="square" lIns="0" tIns="0" rIns="0" bIns="0" rtlCol="0" anchor="t"/>
          <a:lstStyle/>
          <a:p>
            <a:pPr marL="0" indent="0">
              <a:buNone/>
            </a:pPr>
            <a:r>
              <a:rPr lang="en-US" sz="1300" dirty="0">
                <a:solidFill>
                  <a:schemeClr val="accent5"/>
                </a:solidFill>
              </a:rPr>
              <a:t>第 3 年总收入（较当前 +77%）</a:t>
            </a:r>
            <a:endParaRPr lang="en-US" sz="1300" dirty="0"/>
          </a:p>
        </p:txBody>
      </p:sp>
      <p:sp>
        <p:nvSpPr>
          <p:cNvPr id="9" name="Text 6"/>
          <p:cNvSpPr txBox="1"/>
          <p:nvPr/>
        </p:nvSpPr>
        <p:spPr>
          <a:xfrm>
            <a:off x="8503920" y="4526280"/>
            <a:ext cx="3108960" cy="685800"/>
          </a:xfrm>
          <a:prstGeom prst="rect">
            <a:avLst/>
          </a:prstGeom>
          <a:noFill/>
          <a:ln/>
        </p:spPr>
        <p:txBody>
          <a:bodyPr wrap="square" lIns="0" tIns="0" rIns="0" bIns="0" rtlCol="0" anchor="b"/>
          <a:lstStyle/>
          <a:p>
            <a:pPr marL="0" indent="0">
              <a:buNone/>
            </a:pPr>
            <a:r>
              <a:rPr lang="en-US" sz="3400" b="1" dirty="0">
                <a:solidFill>
                  <a:schemeClr val="tx2"/>
                </a:solidFill>
                <a:latin typeface="Microsoft YaHei" pitchFamily="34" charset="0"/>
                <a:ea typeface="Microsoft YaHei" pitchFamily="34" charset="-122"/>
                <a:cs typeface="Microsoft YaHei" pitchFamily="34" charset="-120"/>
              </a:rPr>
              <a:t>48.65 亿</a:t>
            </a:r>
            <a:endParaRPr lang="en-US" sz="3400" dirty="0"/>
          </a:p>
        </p:txBody>
      </p:sp>
      <p:sp>
        <p:nvSpPr>
          <p:cNvPr id="10" name="Text 7"/>
          <p:cNvSpPr txBox="1"/>
          <p:nvPr/>
        </p:nvSpPr>
        <p:spPr>
          <a:xfrm>
            <a:off x="8503920" y="5239512"/>
            <a:ext cx="3108960" cy="548640"/>
          </a:xfrm>
          <a:prstGeom prst="rect">
            <a:avLst/>
          </a:prstGeom>
          <a:noFill/>
          <a:ln/>
        </p:spPr>
        <p:txBody>
          <a:bodyPr wrap="square" lIns="0" tIns="0" rIns="0" bIns="0" rtlCol="0" anchor="t"/>
          <a:lstStyle/>
          <a:p>
            <a:pPr marL="0" indent="0">
              <a:buNone/>
            </a:pPr>
            <a:r>
              <a:rPr lang="en-US" sz="1300" dirty="0">
                <a:solidFill>
                  <a:schemeClr val="accent5"/>
                </a:solidFill>
              </a:rPr>
              <a:t>第 7 年总收入；47% 来自海外</a:t>
            </a:r>
            <a:endParaRPr lang="en-US" sz="1300" dirty="0"/>
          </a:p>
        </p:txBody>
      </p:sp>
      <p:sp>
        <p:nvSpPr>
          <p:cNvPr id="11"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假设：大宗蛋价维持当前水平；收购公司收入不增长；特色市场年增 2.5%（案例）。单位：美元。</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压力测试：大宗价格下跌 30% 方案依然成立</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只有重演 48% 暴跌才会失守；提前收购墨西哥公司即可恢复</a:t>
            </a:r>
            <a:endParaRPr lang="en-US" sz="1600" dirty="0"/>
          </a:p>
        </p:txBody>
      </p:sp>
      <p:graphicFrame>
        <p:nvGraphicFramePr>
          <p:cNvPr id="4" name="Chart 0"/>
          <p:cNvGraphicFramePr/>
          <p:nvPr/>
        </p:nvGraphicFramePr>
        <p:xfrm>
          <a:off x="548640" y="1600200"/>
          <a:ext cx="76809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8503920" y="1691640"/>
            <a:ext cx="3108960" cy="4389120"/>
          </a:xfrm>
          <a:prstGeom prst="roundRect">
            <a:avLst>
              <a:gd name="adj" fmla="val 2353"/>
            </a:avLst>
          </a:prstGeom>
          <a:solidFill>
            <a:schemeClr val="bg2"/>
          </a:solidFill>
          <a:ln w="12700">
            <a:solidFill>
              <a:schemeClr val="bg2"/>
            </a:solidFill>
            <a:prstDash val="solid"/>
          </a:ln>
        </p:spPr>
        <p:txBody>
          <a:bodyPr/>
          <a:lstStyle/>
          <a:p>
            <a:endParaRPr lang="zh-SG" altLang="en-US"/>
          </a:p>
        </p:txBody>
      </p:sp>
      <p:sp>
        <p:nvSpPr>
          <p:cNvPr id="6" name="Text 3"/>
          <p:cNvSpPr txBox="1"/>
          <p:nvPr/>
        </p:nvSpPr>
        <p:spPr>
          <a:xfrm>
            <a:off x="8686800" y="1783080"/>
            <a:ext cx="2743200" cy="365760"/>
          </a:xfrm>
          <a:prstGeom prst="rect">
            <a:avLst/>
          </a:prstGeom>
          <a:noFill/>
          <a:ln/>
        </p:spPr>
        <p:txBody>
          <a:bodyPr wrap="square" lIns="0" tIns="0" rIns="0" bIns="0" rtlCol="0" anchor="ctr"/>
          <a:lstStyle/>
          <a:p>
            <a:pPr marL="0" indent="0">
              <a:buNone/>
            </a:pPr>
            <a:r>
              <a:rPr lang="en-US" sz="1800" b="1" dirty="0">
                <a:solidFill>
                  <a:schemeClr val="tx2"/>
                </a:solidFill>
                <a:latin typeface="Microsoft YaHei" pitchFamily="34" charset="0"/>
                <a:ea typeface="Microsoft YaHei" pitchFamily="34" charset="-122"/>
                <a:cs typeface="Microsoft YaHei" pitchFamily="34" charset="-120"/>
              </a:rPr>
              <a:t>这意味着什么</a:t>
            </a:r>
            <a:endParaRPr lang="en-US" sz="1800" dirty="0"/>
          </a:p>
        </p:txBody>
      </p:sp>
      <p:sp>
        <p:nvSpPr>
          <p:cNvPr id="7" name="Text 4"/>
          <p:cNvSpPr txBox="1"/>
          <p:nvPr/>
        </p:nvSpPr>
        <p:spPr>
          <a:xfrm>
            <a:off x="8686800" y="2240280"/>
            <a:ext cx="2788920"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临界点：大宗收入下跌 38% 以内，第 3 年收入仍高于 35 亿。</a:t>
            </a:r>
            <a:endParaRPr lang="en-US" sz="1400" dirty="0"/>
          </a:p>
          <a:p>
            <a:pPr marL="342900" indent="-342900">
              <a:spcAft>
                <a:spcPts val="800"/>
              </a:spcAft>
              <a:buSzPct val="100000"/>
              <a:buChar char="•"/>
            </a:pPr>
            <a:r>
              <a:rPr lang="en-US" sz="1400" dirty="0">
                <a:solidFill>
                  <a:schemeClr val="tx1"/>
                </a:solidFill>
              </a:rPr>
              <a:t>触发条件：若美国大宗收入连续两个季度低于计划 30% 以上，第 3 年完成收购 Acres botánicos（+3.67 亿）。</a:t>
            </a:r>
            <a:endParaRPr lang="en-US" sz="1400" dirty="0"/>
          </a:p>
          <a:p>
            <a:pPr marL="342900" indent="-342900">
              <a:spcAft>
                <a:spcPts val="800"/>
              </a:spcAft>
              <a:buSzPct val="100000"/>
              <a:buChar char="•"/>
            </a:pPr>
            <a:r>
              <a:rPr lang="en-US" sz="1400" dirty="0">
                <a:solidFill>
                  <a:schemeClr val="tx1"/>
                </a:solidFill>
              </a:rPr>
              <a:t>价格暴跌时特色占比反而上升，目标 2 不受影响。</a:t>
            </a:r>
            <a:endParaRPr lang="en-US" sz="1400" dirty="0"/>
          </a:p>
        </p:txBody>
      </p:sp>
      <p:sp>
        <p:nvSpPr>
          <p:cNvPr id="8"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冲击作用于第 3 年美国大宗收入（16.61 亿美元）。临界点 =（41.285 亿 − 35 亿）÷ 16.61 亿 = 37.8%。</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目标 1 · 三年内收入超过 35 亿美元</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两项措施，每项两个有证据支撑的风险及应对方案</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224528"/>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Microsoft YaHei" pitchFamily="34" charset="0"/>
                          <a:ea typeface="Microsoft YaHei" pitchFamily="34" charset="-122"/>
                          <a:cs typeface="Microsoft YaHei" pitchFamily="34" charset="-120"/>
                        </a:rPr>
                        <a:t>具体措施（数据驱动）</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Microsoft YaHei" pitchFamily="34" charset="0"/>
                          <a:ea typeface="Microsoft YaHei" pitchFamily="34" charset="-122"/>
                          <a:cs typeface="Microsoft YaHei" pitchFamily="34" charset="-120"/>
                        </a:rPr>
                        <a:t>风险（附证据）</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Microsoft YaHei" pitchFamily="34" charset="0"/>
                          <a:ea typeface="Microsoft YaHei" pitchFamily="34" charset="-122"/>
                          <a:cs typeface="Microsoft YaHei" pitchFamily="34" charset="-120"/>
                        </a:rPr>
                        <a:t>应对方案</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extLst>
                  <a:ext uri="{0D108BD9-81ED-4DB2-BD59-A6C34878D82A}">
                    <a16:rowId xmlns:a16="http://schemas.microsoft.com/office/drawing/2014/main" val="10000"/>
                  </a:ext>
                </a:extLst>
              </a:tr>
              <a:tr h="960120">
                <a:tc rowSpan="2">
                  <a:txBody>
                    <a:bodyPr/>
                    <a:lstStyle/>
                    <a:p>
                      <a:pPr marL="0" indent="0">
                        <a:buNone/>
                      </a:pPr>
                      <a:r>
                        <a:rPr lang="en-US" sz="1200" b="1" dirty="0">
                          <a:solidFill>
                            <a:srgbClr val="23412F"/>
                          </a:solidFill>
                          <a:latin typeface="Microsoft YaHei" pitchFamily="34" charset="0"/>
                          <a:ea typeface="Microsoft YaHei" pitchFamily="34" charset="-122"/>
                          <a:cs typeface="Microsoft YaHei" pitchFamily="34" charset="-120"/>
                        </a:rPr>
                        <a:t>O1.1 第 3 年前收购 S. Bound、Free Range Roost 和 Planeta avícola（3.85 亿换 16.1 亿收入，4.9 倍 EBITA）</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大宗价格暴跌：低谷年收入下跌 48%；价格变异系数 21%</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价格触发：把 Acres botánicos 提前到第 3 年；提高合同定价销售比例</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1"/>
                  </a:ext>
                </a:extLst>
              </a:tr>
              <a:tr h="960120">
                <a:tc vMerge="1">
                  <a:txBody>
                    <a:bodyPr/>
                    <a:lstStyle/>
                    <a:p>
                      <a:endParaRPr lang="zh-SG"/>
                    </a:p>
                  </a:txBody>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出价过高或整合失败（价格区间在中点上下最多 ±20%）</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按区间低端出价并设业绩对赌；保留当地 CEO；每笔交易 100 天整合计划</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2"/>
                  </a:ext>
                </a:extLst>
              </a:tr>
              <a:tr h="960120">
                <a:tc rowSpan="2">
                  <a:txBody>
                    <a:bodyPr/>
                    <a:lstStyle/>
                    <a:p>
                      <a:pPr marL="0" indent="0">
                        <a:buNone/>
                      </a:pPr>
                      <a:r>
                        <a:rPr lang="en-US" sz="1200" b="1" dirty="0">
                          <a:solidFill>
                            <a:srgbClr val="23412F"/>
                          </a:solidFill>
                          <a:latin typeface="Microsoft YaHei" pitchFamily="34" charset="0"/>
                          <a:ea typeface="Microsoft YaHei" pitchFamily="34" charset="-122"/>
                          <a:cs typeface="Microsoft YaHei" pitchFamily="34" charset="-120"/>
                        </a:rPr>
                        <a:t>O1.2 通过特色增长、营销和 2 座加工厂，把美国收入做到 25.2 亿</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禽流感：仅 2025 年 1 月美国就损失约 1880 万只蛋鸡；1–2 月约 4300 万（农场局估计）</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鸡群分散到多个场地；严格生物安全；利用 USDA 补偿和保险</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vMerge="1">
                  <a:txBody>
                    <a:bodyPr/>
                    <a:lstStyle/>
                    <a:p>
                      <a:endParaRPr lang="zh-SG"/>
                    </a:p>
                  </a:txBody>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工厂建设延期，导致 1 亿收入推迟到第 3 年以后</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分期建厂（第 2、3 年）；开工前向餐饮客户预售产能</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来源：案例数据；小组模型；USDA 与农场局数据，经 Capital FM（2025）。</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目标 2 · 三年内特色占美国收入 ≥30%</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第 2 年达标，第 3 年达到 34%</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224528"/>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Microsoft YaHei" pitchFamily="34" charset="0"/>
                          <a:ea typeface="Microsoft YaHei" pitchFamily="34" charset="-122"/>
                          <a:cs typeface="Microsoft YaHei" pitchFamily="34" charset="-120"/>
                        </a:rPr>
                        <a:t>具体措施（数据驱动）</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Microsoft YaHei" pitchFamily="34" charset="0"/>
                          <a:ea typeface="Microsoft YaHei" pitchFamily="34" charset="-122"/>
                          <a:cs typeface="Microsoft YaHei" pitchFamily="34" charset="-120"/>
                        </a:rPr>
                        <a:t>风险（附证据）</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Microsoft YaHei" pitchFamily="34" charset="0"/>
                          <a:ea typeface="Microsoft YaHei" pitchFamily="34" charset="-122"/>
                          <a:cs typeface="Microsoft YaHei" pitchFamily="34" charset="-120"/>
                        </a:rPr>
                        <a:t>应对方案</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extLst>
                  <a:ext uri="{0D108BD9-81ED-4DB2-BD59-A6C34878D82A}">
                    <a16:rowId xmlns:a16="http://schemas.microsoft.com/office/drawing/2014/main" val="10000"/>
                  </a:ext>
                </a:extLst>
              </a:tr>
              <a:tr h="960120">
                <a:tc rowSpan="2">
                  <a:txBody>
                    <a:bodyPr/>
                    <a:lstStyle/>
                    <a:p>
                      <a:pPr marL="0" indent="0">
                        <a:buNone/>
                      </a:pPr>
                      <a:r>
                        <a:rPr lang="en-US" sz="1200" b="1" dirty="0">
                          <a:solidFill>
                            <a:srgbClr val="23412F"/>
                          </a:solidFill>
                          <a:latin typeface="Microsoft YaHei" pitchFamily="34" charset="0"/>
                          <a:ea typeface="Microsoft YaHei" pitchFamily="34" charset="-122"/>
                          <a:cs typeface="Microsoft YaHei" pitchFamily="34" charset="-120"/>
                        </a:rPr>
                        <a:t>O2.1 投入 2000 万把大宗产能改为散养，1 亿收入转为特色（利润率 15%）</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散养供给追上需求、溢价下降：2023 年 11 月散养已占美国蛋鸡 38.8%（USDA）</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只在零售或餐饮客户签约后改造；分两期各 1000 万推进</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1"/>
                  </a:ext>
                </a:extLst>
              </a:tr>
              <a:tr h="960120">
                <a:tc vMerge="1">
                  <a:txBody>
                    <a:bodyPr/>
                    <a:lstStyle/>
                    <a:p>
                      <a:endParaRPr lang="zh-SG"/>
                    </a:p>
                  </a:txBody>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改造会降低每栋鸡舍的存栏和短期产量</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在计划换群时改造；每月跟踪各鸡舍产量</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2"/>
                  </a:ext>
                </a:extLst>
              </a:tr>
              <a:tr h="960120">
                <a:tc rowSpan="2">
                  <a:txBody>
                    <a:bodyPr/>
                    <a:lstStyle/>
                    <a:p>
                      <a:pPr marL="0" indent="0">
                        <a:buNone/>
                      </a:pPr>
                      <a:r>
                        <a:rPr lang="en-US" sz="1200" b="1" dirty="0">
                          <a:solidFill>
                            <a:srgbClr val="23412F"/>
                          </a:solidFill>
                          <a:latin typeface="Microsoft YaHei" pitchFamily="34" charset="0"/>
                          <a:ea typeface="Microsoft YaHei" pitchFamily="34" charset="-122"/>
                          <a:cs typeface="Microsoft YaHei" pitchFamily="34" charset="-120"/>
                        </a:rPr>
                        <a:t>O2.2 建 2 座蛋制品加工厂（5000 万，+1 亿收入，利润率 20%），追加 0.25% 营销</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经济下行时预制蛋品（如蛋饼）需求疲软</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渠道多元化：零售、餐饮、食品原料客户；产线灵活切换</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vMerge="1">
                  <a:txBody>
                    <a:bodyPr/>
                    <a:lstStyle/>
                    <a:p>
                      <a:endParaRPr lang="zh-SG"/>
                    </a:p>
                  </a:txBody>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营销每年净利润仅约 110 万</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12 个月后设 KPI 关卡；若特色增幅低于 4%，资金转投加工厂</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来源：案例举措收益；USDA 散养带壳蛋报告，经 O’Keefe（2024）；小组计算。</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目标 3 · 七年内成为全球化公司</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假设（Assumption）：“全球化” = 4 个以上大洲、约一半收入来自新市场（我们的定义）</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2085171871"/>
              </p:ext>
            </p:extLst>
          </p:nvPr>
        </p:nvGraphicFramePr>
        <p:xfrm>
          <a:off x="548640" y="1600200"/>
          <a:ext cx="11064240" cy="4224528"/>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Microsoft YaHei" pitchFamily="34" charset="0"/>
                          <a:ea typeface="Microsoft YaHei" pitchFamily="34" charset="-122"/>
                          <a:cs typeface="Microsoft YaHei" pitchFamily="34" charset="-120"/>
                        </a:rPr>
                        <a:t>具体措施（数据驱动）</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Microsoft YaHei" pitchFamily="34" charset="0"/>
                          <a:ea typeface="Microsoft YaHei" pitchFamily="34" charset="-122"/>
                          <a:cs typeface="Microsoft YaHei" pitchFamily="34" charset="-120"/>
                        </a:rPr>
                        <a:t>风险（附证据）</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Microsoft YaHei" pitchFamily="34" charset="0"/>
                          <a:ea typeface="Microsoft YaHei" pitchFamily="34" charset="-122"/>
                          <a:cs typeface="Microsoft YaHei" pitchFamily="34" charset="-120"/>
                        </a:rPr>
                        <a:t>应对方案</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extLst>
                  <a:ext uri="{0D108BD9-81ED-4DB2-BD59-A6C34878D82A}">
                    <a16:rowId xmlns:a16="http://schemas.microsoft.com/office/drawing/2014/main" val="10000"/>
                  </a:ext>
                </a:extLst>
              </a:tr>
              <a:tr h="960120">
                <a:tc rowSpan="2">
                  <a:txBody>
                    <a:bodyPr/>
                    <a:lstStyle/>
                    <a:p>
                      <a:pPr marL="0" indent="0">
                        <a:buNone/>
                      </a:pPr>
                      <a:r>
                        <a:rPr lang="en-US" sz="1200" b="1" dirty="0">
                          <a:solidFill>
                            <a:srgbClr val="23412F"/>
                          </a:solidFill>
                          <a:latin typeface="Microsoft YaHei" pitchFamily="34" charset="0"/>
                          <a:ea typeface="Microsoft YaHei" pitchFamily="34" charset="-122"/>
                          <a:cs typeface="Microsoft YaHei" pitchFamily="34" charset="-120"/>
                        </a:rPr>
                        <a:t>O3.1 通过五笔分阶段收购，第 5 年前覆盖四大洲</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err="1">
                          <a:solidFill>
                            <a:srgbClr val="1B2A22"/>
                          </a:solidFill>
                          <a:latin typeface="Microsoft YaHei" pitchFamily="34" charset="0"/>
                          <a:ea typeface="Microsoft YaHei" pitchFamily="34" charset="-122"/>
                          <a:cs typeface="Microsoft YaHei" pitchFamily="34" charset="-120"/>
                        </a:rPr>
                        <a:t>政治与汇率风险：巴西、墨西哥为发展中经济体；泰国高度依赖出口</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部分借款使用当地货币；对冲现金流；每年一笔交易以控制敞口</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1"/>
                  </a:ext>
                </a:extLst>
              </a:tr>
              <a:tr h="960120">
                <a:tc vMerge="1">
                  <a:txBody>
                    <a:bodyPr/>
                    <a:lstStyle/>
                    <a:p>
                      <a:endParaRPr lang="zh-SG"/>
                    </a:p>
                  </a:txBody>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文化与监管差异，如欧盟动物福利法规、家族企业文化</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保留当地管理层；逐步引入 AmEgg 薪酬与人事做法；设当地合规负责人</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2"/>
                  </a:ext>
                </a:extLst>
              </a:tr>
              <a:tr h="960120">
                <a:tc rowSpan="2">
                  <a:txBody>
                    <a:bodyPr/>
                    <a:lstStyle/>
                    <a:p>
                      <a:pPr marL="0" indent="0">
                        <a:buNone/>
                      </a:pPr>
                      <a:r>
                        <a:rPr lang="en-US" sz="1200" b="1" dirty="0">
                          <a:solidFill>
                            <a:srgbClr val="23412F"/>
                          </a:solidFill>
                          <a:latin typeface="Microsoft YaHei" pitchFamily="34" charset="0"/>
                          <a:ea typeface="Microsoft YaHei" pitchFamily="34" charset="-122"/>
                          <a:cs typeface="Microsoft YaHei" pitchFamily="34" charset="-120"/>
                        </a:rPr>
                        <a:t>O3.2 财务保守：8 亿中只用 6.58 亿，贷款 3.58 亿、利率 3%</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盈利下降时的利息与再融资风险</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10 年固定利率；利息覆盖 &gt;10 倍；优先用收购公司的 EBITA 还债</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vMerge="1">
                  <a:txBody>
                    <a:bodyPr/>
                    <a:lstStyle/>
                    <a:p>
                      <a:endParaRPr lang="zh-SG"/>
                    </a:p>
                  </a:txBody>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目标公司在我们完成交易前被竞争对手买走</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Microsoft YaHei" pitchFamily="34" charset="0"/>
                          <a:ea typeface="Microsoft YaHei" pitchFamily="34" charset="-122"/>
                          <a:cs typeface="Microsoft YaHei" pitchFamily="34" charset="-120"/>
                        </a:rPr>
                        <a:t>按评分排好的备选：Lácteos recién、Cabane 合资（1 亿）、Hollybrook</a:t>
                      </a:r>
                      <a:endParaRPr lang="en-US" sz="1200" dirty="0">
                        <a:latin typeface="Microsoft YaHei" charset="0"/>
                        <a:ea typeface="Microsoft YaHei" charset="0"/>
                        <a:cs typeface="Microsoft YaHe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来源：案例表 3–6（经济与国别风险两列）；小组模型。</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目标之间的协同与冲突</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海外收购同时推动目标 1 和 3，且不稀释目标 2 的美国产品结构</a:t>
            </a:r>
            <a:endParaRPr lang="en-US" sz="1600" dirty="0"/>
          </a:p>
        </p:txBody>
      </p:sp>
      <p:sp>
        <p:nvSpPr>
          <p:cNvPr id="4" name="Text 2"/>
          <p:cNvSpPr txBox="1"/>
          <p:nvPr/>
        </p:nvSpPr>
        <p:spPr>
          <a:xfrm>
            <a:off x="548640" y="1645920"/>
            <a:ext cx="5440680" cy="411480"/>
          </a:xfrm>
          <a:prstGeom prst="rect">
            <a:avLst/>
          </a:prstGeom>
          <a:noFill/>
          <a:ln/>
        </p:spPr>
        <p:txBody>
          <a:bodyPr wrap="square" lIns="0" tIns="0" rIns="0" bIns="0" rtlCol="0" anchor="ctr"/>
          <a:lstStyle/>
          <a:p>
            <a:pPr marL="0" indent="0">
              <a:buNone/>
            </a:pPr>
            <a:r>
              <a:rPr lang="en-US" sz="2000" b="1" dirty="0">
                <a:solidFill>
                  <a:schemeClr val="accent2"/>
                </a:solidFill>
                <a:latin typeface="Microsoft YaHei" pitchFamily="34" charset="0"/>
                <a:ea typeface="Microsoft YaHei" pitchFamily="34" charset="-122"/>
                <a:cs typeface="Microsoft YaHei" pitchFamily="34" charset="-120"/>
              </a:rPr>
              <a:t>协同</a:t>
            </a:r>
            <a:endParaRPr lang="en-US" sz="2000" dirty="0"/>
          </a:p>
        </p:txBody>
      </p:sp>
      <p:sp>
        <p:nvSpPr>
          <p:cNvPr id="5" name="Card"/>
          <p:cNvSpPr/>
          <p:nvPr/>
        </p:nvSpPr>
        <p:spPr>
          <a:xfrm>
            <a:off x="548640" y="219456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6" name="Egg badge"/>
          <p:cNvSpPr/>
          <p:nvPr/>
        </p:nvSpPr>
        <p:spPr>
          <a:xfrm>
            <a:off x="731520" y="2560320"/>
            <a:ext cx="374904" cy="457200"/>
          </a:xfrm>
          <a:prstGeom prst="ellipse">
            <a:avLst/>
          </a:prstGeom>
          <a:solidFill>
            <a:schemeClr val="accent2"/>
          </a:solidFill>
          <a:ln w="12700">
            <a:solidFill>
              <a:schemeClr val="accent2"/>
            </a:solidFill>
            <a:prstDash val="solid"/>
          </a:ln>
        </p:spPr>
        <p:txBody>
          <a:bodyPr/>
          <a:lstStyle/>
          <a:p>
            <a:endParaRPr lang="zh-SG" altLang="en-US"/>
          </a:p>
        </p:txBody>
      </p:sp>
      <p:sp>
        <p:nvSpPr>
          <p:cNvPr id="7" name="Text 5"/>
          <p:cNvSpPr txBox="1"/>
          <p:nvPr/>
        </p:nvSpPr>
        <p:spPr>
          <a:xfrm>
            <a:off x="731520" y="256032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6"/>
          <p:cNvSpPr txBox="1"/>
          <p:nvPr/>
        </p:nvSpPr>
        <p:spPr>
          <a:xfrm>
            <a:off x="1325880" y="230428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收入 + 全球化</a:t>
            </a:r>
            <a:endParaRPr lang="en-US" sz="1600" dirty="0"/>
          </a:p>
        </p:txBody>
      </p:sp>
      <p:sp>
        <p:nvSpPr>
          <p:cNvPr id="9" name="Text 7"/>
          <p:cNvSpPr txBox="1"/>
          <p:nvPr/>
        </p:nvSpPr>
        <p:spPr>
          <a:xfrm>
            <a:off x="1325880" y="2670048"/>
            <a:ext cx="4526280" cy="658368"/>
          </a:xfrm>
          <a:prstGeom prst="rect">
            <a:avLst/>
          </a:prstGeom>
          <a:noFill/>
          <a:ln/>
        </p:spPr>
        <p:txBody>
          <a:bodyPr wrap="square" lIns="0" tIns="0" rIns="0" bIns="0" rtlCol="0" anchor="t"/>
          <a:lstStyle/>
          <a:p>
            <a:pPr marL="0" indent="0">
              <a:buNone/>
            </a:pPr>
            <a:r>
              <a:rPr lang="en-US" sz="1300" dirty="0">
                <a:solidFill>
                  <a:schemeClr val="tx1"/>
                </a:solidFill>
              </a:rPr>
              <a:t>每一笔海外收购同时计入 35 亿目标和全球布局。</a:t>
            </a:r>
            <a:endParaRPr lang="en-US" sz="1300" dirty="0"/>
          </a:p>
        </p:txBody>
      </p:sp>
      <p:sp>
        <p:nvSpPr>
          <p:cNvPr id="10" name="Card"/>
          <p:cNvSpPr/>
          <p:nvPr/>
        </p:nvSpPr>
        <p:spPr>
          <a:xfrm>
            <a:off x="548640" y="352044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11" name="Egg badge"/>
          <p:cNvSpPr/>
          <p:nvPr/>
        </p:nvSpPr>
        <p:spPr>
          <a:xfrm>
            <a:off x="731520" y="3886200"/>
            <a:ext cx="374904" cy="457200"/>
          </a:xfrm>
          <a:prstGeom prst="ellipse">
            <a:avLst/>
          </a:prstGeom>
          <a:solidFill>
            <a:schemeClr val="accent2"/>
          </a:solidFill>
          <a:ln w="12700">
            <a:solidFill>
              <a:schemeClr val="accent2"/>
            </a:solidFill>
            <a:prstDash val="solid"/>
          </a:ln>
        </p:spPr>
        <p:txBody>
          <a:bodyPr/>
          <a:lstStyle/>
          <a:p>
            <a:endParaRPr lang="zh-SG" altLang="en-US"/>
          </a:p>
        </p:txBody>
      </p:sp>
      <p:sp>
        <p:nvSpPr>
          <p:cNvPr id="12" name="Text 10"/>
          <p:cNvSpPr txBox="1"/>
          <p:nvPr/>
        </p:nvSpPr>
        <p:spPr>
          <a:xfrm>
            <a:off x="731520" y="388620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1"/>
          <p:cNvSpPr txBox="1"/>
          <p:nvPr/>
        </p:nvSpPr>
        <p:spPr>
          <a:xfrm>
            <a:off x="1325880" y="363016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结构 + 利润</a:t>
            </a:r>
            <a:endParaRPr lang="en-US" sz="1600" dirty="0"/>
          </a:p>
        </p:txBody>
      </p:sp>
      <p:sp>
        <p:nvSpPr>
          <p:cNvPr id="14" name="Text 12"/>
          <p:cNvSpPr txBox="1"/>
          <p:nvPr/>
        </p:nvSpPr>
        <p:spPr>
          <a:xfrm>
            <a:off x="1325880" y="3995928"/>
            <a:ext cx="4526280" cy="658368"/>
          </a:xfrm>
          <a:prstGeom prst="rect">
            <a:avLst/>
          </a:prstGeom>
          <a:noFill/>
          <a:ln/>
        </p:spPr>
        <p:txBody>
          <a:bodyPr wrap="square" lIns="0" tIns="0" rIns="0" bIns="0" rtlCol="0" anchor="t"/>
          <a:lstStyle/>
          <a:p>
            <a:pPr marL="0" indent="0">
              <a:buNone/>
            </a:pPr>
            <a:r>
              <a:rPr lang="en-US" sz="1300" dirty="0">
                <a:solidFill>
                  <a:schemeClr val="tx1"/>
                </a:solidFill>
              </a:rPr>
              <a:t>加工厂和散养改造既提高特色占比，也提升用于还债的利润。</a:t>
            </a:r>
            <a:endParaRPr lang="en-US" sz="1300" dirty="0"/>
          </a:p>
        </p:txBody>
      </p:sp>
      <p:sp>
        <p:nvSpPr>
          <p:cNvPr id="15" name="Card"/>
          <p:cNvSpPr/>
          <p:nvPr/>
        </p:nvSpPr>
        <p:spPr>
          <a:xfrm>
            <a:off x="548640" y="484632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16" name="Egg badge"/>
          <p:cNvSpPr/>
          <p:nvPr/>
        </p:nvSpPr>
        <p:spPr>
          <a:xfrm>
            <a:off x="731520" y="5212080"/>
            <a:ext cx="374904" cy="457200"/>
          </a:xfrm>
          <a:prstGeom prst="ellipse">
            <a:avLst/>
          </a:prstGeom>
          <a:solidFill>
            <a:schemeClr val="accent2"/>
          </a:solidFill>
          <a:ln w="12700">
            <a:solidFill>
              <a:schemeClr val="accent2"/>
            </a:solidFill>
            <a:prstDash val="solid"/>
          </a:ln>
        </p:spPr>
        <p:txBody>
          <a:bodyPr/>
          <a:lstStyle/>
          <a:p>
            <a:endParaRPr lang="zh-SG" altLang="en-US"/>
          </a:p>
        </p:txBody>
      </p:sp>
      <p:sp>
        <p:nvSpPr>
          <p:cNvPr id="17" name="Text 15"/>
          <p:cNvSpPr txBox="1"/>
          <p:nvPr/>
        </p:nvSpPr>
        <p:spPr>
          <a:xfrm>
            <a:off x="731520" y="521208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6"/>
          <p:cNvSpPr txBox="1"/>
          <p:nvPr/>
        </p:nvSpPr>
        <p:spPr>
          <a:xfrm>
            <a:off x="1325880" y="495604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经验转移</a:t>
            </a:r>
            <a:endParaRPr lang="en-US" sz="1600" dirty="0"/>
          </a:p>
        </p:txBody>
      </p:sp>
      <p:sp>
        <p:nvSpPr>
          <p:cNvPr id="19" name="Text 17"/>
          <p:cNvSpPr txBox="1"/>
          <p:nvPr/>
        </p:nvSpPr>
        <p:spPr>
          <a:xfrm>
            <a:off x="1325880" y="5321808"/>
            <a:ext cx="4526280" cy="658368"/>
          </a:xfrm>
          <a:prstGeom prst="rect">
            <a:avLst/>
          </a:prstGeom>
          <a:noFill/>
          <a:ln/>
        </p:spPr>
        <p:txBody>
          <a:bodyPr wrap="square" lIns="0" tIns="0" rIns="0" bIns="0" rtlCol="0" anchor="t"/>
          <a:lstStyle/>
          <a:p>
            <a:pPr marL="0" indent="0">
              <a:buNone/>
            </a:pPr>
            <a:r>
              <a:rPr lang="en-US" sz="1300" dirty="0">
                <a:solidFill>
                  <a:schemeClr val="tx1"/>
                </a:solidFill>
              </a:rPr>
              <a:t>泰国、巴西的散养计划和法国的溯源技术可丰富 AmEgg 特色产品线。</a:t>
            </a:r>
            <a:endParaRPr lang="en-US" sz="1300" dirty="0"/>
          </a:p>
        </p:txBody>
      </p:sp>
      <p:sp>
        <p:nvSpPr>
          <p:cNvPr id="20" name="Text 18"/>
          <p:cNvSpPr txBox="1"/>
          <p:nvPr/>
        </p:nvSpPr>
        <p:spPr>
          <a:xfrm>
            <a:off x="6172200" y="1645920"/>
            <a:ext cx="5440680" cy="411480"/>
          </a:xfrm>
          <a:prstGeom prst="rect">
            <a:avLst/>
          </a:prstGeom>
          <a:noFill/>
          <a:ln/>
        </p:spPr>
        <p:txBody>
          <a:bodyPr wrap="square" lIns="0" tIns="0" rIns="0" bIns="0" rtlCol="0" anchor="ctr"/>
          <a:lstStyle/>
          <a:p>
            <a:pPr marL="0" indent="0">
              <a:buNone/>
            </a:pPr>
            <a:r>
              <a:rPr lang="en-US" sz="2000" b="1" dirty="0">
                <a:solidFill>
                  <a:schemeClr val="accent4"/>
                </a:solidFill>
                <a:latin typeface="Microsoft YaHei" pitchFamily="34" charset="0"/>
                <a:ea typeface="Microsoft YaHei" pitchFamily="34" charset="-122"/>
                <a:cs typeface="Microsoft YaHei" pitchFamily="34" charset="-120"/>
              </a:rPr>
              <a:t>需要管理的冲突</a:t>
            </a:r>
            <a:endParaRPr lang="en-US" sz="2000" dirty="0"/>
          </a:p>
        </p:txBody>
      </p:sp>
      <p:sp>
        <p:nvSpPr>
          <p:cNvPr id="21" name="Card"/>
          <p:cNvSpPr/>
          <p:nvPr/>
        </p:nvSpPr>
        <p:spPr>
          <a:xfrm>
            <a:off x="6172200" y="219456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22" name="Egg badge"/>
          <p:cNvSpPr/>
          <p:nvPr/>
        </p:nvSpPr>
        <p:spPr>
          <a:xfrm>
            <a:off x="6355080" y="2560320"/>
            <a:ext cx="374904" cy="457200"/>
          </a:xfrm>
          <a:prstGeom prst="ellipse">
            <a:avLst/>
          </a:prstGeom>
          <a:solidFill>
            <a:schemeClr val="accent4"/>
          </a:solidFill>
          <a:ln w="12700">
            <a:solidFill>
              <a:schemeClr val="accent4"/>
            </a:solidFill>
            <a:prstDash val="solid"/>
          </a:ln>
        </p:spPr>
        <p:txBody>
          <a:bodyPr/>
          <a:lstStyle/>
          <a:p>
            <a:endParaRPr lang="zh-SG" altLang="en-US"/>
          </a:p>
        </p:txBody>
      </p:sp>
      <p:sp>
        <p:nvSpPr>
          <p:cNvPr id="23" name="Text 21"/>
          <p:cNvSpPr txBox="1"/>
          <p:nvPr/>
        </p:nvSpPr>
        <p:spPr>
          <a:xfrm>
            <a:off x="6355080" y="256032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4" name="Text 22"/>
          <p:cNvSpPr txBox="1"/>
          <p:nvPr/>
        </p:nvSpPr>
        <p:spPr>
          <a:xfrm>
            <a:off x="6949440" y="230428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收购美国大宗企业</a:t>
            </a:r>
            <a:endParaRPr lang="en-US" sz="1600" dirty="0"/>
          </a:p>
        </p:txBody>
      </p:sp>
      <p:sp>
        <p:nvSpPr>
          <p:cNvPr id="25" name="Text 23"/>
          <p:cNvSpPr txBox="1"/>
          <p:nvPr/>
        </p:nvSpPr>
        <p:spPr>
          <a:xfrm>
            <a:off x="6949440" y="2670048"/>
            <a:ext cx="4526280" cy="658368"/>
          </a:xfrm>
          <a:prstGeom prst="rect">
            <a:avLst/>
          </a:prstGeom>
          <a:noFill/>
          <a:ln/>
        </p:spPr>
        <p:txBody>
          <a:bodyPr wrap="square" lIns="0" tIns="0" rIns="0" bIns="0" rtlCol="0" anchor="t"/>
          <a:lstStyle/>
          <a:p>
            <a:pPr marL="0" indent="0">
              <a:buNone/>
            </a:pPr>
            <a:r>
              <a:rPr lang="en-US" sz="1300" dirty="0">
                <a:solidFill>
                  <a:schemeClr val="tx1"/>
                </a:solidFill>
              </a:rPr>
              <a:t>收购 Canyon 或 Good Day 能快速达成目标 1，但会稀释特色占比并带来反垄断风险。</a:t>
            </a:r>
            <a:endParaRPr lang="en-US" sz="1300" dirty="0"/>
          </a:p>
        </p:txBody>
      </p:sp>
      <p:sp>
        <p:nvSpPr>
          <p:cNvPr id="26" name="Card"/>
          <p:cNvSpPr/>
          <p:nvPr/>
        </p:nvSpPr>
        <p:spPr>
          <a:xfrm>
            <a:off x="6172200" y="352044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27" name="Egg badge"/>
          <p:cNvSpPr/>
          <p:nvPr/>
        </p:nvSpPr>
        <p:spPr>
          <a:xfrm>
            <a:off x="6355080" y="3886200"/>
            <a:ext cx="374904" cy="457200"/>
          </a:xfrm>
          <a:prstGeom prst="ellipse">
            <a:avLst/>
          </a:prstGeom>
          <a:solidFill>
            <a:schemeClr val="accent4"/>
          </a:solidFill>
          <a:ln w="12700">
            <a:solidFill>
              <a:schemeClr val="accent4"/>
            </a:solidFill>
            <a:prstDash val="solid"/>
          </a:ln>
        </p:spPr>
        <p:txBody>
          <a:bodyPr/>
          <a:lstStyle/>
          <a:p>
            <a:endParaRPr lang="zh-SG" altLang="en-US"/>
          </a:p>
        </p:txBody>
      </p:sp>
      <p:sp>
        <p:nvSpPr>
          <p:cNvPr id="28" name="Text 26"/>
          <p:cNvSpPr txBox="1"/>
          <p:nvPr/>
        </p:nvSpPr>
        <p:spPr>
          <a:xfrm>
            <a:off x="6355080" y="388620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9" name="Text 27"/>
          <p:cNvSpPr txBox="1"/>
          <p:nvPr/>
        </p:nvSpPr>
        <p:spPr>
          <a:xfrm>
            <a:off x="6949440" y="363016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资金竞争</a:t>
            </a:r>
            <a:endParaRPr lang="en-US" sz="1600" dirty="0"/>
          </a:p>
        </p:txBody>
      </p:sp>
      <p:sp>
        <p:nvSpPr>
          <p:cNvPr id="30" name="Text 28"/>
          <p:cNvSpPr txBox="1"/>
          <p:nvPr/>
        </p:nvSpPr>
        <p:spPr>
          <a:xfrm>
            <a:off x="6949440" y="3995928"/>
            <a:ext cx="4526280" cy="658368"/>
          </a:xfrm>
          <a:prstGeom prst="rect">
            <a:avLst/>
          </a:prstGeom>
          <a:noFill/>
          <a:ln/>
        </p:spPr>
        <p:txBody>
          <a:bodyPr wrap="square" lIns="0" tIns="0" rIns="0" bIns="0" rtlCol="0" anchor="t"/>
          <a:lstStyle/>
          <a:p>
            <a:pPr marL="0" indent="0">
              <a:buNone/>
            </a:pPr>
            <a:r>
              <a:rPr lang="en-US" sz="1300" dirty="0">
                <a:solidFill>
                  <a:schemeClr val="tx1"/>
                </a:solidFill>
              </a:rPr>
              <a:t>每建一座 2500 万的工厂，收购资金就少 2500 万；1.42 亿储备保证两者都有资金。</a:t>
            </a:r>
            <a:endParaRPr lang="en-US" sz="1300" dirty="0"/>
          </a:p>
        </p:txBody>
      </p:sp>
      <p:sp>
        <p:nvSpPr>
          <p:cNvPr id="31" name="Card"/>
          <p:cNvSpPr/>
          <p:nvPr/>
        </p:nvSpPr>
        <p:spPr>
          <a:xfrm>
            <a:off x="6172200" y="484632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32" name="Egg badge"/>
          <p:cNvSpPr/>
          <p:nvPr/>
        </p:nvSpPr>
        <p:spPr>
          <a:xfrm>
            <a:off x="6355080" y="5212080"/>
            <a:ext cx="374904" cy="457200"/>
          </a:xfrm>
          <a:prstGeom prst="ellipse">
            <a:avLst/>
          </a:prstGeom>
          <a:solidFill>
            <a:schemeClr val="accent4"/>
          </a:solidFill>
          <a:ln w="12700">
            <a:solidFill>
              <a:schemeClr val="accent4"/>
            </a:solidFill>
            <a:prstDash val="solid"/>
          </a:ln>
        </p:spPr>
        <p:txBody>
          <a:bodyPr/>
          <a:lstStyle/>
          <a:p>
            <a:endParaRPr lang="zh-SG" altLang="en-US"/>
          </a:p>
        </p:txBody>
      </p:sp>
      <p:sp>
        <p:nvSpPr>
          <p:cNvPr id="33" name="Text 31"/>
          <p:cNvSpPr txBox="1"/>
          <p:nvPr/>
        </p:nvSpPr>
        <p:spPr>
          <a:xfrm>
            <a:off x="6355080" y="521208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4" name="Text 32"/>
          <p:cNvSpPr txBox="1"/>
          <p:nvPr/>
        </p:nvSpPr>
        <p:spPr>
          <a:xfrm>
            <a:off x="6949440" y="495604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管理精力</a:t>
            </a:r>
            <a:endParaRPr lang="en-US" sz="1600" dirty="0"/>
          </a:p>
        </p:txBody>
      </p:sp>
      <p:sp>
        <p:nvSpPr>
          <p:cNvPr id="35" name="Text 33"/>
          <p:cNvSpPr txBox="1"/>
          <p:nvPr/>
        </p:nvSpPr>
        <p:spPr>
          <a:xfrm>
            <a:off x="6949440" y="5321808"/>
            <a:ext cx="4526280" cy="658368"/>
          </a:xfrm>
          <a:prstGeom prst="rect">
            <a:avLst/>
          </a:prstGeom>
          <a:noFill/>
          <a:ln/>
        </p:spPr>
        <p:txBody>
          <a:bodyPr wrap="square" lIns="0" tIns="0" rIns="0" bIns="0" rtlCol="0" anchor="t"/>
          <a:lstStyle/>
          <a:p>
            <a:pPr marL="0" indent="0">
              <a:buNone/>
            </a:pPr>
            <a:r>
              <a:rPr lang="en-US" sz="1300" dirty="0">
                <a:solidFill>
                  <a:schemeClr val="tx1"/>
                </a:solidFill>
              </a:rPr>
              <a:t>五笔收购加两座工厂会让管理层吃紧，所以每年只做一笔交易。</a:t>
            </a:r>
            <a:endParaRPr lang="en-US" sz="1300" dirty="0"/>
          </a:p>
        </p:txBody>
      </p:sp>
      <p:sp>
        <p:nvSpPr>
          <p:cNvPr id="36"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回应案例讨论题 2：目标实现的协同效应与潜在冲突。</a:t>
            </a:r>
            <a:endParaRPr lang="en-US" sz="1000" dirty="0"/>
          </a:p>
        </p:txBody>
      </p:sp>
      <p:sp>
        <p:nvSpPr>
          <p:cNvPr id="37"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822960"/>
          </a:xfrm>
          <a:prstGeom prst="rect">
            <a:avLst/>
          </a:prstGeom>
          <a:noFill/>
          <a:ln/>
        </p:spPr>
        <p:txBody>
          <a:bodyPr wrap="square" lIns="0" tIns="0" rIns="0" bIns="0" rtlCol="0" anchor="ctr"/>
          <a:lstStyle/>
          <a:p>
            <a:pPr marL="0" indent="0" algn="l">
              <a:buNone/>
            </a:pPr>
            <a:r>
              <a:rPr lang="en-US" sz="3600" b="1" dirty="0">
                <a:solidFill>
                  <a:schemeClr val="bg1"/>
                </a:solidFill>
                <a:latin typeface="Microsoft YaHei" pitchFamily="34" charset="0"/>
                <a:ea typeface="Microsoft YaHei" pitchFamily="34" charset="-122"/>
                <a:cs typeface="Microsoft YaHei" pitchFamily="34" charset="-120"/>
              </a:rPr>
              <a:t>结论：三个要点</a:t>
            </a:r>
            <a:endParaRPr lang="en-US" sz="3600" dirty="0"/>
          </a:p>
        </p:txBody>
      </p:sp>
      <p:sp>
        <p:nvSpPr>
          <p:cNvPr id="3" name="Takeaway card"/>
          <p:cNvSpPr/>
          <p:nvPr/>
        </p:nvSpPr>
        <p:spPr>
          <a:xfrm>
            <a:off x="548640" y="1645920"/>
            <a:ext cx="3520440" cy="3291840"/>
          </a:xfrm>
          <a:prstGeom prst="roundRect">
            <a:avLst>
              <a:gd name="adj" fmla="val 2222"/>
            </a:avLst>
          </a:prstGeom>
          <a:solidFill>
            <a:schemeClr val="accent2"/>
          </a:solidFill>
          <a:ln w="12700">
            <a:solidFill>
              <a:schemeClr val="accent2"/>
            </a:solidFill>
            <a:prstDash val="solid"/>
          </a:ln>
        </p:spPr>
        <p:txBody>
          <a:bodyPr/>
          <a:lstStyle/>
          <a:p>
            <a:endParaRPr lang="zh-SG" altLang="en-US"/>
          </a:p>
        </p:txBody>
      </p:sp>
      <p:sp>
        <p:nvSpPr>
          <p:cNvPr id="4" name="Egg badge"/>
          <p:cNvSpPr/>
          <p:nvPr/>
        </p:nvSpPr>
        <p:spPr>
          <a:xfrm>
            <a:off x="777240" y="1874520"/>
            <a:ext cx="449885" cy="548640"/>
          </a:xfrm>
          <a:prstGeom prst="ellipse">
            <a:avLst/>
          </a:prstGeom>
          <a:solidFill>
            <a:schemeClr val="accent1"/>
          </a:solidFill>
          <a:ln w="12700">
            <a:solidFill>
              <a:schemeClr val="accent1"/>
            </a:solidFill>
            <a:prstDash val="solid"/>
          </a:ln>
        </p:spPr>
        <p:txBody>
          <a:bodyPr/>
          <a:lstStyle/>
          <a:p>
            <a:endParaRPr lang="zh-SG" altLang="en-US"/>
          </a:p>
        </p:txBody>
      </p:sp>
      <p:sp>
        <p:nvSpPr>
          <p:cNvPr id="5" name="Text 3"/>
          <p:cNvSpPr txBox="1"/>
          <p:nvPr/>
        </p:nvSpPr>
        <p:spPr>
          <a:xfrm>
            <a:off x="777240" y="1874520"/>
            <a:ext cx="449885" cy="548640"/>
          </a:xfrm>
          <a:prstGeom prst="rect">
            <a:avLst/>
          </a:prstGeom>
          <a:noFill/>
          <a:ln/>
        </p:spPr>
        <p:txBody>
          <a:bodyPr wrap="square" lIns="0" tIns="0" rIns="0" bIns="0" rtlCol="0" anchor="ctr"/>
          <a:lstStyle/>
          <a:p>
            <a:pPr marL="0" indent="0" algn="ctr">
              <a:buNone/>
            </a:pPr>
            <a:r>
              <a:rPr lang="en-US" sz="1400" b="1" dirty="0">
                <a:solidFill>
                  <a:schemeClr val="tx2"/>
                </a:solidFill>
              </a:rPr>
              <a:t>1</a:t>
            </a:r>
            <a:endParaRPr lang="en-US" sz="1400" dirty="0"/>
          </a:p>
        </p:txBody>
      </p:sp>
      <p:sp>
        <p:nvSpPr>
          <p:cNvPr id="6" name="Text 4"/>
          <p:cNvSpPr txBox="1"/>
          <p:nvPr/>
        </p:nvSpPr>
        <p:spPr>
          <a:xfrm>
            <a:off x="777240" y="2606040"/>
            <a:ext cx="3063240" cy="457200"/>
          </a:xfrm>
          <a:prstGeom prst="rect">
            <a:avLst/>
          </a:prstGeom>
          <a:noFill/>
          <a:ln/>
        </p:spPr>
        <p:txBody>
          <a:bodyPr wrap="square" lIns="0" tIns="0" rIns="0" bIns="0" rtlCol="0" anchor="ctr"/>
          <a:lstStyle/>
          <a:p>
            <a:pPr marL="0" indent="0">
              <a:buNone/>
            </a:pPr>
            <a:r>
              <a:rPr lang="en-US" sz="2000" b="1" dirty="0">
                <a:solidFill>
                  <a:schemeClr val="bg1"/>
                </a:solidFill>
                <a:latin typeface="Microsoft YaHei" pitchFamily="34" charset="0"/>
                <a:ea typeface="Microsoft YaHei" pitchFamily="34" charset="-122"/>
                <a:cs typeface="Microsoft YaHei" pitchFamily="34" charset="-120"/>
              </a:rPr>
              <a:t>三个目标全部达成</a:t>
            </a:r>
            <a:endParaRPr lang="en-US" sz="2000" dirty="0"/>
          </a:p>
        </p:txBody>
      </p:sp>
      <p:sp>
        <p:nvSpPr>
          <p:cNvPr id="7" name="Text 5"/>
          <p:cNvSpPr txBox="1"/>
          <p:nvPr/>
        </p:nvSpPr>
        <p:spPr>
          <a:xfrm>
            <a:off x="777240" y="3108960"/>
            <a:ext cx="3063240" cy="1691640"/>
          </a:xfrm>
          <a:prstGeom prst="rect">
            <a:avLst/>
          </a:prstGeom>
          <a:noFill/>
          <a:ln/>
        </p:spPr>
        <p:txBody>
          <a:bodyPr wrap="square" lIns="0" tIns="0" rIns="0" bIns="0" rtlCol="0" anchor="t"/>
          <a:lstStyle/>
          <a:p>
            <a:pPr marL="0" indent="0">
              <a:buNone/>
            </a:pPr>
            <a:r>
              <a:rPr lang="en-US" sz="1500" dirty="0">
                <a:solidFill>
                  <a:schemeClr val="bg1"/>
                </a:solidFill>
              </a:rPr>
              <a:t>第 3 年收入 41.3 亿、美国特色占比 34%，第 7 年覆盖 8 国；8 亿资金只用 6.58 亿。</a:t>
            </a:r>
            <a:endParaRPr lang="en-US" sz="1500" dirty="0"/>
          </a:p>
        </p:txBody>
      </p:sp>
      <p:sp>
        <p:nvSpPr>
          <p:cNvPr id="8" name="Takeaway card"/>
          <p:cNvSpPr/>
          <p:nvPr/>
        </p:nvSpPr>
        <p:spPr>
          <a:xfrm>
            <a:off x="4297680" y="1645920"/>
            <a:ext cx="3520440" cy="3291840"/>
          </a:xfrm>
          <a:prstGeom prst="roundRect">
            <a:avLst>
              <a:gd name="adj" fmla="val 2222"/>
            </a:avLst>
          </a:prstGeom>
          <a:solidFill>
            <a:schemeClr val="accent2"/>
          </a:solidFill>
          <a:ln w="12700">
            <a:solidFill>
              <a:schemeClr val="accent2"/>
            </a:solidFill>
            <a:prstDash val="solid"/>
          </a:ln>
        </p:spPr>
        <p:txBody>
          <a:bodyPr/>
          <a:lstStyle/>
          <a:p>
            <a:endParaRPr lang="zh-SG" altLang="en-US"/>
          </a:p>
        </p:txBody>
      </p:sp>
      <p:sp>
        <p:nvSpPr>
          <p:cNvPr id="9" name="Egg badge"/>
          <p:cNvSpPr/>
          <p:nvPr/>
        </p:nvSpPr>
        <p:spPr>
          <a:xfrm>
            <a:off x="4526280" y="1874520"/>
            <a:ext cx="449885" cy="548640"/>
          </a:xfrm>
          <a:prstGeom prst="ellipse">
            <a:avLst/>
          </a:prstGeom>
          <a:solidFill>
            <a:schemeClr val="accent1"/>
          </a:solidFill>
          <a:ln w="12700">
            <a:solidFill>
              <a:schemeClr val="accent1"/>
            </a:solidFill>
            <a:prstDash val="solid"/>
          </a:ln>
        </p:spPr>
        <p:txBody>
          <a:bodyPr/>
          <a:lstStyle/>
          <a:p>
            <a:endParaRPr lang="zh-SG" altLang="en-US"/>
          </a:p>
        </p:txBody>
      </p:sp>
      <p:sp>
        <p:nvSpPr>
          <p:cNvPr id="10" name="Text 8"/>
          <p:cNvSpPr txBox="1"/>
          <p:nvPr/>
        </p:nvSpPr>
        <p:spPr>
          <a:xfrm>
            <a:off x="4526280" y="1874520"/>
            <a:ext cx="449885" cy="548640"/>
          </a:xfrm>
          <a:prstGeom prst="rect">
            <a:avLst/>
          </a:prstGeom>
          <a:noFill/>
          <a:ln/>
        </p:spPr>
        <p:txBody>
          <a:bodyPr wrap="square" lIns="0" tIns="0" rIns="0" bIns="0" rtlCol="0" anchor="ctr"/>
          <a:lstStyle/>
          <a:p>
            <a:pPr marL="0" indent="0" algn="ctr">
              <a:buNone/>
            </a:pPr>
            <a:r>
              <a:rPr lang="en-US" sz="1400" b="1" dirty="0">
                <a:solidFill>
                  <a:schemeClr val="tx2"/>
                </a:solidFill>
              </a:rPr>
              <a:t>2</a:t>
            </a:r>
            <a:endParaRPr lang="en-US" sz="1400" dirty="0"/>
          </a:p>
        </p:txBody>
      </p:sp>
      <p:sp>
        <p:nvSpPr>
          <p:cNvPr id="11" name="Text 9"/>
          <p:cNvSpPr txBox="1"/>
          <p:nvPr/>
        </p:nvSpPr>
        <p:spPr>
          <a:xfrm>
            <a:off x="4526280" y="2606040"/>
            <a:ext cx="3063240" cy="457200"/>
          </a:xfrm>
          <a:prstGeom prst="rect">
            <a:avLst/>
          </a:prstGeom>
          <a:noFill/>
          <a:ln/>
        </p:spPr>
        <p:txBody>
          <a:bodyPr wrap="square" lIns="0" tIns="0" rIns="0" bIns="0" rtlCol="0" anchor="ctr"/>
          <a:lstStyle/>
          <a:p>
            <a:pPr marL="0" indent="0">
              <a:buNone/>
            </a:pPr>
            <a:r>
              <a:rPr lang="en-US" sz="2000" b="1" dirty="0">
                <a:solidFill>
                  <a:schemeClr val="bg1"/>
                </a:solidFill>
                <a:latin typeface="Microsoft YaHei" pitchFamily="34" charset="0"/>
                <a:ea typeface="Microsoft YaHei" pitchFamily="34" charset="-122"/>
                <a:cs typeface="Microsoft YaHei" pitchFamily="34" charset="-120"/>
              </a:rPr>
              <a:t>低价不等于划算</a:t>
            </a:r>
            <a:endParaRPr lang="en-US" sz="2000" dirty="0"/>
          </a:p>
        </p:txBody>
      </p:sp>
      <p:sp>
        <p:nvSpPr>
          <p:cNvPr id="12" name="Text 10"/>
          <p:cNvSpPr txBox="1"/>
          <p:nvPr/>
        </p:nvSpPr>
        <p:spPr>
          <a:xfrm>
            <a:off x="4526280" y="3108960"/>
            <a:ext cx="3063240" cy="1691640"/>
          </a:xfrm>
          <a:prstGeom prst="rect">
            <a:avLst/>
          </a:prstGeom>
          <a:noFill/>
          <a:ln/>
        </p:spPr>
        <p:txBody>
          <a:bodyPr wrap="square" lIns="0" tIns="0" rIns="0" bIns="0" rtlCol="0" anchor="t"/>
          <a:lstStyle/>
          <a:p>
            <a:pPr marL="0" indent="0">
              <a:buNone/>
            </a:pPr>
            <a:r>
              <a:rPr lang="en-US" sz="1500" dirty="0">
                <a:solidFill>
                  <a:schemeClr val="bg1"/>
                </a:solidFill>
              </a:rPr>
              <a:t>19 个目标中风险与估值相关系数 r = −0.76（是规律不是因果）；最便宜的目标伴随战争、法律或政治风险。</a:t>
            </a:r>
            <a:endParaRPr lang="en-US" sz="1500" dirty="0"/>
          </a:p>
        </p:txBody>
      </p:sp>
      <p:sp>
        <p:nvSpPr>
          <p:cNvPr id="13" name="Takeaway card"/>
          <p:cNvSpPr/>
          <p:nvPr/>
        </p:nvSpPr>
        <p:spPr>
          <a:xfrm>
            <a:off x="8046720" y="1645920"/>
            <a:ext cx="3520440" cy="3291840"/>
          </a:xfrm>
          <a:prstGeom prst="roundRect">
            <a:avLst>
              <a:gd name="adj" fmla="val 2222"/>
            </a:avLst>
          </a:prstGeom>
          <a:solidFill>
            <a:schemeClr val="accent2"/>
          </a:solidFill>
          <a:ln w="12700">
            <a:solidFill>
              <a:schemeClr val="accent2"/>
            </a:solidFill>
            <a:prstDash val="solid"/>
          </a:ln>
        </p:spPr>
        <p:txBody>
          <a:bodyPr/>
          <a:lstStyle/>
          <a:p>
            <a:endParaRPr lang="zh-SG" altLang="en-US"/>
          </a:p>
        </p:txBody>
      </p:sp>
      <p:sp>
        <p:nvSpPr>
          <p:cNvPr id="14" name="Egg badge"/>
          <p:cNvSpPr/>
          <p:nvPr/>
        </p:nvSpPr>
        <p:spPr>
          <a:xfrm>
            <a:off x="8275320" y="1874520"/>
            <a:ext cx="449885" cy="548640"/>
          </a:xfrm>
          <a:prstGeom prst="ellipse">
            <a:avLst/>
          </a:prstGeom>
          <a:solidFill>
            <a:schemeClr val="accent1"/>
          </a:solidFill>
          <a:ln w="12700">
            <a:solidFill>
              <a:schemeClr val="accent1"/>
            </a:solidFill>
            <a:prstDash val="solid"/>
          </a:ln>
        </p:spPr>
        <p:txBody>
          <a:bodyPr/>
          <a:lstStyle/>
          <a:p>
            <a:endParaRPr lang="zh-SG" altLang="en-US"/>
          </a:p>
        </p:txBody>
      </p:sp>
      <p:sp>
        <p:nvSpPr>
          <p:cNvPr id="15" name="Text 13"/>
          <p:cNvSpPr txBox="1"/>
          <p:nvPr/>
        </p:nvSpPr>
        <p:spPr>
          <a:xfrm>
            <a:off x="8275320" y="1874520"/>
            <a:ext cx="449885" cy="548640"/>
          </a:xfrm>
          <a:prstGeom prst="rect">
            <a:avLst/>
          </a:prstGeom>
          <a:noFill/>
          <a:ln/>
        </p:spPr>
        <p:txBody>
          <a:bodyPr wrap="square" lIns="0" tIns="0" rIns="0" bIns="0" rtlCol="0" anchor="ctr"/>
          <a:lstStyle/>
          <a:p>
            <a:pPr marL="0" indent="0" algn="ctr">
              <a:buNone/>
            </a:pPr>
            <a:r>
              <a:rPr lang="en-US" sz="1400" b="1" dirty="0">
                <a:solidFill>
                  <a:schemeClr val="tx2"/>
                </a:solidFill>
              </a:rPr>
              <a:t>3</a:t>
            </a:r>
            <a:endParaRPr lang="en-US" sz="1400" dirty="0"/>
          </a:p>
        </p:txBody>
      </p:sp>
      <p:sp>
        <p:nvSpPr>
          <p:cNvPr id="16" name="Text 14"/>
          <p:cNvSpPr txBox="1"/>
          <p:nvPr/>
        </p:nvSpPr>
        <p:spPr>
          <a:xfrm>
            <a:off x="8275320" y="2606040"/>
            <a:ext cx="3063240" cy="457200"/>
          </a:xfrm>
          <a:prstGeom prst="rect">
            <a:avLst/>
          </a:prstGeom>
          <a:noFill/>
          <a:ln/>
        </p:spPr>
        <p:txBody>
          <a:bodyPr wrap="square" lIns="0" tIns="0" rIns="0" bIns="0" rtlCol="0" anchor="ctr"/>
          <a:lstStyle/>
          <a:p>
            <a:pPr marL="0" indent="0">
              <a:buNone/>
            </a:pPr>
            <a:r>
              <a:rPr lang="en-US" sz="2000" b="1" dirty="0">
                <a:solidFill>
                  <a:schemeClr val="bg1"/>
                </a:solidFill>
                <a:latin typeface="Microsoft YaHei" pitchFamily="34" charset="0"/>
                <a:ea typeface="Microsoft YaHei" pitchFamily="34" charset="-122"/>
                <a:cs typeface="Microsoft YaHei" pitchFamily="34" charset="-120"/>
              </a:rPr>
              <a:t>波动决定方案设计</a:t>
            </a:r>
            <a:endParaRPr lang="en-US" sz="2000" dirty="0"/>
          </a:p>
        </p:txBody>
      </p:sp>
      <p:sp>
        <p:nvSpPr>
          <p:cNvPr id="17" name="Text 15"/>
          <p:cNvSpPr txBox="1"/>
          <p:nvPr/>
        </p:nvSpPr>
        <p:spPr>
          <a:xfrm>
            <a:off x="8275320" y="3108960"/>
            <a:ext cx="3063240" cy="1691640"/>
          </a:xfrm>
          <a:prstGeom prst="rect">
            <a:avLst/>
          </a:prstGeom>
          <a:noFill/>
          <a:ln/>
        </p:spPr>
        <p:txBody>
          <a:bodyPr wrap="square" lIns="0" tIns="0" rIns="0" bIns="0" rtlCol="0" anchor="t"/>
          <a:lstStyle/>
          <a:p>
            <a:pPr marL="0" indent="0">
              <a:buNone/>
            </a:pPr>
            <a:r>
              <a:rPr lang="en-US" sz="1500" dirty="0">
                <a:solidFill>
                  <a:schemeClr val="bg1"/>
                </a:solidFill>
              </a:rPr>
              <a:t>大宗价格变异系数 21%；方案可承受 38% 的价格下跌，并为更深跌幅设定触发机制。</a:t>
            </a:r>
            <a:endParaRPr lang="en-US" sz="1500" dirty="0"/>
          </a:p>
        </p:txBody>
      </p:sp>
      <p:sp>
        <p:nvSpPr>
          <p:cNvPr id="18" name="Text 16"/>
          <p:cNvSpPr txBox="1"/>
          <p:nvPr/>
        </p:nvSpPr>
        <p:spPr>
          <a:xfrm>
            <a:off x="548640" y="5394960"/>
            <a:ext cx="11064240" cy="640080"/>
          </a:xfrm>
          <a:prstGeom prst="rect">
            <a:avLst/>
          </a:prstGeom>
          <a:noFill/>
          <a:ln/>
        </p:spPr>
        <p:txBody>
          <a:bodyPr wrap="square" lIns="0" tIns="0" rIns="0" bIns="0" rtlCol="0" anchor="ctr"/>
          <a:lstStyle/>
          <a:p>
            <a:pPr marL="0" indent="0">
              <a:buNone/>
            </a:pPr>
            <a:r>
              <a:rPr lang="en-US" sz="2600" b="1" dirty="0">
                <a:solidFill>
                  <a:schemeClr val="accent1"/>
                </a:solidFill>
                <a:latin typeface="Microsoft YaHei" pitchFamily="34" charset="0"/>
                <a:ea typeface="Microsoft YaHei" pitchFamily="34" charset="-122"/>
                <a:cs typeface="Microsoft YaHei" pitchFamily="34" charset="-120"/>
              </a:rPr>
              <a:t>谢谢 — 欢迎提问</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Microsoft YaHei" pitchFamily="34" charset="0"/>
                <a:ea typeface="Microsoft YaHei" pitchFamily="34" charset="-122"/>
                <a:cs typeface="Microsoft YaHei" pitchFamily="34" charset="-120"/>
              </a:rPr>
              <a:t>参考文献（References）</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Microsoft YaHei" pitchFamily="34" charset="0"/>
                <a:ea typeface="Microsoft YaHei" pitchFamily="34" charset="-122"/>
                <a:cs typeface="Microsoft YaHei" pitchFamily="34" charset="-120"/>
              </a:rPr>
              <a:t>Harvard 格式 · 其余数字均为小组基于案例数据的计算</a:t>
            </a:r>
            <a:endParaRPr lang="en-US" sz="1600" dirty="0"/>
          </a:p>
        </p:txBody>
      </p:sp>
      <p:sp>
        <p:nvSpPr>
          <p:cNvPr id="4" name="Text 2"/>
          <p:cNvSpPr txBox="1"/>
          <p:nvPr/>
        </p:nvSpPr>
        <p:spPr>
          <a:xfrm>
            <a:off x="548640" y="1645920"/>
            <a:ext cx="11064240" cy="4480560"/>
          </a:xfrm>
          <a:prstGeom prst="rect">
            <a:avLst/>
          </a:prstGeom>
          <a:noFill/>
          <a:ln/>
        </p:spPr>
        <p:txBody>
          <a:bodyPr wrap="square" lIns="0" tIns="0" rIns="0" bIns="0" rtlCol="0" anchor="t"/>
          <a:lstStyle/>
          <a:p>
            <a:pPr marL="0" indent="0">
              <a:spcAft>
                <a:spcPts val="1400"/>
              </a:spcAft>
              <a:buNone/>
            </a:pPr>
            <a:r>
              <a:rPr lang="en-US" sz="1400" dirty="0">
                <a:solidFill>
                  <a:schemeClr val="tx1"/>
                </a:solidFill>
              </a:rPr>
              <a:t>Capital FM (2025) ‘Egg prices soar to record levels as bird flu ravages U.S. laying flocks’, Capital FM. Available at: https://capitalfm.africa/egg-prices-soar-to-record-levels-as-bird-flu-ravages-u-s-laying-flocks/ (Accessed: 2</a:t>
            </a:r>
            <a:r>
              <a:rPr lang="en-US" altLang="zh-CN" sz="1400" dirty="0">
                <a:solidFill>
                  <a:schemeClr val="tx1"/>
                </a:solidFill>
              </a:rPr>
              <a:t>2</a:t>
            </a:r>
            <a:r>
              <a:rPr lang="en-US" sz="1400" dirty="0">
                <a:solidFill>
                  <a:schemeClr val="tx1"/>
                </a:solidFill>
              </a:rPr>
              <a:t> October 2026).</a:t>
            </a:r>
            <a:endParaRPr lang="en-US" sz="1400" dirty="0"/>
          </a:p>
          <a:p>
            <a:pPr>
              <a:spcAft>
                <a:spcPts val="1400"/>
              </a:spcAft>
            </a:pPr>
            <a:r>
              <a:rPr lang="en-US" sz="1400" dirty="0">
                <a:solidFill>
                  <a:schemeClr val="tx1"/>
                </a:solidFill>
              </a:rPr>
              <a:t>Gagnon, M.A. and Lulek, W. (2024) American Egg: Strategic Growth and International Expansion. SAGE Business Cases. London: SAGE Publications. Available at: https://doi.org/10.4135/9781071937013 (Accessed: </a:t>
            </a:r>
            <a:r>
              <a:rPr lang="en-US" altLang="zh-SG" sz="1400" dirty="0"/>
              <a:t>2</a:t>
            </a:r>
            <a:r>
              <a:rPr lang="en-US" altLang="zh-CN" sz="1400" dirty="0"/>
              <a:t>2</a:t>
            </a:r>
            <a:r>
              <a:rPr lang="en-US" altLang="zh-SG" sz="1400" dirty="0"/>
              <a:t> October </a:t>
            </a:r>
            <a:r>
              <a:rPr lang="en-US" sz="1400" dirty="0">
                <a:solidFill>
                  <a:schemeClr val="tx1"/>
                </a:solidFill>
              </a:rPr>
              <a:t>2026).</a:t>
            </a:r>
            <a:endParaRPr lang="en-US" sz="1400" dirty="0"/>
          </a:p>
          <a:p>
            <a:pPr marL="0" indent="0">
              <a:spcAft>
                <a:spcPts val="1400"/>
              </a:spcAft>
              <a:buNone/>
            </a:pPr>
            <a:r>
              <a:rPr lang="en-US" sz="1400" dirty="0">
                <a:solidFill>
                  <a:schemeClr val="tx1"/>
                </a:solidFill>
              </a:rPr>
              <a:t>O’Keefe, T. (2024) ‘US cage-free egg pledges coming due, chaos not expected’, WATTPoultry, 5 February. Available at: https://www.wattagnet.com/egg/article/15661839/us-cagefree-egg-pledges-coming-due-chaos-not-expected (Accessed: 2</a:t>
            </a:r>
            <a:r>
              <a:rPr lang="en-US" altLang="zh-CN" sz="1400" dirty="0">
                <a:solidFill>
                  <a:schemeClr val="tx1"/>
                </a:solidFill>
              </a:rPr>
              <a:t>2</a:t>
            </a:r>
            <a:r>
              <a:rPr lang="en-US" sz="1400" dirty="0">
                <a:solidFill>
                  <a:schemeClr val="tx1"/>
                </a:solidFill>
              </a:rPr>
              <a:t> October 2026).</a:t>
            </a:r>
            <a:endParaRPr lang="en-US" sz="1400" dirty="0"/>
          </a:p>
          <a:p>
            <a:pPr>
              <a:spcAft>
                <a:spcPts val="1400"/>
              </a:spcAft>
            </a:pPr>
            <a:r>
              <a:rPr lang="en-US" sz="1400" dirty="0">
                <a:solidFill>
                  <a:schemeClr val="tx1"/>
                </a:solidFill>
              </a:rPr>
              <a:t>The Hill (2025) ‘Egg prices hit record $4.95 per dozen in January’, Yahoo News, 12 February. Available at: https://www.yahoo.com/news/egg-prices-hit-record-4-205119752.html (Accessed: </a:t>
            </a:r>
            <a:r>
              <a:rPr lang="en-US" altLang="zh-SG" sz="1400" dirty="0"/>
              <a:t>2</a:t>
            </a:r>
            <a:r>
              <a:rPr lang="en-US" altLang="zh-CN" sz="1400" dirty="0"/>
              <a:t>2</a:t>
            </a:r>
            <a:r>
              <a:rPr lang="en-US" altLang="zh-SG" sz="1400" dirty="0"/>
              <a:t> October </a:t>
            </a:r>
            <a:r>
              <a:rPr lang="en-US" sz="1400" dirty="0">
                <a:solidFill>
                  <a:schemeClr val="tx1"/>
                </a:solidFill>
              </a:rPr>
              <a:t>2026).</a:t>
            </a:r>
            <a:endParaRPr lang="en-US" sz="14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Microsoft YaHei"/>
                <a:ea typeface="Microsoft YaHei"/>
                <a:cs typeface="Microsoft YaHei"/>
              </a:defRPr>
            </a:lvl1pPr>
          </a:lstStyle>
          <a:p>
            <a:pPr algn="l"/>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AmEgg Yolk and Field ZH">
  <a:themeElements>
    <a:clrScheme name="AmEgg Yolk and Field ZH">
      <a:dk1>
        <a:srgbClr val="1B2A22"/>
      </a:dk1>
      <a:lt1>
        <a:srgbClr val="FFFFFF"/>
      </a:lt1>
      <a:dk2>
        <a:srgbClr val="23412F"/>
      </a:dk2>
      <a:lt2>
        <a:srgbClr val="EEF3EC"/>
      </a:lt2>
      <a:accent1>
        <a:srgbClr val="E8A317"/>
      </a:accent1>
      <a:accent2>
        <a:srgbClr val="3E7C59"/>
      </a:accent2>
      <a:accent3>
        <a:srgbClr val="9DBF9E"/>
      </a:accent3>
      <a:accent4>
        <a:srgbClr val="C0563B"/>
      </a:accent4>
      <a:accent5>
        <a:srgbClr val="6B7F73"/>
      </a:accent5>
      <a:accent6>
        <a:srgbClr val="F2D27A"/>
      </a:accent6>
      <a:hlink>
        <a:srgbClr val="3E7C59"/>
      </a:hlink>
      <a:folHlink>
        <a:srgbClr val="6B7F73"/>
      </a:folHlink>
    </a:clrScheme>
    <a:fontScheme name="AmEgg Yolk and Field ZH">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4903</Words>
  <Application>Microsoft Macintosh PowerPoint</Application>
  <PresentationFormat>宽屏</PresentationFormat>
  <Paragraphs>422</Paragraphs>
  <Slides>21</Slides>
  <Notes>21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21</vt:i4>
      </vt:variant>
    </vt:vector>
  </HeadingPairs>
  <TitlesOfParts>
    <vt:vector size="24" baseType="lpstr">
      <vt:lpstr>Microsoft YaHei</vt:lpstr>
      <vt:lpstr>Arial</vt:lpstr>
      <vt:lpstr>AmEgg Yolk and Field ZH</vt:lpstr>
      <vt:lpstr>American Egg：从 23 亿美元的美国蛋企，到 40 亿美元以上的全球特色蛋领导者</vt:lpstr>
      <vt:lpstr>我们的分析思路</vt:lpstr>
      <vt:lpstr>业务问题</vt:lpstr>
      <vt:lpstr>三个目标，三个可衡量的缺口</vt:lpstr>
      <vt:lpstr>大宗蛋价是核心波动风险</vt:lpstr>
      <vt:lpstr>国内举措：哪一块钱最有效？</vt:lpstr>
      <vt:lpstr>目标 2：第 3 年特色占比达到 34%</vt:lpstr>
      <vt:lpstr>筛选 20 个国际目标</vt:lpstr>
      <vt:lpstr>便宜的目标便宜是有原因的</vt:lpstr>
      <vt:lpstr>定性编码：尽调文字告诉我们什么</vt:lpstr>
      <vt:lpstr>加权评分模型给目标排名</vt:lpstr>
      <vt:lpstr>建议：国内调结构，海外买增长</vt:lpstr>
      <vt:lpstr>资金：使用 6.58 亿，保留 1.42 亿储备</vt:lpstr>
      <vt:lpstr>第 2 年达成目标 1；第 3 年 41 亿</vt:lpstr>
      <vt:lpstr>压力测试：大宗价格下跌 30% 方案依然成立</vt:lpstr>
      <vt:lpstr>目标 1 · 三年内收入超过 35 亿美元</vt:lpstr>
      <vt:lpstr>目标 2 · 三年内特色占美国收入 ≥30%</vt:lpstr>
      <vt:lpstr>目标 3 · 七年内成为全球化公司</vt:lpstr>
      <vt:lpstr>目标之间的协同与冲突</vt:lpstr>
      <vt:lpstr>结论：三个要点</vt:lpstr>
      <vt:lpstr>参考文献（References）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American Egg：战略增长与国际扩张（中文版）</dc:title>
  <dc:subject>PptxGenJS Presentation</dc:subject>
  <dc:creator>COMP1913 Group</dc:creator>
  <cp:lastModifiedBy>amos</cp:lastModifiedBy>
  <cp:revision>3</cp:revision>
  <dcterms:created xsi:type="dcterms:W3CDTF">2026-10-20T15:41:42Z</dcterms:created>
  <dcterms:modified xsi:type="dcterms:W3CDTF">2026-10-21T03:11:19Z</dcterms:modified>
</cp:coreProperties>
</file>