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notesSlides/notesSlide10.xml" ContentType="application/vnd.openxmlformats-officedocument.presentationml.notesSlide+xml"/>
  <Override PartName="/ppt/charts/chart10.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1.xml" ContentType="application/vnd.openxmlformats-officedocument.drawingml.chart+xml"/>
  <Override PartName="/ppt/notesSlides/notesSlide14.xml" ContentType="application/vnd.openxmlformats-officedocument.presentationml.notesSlide+xml"/>
  <Override PartName="/ppt/charts/chart12.xml" ContentType="application/vnd.openxmlformats-officedocument.drawingml.chart+xml"/>
  <Override PartName="/ppt/notesSlides/notesSlide15.xml" ContentType="application/vnd.openxmlformats-officedocument.presentationml.notesSlide+xml"/>
  <Override PartName="/ppt/charts/chart1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E3855B71-9722-7B91-40A4-2BD8C6FA1B20}">
          <p14:sldIdLst>
            <p14:sldId id="256"/>
            <p14:sldId id="257"/>
            <p14:sldId id="258"/>
            <p14:sldId id="259"/>
          </p14:sldIdLst>
        </p14:section>
        <p14:section name="Market &amp; domestic levers" id="{A6598756-E8C3-86AD-7E8D-DC127E895336}">
          <p14:sldIdLst>
            <p14:sldId id="260"/>
            <p14:sldId id="261"/>
            <p14:sldId id="262"/>
          </p14:sldIdLst>
        </p14:section>
        <p14:section name="Screening targets" id="{572060CC-EEBE-A1B2-91CA-CD46E577DD21}">
          <p14:sldIdLst>
            <p14:sldId id="263"/>
            <p14:sldId id="264"/>
            <p14:sldId id="265"/>
            <p14:sldId id="266"/>
          </p14:sldIdLst>
        </p14:section>
        <p14:section name="Recommendation" id="{57FEF1B6-0AE6-C2E7-7F06-343425C01D90}">
          <p14:sldIdLst>
            <p14:sldId id="267"/>
            <p14:sldId id="268"/>
            <p14:sldId id="269"/>
            <p14:sldId id="270"/>
          </p14:sldIdLst>
        </p14:section>
        <p14:section name="Objectives &amp; risks" id="{5915FF4B-10A6-8A6E-B012-3EB87292935E}">
          <p14:sldIdLst>
            <p14:sldId id="271"/>
            <p14:sldId id="272"/>
            <p14:sldId id="273"/>
            <p14:sldId id="274"/>
          </p14:sldIdLst>
        </p14:section>
        <p14:section name="Conclusion" id="{E9D87410-6AE7-D1C1-99A9-9E0567F13B97}">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Goal 1: Revenue ($M)</a:t>
            </a:r>
          </a:p>
        </c:rich>
      </c:tx>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EBC5-C04C-A135-CA951C70EE6C}"/>
              </c:ext>
            </c:extLst>
          </c:dPt>
          <c:dPt>
            <c:idx val="1"/>
            <c:invertIfNegative val="0"/>
            <c:bubble3D val="0"/>
            <c:spPr>
              <a:solidFill>
                <a:srgbClr val="E8A317"/>
              </a:solidFill>
              <a:effectLst/>
            </c:spPr>
            <c:extLst>
              <c:ext xmlns:c16="http://schemas.microsoft.com/office/drawing/2014/chart" uri="{C3380CC4-5D6E-409C-BE32-E72D297353CC}">
                <c16:uniqueId val="{00000003-EBC5-C04C-A135-CA951C70EE6C}"/>
              </c:ext>
            </c:extLst>
          </c:dPt>
          <c:dPt>
            <c:idx val="2"/>
            <c:invertIfNegative val="0"/>
            <c:bubble3D val="0"/>
            <c:spPr>
              <a:solidFill>
                <a:srgbClr val="3E7C59"/>
              </a:solidFill>
              <a:effectLst/>
            </c:spPr>
            <c:extLst>
              <c:ext xmlns:c16="http://schemas.microsoft.com/office/drawing/2014/chart" uri="{C3380CC4-5D6E-409C-BE32-E72D297353CC}">
                <c16:uniqueId val="{00000005-EBC5-C04C-A135-CA951C70EE6C}"/>
              </c:ext>
            </c:extLst>
          </c:dPt>
          <c:dLbls>
            <c:numFmt formatCode="#,##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Today</c:v>
                </c:pt>
                <c:pt idx="1">
                  <c:v>Year-3 target</c:v>
                </c:pt>
                <c:pt idx="2">
                  <c:v>Our plan (Yr3)</c:v>
                </c:pt>
              </c:strCache>
            </c:strRef>
          </c:cat>
          <c:val>
            <c:numRef>
              <c:f>Sheet1!$B$2:$B$4</c:f>
              <c:numCache>
                <c:formatCode>General</c:formatCode>
                <c:ptCount val="3"/>
                <c:pt idx="0">
                  <c:v>2337</c:v>
                </c:pt>
                <c:pt idx="1">
                  <c:v>3500</c:v>
                </c:pt>
                <c:pt idx="2">
                  <c:v>4128.5</c:v>
                </c:pt>
              </c:numCache>
            </c:numRef>
          </c:val>
          <c:extLst>
            <c:ext xmlns:c16="http://schemas.microsoft.com/office/drawing/2014/chart" uri="{C3380CC4-5D6E-409C-BE32-E72D297353CC}">
              <c16:uniqueId val="{00000006-EBC5-C04C-A135-CA951C70EE6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Goal 2: US specialty share</a:t>
            </a:r>
          </a:p>
        </c:rich>
      </c:tx>
      <c:overlay val="0"/>
    </c:title>
    <c:autoTitleDeleted val="0"/>
    <c:plotArea>
      <c:layout/>
      <c:barChart>
        <c:barDir val="col"/>
        <c:grouping val="clustered"/>
        <c:varyColors val="0"/>
        <c:ser>
          <c:idx val="0"/>
          <c:order val="0"/>
          <c:tx>
            <c:strRef>
              <c:f>Sheet1!$B$1</c:f>
              <c:strCache>
                <c:ptCount val="1"/>
                <c:pt idx="0">
                  <c:v>Specialty share</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EBFC-224B-B49A-0EAAADEDEC92}"/>
              </c:ext>
            </c:extLst>
          </c:dPt>
          <c:dPt>
            <c:idx val="1"/>
            <c:invertIfNegative val="0"/>
            <c:bubble3D val="0"/>
            <c:spPr>
              <a:solidFill>
                <a:srgbClr val="E8A317"/>
              </a:solidFill>
              <a:effectLst/>
            </c:spPr>
            <c:extLst>
              <c:ext xmlns:c16="http://schemas.microsoft.com/office/drawing/2014/chart" uri="{C3380CC4-5D6E-409C-BE32-E72D297353CC}">
                <c16:uniqueId val="{00000003-EBFC-224B-B49A-0EAAADEDEC92}"/>
              </c:ext>
            </c:extLst>
          </c:dPt>
          <c:dPt>
            <c:idx val="2"/>
            <c:invertIfNegative val="0"/>
            <c:bubble3D val="0"/>
            <c:spPr>
              <a:solidFill>
                <a:srgbClr val="3E7C59"/>
              </a:solidFill>
              <a:effectLst/>
            </c:spPr>
            <c:extLst>
              <c:ext xmlns:c16="http://schemas.microsoft.com/office/drawing/2014/chart" uri="{C3380CC4-5D6E-409C-BE32-E72D297353CC}">
                <c16:uniqueId val="{00000005-EBFC-224B-B49A-0EAAADEDEC92}"/>
              </c:ext>
            </c:extLst>
          </c:dPt>
          <c:dLbls>
            <c:numFmt formatCode="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Today</c:v>
                </c:pt>
                <c:pt idx="1">
                  <c:v>Target</c:v>
                </c:pt>
                <c:pt idx="2">
                  <c:v>Our plan (Yr3)</c:v>
                </c:pt>
              </c:strCache>
            </c:strRef>
          </c:cat>
          <c:val>
            <c:numRef>
              <c:f>Sheet1!$B$2:$B$4</c:f>
              <c:numCache>
                <c:formatCode>General</c:formatCode>
                <c:ptCount val="3"/>
                <c:pt idx="0">
                  <c:v>0.246</c:v>
                </c:pt>
                <c:pt idx="1">
                  <c:v>0.3</c:v>
                </c:pt>
                <c:pt idx="2">
                  <c:v>0.34</c:v>
                </c:pt>
              </c:numCache>
            </c:numRef>
          </c:val>
          <c:extLst>
            <c:ext xmlns:c16="http://schemas.microsoft.com/office/drawing/2014/chart" uri="{C3380CC4-5D6E-409C-BE32-E72D297353CC}">
              <c16:uniqueId val="{00000006-EBFC-224B-B49A-0EAAADEDEC9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Large shell-egg price, previous year ($/dozen)</a:t>
            </a:r>
          </a:p>
        </c:rich>
      </c:tx>
      <c:overlay val="0"/>
    </c:title>
    <c:autoTitleDeleted val="0"/>
    <c:plotArea>
      <c:layout/>
      <c:lineChart>
        <c:grouping val="standard"/>
        <c:varyColors val="0"/>
        <c:ser>
          <c:idx val="0"/>
          <c:order val="0"/>
          <c:tx>
            <c:strRef>
              <c:f>Sheet1!$B$1</c:f>
              <c:strCache>
                <c:ptCount val="1"/>
                <c:pt idx="0">
                  <c:v>$ per dozen</c:v>
                </c:pt>
              </c:strCache>
            </c:strRef>
          </c:tx>
          <c:spPr>
            <a:ln w="38100" cap="flat">
              <a:solidFill>
                <a:srgbClr val="E8A317"/>
              </a:solidFill>
              <a:prstDash val="solid"/>
              <a:round/>
            </a:ln>
            <a:effectLst/>
          </c:spPr>
          <c:marker>
            <c:symbol val="none"/>
          </c:marker>
          <c:cat>
            <c:strRef>
              <c:f>Sheet1!$A$2:$A$32</c:f>
              <c:strCache>
                <c:ptCount val="31"/>
                <c:pt idx="0">
                  <c:v>Q1</c:v>
                </c:pt>
                <c:pt idx="8">
                  <c:v>Q2</c:v>
                </c:pt>
                <c:pt idx="16">
                  <c:v>Q3</c:v>
                </c:pt>
                <c:pt idx="24">
                  <c:v>Q4</c:v>
                </c:pt>
              </c:strCache>
            </c:strRef>
          </c:cat>
          <c:val>
            <c:numRef>
              <c:f>Sheet1!$B$2:$B$32</c:f>
              <c:numCache>
                <c:formatCode>General</c:formatCode>
                <c:ptCount val="31"/>
                <c:pt idx="0">
                  <c:v>0.98</c:v>
                </c:pt>
                <c:pt idx="1">
                  <c:v>1</c:v>
                </c:pt>
                <c:pt idx="2">
                  <c:v>1.02</c:v>
                </c:pt>
                <c:pt idx="3">
                  <c:v>1.08</c:v>
                </c:pt>
                <c:pt idx="4">
                  <c:v>1.22</c:v>
                </c:pt>
                <c:pt idx="5">
                  <c:v>1.32</c:v>
                </c:pt>
                <c:pt idx="6">
                  <c:v>1.48</c:v>
                </c:pt>
                <c:pt idx="7">
                  <c:v>1.46</c:v>
                </c:pt>
                <c:pt idx="8">
                  <c:v>1.43</c:v>
                </c:pt>
                <c:pt idx="9">
                  <c:v>1.4</c:v>
                </c:pt>
                <c:pt idx="10">
                  <c:v>1.4</c:v>
                </c:pt>
                <c:pt idx="11">
                  <c:v>1.6</c:v>
                </c:pt>
                <c:pt idx="12">
                  <c:v>1.78</c:v>
                </c:pt>
                <c:pt idx="13">
                  <c:v>1.98</c:v>
                </c:pt>
                <c:pt idx="14">
                  <c:v>2.0299999999999998</c:v>
                </c:pt>
                <c:pt idx="15">
                  <c:v>2</c:v>
                </c:pt>
                <c:pt idx="16">
                  <c:v>2.0299999999999998</c:v>
                </c:pt>
                <c:pt idx="17">
                  <c:v>2.04</c:v>
                </c:pt>
                <c:pt idx="18">
                  <c:v>1.98</c:v>
                </c:pt>
                <c:pt idx="19">
                  <c:v>1.97</c:v>
                </c:pt>
                <c:pt idx="20">
                  <c:v>1.97</c:v>
                </c:pt>
                <c:pt idx="21">
                  <c:v>1.99</c:v>
                </c:pt>
                <c:pt idx="22">
                  <c:v>1.89</c:v>
                </c:pt>
                <c:pt idx="23">
                  <c:v>1.79</c:v>
                </c:pt>
                <c:pt idx="24">
                  <c:v>1.78</c:v>
                </c:pt>
                <c:pt idx="25">
                  <c:v>1.77</c:v>
                </c:pt>
                <c:pt idx="26">
                  <c:v>1.8</c:v>
                </c:pt>
                <c:pt idx="27">
                  <c:v>1.81</c:v>
                </c:pt>
                <c:pt idx="28">
                  <c:v>1.85</c:v>
                </c:pt>
                <c:pt idx="29">
                  <c:v>1.96</c:v>
                </c:pt>
                <c:pt idx="30">
                  <c:v>1.97</c:v>
                </c:pt>
              </c:numCache>
            </c:numRef>
          </c:val>
          <c:smooth val="0"/>
          <c:extLst>
            <c:ext xmlns:c16="http://schemas.microsoft.com/office/drawing/2014/chart" uri="{C3380CC4-5D6E-409C-BE32-E72D297353CC}">
              <c16:uniqueId val="{00000000-8DDE-6A4A-B76D-F81391EB0D89}"/>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tickLblSkip val="1"/>
        <c:noMultiLvlLbl val="1"/>
      </c:catAx>
      <c:valAx>
        <c:axId val="2094734552"/>
        <c:scaling>
          <c:orientation val="minMax"/>
          <c:max val="2.5"/>
          <c:min val="0"/>
        </c:scaling>
        <c:delete val="0"/>
        <c:axPos val="l"/>
        <c:majorGridlines>
          <c:spPr>
            <a:ln w="6350" cap="flat">
              <a:solidFill>
                <a:srgbClr val="DDE5DF"/>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Incremental annual profit per $1M spent ($M)</a:t>
            </a:r>
          </a:p>
        </c:rich>
      </c:tx>
      <c:overlay val="0"/>
    </c:title>
    <c:autoTitleDeleted val="0"/>
    <c:plotArea>
      <c:layout/>
      <c:barChart>
        <c:barDir val="bar"/>
        <c:grouping val="clustered"/>
        <c:varyColors val="0"/>
        <c:ser>
          <c:idx val="0"/>
          <c:order val="0"/>
          <c:tx>
            <c:strRef>
              <c:f>Sheet1!$B$1</c:f>
              <c:strCache>
                <c:ptCount val="1"/>
                <c:pt idx="0">
                  <c:v>Annual profit per $1M</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4ABB-0A4E-982E-73954A753AF2}"/>
              </c:ext>
            </c:extLst>
          </c:dPt>
          <c:dPt>
            <c:idx val="1"/>
            <c:invertIfNegative val="0"/>
            <c:bubble3D val="0"/>
            <c:spPr>
              <a:solidFill>
                <a:srgbClr val="9DBF9E"/>
              </a:solidFill>
              <a:effectLst/>
            </c:spPr>
            <c:extLst>
              <c:ext xmlns:c16="http://schemas.microsoft.com/office/drawing/2014/chart" uri="{C3380CC4-5D6E-409C-BE32-E72D297353CC}">
                <c16:uniqueId val="{00000003-4ABB-0A4E-982E-73954A753AF2}"/>
              </c:ext>
            </c:extLst>
          </c:dPt>
          <c:dPt>
            <c:idx val="2"/>
            <c:invertIfNegative val="0"/>
            <c:bubble3D val="0"/>
            <c:spPr>
              <a:solidFill>
                <a:srgbClr val="3E7C59"/>
              </a:solidFill>
              <a:effectLst/>
            </c:spPr>
            <c:extLst>
              <c:ext xmlns:c16="http://schemas.microsoft.com/office/drawing/2014/chart" uri="{C3380CC4-5D6E-409C-BE32-E72D297353CC}">
                <c16:uniqueId val="{00000005-4ABB-0A4E-982E-73954A753AF2}"/>
              </c:ext>
            </c:extLst>
          </c:dPt>
          <c:dLbls>
            <c:numFmt formatCode="\$0.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Extra marketing (net of cost)</c:v>
                </c:pt>
                <c:pt idx="1">
                  <c:v>Cage-free conversion</c:v>
                </c:pt>
                <c:pt idx="2">
                  <c:v>Egg-product plant</c:v>
                </c:pt>
              </c:strCache>
            </c:strRef>
          </c:cat>
          <c:val>
            <c:numRef>
              <c:f>Sheet1!$B$2:$B$4</c:f>
              <c:numCache>
                <c:formatCode>General</c:formatCode>
                <c:ptCount val="3"/>
                <c:pt idx="0">
                  <c:v>0.18</c:v>
                </c:pt>
                <c:pt idx="1">
                  <c:v>0.13</c:v>
                </c:pt>
                <c:pt idx="2">
                  <c:v>0.4</c:v>
                </c:pt>
              </c:numCache>
            </c:numRef>
          </c:val>
          <c:extLst>
            <c:ext xmlns:c16="http://schemas.microsoft.com/office/drawing/2014/chart" uri="{C3380CC4-5D6E-409C-BE32-E72D297353CC}">
              <c16:uniqueId val="{00000006-4ABB-0A4E-982E-73954A753AF2}"/>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0.5"/>
          <c:min val="0"/>
        </c:scaling>
        <c:delete val="0"/>
        <c:axPos val="t"/>
        <c:majorGridlines>
          <c:spPr>
            <a:ln w="6350" cap="flat">
              <a:solidFill>
                <a:srgbClr val="DDE5D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US specialty revenue bridge ($M)</a:t>
            </a:r>
          </a:p>
        </c:rich>
      </c:tx>
      <c:overlay val="0"/>
    </c:title>
    <c:autoTitleDeleted val="0"/>
    <c:plotArea>
      <c:layout/>
      <c:barChart>
        <c:barDir val="bar"/>
        <c:grouping val="clustered"/>
        <c:varyColors val="0"/>
        <c:ser>
          <c:idx val="0"/>
          <c:order val="0"/>
          <c:tx>
            <c:strRef>
              <c:f>Sheet1!$B$1</c:f>
              <c:strCache>
                <c:ptCount val="1"/>
                <c:pt idx="0">
                  <c:v>$M</c:v>
                </c:pt>
              </c:strCache>
            </c:strRef>
          </c:tx>
          <c:spPr>
            <a:solidFill>
              <a:srgbClr val="6B7F73"/>
            </a:solidFill>
            <a:effectLst/>
          </c:spPr>
          <c:invertIfNegative val="0"/>
          <c:dPt>
            <c:idx val="0"/>
            <c:invertIfNegative val="0"/>
            <c:bubble3D val="0"/>
            <c:extLst>
              <c:ext xmlns:c16="http://schemas.microsoft.com/office/drawing/2014/chart" uri="{C3380CC4-5D6E-409C-BE32-E72D297353CC}">
                <c16:uniqueId val="{00000001-338C-2247-A8EE-7D9C87E8DEA0}"/>
              </c:ext>
            </c:extLst>
          </c:dPt>
          <c:dPt>
            <c:idx val="1"/>
            <c:invertIfNegative val="0"/>
            <c:bubble3D val="0"/>
            <c:spPr>
              <a:solidFill>
                <a:srgbClr val="9DBF9E"/>
              </a:solidFill>
              <a:effectLst/>
            </c:spPr>
            <c:extLst>
              <c:ext xmlns:c16="http://schemas.microsoft.com/office/drawing/2014/chart" uri="{C3380CC4-5D6E-409C-BE32-E72D297353CC}">
                <c16:uniqueId val="{00000003-338C-2247-A8EE-7D9C87E8DEA0}"/>
              </c:ext>
            </c:extLst>
          </c:dPt>
          <c:dPt>
            <c:idx val="2"/>
            <c:invertIfNegative val="0"/>
            <c:bubble3D val="0"/>
            <c:spPr>
              <a:solidFill>
                <a:srgbClr val="9DBF9E"/>
              </a:solidFill>
              <a:effectLst/>
            </c:spPr>
            <c:extLst>
              <c:ext xmlns:c16="http://schemas.microsoft.com/office/drawing/2014/chart" uri="{C3380CC4-5D6E-409C-BE32-E72D297353CC}">
                <c16:uniqueId val="{00000005-338C-2247-A8EE-7D9C87E8DEA0}"/>
              </c:ext>
            </c:extLst>
          </c:dPt>
          <c:dPt>
            <c:idx val="3"/>
            <c:invertIfNegative val="0"/>
            <c:bubble3D val="0"/>
            <c:spPr>
              <a:solidFill>
                <a:srgbClr val="9DBF9E"/>
              </a:solidFill>
              <a:effectLst/>
            </c:spPr>
            <c:extLst>
              <c:ext xmlns:c16="http://schemas.microsoft.com/office/drawing/2014/chart" uri="{C3380CC4-5D6E-409C-BE32-E72D297353CC}">
                <c16:uniqueId val="{00000007-338C-2247-A8EE-7D9C87E8DEA0}"/>
              </c:ext>
            </c:extLst>
          </c:dPt>
          <c:dPt>
            <c:idx val="4"/>
            <c:invertIfNegative val="0"/>
            <c:bubble3D val="0"/>
            <c:spPr>
              <a:solidFill>
                <a:srgbClr val="9DBF9E"/>
              </a:solidFill>
              <a:effectLst/>
            </c:spPr>
            <c:extLst>
              <c:ext xmlns:c16="http://schemas.microsoft.com/office/drawing/2014/chart" uri="{C3380CC4-5D6E-409C-BE32-E72D297353CC}">
                <c16:uniqueId val="{00000009-338C-2247-A8EE-7D9C87E8DEA0}"/>
              </c:ext>
            </c:extLst>
          </c:dPt>
          <c:dPt>
            <c:idx val="5"/>
            <c:invertIfNegative val="0"/>
            <c:bubble3D val="0"/>
            <c:spPr>
              <a:solidFill>
                <a:srgbClr val="3E7C59"/>
              </a:solidFill>
              <a:effectLst/>
            </c:spPr>
            <c:extLst>
              <c:ext xmlns:c16="http://schemas.microsoft.com/office/drawing/2014/chart" uri="{C3380CC4-5D6E-409C-BE32-E72D297353CC}">
                <c16:uniqueId val="{0000000B-338C-2247-A8EE-7D9C87E8DEA0}"/>
              </c:ext>
            </c:extLst>
          </c:dPt>
          <c:dLbls>
            <c:numFmt formatCode="#,##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Specialty today</c:v>
                </c:pt>
                <c:pt idx="1">
                  <c:v>+ Marketing (6%)</c:v>
                </c:pt>
                <c:pt idx="2">
                  <c:v>+ Market growth 2.5%/yr</c:v>
                </c:pt>
                <c:pt idx="3">
                  <c:v>+ 2 product plants ($50M)</c:v>
                </c:pt>
                <c:pt idx="4">
                  <c:v>+ Cage-free ($20M)</c:v>
                </c:pt>
                <c:pt idx="5">
                  <c:v>Specialty Year 3</c:v>
                </c:pt>
              </c:strCache>
            </c:strRef>
          </c:cat>
          <c:val>
            <c:numRef>
              <c:f>Sheet1!$B$2:$B$7</c:f>
              <c:numCache>
                <c:formatCode>General</c:formatCode>
                <c:ptCount val="6"/>
                <c:pt idx="0">
                  <c:v>576</c:v>
                </c:pt>
                <c:pt idx="1">
                  <c:v>34.6</c:v>
                </c:pt>
                <c:pt idx="2">
                  <c:v>46.9</c:v>
                </c:pt>
                <c:pt idx="3">
                  <c:v>100</c:v>
                </c:pt>
                <c:pt idx="4">
                  <c:v>100</c:v>
                </c:pt>
                <c:pt idx="5">
                  <c:v>857.5</c:v>
                </c:pt>
              </c:numCache>
            </c:numRef>
          </c:val>
          <c:extLst>
            <c:ext xmlns:c16="http://schemas.microsoft.com/office/drawing/2014/chart" uri="{C3380CC4-5D6E-409C-BE32-E72D297353CC}">
              <c16:uniqueId val="{0000000C-338C-2247-A8EE-7D9C87E8DEA0}"/>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1000"/>
          <c:min val="0"/>
        </c:scaling>
        <c:delete val="0"/>
        <c:axPos val="t"/>
        <c:majorGridlines>
          <c:spPr>
            <a:ln w="6350" cap="flat">
              <a:solidFill>
                <a:srgbClr val="DDE5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US specialty share vs target</a:t>
            </a:r>
          </a:p>
        </c:rich>
      </c:tx>
      <c:overlay val="0"/>
    </c:title>
    <c:autoTitleDeleted val="0"/>
    <c:plotArea>
      <c:layout/>
      <c:barChart>
        <c:barDir val="col"/>
        <c:grouping val="clustered"/>
        <c:varyColors val="0"/>
        <c:ser>
          <c:idx val="0"/>
          <c:order val="0"/>
          <c:tx>
            <c:strRef>
              <c:f>Sheet1!$B$1</c:f>
              <c:strCache>
                <c:ptCount val="1"/>
                <c:pt idx="0">
                  <c:v>Specialty share</c:v>
                </c:pt>
              </c:strCache>
            </c:strRef>
          </c:tx>
          <c:spPr>
            <a:solidFill>
              <a:srgbClr val="E8A317"/>
            </a:solidFill>
            <a:effectLst/>
          </c:spPr>
          <c:invertIfNegative val="0"/>
          <c:dLbls>
            <c:numFmt formatCode="0.0%" sourceLinked="0"/>
            <c:spPr>
              <a:noFill/>
              <a:ln>
                <a:noFill/>
              </a:ln>
              <a:effectLst/>
            </c:spPr>
            <c:txPr>
              <a:bodyPr/>
              <a:lstStyle/>
              <a:p>
                <a:pPr>
                  <a:defRPr sz="1100" b="0" i="0" u="none" strike="noStrike">
                    <a:solidFill>
                      <a:srgbClr val="1B2A22"/>
                    </a:solidFill>
                    <a:latin typeface="+mn-lt"/>
                  </a:defRPr>
                </a:pPr>
                <a:endParaRPr lang="zh-S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Yr0</c:v>
                </c:pt>
                <c:pt idx="1">
                  <c:v>Yr1</c:v>
                </c:pt>
                <c:pt idx="2">
                  <c:v>Yr2</c:v>
                </c:pt>
                <c:pt idx="3">
                  <c:v>Yr3</c:v>
                </c:pt>
              </c:strCache>
            </c:strRef>
          </c:cat>
          <c:val>
            <c:numRef>
              <c:f>Sheet1!$B$2:$B$5</c:f>
              <c:numCache>
                <c:formatCode>General</c:formatCode>
                <c:ptCount val="4"/>
                <c:pt idx="0">
                  <c:v>0.2465</c:v>
                </c:pt>
                <c:pt idx="1">
                  <c:v>0.28310000000000002</c:v>
                </c:pt>
                <c:pt idx="2">
                  <c:v>0.32269999999999999</c:v>
                </c:pt>
                <c:pt idx="3">
                  <c:v>0.34050000000000002</c:v>
                </c:pt>
              </c:numCache>
            </c:numRef>
          </c:val>
          <c:extLst>
            <c:ext xmlns:c16="http://schemas.microsoft.com/office/drawing/2014/chart" uri="{C3380CC4-5D6E-409C-BE32-E72D297353CC}">
              <c16:uniqueId val="{00000000-DD40-1C45-B4B1-62A746613421}"/>
            </c:ext>
          </c:extLst>
        </c:ser>
        <c:dLbls>
          <c:dLblPos val="outEnd"/>
          <c:showLegendKey val="0"/>
          <c:showVal val="1"/>
          <c:showCatName val="0"/>
          <c:showSerName val="0"/>
          <c:showPercent val="0"/>
          <c:showBubbleSize val="0"/>
        </c:dLbls>
        <c:gapWidth val="60"/>
        <c:axId val="2094734554"/>
        <c:axId val="2094734552"/>
      </c:barChart>
      <c:lineChart>
        <c:grouping val="standard"/>
        <c:varyColors val="0"/>
        <c:ser>
          <c:idx val="1"/>
          <c:order val="1"/>
          <c:tx>
            <c:strRef>
              <c:f>Sheet1!$C$1</c:f>
              <c:strCache>
                <c:ptCount val="1"/>
                <c:pt idx="0">
                  <c:v>30% target</c:v>
                </c:pt>
              </c:strCache>
            </c:strRef>
          </c:tx>
          <c:spPr>
            <a:ln w="25400" cap="flat">
              <a:solidFill>
                <a:srgbClr val="C0563B"/>
              </a:solidFill>
              <a:prstDash val="dash"/>
              <a:round/>
            </a:ln>
            <a:effectLst/>
          </c:spPr>
          <c:marker>
            <c:symbol val="none"/>
          </c:marker>
          <c:cat>
            <c:strRef>
              <c:f>Sheet1!$A$2:$A$5</c:f>
              <c:strCache>
                <c:ptCount val="4"/>
                <c:pt idx="0">
                  <c:v>Yr0</c:v>
                </c:pt>
                <c:pt idx="1">
                  <c:v>Yr1</c:v>
                </c:pt>
                <c:pt idx="2">
                  <c:v>Yr2</c:v>
                </c:pt>
                <c:pt idx="3">
                  <c:v>Yr3</c:v>
                </c:pt>
              </c:strCache>
            </c:strRef>
          </c:cat>
          <c:val>
            <c:numRef>
              <c:f>Sheet1!$C$2:$C$5</c:f>
              <c:numCache>
                <c:formatCode>General</c:formatCode>
                <c:ptCount val="4"/>
                <c:pt idx="0">
                  <c:v>0.3</c:v>
                </c:pt>
                <c:pt idx="1">
                  <c:v>0.3</c:v>
                </c:pt>
                <c:pt idx="2">
                  <c:v>0.3</c:v>
                </c:pt>
                <c:pt idx="3">
                  <c:v>0.3</c:v>
                </c:pt>
              </c:numCache>
            </c:numRef>
          </c:val>
          <c:smooth val="0"/>
          <c:extLst>
            <c:ext xmlns:c16="http://schemas.microsoft.com/office/drawing/2014/chart" uri="{C3380CC4-5D6E-409C-BE32-E72D297353CC}">
              <c16:uniqueId val="{00000001-DD40-1C45-B4B1-62A74661342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Mean egg revenue by region ($M)</a:t>
            </a:r>
          </a:p>
        </c:rich>
      </c:tx>
      <c:overlay val="0"/>
    </c:title>
    <c:autoTitleDeleted val="0"/>
    <c:plotArea>
      <c:layout/>
      <c:barChart>
        <c:barDir val="col"/>
        <c:grouping val="clustered"/>
        <c:varyColors val="0"/>
        <c:ser>
          <c:idx val="0"/>
          <c:order val="0"/>
          <c:tx>
            <c:strRef>
              <c:f>Sheet1!$B$1</c:f>
              <c:strCache>
                <c:ptCount val="1"/>
                <c:pt idx="0">
                  <c:v>Mean revenue ($M)</c:v>
                </c:pt>
              </c:strCache>
            </c:strRef>
          </c:tx>
          <c:spPr>
            <a:solidFill>
              <a:srgbClr val="3E7C59"/>
            </a:solidFill>
            <a:effectLst/>
          </c:spPr>
          <c:invertIfNegative val="0"/>
          <c:dLbls>
            <c:numFmt formatCode="#,##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North America</c:v>
                </c:pt>
                <c:pt idx="1">
                  <c:v>Europe</c:v>
                </c:pt>
                <c:pt idx="2">
                  <c:v>Latin America</c:v>
                </c:pt>
                <c:pt idx="3">
                  <c:v>Asia</c:v>
                </c:pt>
              </c:strCache>
            </c:strRef>
          </c:cat>
          <c:val>
            <c:numRef>
              <c:f>Sheet1!$B$2:$B$5</c:f>
              <c:numCache>
                <c:formatCode>General</c:formatCode>
                <c:ptCount val="4"/>
                <c:pt idx="0">
                  <c:v>757</c:v>
                </c:pt>
                <c:pt idx="1">
                  <c:v>244</c:v>
                </c:pt>
                <c:pt idx="2">
                  <c:v>475</c:v>
                </c:pt>
                <c:pt idx="3">
                  <c:v>538</c:v>
                </c:pt>
              </c:numCache>
            </c:numRef>
          </c:val>
          <c:extLst>
            <c:ext xmlns:c16="http://schemas.microsoft.com/office/drawing/2014/chart" uri="{C3380CC4-5D6E-409C-BE32-E72D297353CC}">
              <c16:uniqueId val="{00000000-4D89-3D43-8054-72AE60C9CDB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900"/>
          <c:min val="0"/>
        </c:scaling>
        <c:delete val="0"/>
        <c:axPos val="l"/>
        <c:majorGridlines>
          <c:spPr>
            <a:ln w="6350" cap="flat">
              <a:solidFill>
                <a:srgbClr val="DDE5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Median price ÷ EBITA by region (x)</a:t>
            </a:r>
          </a:p>
        </c:rich>
      </c:tx>
      <c:overlay val="0"/>
    </c:title>
    <c:autoTitleDeleted val="0"/>
    <c:plotArea>
      <c:layout/>
      <c:barChart>
        <c:barDir val="col"/>
        <c:grouping val="clustered"/>
        <c:varyColors val="0"/>
        <c:ser>
          <c:idx val="0"/>
          <c:order val="0"/>
          <c:tx>
            <c:strRef>
              <c:f>Sheet1!$B$1</c:f>
              <c:strCache>
                <c:ptCount val="1"/>
                <c:pt idx="0">
                  <c:v>Median EV/EBITA</c:v>
                </c:pt>
              </c:strCache>
            </c:strRef>
          </c:tx>
          <c:spPr>
            <a:solidFill>
              <a:srgbClr val="E8A317"/>
            </a:solidFill>
            <a:effectLst/>
          </c:spPr>
          <c:invertIfNegative val="0"/>
          <c:dLbls>
            <c:numFmt formatCode="0.0&quot;x&quot;"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North America</c:v>
                </c:pt>
                <c:pt idx="1">
                  <c:v>Europe</c:v>
                </c:pt>
                <c:pt idx="2">
                  <c:v>Latin America</c:v>
                </c:pt>
                <c:pt idx="3">
                  <c:v>Asia</c:v>
                </c:pt>
              </c:strCache>
            </c:strRef>
          </c:cat>
          <c:val>
            <c:numRef>
              <c:f>Sheet1!$B$2:$B$5</c:f>
              <c:numCache>
                <c:formatCode>General</c:formatCode>
                <c:ptCount val="4"/>
                <c:pt idx="0">
                  <c:v>10.9</c:v>
                </c:pt>
                <c:pt idx="1">
                  <c:v>7.7</c:v>
                </c:pt>
                <c:pt idx="2">
                  <c:v>4.0999999999999996</c:v>
                </c:pt>
                <c:pt idx="3">
                  <c:v>3</c:v>
                </c:pt>
              </c:numCache>
            </c:numRef>
          </c:val>
          <c:extLst>
            <c:ext xmlns:c16="http://schemas.microsoft.com/office/drawing/2014/chart" uri="{C3380CC4-5D6E-409C-BE32-E72D297353CC}">
              <c16:uniqueId val="{00000000-8352-734B-95F6-A901E06F255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14"/>
          <c:min val="0"/>
        </c:scaling>
        <c:delete val="0"/>
        <c:axPos val="l"/>
        <c:majorGridlines>
          <c:spPr>
            <a:ln w="6350" cap="flat">
              <a:solidFill>
                <a:srgbClr val="DDE5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Country risk score (1 = low, 5 = high) vs price ÷ EBITA</a:t>
            </a:r>
          </a:p>
        </c:rich>
      </c:tx>
      <c:overlay val="0"/>
    </c:title>
    <c:autoTitleDeleted val="0"/>
    <c:plotArea>
      <c:layout/>
      <c:scatterChart>
        <c:scatterStyle val="lineMarker"/>
        <c:varyColors val="0"/>
        <c:ser>
          <c:idx val="0"/>
          <c:order val="0"/>
          <c:tx>
            <c:strRef>
              <c:f>Sheet1!$B$1</c:f>
              <c:strCache>
                <c:ptCount val="1"/>
                <c:pt idx="0">
                  <c:v>EV/EBITA</c:v>
                </c:pt>
              </c:strCache>
            </c:strRef>
          </c:tx>
          <c:spPr>
            <a:ln>
              <a:noFill/>
            </a:ln>
            <a:effectLst/>
          </c:spPr>
          <c:marker>
            <c:symbol val="circle"/>
            <c:size val="10"/>
            <c:spPr>
              <a:solidFill>
                <a:srgbClr val="3E7C59"/>
              </a:solidFill>
              <a:ln w="9525" cap="flat">
                <a:solidFill>
                  <a:srgbClr val="3E7C59"/>
                </a:solidFill>
                <a:prstDash val="solid"/>
                <a:round/>
              </a:ln>
              <a:effectLst/>
            </c:spPr>
          </c:marker>
          <c:xVal>
            <c:numRef>
              <c:f>Sheet1!$A$2:$A$20</c:f>
              <c:numCache>
                <c:formatCode>General</c:formatCode>
                <c:ptCount val="19"/>
                <c:pt idx="0">
                  <c:v>1</c:v>
                </c:pt>
                <c:pt idx="1">
                  <c:v>1</c:v>
                </c:pt>
                <c:pt idx="2">
                  <c:v>1</c:v>
                </c:pt>
                <c:pt idx="3">
                  <c:v>1</c:v>
                </c:pt>
                <c:pt idx="4">
                  <c:v>1</c:v>
                </c:pt>
                <c:pt idx="5">
                  <c:v>5</c:v>
                </c:pt>
                <c:pt idx="6">
                  <c:v>2</c:v>
                </c:pt>
                <c:pt idx="7">
                  <c:v>2</c:v>
                </c:pt>
                <c:pt idx="8">
                  <c:v>5</c:v>
                </c:pt>
                <c:pt idx="9">
                  <c:v>2</c:v>
                </c:pt>
                <c:pt idx="10">
                  <c:v>3</c:v>
                </c:pt>
                <c:pt idx="11">
                  <c:v>3</c:v>
                </c:pt>
                <c:pt idx="12">
                  <c:v>3</c:v>
                </c:pt>
                <c:pt idx="13">
                  <c:v>3</c:v>
                </c:pt>
                <c:pt idx="14">
                  <c:v>3</c:v>
                </c:pt>
                <c:pt idx="15">
                  <c:v>2</c:v>
                </c:pt>
                <c:pt idx="16">
                  <c:v>2</c:v>
                </c:pt>
                <c:pt idx="17">
                  <c:v>5</c:v>
                </c:pt>
                <c:pt idx="18">
                  <c:v>4</c:v>
                </c:pt>
              </c:numCache>
            </c:numRef>
          </c:xVal>
          <c:yVal>
            <c:numRef>
              <c:f>Sheet1!$B$2:$B$20</c:f>
              <c:numCache>
                <c:formatCode>General</c:formatCode>
                <c:ptCount val="19"/>
                <c:pt idx="0">
                  <c:v>12.5</c:v>
                </c:pt>
                <c:pt idx="1">
                  <c:v>10.9</c:v>
                </c:pt>
                <c:pt idx="2">
                  <c:v>10</c:v>
                </c:pt>
                <c:pt idx="3">
                  <c:v>10.7</c:v>
                </c:pt>
                <c:pt idx="4">
                  <c:v>13</c:v>
                </c:pt>
                <c:pt idx="5">
                  <c:v>2.7</c:v>
                </c:pt>
                <c:pt idx="6">
                  <c:v>7.7</c:v>
                </c:pt>
                <c:pt idx="7">
                  <c:v>9.1999999999999993</c:v>
                </c:pt>
                <c:pt idx="8">
                  <c:v>4</c:v>
                </c:pt>
                <c:pt idx="9">
                  <c:v>10.8</c:v>
                </c:pt>
                <c:pt idx="10">
                  <c:v>13.5</c:v>
                </c:pt>
                <c:pt idx="11">
                  <c:v>4.8</c:v>
                </c:pt>
                <c:pt idx="12">
                  <c:v>4</c:v>
                </c:pt>
                <c:pt idx="13">
                  <c:v>4.0999999999999996</c:v>
                </c:pt>
                <c:pt idx="14">
                  <c:v>3</c:v>
                </c:pt>
                <c:pt idx="15">
                  <c:v>5.7</c:v>
                </c:pt>
                <c:pt idx="16">
                  <c:v>4.0999999999999996</c:v>
                </c:pt>
                <c:pt idx="17">
                  <c:v>0.8</c:v>
                </c:pt>
                <c:pt idx="18">
                  <c:v>1.8</c:v>
                </c:pt>
              </c:numCache>
            </c:numRef>
          </c:yVal>
          <c:smooth val="0"/>
          <c:extLst>
            <c:ext xmlns:c16="http://schemas.microsoft.com/office/drawing/2014/chart" uri="{C3380CC4-5D6E-409C-BE32-E72D297353CC}">
              <c16:uniqueId val="{00000000-3DF4-DF42-AB07-670FCF97642B}"/>
            </c:ext>
          </c:extLst>
        </c:ser>
        <c:dLbls>
          <c:showLegendKey val="0"/>
          <c:showVal val="0"/>
          <c:showCatName val="0"/>
          <c:showSerName val="0"/>
          <c:showPercent val="0"/>
          <c:showBubbleSize val="0"/>
        </c:dLbls>
        <c:axId val="2094734554"/>
        <c:axId val="2094734552"/>
      </c:scatterChart>
      <c:valAx>
        <c:axId val="2094734554"/>
        <c:scaling>
          <c:orientation val="minMax"/>
          <c:max val="6"/>
          <c:min val="0"/>
        </c:scaling>
        <c:delete val="0"/>
        <c:axPos val="b"/>
        <c:title>
          <c:tx>
            <c:rich>
              <a:bodyPr/>
              <a:lstStyle/>
              <a:p>
                <a:pPr>
                  <a:defRPr sz="1100" b="0" i="0" u="none" strike="noStrike">
                    <a:solidFill>
                      <a:srgbClr val="6B7F73"/>
                    </a:solidFill>
                    <a:latin typeface="Arial"/>
                  </a:defRPr>
                </a:pPr>
                <a:r>
                  <a:rPr sz="1100" b="0" i="0" u="none" strike="noStrike">
                    <a:solidFill>
                      <a:srgbClr val="6B7F73"/>
                    </a:solidFill>
                    <a:latin typeface="Arial"/>
                  </a:rPr>
                  <a:t>Country risk score</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crossBetween val="midCat"/>
      </c:valAx>
      <c:valAx>
        <c:axId val="2094734552"/>
        <c:scaling>
          <c:orientation val="minMax"/>
          <c:max val="15"/>
          <c:min val="0"/>
        </c:scaling>
        <c:delete val="0"/>
        <c:axPos val="l"/>
        <c:majorGridlines>
          <c:spPr>
            <a:ln w="6350" cap="flat">
              <a:solidFill>
                <a:srgbClr val="DDE5DF"/>
              </a:solidFill>
              <a:prstDash val="solid"/>
              <a:round/>
            </a:ln>
          </c:spPr>
        </c:majorGridlines>
        <c:title>
          <c:tx>
            <c:rich>
              <a:bodyPr/>
              <a:lstStyle/>
              <a:p>
                <a:pPr>
                  <a:defRPr sz="1100" b="0" i="0" u="none" strike="noStrike">
                    <a:solidFill>
                      <a:srgbClr val="6B7F73"/>
                    </a:solidFill>
                    <a:latin typeface="Arial"/>
                  </a:defRPr>
                </a:pPr>
                <a:r>
                  <a:rPr sz="1100" b="0" i="0" u="none" strike="noStrike">
                    <a:solidFill>
                      <a:srgbClr val="6B7F73"/>
                    </a:solidFill>
                    <a:latin typeface="Arial"/>
                  </a:rPr>
                  <a:t>EV / EBITA (x)</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Number of the 20 firms where each theme appears</a:t>
            </a:r>
          </a:p>
        </c:rich>
      </c:tx>
      <c:overlay val="0"/>
    </c:title>
    <c:autoTitleDeleted val="0"/>
    <c:plotArea>
      <c:layout/>
      <c:barChart>
        <c:barDir val="bar"/>
        <c:grouping val="clustered"/>
        <c:varyColors val="0"/>
        <c:ser>
          <c:idx val="0"/>
          <c:order val="0"/>
          <c:tx>
            <c:strRef>
              <c:f>Sheet1!$B$1</c:f>
              <c:strCache>
                <c:ptCount val="1"/>
                <c:pt idx="0">
                  <c:v>Firms mentioning theme</c:v>
                </c:pt>
              </c:strCache>
            </c:strRef>
          </c:tx>
          <c:spPr>
            <a:solidFill>
              <a:srgbClr val="C0563B"/>
            </a:solidFill>
            <a:effectLst/>
          </c:spPr>
          <c:invertIfNegative val="0"/>
          <c:dPt>
            <c:idx val="0"/>
            <c:invertIfNegative val="0"/>
            <c:bubble3D val="0"/>
            <c:extLst>
              <c:ext xmlns:c16="http://schemas.microsoft.com/office/drawing/2014/chart" uri="{C3380CC4-5D6E-409C-BE32-E72D297353CC}">
                <c16:uniqueId val="{00000001-B4C8-7A42-8326-0A5F9FC9E738}"/>
              </c:ext>
            </c:extLst>
          </c:dPt>
          <c:dPt>
            <c:idx val="1"/>
            <c:invertIfNegative val="0"/>
            <c:bubble3D val="0"/>
            <c:extLst>
              <c:ext xmlns:c16="http://schemas.microsoft.com/office/drawing/2014/chart" uri="{C3380CC4-5D6E-409C-BE32-E72D297353CC}">
                <c16:uniqueId val="{00000003-B4C8-7A42-8326-0A5F9FC9E738}"/>
              </c:ext>
            </c:extLst>
          </c:dPt>
          <c:dPt>
            <c:idx val="2"/>
            <c:invertIfNegative val="0"/>
            <c:bubble3D val="0"/>
            <c:extLst>
              <c:ext xmlns:c16="http://schemas.microsoft.com/office/drawing/2014/chart" uri="{C3380CC4-5D6E-409C-BE32-E72D297353CC}">
                <c16:uniqueId val="{00000005-B4C8-7A42-8326-0A5F9FC9E738}"/>
              </c:ext>
            </c:extLst>
          </c:dPt>
          <c:dPt>
            <c:idx val="3"/>
            <c:invertIfNegative val="0"/>
            <c:bubble3D val="0"/>
            <c:extLst>
              <c:ext xmlns:c16="http://schemas.microsoft.com/office/drawing/2014/chart" uri="{C3380CC4-5D6E-409C-BE32-E72D297353CC}">
                <c16:uniqueId val="{00000007-B4C8-7A42-8326-0A5F9FC9E738}"/>
              </c:ext>
            </c:extLst>
          </c:dPt>
          <c:dPt>
            <c:idx val="4"/>
            <c:invertIfNegative val="0"/>
            <c:bubble3D val="0"/>
            <c:extLst>
              <c:ext xmlns:c16="http://schemas.microsoft.com/office/drawing/2014/chart" uri="{C3380CC4-5D6E-409C-BE32-E72D297353CC}">
                <c16:uniqueId val="{00000009-B4C8-7A42-8326-0A5F9FC9E738}"/>
              </c:ext>
            </c:extLst>
          </c:dPt>
          <c:dPt>
            <c:idx val="5"/>
            <c:invertIfNegative val="0"/>
            <c:bubble3D val="0"/>
            <c:spPr>
              <a:solidFill>
                <a:srgbClr val="3E7C59"/>
              </a:solidFill>
              <a:effectLst/>
            </c:spPr>
            <c:extLst>
              <c:ext xmlns:c16="http://schemas.microsoft.com/office/drawing/2014/chart" uri="{C3380CC4-5D6E-409C-BE32-E72D297353CC}">
                <c16:uniqueId val="{0000000B-B4C8-7A42-8326-0A5F9FC9E738}"/>
              </c:ext>
            </c:extLst>
          </c:dPt>
          <c:dPt>
            <c:idx val="6"/>
            <c:invertIfNegative val="0"/>
            <c:bubble3D val="0"/>
            <c:spPr>
              <a:solidFill>
                <a:srgbClr val="3E7C59"/>
              </a:solidFill>
              <a:effectLst/>
            </c:spPr>
            <c:extLst>
              <c:ext xmlns:c16="http://schemas.microsoft.com/office/drawing/2014/chart" uri="{C3380CC4-5D6E-409C-BE32-E72D297353CC}">
                <c16:uniqueId val="{0000000D-B4C8-7A42-8326-0A5F9FC9E738}"/>
              </c:ext>
            </c:extLst>
          </c:dPt>
          <c:dPt>
            <c:idx val="7"/>
            <c:invertIfNegative val="0"/>
            <c:bubble3D val="0"/>
            <c:spPr>
              <a:solidFill>
                <a:srgbClr val="3E7C59"/>
              </a:solidFill>
              <a:effectLst/>
            </c:spPr>
            <c:extLst>
              <c:ext xmlns:c16="http://schemas.microsoft.com/office/drawing/2014/chart" uri="{C3380CC4-5D6E-409C-BE32-E72D297353CC}">
                <c16:uniqueId val="{0000000F-B4C8-7A42-8326-0A5F9FC9E738}"/>
              </c:ext>
            </c:extLst>
          </c:dPt>
          <c:dLbls>
            <c:numFmt formatCode="#,##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Price volatility</c:v>
                </c:pt>
                <c:pt idx="1">
                  <c:v>Animal disease (avian flu, salmonella)</c:v>
                </c:pt>
                <c:pt idx="2">
                  <c:v>Conflict / political instability</c:v>
                </c:pt>
                <c:pt idx="3">
                  <c:v>Legal &amp; competition conduct</c:v>
                </c:pt>
                <c:pt idx="4">
                  <c:v>Operational distress</c:v>
                </c:pt>
                <c:pt idx="5">
                  <c:v>Cage-free / welfare transition</c:v>
                </c:pt>
                <c:pt idx="6">
                  <c:v>Sustainability &amp; innovation</c:v>
                </c:pt>
                <c:pt idx="7">
                  <c:v>Partnerships &amp; market access</c:v>
                </c:pt>
              </c:strCache>
            </c:strRef>
          </c:cat>
          <c:val>
            <c:numRef>
              <c:f>Sheet1!$B$2:$B$9</c:f>
              <c:numCache>
                <c:formatCode>General</c:formatCode>
                <c:ptCount val="8"/>
                <c:pt idx="0">
                  <c:v>7</c:v>
                </c:pt>
                <c:pt idx="1">
                  <c:v>6</c:v>
                </c:pt>
                <c:pt idx="2">
                  <c:v>4</c:v>
                </c:pt>
                <c:pt idx="3">
                  <c:v>4</c:v>
                </c:pt>
                <c:pt idx="4">
                  <c:v>3</c:v>
                </c:pt>
                <c:pt idx="5">
                  <c:v>5</c:v>
                </c:pt>
                <c:pt idx="6">
                  <c:v>5</c:v>
                </c:pt>
                <c:pt idx="7">
                  <c:v>4</c:v>
                </c:pt>
              </c:numCache>
            </c:numRef>
          </c:val>
          <c:extLst>
            <c:ext xmlns:c16="http://schemas.microsoft.com/office/drawing/2014/chart" uri="{C3380CC4-5D6E-409C-BE32-E72D297353CC}">
              <c16:uniqueId val="{00000010-B4C8-7A42-8326-0A5F9FC9E738}"/>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8"/>
          <c:min val="0"/>
        </c:scaling>
        <c:delete val="0"/>
        <c:axPos val="t"/>
        <c:majorGridlines>
          <c:spPr>
            <a:ln w="6350" cap="flat">
              <a:solidFill>
                <a:srgbClr val="DDE5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Use of the $800M capital envelope ($M)</a:t>
            </a:r>
          </a:p>
        </c:rich>
      </c:tx>
      <c:overlay val="0"/>
    </c:title>
    <c:autoTitleDeleted val="0"/>
    <c:plotArea>
      <c:layout/>
      <c:barChart>
        <c:barDir val="bar"/>
        <c:grouping val="clustered"/>
        <c:varyColors val="0"/>
        <c:ser>
          <c:idx val="0"/>
          <c:order val="0"/>
          <c:tx>
            <c:strRef>
              <c:f>Sheet1!$B$1</c:f>
              <c:strCache>
                <c:ptCount val="1"/>
                <c:pt idx="0">
                  <c:v>$M</c:v>
                </c:pt>
              </c:strCache>
            </c:strRef>
          </c:tx>
          <c:spPr>
            <a:solidFill>
              <a:srgbClr val="3E7C59"/>
            </a:solidFill>
            <a:effectLst/>
          </c:spPr>
          <c:invertIfNegative val="0"/>
          <c:dPt>
            <c:idx val="0"/>
            <c:invertIfNegative val="0"/>
            <c:bubble3D val="0"/>
            <c:extLst>
              <c:ext xmlns:c16="http://schemas.microsoft.com/office/drawing/2014/chart" uri="{C3380CC4-5D6E-409C-BE32-E72D297353CC}">
                <c16:uniqueId val="{00000001-77F9-1045-986D-06ADD47B35FB}"/>
              </c:ext>
            </c:extLst>
          </c:dPt>
          <c:dPt>
            <c:idx val="1"/>
            <c:invertIfNegative val="0"/>
            <c:bubble3D val="0"/>
            <c:extLst>
              <c:ext xmlns:c16="http://schemas.microsoft.com/office/drawing/2014/chart" uri="{C3380CC4-5D6E-409C-BE32-E72D297353CC}">
                <c16:uniqueId val="{00000003-77F9-1045-986D-06ADD47B35FB}"/>
              </c:ext>
            </c:extLst>
          </c:dPt>
          <c:dPt>
            <c:idx val="2"/>
            <c:invertIfNegative val="0"/>
            <c:bubble3D val="0"/>
            <c:extLst>
              <c:ext xmlns:c16="http://schemas.microsoft.com/office/drawing/2014/chart" uri="{C3380CC4-5D6E-409C-BE32-E72D297353CC}">
                <c16:uniqueId val="{00000005-77F9-1045-986D-06ADD47B35FB}"/>
              </c:ext>
            </c:extLst>
          </c:dPt>
          <c:dPt>
            <c:idx val="3"/>
            <c:invertIfNegative val="0"/>
            <c:bubble3D val="0"/>
            <c:extLst>
              <c:ext xmlns:c16="http://schemas.microsoft.com/office/drawing/2014/chart" uri="{C3380CC4-5D6E-409C-BE32-E72D297353CC}">
                <c16:uniqueId val="{00000007-77F9-1045-986D-06ADD47B35FB}"/>
              </c:ext>
            </c:extLst>
          </c:dPt>
          <c:dPt>
            <c:idx val="4"/>
            <c:invertIfNegative val="0"/>
            <c:bubble3D val="0"/>
            <c:extLst>
              <c:ext xmlns:c16="http://schemas.microsoft.com/office/drawing/2014/chart" uri="{C3380CC4-5D6E-409C-BE32-E72D297353CC}">
                <c16:uniqueId val="{00000009-77F9-1045-986D-06ADD47B35FB}"/>
              </c:ext>
            </c:extLst>
          </c:dPt>
          <c:dPt>
            <c:idx val="5"/>
            <c:invertIfNegative val="0"/>
            <c:bubble3D val="0"/>
            <c:spPr>
              <a:solidFill>
                <a:srgbClr val="E8A317"/>
              </a:solidFill>
              <a:effectLst/>
            </c:spPr>
            <c:extLst>
              <c:ext xmlns:c16="http://schemas.microsoft.com/office/drawing/2014/chart" uri="{C3380CC4-5D6E-409C-BE32-E72D297353CC}">
                <c16:uniqueId val="{0000000B-77F9-1045-986D-06ADD47B35FB}"/>
              </c:ext>
            </c:extLst>
          </c:dPt>
          <c:dPt>
            <c:idx val="6"/>
            <c:invertIfNegative val="0"/>
            <c:bubble3D val="0"/>
            <c:spPr>
              <a:solidFill>
                <a:srgbClr val="E8A317"/>
              </a:solidFill>
              <a:effectLst/>
            </c:spPr>
            <c:extLst>
              <c:ext xmlns:c16="http://schemas.microsoft.com/office/drawing/2014/chart" uri="{C3380CC4-5D6E-409C-BE32-E72D297353CC}">
                <c16:uniqueId val="{0000000D-77F9-1045-986D-06ADD47B35FB}"/>
              </c:ext>
            </c:extLst>
          </c:dPt>
          <c:dPt>
            <c:idx val="7"/>
            <c:invertIfNegative val="0"/>
            <c:bubble3D val="0"/>
            <c:spPr>
              <a:solidFill>
                <a:srgbClr val="6B7F73"/>
              </a:solidFill>
              <a:effectLst/>
            </c:spPr>
            <c:extLst>
              <c:ext xmlns:c16="http://schemas.microsoft.com/office/drawing/2014/chart" uri="{C3380CC4-5D6E-409C-BE32-E72D297353CC}">
                <c16:uniqueId val="{0000000F-77F9-1045-986D-06ADD47B35FB}"/>
              </c:ext>
            </c:extLst>
          </c:dPt>
          <c:dLbls>
            <c:numFmt formatCode="#,##0.0" sourceLinked="0"/>
            <c:spPr>
              <a:noFill/>
              <a:ln>
                <a:noFill/>
              </a:ln>
              <a:effectLst/>
            </c:spPr>
            <c:txPr>
              <a:bodyPr/>
              <a:lstStyle/>
              <a:p>
                <a:pPr>
                  <a:defRPr sz="1100" b="0" i="0" u="none" strike="noStrike">
                    <a:solidFill>
                      <a:srgbClr val="1B2A22"/>
                    </a:solidFill>
                    <a:latin typeface="+mn-lt"/>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 Bound Eggs</c:v>
                </c:pt>
                <c:pt idx="1">
                  <c:v>Free Range Roost</c:v>
                </c:pt>
                <c:pt idx="2">
                  <c:v>Planeta avícola</c:v>
                </c:pt>
                <c:pt idx="3">
                  <c:v>Acres botánicos</c:v>
                </c:pt>
                <c:pt idx="4">
                  <c:v>l'Acre de Noyers</c:v>
                </c:pt>
                <c:pt idx="5">
                  <c:v>Product plants</c:v>
                </c:pt>
                <c:pt idx="6">
                  <c:v>Cage-free conversion</c:v>
                </c:pt>
                <c:pt idx="7">
                  <c:v>Contingency reserve</c:v>
                </c:pt>
              </c:strCache>
            </c:strRef>
          </c:cat>
          <c:val>
            <c:numRef>
              <c:f>Sheet1!$B$2:$B$9</c:f>
              <c:numCache>
                <c:formatCode>General</c:formatCode>
                <c:ptCount val="8"/>
                <c:pt idx="0">
                  <c:v>124.5</c:v>
                </c:pt>
                <c:pt idx="1">
                  <c:v>189</c:v>
                </c:pt>
                <c:pt idx="2">
                  <c:v>71.5</c:v>
                </c:pt>
                <c:pt idx="3">
                  <c:v>88</c:v>
                </c:pt>
                <c:pt idx="4">
                  <c:v>115</c:v>
                </c:pt>
                <c:pt idx="5">
                  <c:v>50</c:v>
                </c:pt>
                <c:pt idx="6">
                  <c:v>20</c:v>
                </c:pt>
                <c:pt idx="7">
                  <c:v>142</c:v>
                </c:pt>
              </c:numCache>
            </c:numRef>
          </c:val>
          <c:extLst>
            <c:ext xmlns:c16="http://schemas.microsoft.com/office/drawing/2014/chart" uri="{C3380CC4-5D6E-409C-BE32-E72D297353CC}">
              <c16:uniqueId val="{00000010-77F9-1045-986D-06ADD47B35FB}"/>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220"/>
          <c:min val="0"/>
        </c:scaling>
        <c:delete val="0"/>
        <c:axPos val="t"/>
        <c:majorGridlines>
          <c:spPr>
            <a:ln w="6350" cap="flat">
              <a:solidFill>
                <a:srgbClr val="DDE5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Revenue by source, Year 0–7 ($M)</a:t>
            </a:r>
          </a:p>
        </c:rich>
      </c:tx>
      <c:overlay val="0"/>
    </c:title>
    <c:autoTitleDeleted val="0"/>
    <c:plotArea>
      <c:layout/>
      <c:barChart>
        <c:barDir val="col"/>
        <c:grouping val="stacked"/>
        <c:varyColors val="0"/>
        <c:ser>
          <c:idx val="0"/>
          <c:order val="0"/>
          <c:tx>
            <c:strRef>
              <c:f>Sheet1!$B$1</c:f>
              <c:strCache>
                <c:ptCount val="1"/>
                <c:pt idx="0">
                  <c:v>US commodity</c:v>
                </c:pt>
              </c:strCache>
            </c:strRef>
          </c:tx>
          <c:spPr>
            <a:solidFill>
              <a:srgbClr val="6B7F73"/>
            </a:solidFill>
            <a:effectLst/>
          </c:spPr>
          <c:invertIfNegative val="0"/>
          <c:cat>
            <c:strRef>
              <c:f>Sheet1!$A$2:$A$9</c:f>
              <c:strCache>
                <c:ptCount val="8"/>
                <c:pt idx="0">
                  <c:v>Yr0</c:v>
                </c:pt>
                <c:pt idx="1">
                  <c:v>Yr1</c:v>
                </c:pt>
                <c:pt idx="2">
                  <c:v>Yr2</c:v>
                </c:pt>
                <c:pt idx="3">
                  <c:v>Yr3</c:v>
                </c:pt>
                <c:pt idx="4">
                  <c:v>Yr4</c:v>
                </c:pt>
                <c:pt idx="5">
                  <c:v>Yr5</c:v>
                </c:pt>
                <c:pt idx="6">
                  <c:v>Yr6</c:v>
                </c:pt>
                <c:pt idx="7">
                  <c:v>Yr7</c:v>
                </c:pt>
              </c:strCache>
            </c:strRef>
          </c:cat>
          <c:val>
            <c:numRef>
              <c:f>Sheet1!$B$2:$B$9</c:f>
              <c:numCache>
                <c:formatCode>General</c:formatCode>
                <c:ptCount val="8"/>
                <c:pt idx="0">
                  <c:v>1761</c:v>
                </c:pt>
                <c:pt idx="1">
                  <c:v>1711</c:v>
                </c:pt>
                <c:pt idx="2">
                  <c:v>1661</c:v>
                </c:pt>
                <c:pt idx="3">
                  <c:v>1661</c:v>
                </c:pt>
                <c:pt idx="4">
                  <c:v>1661</c:v>
                </c:pt>
                <c:pt idx="5">
                  <c:v>1661</c:v>
                </c:pt>
                <c:pt idx="6">
                  <c:v>1661</c:v>
                </c:pt>
                <c:pt idx="7">
                  <c:v>1661</c:v>
                </c:pt>
              </c:numCache>
            </c:numRef>
          </c:val>
          <c:extLst>
            <c:ext xmlns:c16="http://schemas.microsoft.com/office/drawing/2014/chart" uri="{C3380CC4-5D6E-409C-BE32-E72D297353CC}">
              <c16:uniqueId val="{00000000-858C-8844-BC63-84D2CDCF1586}"/>
            </c:ext>
          </c:extLst>
        </c:ser>
        <c:ser>
          <c:idx val="1"/>
          <c:order val="1"/>
          <c:tx>
            <c:strRef>
              <c:f>Sheet1!$C$1</c:f>
              <c:strCache>
                <c:ptCount val="1"/>
                <c:pt idx="0">
                  <c:v>US specialty</c:v>
                </c:pt>
              </c:strCache>
            </c:strRef>
          </c:tx>
          <c:spPr>
            <a:solidFill>
              <a:srgbClr val="E8A317"/>
            </a:solidFill>
            <a:effectLst/>
          </c:spPr>
          <c:invertIfNegative val="0"/>
          <c:cat>
            <c:strRef>
              <c:f>Sheet1!$A$2:$A$9</c:f>
              <c:strCache>
                <c:ptCount val="8"/>
                <c:pt idx="0">
                  <c:v>Yr0</c:v>
                </c:pt>
                <c:pt idx="1">
                  <c:v>Yr1</c:v>
                </c:pt>
                <c:pt idx="2">
                  <c:v>Yr2</c:v>
                </c:pt>
                <c:pt idx="3">
                  <c:v>Yr3</c:v>
                </c:pt>
                <c:pt idx="4">
                  <c:v>Yr4</c:v>
                </c:pt>
                <c:pt idx="5">
                  <c:v>Yr5</c:v>
                </c:pt>
                <c:pt idx="6">
                  <c:v>Yr6</c:v>
                </c:pt>
                <c:pt idx="7">
                  <c:v>Yr7</c:v>
                </c:pt>
              </c:strCache>
            </c:strRef>
          </c:cat>
          <c:val>
            <c:numRef>
              <c:f>Sheet1!$C$2:$C$9</c:f>
              <c:numCache>
                <c:formatCode>General</c:formatCode>
                <c:ptCount val="8"/>
                <c:pt idx="0">
                  <c:v>576</c:v>
                </c:pt>
                <c:pt idx="1">
                  <c:v>675.8</c:v>
                </c:pt>
                <c:pt idx="2">
                  <c:v>791.5</c:v>
                </c:pt>
                <c:pt idx="3">
                  <c:v>857.5</c:v>
                </c:pt>
                <c:pt idx="4">
                  <c:v>873.9</c:v>
                </c:pt>
                <c:pt idx="5">
                  <c:v>890.8</c:v>
                </c:pt>
                <c:pt idx="6">
                  <c:v>908.1</c:v>
                </c:pt>
                <c:pt idx="7">
                  <c:v>925.8</c:v>
                </c:pt>
              </c:numCache>
            </c:numRef>
          </c:val>
          <c:extLst>
            <c:ext xmlns:c16="http://schemas.microsoft.com/office/drawing/2014/chart" uri="{C3380CC4-5D6E-409C-BE32-E72D297353CC}">
              <c16:uniqueId val="{00000001-858C-8844-BC63-84D2CDCF1586}"/>
            </c:ext>
          </c:extLst>
        </c:ser>
        <c:ser>
          <c:idx val="2"/>
          <c:order val="2"/>
          <c:tx>
            <c:strRef>
              <c:f>Sheet1!$D$1</c:f>
              <c:strCache>
                <c:ptCount val="1"/>
                <c:pt idx="0">
                  <c:v>International</c:v>
                </c:pt>
              </c:strCache>
            </c:strRef>
          </c:tx>
          <c:spPr>
            <a:solidFill>
              <a:srgbClr val="3E7C59"/>
            </a:solidFill>
            <a:effectLst/>
          </c:spPr>
          <c:invertIfNegative val="0"/>
          <c:cat>
            <c:strRef>
              <c:f>Sheet1!$A$2:$A$9</c:f>
              <c:strCache>
                <c:ptCount val="8"/>
                <c:pt idx="0">
                  <c:v>Yr0</c:v>
                </c:pt>
                <c:pt idx="1">
                  <c:v>Yr1</c:v>
                </c:pt>
                <c:pt idx="2">
                  <c:v>Yr2</c:v>
                </c:pt>
                <c:pt idx="3">
                  <c:v>Yr3</c:v>
                </c:pt>
                <c:pt idx="4">
                  <c:v>Yr4</c:v>
                </c:pt>
                <c:pt idx="5">
                  <c:v>Yr5</c:v>
                </c:pt>
                <c:pt idx="6">
                  <c:v>Yr6</c:v>
                </c:pt>
                <c:pt idx="7">
                  <c:v>Yr7</c:v>
                </c:pt>
              </c:strCache>
            </c:strRef>
          </c:cat>
          <c:val>
            <c:numRef>
              <c:f>Sheet1!$D$2:$D$9</c:f>
              <c:numCache>
                <c:formatCode>General</c:formatCode>
                <c:ptCount val="8"/>
                <c:pt idx="0">
                  <c:v>0</c:v>
                </c:pt>
                <c:pt idx="1">
                  <c:v>602</c:v>
                </c:pt>
                <c:pt idx="2">
                  <c:v>1264</c:v>
                </c:pt>
                <c:pt idx="3">
                  <c:v>1610</c:v>
                </c:pt>
                <c:pt idx="4">
                  <c:v>1977</c:v>
                </c:pt>
                <c:pt idx="5">
                  <c:v>2278</c:v>
                </c:pt>
                <c:pt idx="6">
                  <c:v>2278</c:v>
                </c:pt>
                <c:pt idx="7">
                  <c:v>2278</c:v>
                </c:pt>
              </c:numCache>
            </c:numRef>
          </c:val>
          <c:extLst>
            <c:ext xmlns:c16="http://schemas.microsoft.com/office/drawing/2014/chart" uri="{C3380CC4-5D6E-409C-BE32-E72D297353CC}">
              <c16:uniqueId val="{00000002-858C-8844-BC63-84D2CDCF1586}"/>
            </c:ext>
          </c:extLst>
        </c:ser>
        <c:dLbls>
          <c:showLegendKey val="0"/>
          <c:showVal val="0"/>
          <c:showCatName val="0"/>
          <c:showSerName val="0"/>
          <c:showPercent val="0"/>
          <c:showBubbleSize val="0"/>
        </c:dLbls>
        <c:gapWidth val="50"/>
        <c:overlap val="100"/>
        <c:axId val="2094734554"/>
        <c:axId val="2094734552"/>
      </c:barChart>
      <c:lineChart>
        <c:grouping val="standard"/>
        <c:varyColors val="0"/>
        <c:ser>
          <c:idx val="3"/>
          <c:order val="3"/>
          <c:tx>
            <c:strRef>
              <c:f>Sheet1!$E$1</c:f>
              <c:strCache>
                <c:ptCount val="1"/>
                <c:pt idx="0">
                  <c:v>$3.5B target</c:v>
                </c:pt>
              </c:strCache>
            </c:strRef>
          </c:tx>
          <c:spPr>
            <a:ln w="25400" cap="flat">
              <a:solidFill>
                <a:srgbClr val="C0563B"/>
              </a:solidFill>
              <a:prstDash val="dash"/>
              <a:round/>
            </a:ln>
            <a:effectLst/>
          </c:spPr>
          <c:marker>
            <c:symbol val="none"/>
          </c:marker>
          <c:cat>
            <c:strRef>
              <c:f>Sheet1!$A$2:$A$9</c:f>
              <c:strCache>
                <c:ptCount val="8"/>
                <c:pt idx="0">
                  <c:v>Yr0</c:v>
                </c:pt>
                <c:pt idx="1">
                  <c:v>Yr1</c:v>
                </c:pt>
                <c:pt idx="2">
                  <c:v>Yr2</c:v>
                </c:pt>
                <c:pt idx="3">
                  <c:v>Yr3</c:v>
                </c:pt>
                <c:pt idx="4">
                  <c:v>Yr4</c:v>
                </c:pt>
                <c:pt idx="5">
                  <c:v>Yr5</c:v>
                </c:pt>
                <c:pt idx="6">
                  <c:v>Yr6</c:v>
                </c:pt>
                <c:pt idx="7">
                  <c:v>Yr7</c:v>
                </c:pt>
              </c:strCache>
            </c:strRef>
          </c:cat>
          <c:val>
            <c:numRef>
              <c:f>Sheet1!$E$2:$E$9</c:f>
              <c:numCache>
                <c:formatCode>General</c:formatCode>
                <c:ptCount val="8"/>
                <c:pt idx="0">
                  <c:v>3500</c:v>
                </c:pt>
                <c:pt idx="1">
                  <c:v>3500</c:v>
                </c:pt>
                <c:pt idx="2">
                  <c:v>3500</c:v>
                </c:pt>
                <c:pt idx="3">
                  <c:v>3500</c:v>
                </c:pt>
                <c:pt idx="4">
                  <c:v>3500</c:v>
                </c:pt>
                <c:pt idx="5">
                  <c:v>3500</c:v>
                </c:pt>
                <c:pt idx="6">
                  <c:v>3500</c:v>
                </c:pt>
                <c:pt idx="7">
                  <c:v>3500</c:v>
                </c:pt>
              </c:numCache>
            </c:numRef>
          </c:val>
          <c:smooth val="0"/>
          <c:extLst>
            <c:ext xmlns:c16="http://schemas.microsoft.com/office/drawing/2014/chart" uri="{C3380CC4-5D6E-409C-BE32-E72D297353CC}">
              <c16:uniqueId val="{00000003-858C-8844-BC63-84D2CDCF158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5500"/>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400" b="0" i="0" u="none" strike="noStrike">
                <a:solidFill>
                  <a:srgbClr val="23412F"/>
                </a:solidFill>
                <a:latin typeface="+mj-lt"/>
              </a:defRPr>
            </a:pPr>
            <a:r>
              <a:rPr sz="1400" b="0" i="0" u="none" strike="noStrike">
                <a:solidFill>
                  <a:srgbClr val="23412F"/>
                </a:solidFill>
                <a:latin typeface="+mj-lt"/>
              </a:rPr>
              <a:t>Year-3 revenue under commodity price shocks ($M)</a:t>
            </a:r>
          </a:p>
        </c:rich>
      </c:tx>
      <c:overlay val="0"/>
    </c:title>
    <c:autoTitleDeleted val="0"/>
    <c:plotArea>
      <c:layout/>
      <c:barChart>
        <c:barDir val="col"/>
        <c:grouping val="clustered"/>
        <c:varyColors val="0"/>
        <c:ser>
          <c:idx val="0"/>
          <c:order val="0"/>
          <c:tx>
            <c:strRef>
              <c:f>Sheet1!$B$1</c:f>
              <c:strCache>
                <c:ptCount val="1"/>
                <c:pt idx="0">
                  <c:v>Year-3 revenue</c:v>
                </c:pt>
              </c:strCache>
            </c:strRef>
          </c:tx>
          <c:spPr>
            <a:solidFill>
              <a:srgbClr val="3E7C59"/>
            </a:solidFill>
            <a:effectLst/>
          </c:spPr>
          <c:invertIfNegative val="0"/>
          <c:dLbls>
            <c:numFmt formatCode="#,##0" sourceLinked="0"/>
            <c:spPr>
              <a:noFill/>
              <a:ln>
                <a:noFill/>
              </a:ln>
              <a:effectLst/>
            </c:spPr>
            <c:txPr>
              <a:bodyPr/>
              <a:lstStyle/>
              <a:p>
                <a:pPr>
                  <a:defRPr sz="1100" b="0" i="0" u="none" strike="noStrike">
                    <a:solidFill>
                      <a:srgbClr val="1B2A22"/>
                    </a:solidFill>
                    <a:latin typeface="+mn-lt"/>
                  </a:defRPr>
                </a:pPr>
                <a:endParaRPr lang="zh-S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Base case</c:v>
                </c:pt>
                <c:pt idx="1">
                  <c:v>−10% commodity</c:v>
                </c:pt>
                <c:pt idx="2">
                  <c:v>−20% commodity</c:v>
                </c:pt>
                <c:pt idx="3">
                  <c:v>−30% commodity</c:v>
                </c:pt>
                <c:pt idx="4">
                  <c:v>−48% (down-year repeat)</c:v>
                </c:pt>
                <c:pt idx="5">
                  <c:v>−48% + Mexico in Yr3</c:v>
                </c:pt>
              </c:strCache>
            </c:strRef>
          </c:cat>
          <c:val>
            <c:numRef>
              <c:f>Sheet1!$B$2:$B$7</c:f>
              <c:numCache>
                <c:formatCode>General</c:formatCode>
                <c:ptCount val="6"/>
                <c:pt idx="0">
                  <c:v>4128.5</c:v>
                </c:pt>
                <c:pt idx="1">
                  <c:v>3962.4</c:v>
                </c:pt>
                <c:pt idx="2">
                  <c:v>3796.3</c:v>
                </c:pt>
                <c:pt idx="3">
                  <c:v>3630.2</c:v>
                </c:pt>
                <c:pt idx="4">
                  <c:v>3331.2</c:v>
                </c:pt>
                <c:pt idx="5">
                  <c:v>3698.2</c:v>
                </c:pt>
              </c:numCache>
            </c:numRef>
          </c:val>
          <c:extLst>
            <c:ext xmlns:c16="http://schemas.microsoft.com/office/drawing/2014/chart" uri="{C3380CC4-5D6E-409C-BE32-E72D297353CC}">
              <c16:uniqueId val="{00000000-1E94-6E47-9FB3-0B907CA6D4F2}"/>
            </c:ext>
          </c:extLst>
        </c:ser>
        <c:dLbls>
          <c:dLblPos val="outEnd"/>
          <c:showLegendKey val="0"/>
          <c:showVal val="1"/>
          <c:showCatName val="0"/>
          <c:showSerName val="0"/>
          <c:showPercent val="0"/>
          <c:showBubbleSize val="0"/>
        </c:dLbls>
        <c:gapWidth val="50"/>
        <c:axId val="2094734554"/>
        <c:axId val="2094734552"/>
      </c:barChart>
      <c:lineChart>
        <c:grouping val="standard"/>
        <c:varyColors val="0"/>
        <c:ser>
          <c:idx val="1"/>
          <c:order val="1"/>
          <c:tx>
            <c:strRef>
              <c:f>Sheet1!$C$1</c:f>
              <c:strCache>
                <c:ptCount val="1"/>
                <c:pt idx="0">
                  <c:v>$3.5B target</c:v>
                </c:pt>
              </c:strCache>
            </c:strRef>
          </c:tx>
          <c:spPr>
            <a:ln w="25400" cap="flat">
              <a:solidFill>
                <a:srgbClr val="C0563B"/>
              </a:solidFill>
              <a:prstDash val="dash"/>
              <a:round/>
            </a:ln>
            <a:effectLst/>
          </c:spPr>
          <c:marker>
            <c:symbol val="none"/>
          </c:marker>
          <c:cat>
            <c:strRef>
              <c:f>Sheet1!$A$2:$A$7</c:f>
              <c:strCache>
                <c:ptCount val="6"/>
                <c:pt idx="0">
                  <c:v>Base case</c:v>
                </c:pt>
                <c:pt idx="1">
                  <c:v>−10% commodity</c:v>
                </c:pt>
                <c:pt idx="2">
                  <c:v>−20% commodity</c:v>
                </c:pt>
                <c:pt idx="3">
                  <c:v>−30% commodity</c:v>
                </c:pt>
                <c:pt idx="4">
                  <c:v>−48% (down-year repeat)</c:v>
                </c:pt>
                <c:pt idx="5">
                  <c:v>−48% + Mexico in Yr3</c:v>
                </c:pt>
              </c:strCache>
            </c:strRef>
          </c:cat>
          <c:val>
            <c:numRef>
              <c:f>Sheet1!$C$2:$C$7</c:f>
              <c:numCache>
                <c:formatCode>General</c:formatCode>
                <c:ptCount val="6"/>
                <c:pt idx="0">
                  <c:v>3500</c:v>
                </c:pt>
                <c:pt idx="1">
                  <c:v>3500</c:v>
                </c:pt>
                <c:pt idx="2">
                  <c:v>3500</c:v>
                </c:pt>
                <c:pt idx="3">
                  <c:v>3500</c:v>
                </c:pt>
                <c:pt idx="4">
                  <c:v>3500</c:v>
                </c:pt>
                <c:pt idx="5">
                  <c:v>3500</c:v>
                </c:pt>
              </c:numCache>
            </c:numRef>
          </c:val>
          <c:smooth val="0"/>
          <c:extLst>
            <c:ext xmlns:c16="http://schemas.microsoft.com/office/drawing/2014/chart" uri="{C3380CC4-5D6E-409C-BE32-E72D297353CC}">
              <c16:uniqueId val="{00000001-1E94-6E47-9FB3-0B907CA6D4F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F73"/>
                </a:solidFill>
                <a:latin typeface="+mn-lt"/>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6350" cap="flat">
              <a:solidFill>
                <a:srgbClr val="DDE5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7578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Good morning. We are presenting the American Egg case. AmEgg is a family-run US egg producer with $2.34 billion revenue. The board has set three goals: exceed $3.5 billion revenue in three years, lift the US specialty share to at least 30%, and become a global company within seven years. Our recommendation, which we will build up with data over the next 20 minutes, is a two-track plan: fix the product mix at home, and buy the revenue abroad.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This is how we worked. We first defined the problem and measured each goal gap. Then we quantified market volatility and the return on each domestic lever. Next we screened the 19 acquisition targets that have a price, using descriptive statistics, valuation multiples and a correlation. We combined that with qualitative thematic coding of the due-diligence text, and fed both into a weighted scoring model. Finally we built the portfolio and stress-tested it. Each of us owns four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Here is the business problem in numbers. Revenue is $2.34 billion, but three quarters is commodity eggs, which earn 12.4% versus 20% for specialty. The company is exposed to price swings: in the down year revenue fell 48%. So the problem is threefold: grow by about $1.16 billion in three years, shift the mix to at least 30% specialty, and go global, all within a capital limit of $800 million. One data note: the deliverables section says 2.34 million, which is a typo for billion.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Each goal becomes a measurable gap. Revenue must go from $2,337 million to above $3,500 million; our plan reaches about $4,130 million in year three. Specialty share must go from 24.6% to 30%; our plan reaches 34%. Goal three is not numeric in the case, so — and this is our own assumption, marked on the slide — we defined 'global' ourselves: operations in at least four continents and close to half of revenue from new markets by year seven. Our plan takes AmEgg from two countries to eight. I now hand over to Presenter 2, who will explain the market.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Our first quantitative finding is volatility. We read the weekly prices from Figure 1 in the case. The mean is $1.67 a dozen, the standard deviation 35 cents, so the coefficient of variation is about 21%. Price roughly doubled from Q1 to Q4. Third-party data confirms this is structural: the US Bureau of Labor Statistics reported a record average retail price of $4.95 a dozen in January 2025, and bird flu cost about 18.8 million laying hens that month alone, about 43 million in January and February according to a Farm Bureau estimate. For decision-making this means two things: revenue built on commodity eggs is unreliable, and any plan that only just reaches $3.5 billion is too fragile. That is why we stress-test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The case gives three domestic levers, so we compared them on the same basis: extra annual profit for each million dollars spent. Marketing costs about $5.8 million a year and, under our assumption that the case's 6% upside means 6% more specialty revenue, adds $34.6 million, but after its own cost it only adds about $1.1 million profit, so 18 cents per dollar. Cage-free conversion only adds 13 cents of profit because it moves existing revenue from 12.4% to 15% margin, but it is the cheapest way to change the mix. Egg-product plants add 40 cents of profit per dollar, the best return. Decision: use all three, but rely on plants for profit and conversion for the mix.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This bridge shows how we close the mix gap. Starting from $576 million of specialty revenue: marketing adds $34.6 million, natural market growth of 2.5% a year adds about $47 million, two egg-product plants for $50 million add $100 million, and $20 million of cage-free conversion shifts another $100 million out of commodity. Specialty reaches about $858 million and the share passes 30% in year two and reaches 34% in year three, which gives a buffer. This is supported externally: USDA data shows 38.8% of US layers were already cage-free in November 2023, so the market can absorb the extra volume.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Now the target screen. The case gives 20 firms in four regions. North American firms are the largest, with mean revenue of $757 million, but they cost a median of 10.9 times EBITA. Asian firms average $538 million revenue but cost only about 3 times. A useful data-quality finding: 19 of the 20 firms have EBITA of exactly 5% of revenue, so profitability does not separate them. What separates them is price, size and risk. I now hand over to Presenter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We scored each country's risk from 1 to 5 using the case's in-country risk and economy columns, then plotted it against the valuation multiple. The Pearson correlation is minus 0.76: the riskier the country, the cheaper the company. Syria's Omega Eggs costs under one times EBITA, Bangladesh's Hen Egg Farms under two, and Ukraine's River Hallow under three, but these reflect civil war, a price-manipulation investigation and war losses. So for decisions, a low price is not value on its own. Our rule: only consider a cheap target if country risk is three or lower and there is no legal red flag. We should be honest about the limits: there are only 19 data points, the risk scores are our own judgement, and a correlation does not prove that risk causes the low price; size or data quality could also play a part.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Numbers alone miss context, so we coded the text columns of the due-diligence tables into themes. Red bars are risks, green bars opportunities. Price volatility appears for seven firms and animal disease for six, so biosecurity is the main operational risk everywhere. Four firms are linked to conflict and four to legal issues such as price fixing. On the opportunity side, five firms are moving to cage-free or free-range and five show sustainability or innovation, which fits AmEgg's specialty goal. We also considered cultural fit: AmEgg pays above market and values its people, so we favour partners where we can keep local leadership.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To combine the quantitative and qualitative evidence we built a weighted scoring model with six criteria; country risk carries the most weight at 25%. Canyon Crossing scores highest but costs over $1 billion, beyond our $800 million budget, and it is our largest US competitor, so antitrust risk is high. It is excluded. The next four, S. Bound Eggs in Japan and India, Free Range Roost in Thailand, l'Acre de Noyers in France and Planeta avícola in Brazil, form the core of our plan, together with Acres botánicos in Mexico. Lácteos recién and a joint venture with les Acres de la Cabane are our backups.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Here is our recommendation as a roadmap. At home in years one to three we build two egg-product plants, convert $20 million of capacity to cage-free and add specialty marketing. Abroad we acquire one company per year, starting with the lowest-risk one: S. Bound Eggs in Japan and India in year one, Free Range Roost in Thailand in year two and Planeta avícola in Brazil in year three. Those three alone add $1.6 billion revenue. Then Acres botánicos in Mexico and l'Acre de Noyers in France complete four continents by year five. Sequencing one deal per year protects management capacity. I now hand over to Presenter 4 for the financials.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The plan uses $658 million of the $800 million the board approved, and keeps $142 million, about 18%, as a contingency reserve for integration costs or a backup deal. We use the $300 million reserves first and borrow $358 million at 3%, so interest is about $10.7 million a year. The five acquired businesses bring about $114 million of EBITA, more than ten times the interest. We pay a blended 5.2 times EBITA, less than half the 11.4 times we would pay for a US competitor. The decision insight: buying abroad is both cheaper and leaves headroom.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This chart shows revenue by source over seven years, with the $3.5 billion target as the dashed line. Grey is US commodity, which falls slightly as we convert capacity. Yellow is US specialty, which grows from $576 million to about $926 million. Green is international. The target is passed in year two at $3.7 billion, and year three reaches $4.13 billion. By year seven revenue is about $4.9 billion and 47% comes from outside the US and Canada, which is our definition of a global company. These assumptions are deliberately conservative: we do not grow the acquired companies at all.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Because commodity prices are volatile, we tested year-three revenue under price falls. A 10, 20 or 30% fall still clears $3.5 billion. The break-even is a 38% fall. Only a repeat of the 48% down year pushes revenue to $3.33 billion, below target. Our contingency is a clear trigger: if commodity revenue runs more than 30% below plan for two quarters, we bring the Mexican acquisition forward into year three, which lifts revenue back to about $3.7 billion. A crash actually raises the specialty share, so goal two is safe.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The case asks for two objectives per goal, each with two evidenced risks and a contingency. For goal one, objective one is the three early acquisitions. The risks are a commodity price crash, which we just tested, and overpaying or poor integration; we respond with low-end bids, earn-outs and keeping local leaders. Objective two is domestic growth to $2.52 billion. The risks are avian flu, which cost about 18.8 million US layers in January 2025 alone, and plant delays; we respond with biosecurity, multiple sites and pre-sold plant output. I now hand over to Presenter 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For goal two, objective one is cage-free conversion. The main risk is that so many producers are converting, 38.8% of US layers were already cage-free in November 2023, that premiums fall. We only convert against signed contracts, in two tranches. Conversion also lowers short-term output, so we time it with flock turnover. Objective two is the product plants plus marketing. Risks are weaker demand for prepared products, which we answer by diversifying channels, and the thin return on marketing we showed earlier, so marketing has a KPI gate after twelve months.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Goal three. Objective one is presence on four continents through five staged acquisitions. Risks: political and currency instability in emerging markets, which we manage with local-currency borrowing, hedging and one deal per year; and cultural or regulatory differences, which we manage by keeping local managers and phasing in AmEgg's people practices. Objective two is conservative financing. If earnings fall, a fixed 3% rate and over ten times interest cover protect us. If a target is sold to someone else, we already have a ranked backup list from our scoring model.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The case also asks where goals support or conflict with each other. Synergies: each foreign deal serves both the revenue and the global goal; plants and cage-free raise the mix and the margin that pays the interest; and foreign partners bring cage-free and traceability know-how. Misalignment: buying a big US commodity producer would be the fastest route to $3.5 billion, but it would push the specialty share down and invite antitrust scrutiny, so we avoid it. Domestic projects and deals compete for capital, which is why we keep a reserve. And management capacity is limited, so we sequence one deal per year.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To conclude, our three takeaways. First, all three goals are achievable within the board's capital: $4.13 billion in year three, a 34% specialty share, and eight countries by year seven, using $658 million of the $800 million. Second, price is not value: the cheapest targets are cheap because of war, legal or political risk, so risk must be scored alongside valuation. Third, commodity volatility shapes everything: our plan survives a 38% price fall, and we have a clear trigger if a deeper crash comes. Thank you,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Our last slide lists every source in Harvard style: the Sage case and three external sources for egg prices, avian flu losses and the cage-free share. All other figures are our own calculations from the case data. Thank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3412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8778240" cy="173736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731520" y="3749040"/>
            <a:ext cx="8778240" cy="1463040"/>
          </a:xfrm>
          <a:prstGeom prst="rect">
            <a:avLst/>
          </a:prstGeom>
          <a:noFill/>
          <a:ln/>
        </p:spPr>
        <p:txBody>
          <a:bodyPr wrap="square" rtlCol="0"/>
          <a:lstStyle>
            <a:lvl1pPr marL="0" indent="0" algn="l">
              <a:buNone/>
              <a:defRPr lang="en-US" sz="1800" dirty="0">
                <a:solidFill>
                  <a:schemeClr val="accent6"/>
                </a:solidFill>
                <a:latin typeface="Calibri" pitchFamily="34" charset="0"/>
                <a:ea typeface="Calibri" pitchFamily="34" charset="-122"/>
                <a:cs typeface="Calibri" pitchFamily="34" charset="-120"/>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D_DARK">
    <p:bg>
      <p:bgPr>
        <a:solidFill>
          <a:srgbClr val="23412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822960"/>
          </a:xfrm>
          <a:prstGeom prst="rect">
            <a:avLst/>
          </a:prstGeom>
          <a:noFill/>
          <a:ln/>
        </p:spPr>
        <p:txBody>
          <a:bodyPr wrap="square" rtlCol="0"/>
          <a:lstStyle>
            <a:lvl1pPr marL="0" indent="0" algn="l">
              <a:buNone/>
              <a:defRPr lang="en-US" sz="36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rtlCol="0"/>
          <a:lstStyle>
            <a:lvl1pPr marL="0" indent="0" algn="l">
              <a:buNone/>
              <a:defRPr lang="en-US" sz="1600" i="1" dirty="0">
                <a:solidFill>
                  <a:schemeClr val="accent2"/>
                </a:solidFill>
                <a:latin typeface="Calibri" pitchFamily="34" charset="0"/>
                <a:ea typeface="Calibri" pitchFamily="34" charset="-122"/>
                <a:cs typeface="Calibri" pitchFamily="34" charset="-120"/>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8778240" cy="1737360"/>
          </a:xfrm>
          <a:prstGeom prst="rect">
            <a:avLst/>
          </a:prstGeom>
          <a:noFill/>
          <a:ln/>
        </p:spPr>
        <p:txBody>
          <a:bodyPr wrap="square" lIns="0" tIns="0" rIns="0" bIns="0"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American Egg: from $2.3B US producer to a $4B+ global specialty leader</a:t>
            </a:r>
            <a:endParaRPr lang="en-US" sz="4000" dirty="0"/>
          </a:p>
        </p:txBody>
      </p:sp>
      <p:sp>
        <p:nvSpPr>
          <p:cNvPr id="3" name="Text 0"/>
          <p:cNvSpPr>
            <a:spLocks noGrp="1"/>
          </p:cNvSpPr>
          <p:nvPr>
            <p:ph type="body" idx="101" hasCustomPrompt="1"/>
          </p:nvPr>
        </p:nvSpPr>
        <p:spPr>
          <a:xfrm>
            <a:off x="731520" y="3749040"/>
            <a:ext cx="8778240" cy="1463040"/>
          </a:xfrm>
          <a:prstGeom prst="rect">
            <a:avLst/>
          </a:prstGeom>
          <a:noFill/>
          <a:ln/>
        </p:spPr>
        <p:txBody>
          <a:bodyPr wrap="square" lIns="0" tIns="0" rIns="0" bIns="0" rtlCol="0" anchor="t"/>
          <a:lstStyle/>
          <a:p>
            <a:pPr marL="0" indent="0" algn="l">
              <a:buNone/>
            </a:pPr>
            <a:r>
              <a:rPr lang="en-US" sz="1800" dirty="0">
                <a:solidFill>
                  <a:schemeClr val="accent6"/>
                </a:solidFill>
                <a:latin typeface="Calibri" pitchFamily="34" charset="0"/>
                <a:ea typeface="Calibri" pitchFamily="34" charset="-122"/>
                <a:cs typeface="Calibri" pitchFamily="34" charset="-120"/>
              </a:rPr>
              <a:t>COMP1913 International Data Analytics · Group Presentation</a:t>
            </a:r>
            <a:endParaRPr lang="en-US" sz="1800" dirty="0"/>
          </a:p>
          <a:p>
            <a:pPr marL="0" indent="0" algn="l">
              <a:buNone/>
            </a:pPr>
            <a:r>
              <a:rPr lang="en-US" sz="1800" dirty="0">
                <a:solidFill>
                  <a:schemeClr val="accent6"/>
                </a:solidFill>
                <a:latin typeface="Calibri" pitchFamily="34" charset="0"/>
                <a:ea typeface="Calibri" pitchFamily="34" charset="-122"/>
                <a:cs typeface="Calibri" pitchFamily="34" charset="-120"/>
              </a:rPr>
              <a:t>Sage Business Case: Strategic Growth and International Expansion</a:t>
            </a:r>
            <a:endParaRPr lang="en-US" sz="1800" dirty="0"/>
          </a:p>
        </p:txBody>
      </p:sp>
      <p:sp>
        <p:nvSpPr>
          <p:cNvPr id="4" name="Egg motif"/>
          <p:cNvSpPr/>
          <p:nvPr/>
        </p:nvSpPr>
        <p:spPr>
          <a:xfrm>
            <a:off x="9966960" y="1463040"/>
            <a:ext cx="1170432" cy="1463040"/>
          </a:xfrm>
          <a:prstGeom prst="ellipse">
            <a:avLst/>
          </a:prstGeom>
          <a:solidFill>
            <a:schemeClr val="accent1"/>
          </a:solidFill>
          <a:ln w="12700">
            <a:solidFill>
              <a:schemeClr val="accent1"/>
            </a:solidFill>
            <a:prstDash val="solid"/>
          </a:ln>
        </p:spPr>
        <p:txBody>
          <a:bodyPr/>
          <a:lstStyle/>
          <a:p>
            <a:endParaRPr lang="zh-SG" altLang="en-US"/>
          </a:p>
        </p:txBody>
      </p:sp>
      <p:sp>
        <p:nvSpPr>
          <p:cNvPr id="5" name="Egg motif"/>
          <p:cNvSpPr/>
          <p:nvPr/>
        </p:nvSpPr>
        <p:spPr>
          <a:xfrm>
            <a:off x="10607040" y="2926080"/>
            <a:ext cx="804672" cy="1005840"/>
          </a:xfrm>
          <a:prstGeom prst="ellipse">
            <a:avLst/>
          </a:prstGeom>
          <a:solidFill>
            <a:schemeClr val="accent1"/>
          </a:solidFill>
          <a:ln w="12700">
            <a:solidFill>
              <a:schemeClr val="accent1"/>
            </a:solidFill>
            <a:prstDash val="solid"/>
          </a:ln>
        </p:spPr>
        <p:txBody>
          <a:bodyPr/>
          <a:lstStyle/>
          <a:p>
            <a:endParaRPr lang="zh-SG" altLang="en-US"/>
          </a:p>
        </p:txBody>
      </p:sp>
      <p:sp>
        <p:nvSpPr>
          <p:cNvPr id="6" name="Egg motif"/>
          <p:cNvSpPr/>
          <p:nvPr/>
        </p:nvSpPr>
        <p:spPr>
          <a:xfrm>
            <a:off x="9692640" y="4023360"/>
            <a:ext cx="585216" cy="731520"/>
          </a:xfrm>
          <a:prstGeom prst="ellipse">
            <a:avLst/>
          </a:prstGeom>
          <a:solidFill>
            <a:schemeClr val="accent1"/>
          </a:solidFill>
          <a:ln w="12700">
            <a:solidFill>
              <a:schemeClr val="accent1"/>
            </a:solidFill>
            <a:prstDash val="solid"/>
          </a:ln>
        </p:spPr>
        <p:txBody>
          <a:bodyPr/>
          <a:lstStyle/>
          <a:p>
            <a:endParaRPr lang="zh-SG"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Our approach</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Five analytical steps, from defining the problem to stress-testing the plan</a:t>
            </a:r>
            <a:endParaRPr lang="en-US" sz="1600" dirty="0"/>
          </a:p>
        </p:txBody>
      </p:sp>
      <p:sp>
        <p:nvSpPr>
          <p:cNvPr id="4" name="Card"/>
          <p:cNvSpPr/>
          <p:nvPr/>
        </p:nvSpPr>
        <p:spPr>
          <a:xfrm>
            <a:off x="548640"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5" name="Egg badge"/>
          <p:cNvSpPr/>
          <p:nvPr/>
        </p:nvSpPr>
        <p:spPr>
          <a:xfrm>
            <a:off x="731520"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6" name="Text 4"/>
          <p:cNvSpPr txBox="1"/>
          <p:nvPr/>
        </p:nvSpPr>
        <p:spPr>
          <a:xfrm>
            <a:off x="731520"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7" name="Text 5"/>
          <p:cNvSpPr txBox="1"/>
          <p:nvPr/>
        </p:nvSpPr>
        <p:spPr>
          <a:xfrm>
            <a:off x="731520"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Define</a:t>
            </a:r>
            <a:endParaRPr lang="en-US" sz="1800" dirty="0"/>
          </a:p>
        </p:txBody>
      </p:sp>
      <p:sp>
        <p:nvSpPr>
          <p:cNvPr id="8" name="Text 6"/>
          <p:cNvSpPr txBox="1"/>
          <p:nvPr/>
        </p:nvSpPr>
        <p:spPr>
          <a:xfrm>
            <a:off x="731520"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Problem and three goal gaps from the case data</a:t>
            </a:r>
            <a:endParaRPr lang="en-US" sz="1400" dirty="0"/>
          </a:p>
        </p:txBody>
      </p:sp>
      <p:sp>
        <p:nvSpPr>
          <p:cNvPr id="9" name="Card"/>
          <p:cNvSpPr/>
          <p:nvPr/>
        </p:nvSpPr>
        <p:spPr>
          <a:xfrm>
            <a:off x="2816352"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10" name="Egg badge"/>
          <p:cNvSpPr/>
          <p:nvPr/>
        </p:nvSpPr>
        <p:spPr>
          <a:xfrm>
            <a:off x="2999232"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11" name="Text 9"/>
          <p:cNvSpPr txBox="1"/>
          <p:nvPr/>
        </p:nvSpPr>
        <p:spPr>
          <a:xfrm>
            <a:off x="2999232"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2" name="Text 10"/>
          <p:cNvSpPr txBox="1"/>
          <p:nvPr/>
        </p:nvSpPr>
        <p:spPr>
          <a:xfrm>
            <a:off x="2999232"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Quantify</a:t>
            </a:r>
            <a:endParaRPr lang="en-US" sz="1800" dirty="0"/>
          </a:p>
        </p:txBody>
      </p:sp>
      <p:sp>
        <p:nvSpPr>
          <p:cNvPr id="13" name="Text 11"/>
          <p:cNvSpPr txBox="1"/>
          <p:nvPr/>
        </p:nvSpPr>
        <p:spPr>
          <a:xfrm>
            <a:off x="2999232"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Price volatility, margins, ROI of each domestic lever</a:t>
            </a:r>
            <a:endParaRPr lang="en-US" sz="1400" dirty="0"/>
          </a:p>
        </p:txBody>
      </p:sp>
      <p:sp>
        <p:nvSpPr>
          <p:cNvPr id="14" name="Card"/>
          <p:cNvSpPr/>
          <p:nvPr/>
        </p:nvSpPr>
        <p:spPr>
          <a:xfrm>
            <a:off x="5084064"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15" name="Egg badge"/>
          <p:cNvSpPr/>
          <p:nvPr/>
        </p:nvSpPr>
        <p:spPr>
          <a:xfrm>
            <a:off x="5266944"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16" name="Text 14"/>
          <p:cNvSpPr txBox="1"/>
          <p:nvPr/>
        </p:nvSpPr>
        <p:spPr>
          <a:xfrm>
            <a:off x="5266944"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17" name="Text 15"/>
          <p:cNvSpPr txBox="1"/>
          <p:nvPr/>
        </p:nvSpPr>
        <p:spPr>
          <a:xfrm>
            <a:off x="5266944"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Screen</a:t>
            </a:r>
            <a:endParaRPr lang="en-US" sz="1800" dirty="0"/>
          </a:p>
        </p:txBody>
      </p:sp>
      <p:sp>
        <p:nvSpPr>
          <p:cNvPr id="18" name="Text 16"/>
          <p:cNvSpPr txBox="1"/>
          <p:nvPr/>
        </p:nvSpPr>
        <p:spPr>
          <a:xfrm>
            <a:off x="5266944"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19 priced targets: descriptive stats, valuation multiples, correlation</a:t>
            </a:r>
            <a:endParaRPr lang="en-US" sz="1400" dirty="0"/>
          </a:p>
        </p:txBody>
      </p:sp>
      <p:sp>
        <p:nvSpPr>
          <p:cNvPr id="19" name="Card"/>
          <p:cNvSpPr/>
          <p:nvPr/>
        </p:nvSpPr>
        <p:spPr>
          <a:xfrm>
            <a:off x="7351776"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0" name="Egg badge"/>
          <p:cNvSpPr/>
          <p:nvPr/>
        </p:nvSpPr>
        <p:spPr>
          <a:xfrm>
            <a:off x="7534656"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21" name="Text 19"/>
          <p:cNvSpPr txBox="1"/>
          <p:nvPr/>
        </p:nvSpPr>
        <p:spPr>
          <a:xfrm>
            <a:off x="7534656"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4</a:t>
            </a:r>
            <a:endParaRPr lang="en-US" sz="1400" dirty="0"/>
          </a:p>
        </p:txBody>
      </p:sp>
      <p:sp>
        <p:nvSpPr>
          <p:cNvPr id="22" name="Text 20"/>
          <p:cNvSpPr txBox="1"/>
          <p:nvPr/>
        </p:nvSpPr>
        <p:spPr>
          <a:xfrm>
            <a:off x="7534656"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Interpret</a:t>
            </a:r>
            <a:endParaRPr lang="en-US" sz="1800" dirty="0"/>
          </a:p>
        </p:txBody>
      </p:sp>
      <p:sp>
        <p:nvSpPr>
          <p:cNvPr id="23" name="Text 21"/>
          <p:cNvSpPr txBox="1"/>
          <p:nvPr/>
        </p:nvSpPr>
        <p:spPr>
          <a:xfrm>
            <a:off x="7534656"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Thematic coding of due-diligence text; weighted scoring model</a:t>
            </a:r>
            <a:endParaRPr lang="en-US" sz="1400" dirty="0"/>
          </a:p>
        </p:txBody>
      </p:sp>
      <p:sp>
        <p:nvSpPr>
          <p:cNvPr id="24" name="Card"/>
          <p:cNvSpPr/>
          <p:nvPr/>
        </p:nvSpPr>
        <p:spPr>
          <a:xfrm>
            <a:off x="9619488" y="18288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5" name="Egg badge"/>
          <p:cNvSpPr/>
          <p:nvPr/>
        </p:nvSpPr>
        <p:spPr>
          <a:xfrm>
            <a:off x="9802368" y="2011680"/>
            <a:ext cx="374904" cy="457200"/>
          </a:xfrm>
          <a:prstGeom prst="ellipse">
            <a:avLst/>
          </a:prstGeom>
          <a:solidFill>
            <a:schemeClr val="accent1"/>
          </a:solidFill>
          <a:ln w="12700">
            <a:solidFill>
              <a:schemeClr val="accent1"/>
            </a:solidFill>
            <a:prstDash val="solid"/>
          </a:ln>
        </p:spPr>
        <p:txBody>
          <a:bodyPr/>
          <a:lstStyle/>
          <a:p>
            <a:endParaRPr lang="zh-SG" altLang="en-US"/>
          </a:p>
        </p:txBody>
      </p:sp>
      <p:sp>
        <p:nvSpPr>
          <p:cNvPr id="26" name="Text 24"/>
          <p:cNvSpPr txBox="1"/>
          <p:nvPr/>
        </p:nvSpPr>
        <p:spPr>
          <a:xfrm>
            <a:off x="9802368" y="2011680"/>
            <a:ext cx="374904" cy="457200"/>
          </a:xfrm>
          <a:prstGeom prst="rect">
            <a:avLst/>
          </a:prstGeom>
          <a:noFill/>
          <a:ln/>
        </p:spPr>
        <p:txBody>
          <a:bodyPr wrap="square" lIns="0" tIns="0" rIns="0" bIns="0" rtlCol="0" anchor="ctr"/>
          <a:lstStyle/>
          <a:p>
            <a:pPr marL="0" indent="0" algn="ctr">
              <a:buNone/>
            </a:pPr>
            <a:r>
              <a:rPr lang="en-US" sz="1400" b="1" dirty="0">
                <a:solidFill>
                  <a:schemeClr val="tx2"/>
                </a:solidFill>
              </a:rPr>
              <a:t>5</a:t>
            </a:r>
            <a:endParaRPr lang="en-US" sz="1400" dirty="0"/>
          </a:p>
        </p:txBody>
      </p:sp>
      <p:sp>
        <p:nvSpPr>
          <p:cNvPr id="27" name="Text 25"/>
          <p:cNvSpPr txBox="1"/>
          <p:nvPr/>
        </p:nvSpPr>
        <p:spPr>
          <a:xfrm>
            <a:off x="9802368" y="2606040"/>
            <a:ext cx="1737360" cy="4114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Decide &amp; test</a:t>
            </a:r>
            <a:endParaRPr lang="en-US" sz="1800" dirty="0"/>
          </a:p>
        </p:txBody>
      </p:sp>
      <p:sp>
        <p:nvSpPr>
          <p:cNvPr id="28" name="Text 26"/>
          <p:cNvSpPr txBox="1"/>
          <p:nvPr/>
        </p:nvSpPr>
        <p:spPr>
          <a:xfrm>
            <a:off x="9802368" y="3063240"/>
            <a:ext cx="1737360" cy="1051560"/>
          </a:xfrm>
          <a:prstGeom prst="rect">
            <a:avLst/>
          </a:prstGeom>
          <a:noFill/>
          <a:ln/>
        </p:spPr>
        <p:txBody>
          <a:bodyPr wrap="square" lIns="0" tIns="0" rIns="0" bIns="0" rtlCol="0" anchor="t"/>
          <a:lstStyle/>
          <a:p>
            <a:pPr marL="0" indent="0">
              <a:buNone/>
            </a:pPr>
            <a:r>
              <a:rPr lang="en-US" sz="1400" dirty="0">
                <a:solidFill>
                  <a:schemeClr val="tx1"/>
                </a:solidFill>
              </a:rPr>
              <a:t>Portfolio, funding, 7-year revenue path, price-shock scenarios</a:t>
            </a:r>
            <a:endParaRPr lang="en-US" sz="1400" dirty="0"/>
          </a:p>
        </p:txBody>
      </p:sp>
      <p:sp>
        <p:nvSpPr>
          <p:cNvPr id="29" name="Card"/>
          <p:cNvSpPr/>
          <p:nvPr/>
        </p:nvSpPr>
        <p:spPr>
          <a:xfrm>
            <a:off x="548640" y="4572000"/>
            <a:ext cx="11064240" cy="1554480"/>
          </a:xfrm>
          <a:prstGeom prst="roundRect">
            <a:avLst>
              <a:gd name="adj" fmla="val 4706"/>
            </a:avLst>
          </a:prstGeom>
          <a:solidFill>
            <a:schemeClr val="bg2"/>
          </a:solidFill>
          <a:ln w="12700">
            <a:solidFill>
              <a:schemeClr val="bg2"/>
            </a:solidFill>
            <a:prstDash val="solid"/>
          </a:ln>
        </p:spPr>
        <p:txBody>
          <a:bodyPr/>
          <a:lstStyle/>
          <a:p>
            <a:endParaRPr lang="zh-SG" altLang="en-US"/>
          </a:p>
        </p:txBody>
      </p:sp>
      <p:sp>
        <p:nvSpPr>
          <p:cNvPr id="30" name="Text 28"/>
          <p:cNvSpPr txBox="1"/>
          <p:nvPr/>
        </p:nvSpPr>
        <p:spPr>
          <a:xfrm>
            <a:off x="777240" y="4709160"/>
            <a:ext cx="10607040" cy="1280160"/>
          </a:xfrm>
          <a:prstGeom prst="rect">
            <a:avLst/>
          </a:prstGeom>
          <a:noFill/>
          <a:ln/>
        </p:spPr>
        <p:txBody>
          <a:bodyPr wrap="square" lIns="0" tIns="0" rIns="0" bIns="0" rtlCol="0" anchor="ctr"/>
          <a:lstStyle/>
          <a:p>
            <a:pPr marL="0" indent="0">
              <a:spcAft>
                <a:spcPts val="600"/>
              </a:spcAft>
              <a:buNone/>
            </a:pPr>
            <a:r>
              <a:rPr lang="en-US" sz="1400" b="1" dirty="0">
                <a:solidFill>
                  <a:schemeClr val="tx2"/>
                </a:solidFill>
              </a:rPr>
              <a:t>Quantitative: </a:t>
            </a:r>
            <a:r>
              <a:rPr lang="en-US" sz="1400" dirty="0">
                <a:solidFill>
                  <a:schemeClr val="tx1"/>
                </a:solidFill>
              </a:rPr>
              <a:t>descriptive statistics (mean, median, SD, CV), EV/EBITA and EV/revenue multiples, Pearson correlation, weighted scoring, scenario and sensitivity analysis.</a:t>
            </a:r>
            <a:endParaRPr lang="en-US" sz="1400" dirty="0"/>
          </a:p>
          <a:p>
            <a:pPr marL="0" indent="0">
              <a:spcAft>
                <a:spcPts val="600"/>
              </a:spcAft>
              <a:buNone/>
            </a:pPr>
            <a:r>
              <a:rPr lang="en-US" sz="1400" b="1" dirty="0">
                <a:solidFill>
                  <a:schemeClr val="tx2"/>
                </a:solidFill>
              </a:rPr>
              <a:t>Qualitative: </a:t>
            </a:r>
            <a:r>
              <a:rPr lang="en-US" sz="1400" dirty="0">
                <a:solidFill>
                  <a:schemeClr val="tx1"/>
                </a:solidFill>
              </a:rPr>
              <a:t>thematic coding of 'key news', 'in-country risk' and 'economy' text for 20 firms; regional context (political, disease, legal, cultural fit).</a:t>
            </a:r>
            <a:endParaRPr lang="en-US" sz="1400" dirty="0"/>
          </a:p>
        </p:txBody>
      </p:sp>
      <p:sp>
        <p:nvSpPr>
          <p:cNvPr id="31"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The business problem</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A profitable but narrow, commodity-heavy, US-only business facing three board targets</a:t>
            </a:r>
            <a:endParaRPr lang="en-US" sz="1600" dirty="0"/>
          </a:p>
        </p:txBody>
      </p:sp>
      <p:sp>
        <p:nvSpPr>
          <p:cNvPr id="4" name="Card"/>
          <p:cNvSpPr/>
          <p:nvPr/>
        </p:nvSpPr>
        <p:spPr>
          <a:xfrm>
            <a:off x="548640"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5" name="Text 3"/>
          <p:cNvSpPr txBox="1"/>
          <p:nvPr/>
        </p:nvSpPr>
        <p:spPr>
          <a:xfrm>
            <a:off x="777240" y="1783080"/>
            <a:ext cx="21945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$2.34B</a:t>
            </a:r>
            <a:endParaRPr lang="en-US" sz="3400" dirty="0"/>
          </a:p>
        </p:txBody>
      </p:sp>
      <p:sp>
        <p:nvSpPr>
          <p:cNvPr id="6" name="Text 4"/>
          <p:cNvSpPr txBox="1"/>
          <p:nvPr/>
        </p:nvSpPr>
        <p:spPr>
          <a:xfrm>
            <a:off x="777240"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current revenue (commodity $1.76B + specialty $0.58B)</a:t>
            </a:r>
            <a:endParaRPr lang="en-US" sz="1300" dirty="0"/>
          </a:p>
        </p:txBody>
      </p:sp>
      <p:sp>
        <p:nvSpPr>
          <p:cNvPr id="7" name="Card"/>
          <p:cNvSpPr/>
          <p:nvPr/>
        </p:nvSpPr>
        <p:spPr>
          <a:xfrm>
            <a:off x="3364992"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8" name="Text 6"/>
          <p:cNvSpPr txBox="1"/>
          <p:nvPr/>
        </p:nvSpPr>
        <p:spPr>
          <a:xfrm>
            <a:off x="3593592" y="1783080"/>
            <a:ext cx="21945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24.6%</a:t>
            </a:r>
            <a:endParaRPr lang="en-US" sz="3400" dirty="0"/>
          </a:p>
        </p:txBody>
      </p:sp>
      <p:sp>
        <p:nvSpPr>
          <p:cNvPr id="9" name="Text 7"/>
          <p:cNvSpPr txBox="1"/>
          <p:nvPr/>
        </p:nvSpPr>
        <p:spPr>
          <a:xfrm>
            <a:off x="3593592"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specialty share of revenue (target ≥30%)</a:t>
            </a:r>
            <a:endParaRPr lang="en-US" sz="1300" dirty="0"/>
          </a:p>
        </p:txBody>
      </p:sp>
      <p:sp>
        <p:nvSpPr>
          <p:cNvPr id="10" name="Card"/>
          <p:cNvSpPr/>
          <p:nvPr/>
        </p:nvSpPr>
        <p:spPr>
          <a:xfrm>
            <a:off x="6181344"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11" name="Text 9"/>
          <p:cNvSpPr txBox="1"/>
          <p:nvPr/>
        </p:nvSpPr>
        <p:spPr>
          <a:xfrm>
            <a:off x="6409944" y="1783080"/>
            <a:ext cx="21945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14.7%</a:t>
            </a:r>
            <a:endParaRPr lang="en-US" sz="3400" dirty="0"/>
          </a:p>
        </p:txBody>
      </p:sp>
      <p:sp>
        <p:nvSpPr>
          <p:cNvPr id="12" name="Text 10"/>
          <p:cNvSpPr txBox="1"/>
          <p:nvPr/>
        </p:nvSpPr>
        <p:spPr>
          <a:xfrm>
            <a:off x="6409944"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profit margin: commodity 12.4% vs specialty 20%</a:t>
            </a:r>
            <a:endParaRPr lang="en-US" sz="1300" dirty="0"/>
          </a:p>
        </p:txBody>
      </p:sp>
      <p:sp>
        <p:nvSpPr>
          <p:cNvPr id="13" name="Card"/>
          <p:cNvSpPr/>
          <p:nvPr/>
        </p:nvSpPr>
        <p:spPr>
          <a:xfrm>
            <a:off x="8997696" y="1691640"/>
            <a:ext cx="2606040" cy="1691640"/>
          </a:xfrm>
          <a:prstGeom prst="roundRect">
            <a:avLst>
              <a:gd name="adj" fmla="val 4324"/>
            </a:avLst>
          </a:prstGeom>
          <a:solidFill>
            <a:schemeClr val="bg2"/>
          </a:solidFill>
          <a:ln w="12700">
            <a:solidFill>
              <a:schemeClr val="bg2"/>
            </a:solidFill>
            <a:prstDash val="solid"/>
          </a:ln>
        </p:spPr>
        <p:txBody>
          <a:bodyPr/>
          <a:lstStyle/>
          <a:p>
            <a:endParaRPr lang="zh-SG" altLang="en-US"/>
          </a:p>
        </p:txBody>
      </p:sp>
      <p:sp>
        <p:nvSpPr>
          <p:cNvPr id="14" name="Text 12"/>
          <p:cNvSpPr txBox="1"/>
          <p:nvPr/>
        </p:nvSpPr>
        <p:spPr>
          <a:xfrm>
            <a:off x="9226296" y="1783080"/>
            <a:ext cx="2194560" cy="685800"/>
          </a:xfrm>
          <a:prstGeom prst="rect">
            <a:avLst/>
          </a:prstGeom>
          <a:noFill/>
          <a:ln/>
        </p:spPr>
        <p:txBody>
          <a:bodyPr wrap="square" lIns="0" tIns="0" rIns="0" bIns="0" rtlCol="0" anchor="b"/>
          <a:lstStyle/>
          <a:p>
            <a:pPr marL="0" indent="0">
              <a:buNone/>
            </a:pPr>
            <a:r>
              <a:rPr lang="en-US" sz="3400" b="1" dirty="0">
                <a:solidFill>
                  <a:schemeClr val="accent4"/>
                </a:solidFill>
                <a:latin typeface="Cambria" pitchFamily="34" charset="0"/>
                <a:ea typeface="Cambria" pitchFamily="34" charset="-122"/>
                <a:cs typeface="Cambria" pitchFamily="34" charset="-120"/>
              </a:rPr>
              <a:t>−48%</a:t>
            </a:r>
            <a:endParaRPr lang="en-US" sz="3400" dirty="0"/>
          </a:p>
        </p:txBody>
      </p:sp>
      <p:sp>
        <p:nvSpPr>
          <p:cNvPr id="15" name="Text 13"/>
          <p:cNvSpPr txBox="1"/>
          <p:nvPr/>
        </p:nvSpPr>
        <p:spPr>
          <a:xfrm>
            <a:off x="9226296" y="2496312"/>
            <a:ext cx="2194560" cy="548640"/>
          </a:xfrm>
          <a:prstGeom prst="rect">
            <a:avLst/>
          </a:prstGeom>
          <a:noFill/>
          <a:ln/>
        </p:spPr>
        <p:txBody>
          <a:bodyPr wrap="square" lIns="0" tIns="0" rIns="0" bIns="0" rtlCol="0" anchor="t"/>
          <a:lstStyle/>
          <a:p>
            <a:pPr marL="0" indent="0">
              <a:buNone/>
            </a:pPr>
            <a:r>
              <a:rPr lang="en-US" sz="1300" dirty="0">
                <a:solidFill>
                  <a:schemeClr val="accent5"/>
                </a:solidFill>
              </a:rPr>
              <a:t>revenue fall in the recent down year</a:t>
            </a:r>
            <a:endParaRPr lang="en-US" sz="1300" dirty="0"/>
          </a:p>
        </p:txBody>
      </p:sp>
      <p:sp>
        <p:nvSpPr>
          <p:cNvPr id="16" name="Card"/>
          <p:cNvSpPr/>
          <p:nvPr/>
        </p:nvSpPr>
        <p:spPr>
          <a:xfrm>
            <a:off x="548640" y="3703320"/>
            <a:ext cx="11064240" cy="2468880"/>
          </a:xfrm>
          <a:prstGeom prst="roundRect">
            <a:avLst>
              <a:gd name="adj" fmla="val 2963"/>
            </a:avLst>
          </a:prstGeom>
          <a:solidFill>
            <a:schemeClr val="bg2"/>
          </a:solidFill>
          <a:ln w="12700">
            <a:solidFill>
              <a:schemeClr val="bg2"/>
            </a:solidFill>
            <a:prstDash val="solid"/>
          </a:ln>
        </p:spPr>
        <p:txBody>
          <a:bodyPr/>
          <a:lstStyle/>
          <a:p>
            <a:endParaRPr lang="zh-SG" altLang="en-US"/>
          </a:p>
        </p:txBody>
      </p:sp>
      <p:sp>
        <p:nvSpPr>
          <p:cNvPr id="17" name="Text 15"/>
          <p:cNvSpPr txBox="1"/>
          <p:nvPr/>
        </p:nvSpPr>
        <p:spPr>
          <a:xfrm>
            <a:off x="822960" y="3840480"/>
            <a:ext cx="5486400" cy="4114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Problem statement</a:t>
            </a:r>
            <a:endParaRPr lang="en-US" sz="2000" dirty="0"/>
          </a:p>
        </p:txBody>
      </p:sp>
      <p:sp>
        <p:nvSpPr>
          <p:cNvPr id="18" name="Text 16"/>
          <p:cNvSpPr txBox="1"/>
          <p:nvPr/>
        </p:nvSpPr>
        <p:spPr>
          <a:xfrm>
            <a:off x="822960" y="4297680"/>
            <a:ext cx="1051560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AmEgg must add ~$1.16B revenue (+50%) in three years while its biggest product line is a volatile commodity.</a:t>
            </a:r>
            <a:endParaRPr lang="en-US" sz="1600" dirty="0"/>
          </a:p>
          <a:p>
            <a:pPr marL="342900" indent="-342900">
              <a:spcAft>
                <a:spcPts val="800"/>
              </a:spcAft>
              <a:buSzPct val="100000"/>
              <a:buChar char="•"/>
            </a:pPr>
            <a:r>
              <a:rPr lang="en-US" sz="1600" dirty="0">
                <a:solidFill>
                  <a:schemeClr val="tx1"/>
                </a:solidFill>
              </a:rPr>
              <a:t>It must raise specialty to ≥30% of US revenue without diluting margins or overspending.</a:t>
            </a:r>
            <a:endParaRPr lang="en-US" sz="1600" dirty="0"/>
          </a:p>
          <a:p>
            <a:pPr marL="342900" indent="-342900">
              <a:spcAft>
                <a:spcPts val="800"/>
              </a:spcAft>
              <a:buSzPct val="100000"/>
              <a:buChar char="•"/>
            </a:pPr>
            <a:r>
              <a:rPr lang="en-US" sz="1600" dirty="0">
                <a:solidFill>
                  <a:schemeClr val="tx1"/>
                </a:solidFill>
              </a:rPr>
              <a:t>It must enter new countries within seven years, using at most $800M ($300M reserves + $500M debt at 3%).</a:t>
            </a:r>
            <a:endParaRPr lang="en-US" sz="1600" dirty="0"/>
          </a:p>
        </p:txBody>
      </p:sp>
      <p:sp>
        <p:nvSpPr>
          <p:cNvPr id="19"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 Sage case, Table 1 and text. Note: the case states $2.34 "million" in the deliverables; context shows billion.</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Three goals, three measurable gaps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Revenue and mix gaps are closable in 3 years; global footprint needs a 7-year rollout</a:t>
            </a:r>
            <a:endParaRPr lang="en-US" sz="1600" dirty="0"/>
          </a:p>
        </p:txBody>
      </p:sp>
      <p:graphicFrame>
        <p:nvGraphicFramePr>
          <p:cNvPr id="4" name="Chart 0"/>
          <p:cNvGraphicFramePr/>
          <p:nvPr/>
        </p:nvGraphicFramePr>
        <p:xfrm>
          <a:off x="548640" y="1600200"/>
          <a:ext cx="420624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937760" y="1600200"/>
          <a:ext cx="365760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6" name="Card"/>
          <p:cNvSpPr/>
          <p:nvPr/>
        </p:nvSpPr>
        <p:spPr>
          <a:xfrm>
            <a:off x="8869680" y="1691640"/>
            <a:ext cx="2743200" cy="4343400"/>
          </a:xfrm>
          <a:prstGeom prst="roundRect">
            <a:avLst>
              <a:gd name="adj" fmla="val 2667"/>
            </a:avLst>
          </a:prstGeom>
          <a:solidFill>
            <a:schemeClr val="bg2"/>
          </a:solidFill>
          <a:ln w="12700">
            <a:solidFill>
              <a:schemeClr val="bg2"/>
            </a:solidFill>
            <a:prstDash val="solid"/>
          </a:ln>
        </p:spPr>
        <p:txBody>
          <a:bodyPr/>
          <a:lstStyle/>
          <a:p>
            <a:endParaRPr lang="zh-SG" altLang="en-US"/>
          </a:p>
        </p:txBody>
      </p:sp>
      <p:sp>
        <p:nvSpPr>
          <p:cNvPr id="7" name="Text 3"/>
          <p:cNvSpPr txBox="1"/>
          <p:nvPr/>
        </p:nvSpPr>
        <p:spPr>
          <a:xfrm>
            <a:off x="9098280" y="1828800"/>
            <a:ext cx="2377440" cy="4114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Goal 3: Global</a:t>
            </a:r>
            <a:endParaRPr lang="en-US" sz="1800" dirty="0"/>
          </a:p>
        </p:txBody>
      </p:sp>
      <p:sp>
        <p:nvSpPr>
          <p:cNvPr id="8" name="Text 4"/>
          <p:cNvSpPr txBox="1"/>
          <p:nvPr/>
        </p:nvSpPr>
        <p:spPr>
          <a:xfrm>
            <a:off x="9098280" y="2286000"/>
            <a:ext cx="237744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2 → 8</a:t>
            </a:r>
            <a:endParaRPr lang="en-US" sz="3400" dirty="0"/>
          </a:p>
        </p:txBody>
      </p:sp>
      <p:sp>
        <p:nvSpPr>
          <p:cNvPr id="9" name="Text 5"/>
          <p:cNvSpPr txBox="1"/>
          <p:nvPr/>
        </p:nvSpPr>
        <p:spPr>
          <a:xfrm>
            <a:off x="9098280" y="2999232"/>
            <a:ext cx="2377440" cy="548640"/>
          </a:xfrm>
          <a:prstGeom prst="rect">
            <a:avLst/>
          </a:prstGeom>
          <a:noFill/>
          <a:ln/>
        </p:spPr>
        <p:txBody>
          <a:bodyPr wrap="square" lIns="0" tIns="0" rIns="0" bIns="0" rtlCol="0" anchor="t"/>
          <a:lstStyle/>
          <a:p>
            <a:pPr marL="0" indent="0">
              <a:buNone/>
            </a:pPr>
            <a:r>
              <a:rPr lang="en-US" sz="1300" dirty="0">
                <a:solidFill>
                  <a:schemeClr val="accent5"/>
                </a:solidFill>
              </a:rPr>
              <a:t>countries (US, Canada → + Japan/India, Thailand, Brazil, Mexico, France)</a:t>
            </a:r>
            <a:endParaRPr lang="en-US" sz="1300" dirty="0"/>
          </a:p>
        </p:txBody>
      </p:sp>
      <p:sp>
        <p:nvSpPr>
          <p:cNvPr id="10" name="Text 6"/>
          <p:cNvSpPr txBox="1"/>
          <p:nvPr/>
        </p:nvSpPr>
        <p:spPr>
          <a:xfrm>
            <a:off x="9098280" y="3520440"/>
            <a:ext cx="237744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0% → 47%</a:t>
            </a:r>
            <a:endParaRPr lang="en-US" sz="3400" dirty="0"/>
          </a:p>
        </p:txBody>
      </p:sp>
      <p:sp>
        <p:nvSpPr>
          <p:cNvPr id="11" name="Text 7"/>
          <p:cNvSpPr txBox="1"/>
          <p:nvPr/>
        </p:nvSpPr>
        <p:spPr>
          <a:xfrm>
            <a:off x="9098280" y="4233672"/>
            <a:ext cx="2377440" cy="548640"/>
          </a:xfrm>
          <a:prstGeom prst="rect">
            <a:avLst/>
          </a:prstGeom>
          <a:noFill/>
          <a:ln/>
        </p:spPr>
        <p:txBody>
          <a:bodyPr wrap="square" lIns="0" tIns="0" rIns="0" bIns="0" rtlCol="0" anchor="t"/>
          <a:lstStyle/>
          <a:p>
            <a:pPr marL="0" indent="0">
              <a:buNone/>
            </a:pPr>
            <a:r>
              <a:rPr lang="en-US" sz="1300" dirty="0">
                <a:solidFill>
                  <a:schemeClr val="accent5"/>
                </a:solidFill>
              </a:rPr>
              <a:t>revenue from outside US/Canada by Year 7</a:t>
            </a:r>
            <a:endParaRPr lang="en-US" sz="1300" dirty="0"/>
          </a:p>
        </p:txBody>
      </p:sp>
      <p:sp>
        <p:nvSpPr>
          <p:cNvPr id="12" name="Text 8"/>
          <p:cNvSpPr txBox="1"/>
          <p:nvPr/>
        </p:nvSpPr>
        <p:spPr>
          <a:xfrm>
            <a:off x="9098280" y="4846320"/>
            <a:ext cx="2377440" cy="1143000"/>
          </a:xfrm>
          <a:prstGeom prst="rect">
            <a:avLst/>
          </a:prstGeom>
          <a:noFill/>
          <a:ln/>
        </p:spPr>
        <p:txBody>
          <a:bodyPr wrap="square" lIns="0" tIns="0" rIns="0" bIns="0" rtlCol="0" anchor="t"/>
          <a:lstStyle/>
          <a:p>
            <a:pPr marL="0" indent="0">
              <a:buNone/>
            </a:pPr>
            <a:r>
              <a:rPr lang="en-US" sz="1100" i="1" dirty="0">
                <a:solidFill>
                  <a:schemeClr val="accent4"/>
                </a:solidFill>
              </a:rPr>
              <a:t>Assumption: the case does not define ‘global’. We define it as 4+ continents and ~half of revenue from new markets by Year 7.</a:t>
            </a:r>
            <a:endParaRPr lang="en-US" sz="11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Commodity prices are the core volatility risk</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Large-egg price doubled in one year (CV 21%); specialty pricing is negotiated and steadier</a:t>
            </a:r>
            <a:endParaRPr lang="en-US" sz="1600" dirty="0"/>
          </a:p>
        </p:txBody>
      </p:sp>
      <p:graphicFrame>
        <p:nvGraphicFramePr>
          <p:cNvPr id="4" name="Chart 0"/>
          <p:cNvGraphicFramePr/>
          <p:nvPr/>
        </p:nvGraphicFramePr>
        <p:xfrm>
          <a:off x="548640" y="1600200"/>
          <a:ext cx="67665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680960" y="1600200"/>
            <a:ext cx="393192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$1.67</a:t>
            </a:r>
            <a:endParaRPr lang="en-US" sz="3400" dirty="0"/>
          </a:p>
        </p:txBody>
      </p:sp>
      <p:sp>
        <p:nvSpPr>
          <p:cNvPr id="6" name="Text 3"/>
          <p:cNvSpPr txBox="1"/>
          <p:nvPr/>
        </p:nvSpPr>
        <p:spPr>
          <a:xfrm>
            <a:off x="7680960" y="2313432"/>
            <a:ext cx="3931920" cy="548640"/>
          </a:xfrm>
          <a:prstGeom prst="rect">
            <a:avLst/>
          </a:prstGeom>
          <a:noFill/>
          <a:ln/>
        </p:spPr>
        <p:txBody>
          <a:bodyPr wrap="square" lIns="0" tIns="0" rIns="0" bIns="0" rtlCol="0" anchor="t"/>
          <a:lstStyle/>
          <a:p>
            <a:pPr marL="0" indent="0">
              <a:buNone/>
            </a:pPr>
            <a:r>
              <a:rPr lang="en-US" sz="1300" dirty="0">
                <a:solidFill>
                  <a:schemeClr val="accent5"/>
                </a:solidFill>
              </a:rPr>
              <a:t>mean price (median $1.79)</a:t>
            </a:r>
            <a:endParaRPr lang="en-US" sz="1300" dirty="0"/>
          </a:p>
        </p:txBody>
      </p:sp>
      <p:sp>
        <p:nvSpPr>
          <p:cNvPr id="7" name="Text 4"/>
          <p:cNvSpPr txBox="1"/>
          <p:nvPr/>
        </p:nvSpPr>
        <p:spPr>
          <a:xfrm>
            <a:off x="7680960" y="2788920"/>
            <a:ext cx="393192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±$0.35</a:t>
            </a:r>
            <a:endParaRPr lang="en-US" sz="3400" dirty="0"/>
          </a:p>
        </p:txBody>
      </p:sp>
      <p:sp>
        <p:nvSpPr>
          <p:cNvPr id="8" name="Text 5"/>
          <p:cNvSpPr txBox="1"/>
          <p:nvPr/>
        </p:nvSpPr>
        <p:spPr>
          <a:xfrm>
            <a:off x="7680960" y="3502152"/>
            <a:ext cx="3931920" cy="548640"/>
          </a:xfrm>
          <a:prstGeom prst="rect">
            <a:avLst/>
          </a:prstGeom>
          <a:noFill/>
          <a:ln/>
        </p:spPr>
        <p:txBody>
          <a:bodyPr wrap="square" lIns="0" tIns="0" rIns="0" bIns="0" rtlCol="0" anchor="t"/>
          <a:lstStyle/>
          <a:p>
            <a:pPr marL="0" indent="0">
              <a:buNone/>
            </a:pPr>
            <a:r>
              <a:rPr lang="en-US" sz="1300" dirty="0">
                <a:solidFill>
                  <a:schemeClr val="accent5"/>
                </a:solidFill>
              </a:rPr>
              <a:t>standard deviation; CV = 20.8%</a:t>
            </a:r>
            <a:endParaRPr lang="en-US" sz="1300" dirty="0"/>
          </a:p>
        </p:txBody>
      </p:sp>
      <p:sp>
        <p:nvSpPr>
          <p:cNvPr id="9" name="Text 6"/>
          <p:cNvSpPr txBox="1"/>
          <p:nvPr/>
        </p:nvSpPr>
        <p:spPr>
          <a:xfrm>
            <a:off x="7680960" y="3977640"/>
            <a:ext cx="3931920" cy="685800"/>
          </a:xfrm>
          <a:prstGeom prst="rect">
            <a:avLst/>
          </a:prstGeom>
          <a:noFill/>
          <a:ln/>
        </p:spPr>
        <p:txBody>
          <a:bodyPr wrap="square" lIns="0" tIns="0" rIns="0" bIns="0" rtlCol="0" anchor="b"/>
          <a:lstStyle/>
          <a:p>
            <a:pPr marL="0" indent="0">
              <a:buNone/>
            </a:pPr>
            <a:r>
              <a:rPr lang="en-US" sz="3400" b="1" dirty="0">
                <a:solidFill>
                  <a:schemeClr val="accent4"/>
                </a:solidFill>
                <a:latin typeface="Cambria" pitchFamily="34" charset="0"/>
                <a:ea typeface="Cambria" pitchFamily="34" charset="-122"/>
                <a:cs typeface="Cambria" pitchFamily="34" charset="-120"/>
              </a:rPr>
              <a:t>+101%</a:t>
            </a:r>
            <a:endParaRPr lang="en-US" sz="3400" dirty="0"/>
          </a:p>
        </p:txBody>
      </p:sp>
      <p:sp>
        <p:nvSpPr>
          <p:cNvPr id="10" name="Text 7"/>
          <p:cNvSpPr txBox="1"/>
          <p:nvPr/>
        </p:nvSpPr>
        <p:spPr>
          <a:xfrm>
            <a:off x="7680960" y="4690872"/>
            <a:ext cx="3931920" cy="548640"/>
          </a:xfrm>
          <a:prstGeom prst="rect">
            <a:avLst/>
          </a:prstGeom>
          <a:noFill/>
          <a:ln/>
        </p:spPr>
        <p:txBody>
          <a:bodyPr wrap="square" lIns="0" tIns="0" rIns="0" bIns="0" rtlCol="0" anchor="t"/>
          <a:lstStyle/>
          <a:p>
            <a:pPr marL="0" indent="0">
              <a:buNone/>
            </a:pPr>
            <a:r>
              <a:rPr lang="en-US" sz="1300" dirty="0">
                <a:solidFill>
                  <a:schemeClr val="accent5"/>
                </a:solidFill>
              </a:rPr>
              <a:t>Q1 → Q4 change ($0.98 → $1.97)</a:t>
            </a:r>
            <a:endParaRPr lang="en-US" sz="1300" dirty="0"/>
          </a:p>
        </p:txBody>
      </p:sp>
      <p:sp>
        <p:nvSpPr>
          <p:cNvPr id="11" name="Card"/>
          <p:cNvSpPr/>
          <p:nvPr/>
        </p:nvSpPr>
        <p:spPr>
          <a:xfrm>
            <a:off x="7680960" y="5257800"/>
            <a:ext cx="3931920" cy="960120"/>
          </a:xfrm>
          <a:prstGeom prst="roundRect">
            <a:avLst>
              <a:gd name="adj" fmla="val 7619"/>
            </a:avLst>
          </a:prstGeom>
          <a:solidFill>
            <a:schemeClr val="bg2"/>
          </a:solidFill>
          <a:ln w="12700">
            <a:solidFill>
              <a:schemeClr val="bg2"/>
            </a:solidFill>
            <a:prstDash val="solid"/>
          </a:ln>
        </p:spPr>
        <p:txBody>
          <a:bodyPr/>
          <a:lstStyle/>
          <a:p>
            <a:endParaRPr lang="zh-SG" altLang="en-US"/>
          </a:p>
        </p:txBody>
      </p:sp>
      <p:sp>
        <p:nvSpPr>
          <p:cNvPr id="12" name="Text 9"/>
          <p:cNvSpPr txBox="1"/>
          <p:nvPr/>
        </p:nvSpPr>
        <p:spPr>
          <a:xfrm>
            <a:off x="7818120" y="5257800"/>
            <a:ext cx="3703320" cy="960120"/>
          </a:xfrm>
          <a:prstGeom prst="rect">
            <a:avLst/>
          </a:prstGeom>
          <a:noFill/>
          <a:ln/>
        </p:spPr>
        <p:txBody>
          <a:bodyPr wrap="square" lIns="0" tIns="0" rIns="0" bIns="0" rtlCol="0" anchor="ctr"/>
          <a:lstStyle/>
          <a:p>
            <a:pPr marL="0" indent="0">
              <a:buNone/>
            </a:pPr>
            <a:r>
              <a:rPr lang="en-US" sz="1200" dirty="0">
                <a:solidFill>
                  <a:schemeClr val="tx1"/>
                </a:solidFill>
              </a:rPr>
              <a:t>BLS: record average retail price $4.95/dozen (Jan 2025). Avian flu: ~18.8M layers lost in Jan 2025; ~43M in Jan–Feb (Farm Bureau est.)</a:t>
            </a:r>
            <a:endParaRPr lang="en-US" sz="1200" dirty="0"/>
          </a:p>
        </p:txBody>
      </p:sp>
      <p:sp>
        <p:nvSpPr>
          <p:cNvPr id="13"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Sources: case Figure 1 (weekly values read from the chart, approximate); BLS via The Hill (2025); USDA and Farm Bureau figures via Capital FM (2025).</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Domestic levers: which dollar works hardest?</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Processing plants give the best profit; cage-free conversion is the cheapest way to shift the mix</a:t>
            </a:r>
            <a:endParaRPr lang="en-US" sz="1600" dirty="0"/>
          </a:p>
        </p:txBody>
      </p:sp>
      <p:graphicFrame>
        <p:nvGraphicFramePr>
          <p:cNvPr id="4" name="Chart 0"/>
          <p:cNvGraphicFramePr/>
          <p:nvPr/>
        </p:nvGraphicFramePr>
        <p:xfrm>
          <a:off x="548640" y="1600200"/>
          <a:ext cx="56692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6492240" y="1645920"/>
            <a:ext cx="51206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6675120" y="1737360"/>
            <a:ext cx="3291840" cy="365760"/>
          </a:xfrm>
          <a:prstGeom prst="rect">
            <a:avLst/>
          </a:prstGeom>
          <a:noFill/>
          <a:ln/>
        </p:spPr>
        <p:txBody>
          <a:bodyPr wrap="square" lIns="0" tIns="0" rIns="0" bIns="0" rtlCol="0" anchor="ctr"/>
          <a:lstStyle/>
          <a:p>
            <a:pPr marL="0" indent="0">
              <a:buNone/>
            </a:pPr>
            <a:r>
              <a:rPr lang="en-US" sz="1600" b="1" dirty="0">
                <a:solidFill>
                  <a:schemeClr val="tx2"/>
                </a:solidFill>
              </a:rPr>
              <a:t>Marketing +0.25% of revenue</a:t>
            </a:r>
            <a:endParaRPr lang="en-US" sz="1600" dirty="0"/>
          </a:p>
        </p:txBody>
      </p:sp>
      <p:sp>
        <p:nvSpPr>
          <p:cNvPr id="7" name="Text 4"/>
          <p:cNvSpPr txBox="1"/>
          <p:nvPr/>
        </p:nvSpPr>
        <p:spPr>
          <a:xfrm>
            <a:off x="9966960" y="1737360"/>
            <a:ext cx="1508760" cy="365760"/>
          </a:xfrm>
          <a:prstGeom prst="rect">
            <a:avLst/>
          </a:prstGeom>
          <a:noFill/>
          <a:ln/>
        </p:spPr>
        <p:txBody>
          <a:bodyPr wrap="square" lIns="0" tIns="0" rIns="0" bIns="0" rtlCol="0" anchor="ctr"/>
          <a:lstStyle/>
          <a:p>
            <a:pPr marL="0" indent="0" algn="r">
              <a:buNone/>
            </a:pPr>
            <a:r>
              <a:rPr lang="en-US" sz="1200" b="1" dirty="0">
                <a:solidFill>
                  <a:schemeClr val="accent4"/>
                </a:solidFill>
              </a:rPr>
              <a:t>Use, but gate on KPI</a:t>
            </a:r>
            <a:endParaRPr lang="en-US" sz="1200" dirty="0"/>
          </a:p>
        </p:txBody>
      </p:sp>
      <p:sp>
        <p:nvSpPr>
          <p:cNvPr id="8" name="Text 5"/>
          <p:cNvSpPr txBox="1"/>
          <p:nvPr/>
        </p:nvSpPr>
        <p:spPr>
          <a:xfrm>
            <a:off x="6675120" y="2121408"/>
            <a:ext cx="4800600" cy="777240"/>
          </a:xfrm>
          <a:prstGeom prst="rect">
            <a:avLst/>
          </a:prstGeom>
          <a:noFill/>
          <a:ln/>
        </p:spPr>
        <p:txBody>
          <a:bodyPr wrap="square" lIns="0" tIns="0" rIns="0" bIns="0" rtlCol="0" anchor="t"/>
          <a:lstStyle/>
          <a:p>
            <a:pPr marL="0" indent="0">
              <a:buNone/>
            </a:pPr>
            <a:r>
              <a:rPr lang="en-US" sz="1300" dirty="0">
                <a:solidFill>
                  <a:schemeClr val="tx1"/>
                </a:solidFill>
              </a:rPr>
              <a:t>~$5.8M/yr → +6% specialty (+$34.6M). Profit $6.9M − cost $5.8M ≈ +$1.1M/yr</a:t>
            </a:r>
            <a:endParaRPr lang="en-US" sz="1300" dirty="0"/>
          </a:p>
        </p:txBody>
      </p:sp>
      <p:sp>
        <p:nvSpPr>
          <p:cNvPr id="9" name="Card"/>
          <p:cNvSpPr/>
          <p:nvPr/>
        </p:nvSpPr>
        <p:spPr>
          <a:xfrm>
            <a:off x="6492240" y="3154680"/>
            <a:ext cx="51206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10" name="Text 7"/>
          <p:cNvSpPr txBox="1"/>
          <p:nvPr/>
        </p:nvSpPr>
        <p:spPr>
          <a:xfrm>
            <a:off x="6675120" y="3246120"/>
            <a:ext cx="3291840" cy="365760"/>
          </a:xfrm>
          <a:prstGeom prst="rect">
            <a:avLst/>
          </a:prstGeom>
          <a:noFill/>
          <a:ln/>
        </p:spPr>
        <p:txBody>
          <a:bodyPr wrap="square" lIns="0" tIns="0" rIns="0" bIns="0" rtlCol="0" anchor="ctr"/>
          <a:lstStyle/>
          <a:p>
            <a:pPr marL="0" indent="0">
              <a:buNone/>
            </a:pPr>
            <a:r>
              <a:rPr lang="en-US" sz="1600" b="1" dirty="0">
                <a:solidFill>
                  <a:schemeClr val="tx2"/>
                </a:solidFill>
              </a:rPr>
              <a:t>Cage-free conversion</a:t>
            </a:r>
            <a:endParaRPr lang="en-US" sz="1600" dirty="0"/>
          </a:p>
        </p:txBody>
      </p:sp>
      <p:sp>
        <p:nvSpPr>
          <p:cNvPr id="11" name="Text 8"/>
          <p:cNvSpPr txBox="1"/>
          <p:nvPr/>
        </p:nvSpPr>
        <p:spPr>
          <a:xfrm>
            <a:off x="9966960" y="3246120"/>
            <a:ext cx="1508760" cy="365760"/>
          </a:xfrm>
          <a:prstGeom prst="rect">
            <a:avLst/>
          </a:prstGeom>
          <a:noFill/>
          <a:ln/>
        </p:spPr>
        <p:txBody>
          <a:bodyPr wrap="square" lIns="0" tIns="0" rIns="0" bIns="0" rtlCol="0" anchor="ctr"/>
          <a:lstStyle/>
          <a:p>
            <a:pPr marL="0" indent="0" algn="r">
              <a:buNone/>
            </a:pPr>
            <a:r>
              <a:rPr lang="en-US" sz="1200" b="1" dirty="0">
                <a:solidFill>
                  <a:schemeClr val="accent4"/>
                </a:solidFill>
              </a:rPr>
              <a:t>Best mix lever</a:t>
            </a:r>
            <a:endParaRPr lang="en-US" sz="1200" dirty="0"/>
          </a:p>
        </p:txBody>
      </p:sp>
      <p:sp>
        <p:nvSpPr>
          <p:cNvPr id="12" name="Text 9"/>
          <p:cNvSpPr txBox="1"/>
          <p:nvPr/>
        </p:nvSpPr>
        <p:spPr>
          <a:xfrm>
            <a:off x="6675120" y="3630168"/>
            <a:ext cx="4800600" cy="777240"/>
          </a:xfrm>
          <a:prstGeom prst="rect">
            <a:avLst/>
          </a:prstGeom>
          <a:noFill/>
          <a:ln/>
        </p:spPr>
        <p:txBody>
          <a:bodyPr wrap="square" lIns="0" tIns="0" rIns="0" bIns="0" rtlCol="0" anchor="t"/>
          <a:lstStyle/>
          <a:p>
            <a:pPr marL="0" indent="0">
              <a:buNone/>
            </a:pPr>
            <a:r>
              <a:rPr lang="en-US" sz="1300" dirty="0">
                <a:solidFill>
                  <a:schemeClr val="tx1"/>
                </a:solidFill>
              </a:rPr>
              <a:t>$1M shifts $5M from commodity to specialty; margin 12.4% → 15%</a:t>
            </a:r>
            <a:endParaRPr lang="en-US" sz="1300" dirty="0"/>
          </a:p>
        </p:txBody>
      </p:sp>
      <p:sp>
        <p:nvSpPr>
          <p:cNvPr id="13" name="Card"/>
          <p:cNvSpPr/>
          <p:nvPr/>
        </p:nvSpPr>
        <p:spPr>
          <a:xfrm>
            <a:off x="6492240" y="4663440"/>
            <a:ext cx="51206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14" name="Text 11"/>
          <p:cNvSpPr txBox="1"/>
          <p:nvPr/>
        </p:nvSpPr>
        <p:spPr>
          <a:xfrm>
            <a:off x="6675120" y="4754880"/>
            <a:ext cx="3291840" cy="365760"/>
          </a:xfrm>
          <a:prstGeom prst="rect">
            <a:avLst/>
          </a:prstGeom>
          <a:noFill/>
          <a:ln/>
        </p:spPr>
        <p:txBody>
          <a:bodyPr wrap="square" lIns="0" tIns="0" rIns="0" bIns="0" rtlCol="0" anchor="ctr"/>
          <a:lstStyle/>
          <a:p>
            <a:pPr marL="0" indent="0">
              <a:buNone/>
            </a:pPr>
            <a:r>
              <a:rPr lang="en-US" sz="1600" b="1" dirty="0">
                <a:solidFill>
                  <a:schemeClr val="tx2"/>
                </a:solidFill>
              </a:rPr>
              <a:t>Egg-product plant</a:t>
            </a:r>
            <a:endParaRPr lang="en-US" sz="1600" dirty="0"/>
          </a:p>
        </p:txBody>
      </p:sp>
      <p:sp>
        <p:nvSpPr>
          <p:cNvPr id="15" name="Text 12"/>
          <p:cNvSpPr txBox="1"/>
          <p:nvPr/>
        </p:nvSpPr>
        <p:spPr>
          <a:xfrm>
            <a:off x="9966960" y="4754880"/>
            <a:ext cx="1508760" cy="365760"/>
          </a:xfrm>
          <a:prstGeom prst="rect">
            <a:avLst/>
          </a:prstGeom>
          <a:noFill/>
          <a:ln/>
        </p:spPr>
        <p:txBody>
          <a:bodyPr wrap="square" lIns="0" tIns="0" rIns="0" bIns="0" rtlCol="0" anchor="ctr"/>
          <a:lstStyle/>
          <a:p>
            <a:pPr marL="0" indent="0" algn="r">
              <a:buNone/>
            </a:pPr>
            <a:r>
              <a:rPr lang="en-US" sz="1200" b="1" dirty="0">
                <a:solidFill>
                  <a:schemeClr val="accent4"/>
                </a:solidFill>
              </a:rPr>
              <a:t>Best profit lever</a:t>
            </a:r>
            <a:endParaRPr lang="en-US" sz="1200" dirty="0"/>
          </a:p>
        </p:txBody>
      </p:sp>
      <p:sp>
        <p:nvSpPr>
          <p:cNvPr id="16" name="Text 13"/>
          <p:cNvSpPr txBox="1"/>
          <p:nvPr/>
        </p:nvSpPr>
        <p:spPr>
          <a:xfrm>
            <a:off x="6675120" y="5138928"/>
            <a:ext cx="4800600" cy="777240"/>
          </a:xfrm>
          <a:prstGeom prst="rect">
            <a:avLst/>
          </a:prstGeom>
          <a:noFill/>
          <a:ln/>
        </p:spPr>
        <p:txBody>
          <a:bodyPr wrap="square" lIns="0" tIns="0" rIns="0" bIns="0" rtlCol="0" anchor="t"/>
          <a:lstStyle/>
          <a:p>
            <a:pPr marL="0" indent="0">
              <a:buNone/>
            </a:pPr>
            <a:r>
              <a:rPr lang="en-US" sz="1300" dirty="0">
                <a:solidFill>
                  <a:schemeClr val="tx1"/>
                </a:solidFill>
              </a:rPr>
              <a:t>$25M adds $50M new specialty revenue at 20% profit</a:t>
            </a:r>
            <a:endParaRPr lang="en-US" sz="1300" dirty="0"/>
          </a:p>
        </p:txBody>
      </p:sp>
      <p:sp>
        <p:nvSpPr>
          <p:cNvPr id="17" name="Text 14"/>
          <p:cNvSpPr txBox="1"/>
          <p:nvPr/>
        </p:nvSpPr>
        <p:spPr>
          <a:xfrm>
            <a:off x="548640" y="5669280"/>
            <a:ext cx="5669280" cy="594360"/>
          </a:xfrm>
          <a:prstGeom prst="rect">
            <a:avLst/>
          </a:prstGeom>
          <a:noFill/>
          <a:ln/>
        </p:spPr>
        <p:txBody>
          <a:bodyPr wrap="square" lIns="0" tIns="0" rIns="0" bIns="0" rtlCol="0" anchor="t"/>
          <a:lstStyle/>
          <a:p>
            <a:pPr marL="0" indent="0">
              <a:buNone/>
            </a:pPr>
            <a:r>
              <a:rPr lang="en-US" sz="1200" i="1" dirty="0">
                <a:solidFill>
                  <a:schemeClr val="accent4"/>
                </a:solidFill>
              </a:rPr>
              <a:t>Assumption: the case says +0.25% marketing gives a ‘6% upside’; we read this as +6% of specialty revenue, not +6 points of share.</a:t>
            </a:r>
            <a:endParaRPr lang="en-US" sz="1200" dirty="0"/>
          </a:p>
        </p:txBody>
      </p:sp>
      <p:sp>
        <p:nvSpPr>
          <p:cNvPr id="18"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 lever costs and yields from the case; profit calculations by the group (marketing based on current revenue $2,337M and specialty $576M).</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Goal 2: specialty reaches 34% by Year 3</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Four levers lift US specialty revenue from $576M to $858M while commodity falls to $1,661M</a:t>
            </a:r>
            <a:endParaRPr lang="en-US" sz="1600" dirty="0"/>
          </a:p>
        </p:txBody>
      </p:sp>
      <p:graphicFrame>
        <p:nvGraphicFramePr>
          <p:cNvPr id="4" name="Chart 0"/>
          <p:cNvGraphicFramePr/>
          <p:nvPr/>
        </p:nvGraphicFramePr>
        <p:xfrm>
          <a:off x="548640" y="1600200"/>
          <a:ext cx="6035040" cy="4023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858000" y="1600200"/>
          <a:ext cx="475488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txBox="1"/>
          <p:nvPr/>
        </p:nvSpPr>
        <p:spPr>
          <a:xfrm>
            <a:off x="548640" y="5669280"/>
            <a:ext cx="11064240" cy="457200"/>
          </a:xfrm>
          <a:prstGeom prst="rect">
            <a:avLst/>
          </a:prstGeom>
          <a:noFill/>
          <a:ln/>
        </p:spPr>
        <p:txBody>
          <a:bodyPr wrap="square" lIns="0" tIns="0" rIns="0" bIns="0" rtlCol="0" anchor="t"/>
          <a:lstStyle/>
          <a:p>
            <a:pPr marL="0" indent="0">
              <a:buNone/>
            </a:pPr>
            <a:r>
              <a:rPr lang="en-US" sz="1200" i="1" dirty="0">
                <a:solidFill>
                  <a:schemeClr val="accent4"/>
                </a:solidFill>
              </a:rPr>
              <a:t>Assumption: marketing = +6% of specialty revenue (our reading of the case); commodity held flat except converted volume.</a:t>
            </a:r>
            <a:endParaRPr lang="en-US" sz="1200" dirty="0"/>
          </a:p>
        </p:txBody>
      </p:sp>
      <p:sp>
        <p:nvSpPr>
          <p:cNvPr id="7"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Sources: group model from case data; specialty market growth 2.5%/yr (case). External: US cage-free flock 38.8% of table-egg layers in Nov 2023 (USDA report, Dec 2023, via O’Keefe, 2024).</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Screening 20 international targets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Asia offers scale at low multiples; North American targets are large but expensive</a:t>
            </a:r>
            <a:endParaRPr lang="en-US" sz="1600" dirty="0"/>
          </a:p>
        </p:txBody>
      </p:sp>
      <p:graphicFrame>
        <p:nvGraphicFramePr>
          <p:cNvPr id="4" name="Chart 0"/>
          <p:cNvGraphicFramePr/>
          <p:nvPr/>
        </p:nvGraphicFramePr>
        <p:xfrm>
          <a:off x="548640" y="1600200"/>
          <a:ext cx="41148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846320" y="1600200"/>
          <a:ext cx="411480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6" name="Card"/>
          <p:cNvSpPr/>
          <p:nvPr/>
        </p:nvSpPr>
        <p:spPr>
          <a:xfrm>
            <a:off x="9144000" y="1691640"/>
            <a:ext cx="2468880" cy="4343400"/>
          </a:xfrm>
          <a:prstGeom prst="roundRect">
            <a:avLst>
              <a:gd name="adj" fmla="val 2963"/>
            </a:avLst>
          </a:prstGeom>
          <a:solidFill>
            <a:schemeClr val="bg2"/>
          </a:solidFill>
          <a:ln w="12700">
            <a:solidFill>
              <a:schemeClr val="bg2"/>
            </a:solidFill>
            <a:prstDash val="solid"/>
          </a:ln>
        </p:spPr>
        <p:txBody>
          <a:bodyPr/>
          <a:lstStyle/>
          <a:p>
            <a:endParaRPr lang="zh-SG" altLang="en-US"/>
          </a:p>
        </p:txBody>
      </p:sp>
      <p:sp>
        <p:nvSpPr>
          <p:cNvPr id="7" name="Text 3"/>
          <p:cNvSpPr txBox="1"/>
          <p:nvPr/>
        </p:nvSpPr>
        <p:spPr>
          <a:xfrm>
            <a:off x="9326880" y="1783080"/>
            <a:ext cx="214884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$504M</a:t>
            </a:r>
            <a:endParaRPr lang="en-US" sz="3400" dirty="0"/>
          </a:p>
        </p:txBody>
      </p:sp>
      <p:sp>
        <p:nvSpPr>
          <p:cNvPr id="8" name="Text 4"/>
          <p:cNvSpPr txBox="1"/>
          <p:nvPr/>
        </p:nvSpPr>
        <p:spPr>
          <a:xfrm>
            <a:off x="9326880" y="2496312"/>
            <a:ext cx="2148840" cy="548640"/>
          </a:xfrm>
          <a:prstGeom prst="rect">
            <a:avLst/>
          </a:prstGeom>
          <a:noFill/>
          <a:ln/>
        </p:spPr>
        <p:txBody>
          <a:bodyPr wrap="square" lIns="0" tIns="0" rIns="0" bIns="0" rtlCol="0" anchor="t"/>
          <a:lstStyle/>
          <a:p>
            <a:pPr marL="0" indent="0">
              <a:buNone/>
            </a:pPr>
            <a:r>
              <a:rPr lang="en-US" sz="1300" dirty="0">
                <a:solidFill>
                  <a:schemeClr val="accent5"/>
                </a:solidFill>
              </a:rPr>
              <a:t>mean revenue of 20 firms (median $375M, SD $346M)</a:t>
            </a:r>
            <a:endParaRPr lang="en-US" sz="1300" dirty="0"/>
          </a:p>
        </p:txBody>
      </p:sp>
      <p:sp>
        <p:nvSpPr>
          <p:cNvPr id="9" name="Text 5"/>
          <p:cNvSpPr txBox="1"/>
          <p:nvPr/>
        </p:nvSpPr>
        <p:spPr>
          <a:xfrm>
            <a:off x="9326880" y="3154680"/>
            <a:ext cx="214884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5.0%</a:t>
            </a:r>
            <a:endParaRPr lang="en-US" sz="3400" dirty="0"/>
          </a:p>
        </p:txBody>
      </p:sp>
      <p:sp>
        <p:nvSpPr>
          <p:cNvPr id="10" name="Text 6"/>
          <p:cNvSpPr txBox="1"/>
          <p:nvPr/>
        </p:nvSpPr>
        <p:spPr>
          <a:xfrm>
            <a:off x="9326880" y="3867912"/>
            <a:ext cx="2148840" cy="548640"/>
          </a:xfrm>
          <a:prstGeom prst="rect">
            <a:avLst/>
          </a:prstGeom>
          <a:noFill/>
          <a:ln/>
        </p:spPr>
        <p:txBody>
          <a:bodyPr wrap="square" lIns="0" tIns="0" rIns="0" bIns="0" rtlCol="0" anchor="t"/>
          <a:lstStyle/>
          <a:p>
            <a:pPr marL="0" indent="0">
              <a:buNone/>
            </a:pPr>
            <a:r>
              <a:rPr lang="en-US" sz="1300" dirty="0">
                <a:solidFill>
                  <a:schemeClr val="accent5"/>
                </a:solidFill>
              </a:rPr>
              <a:t>EBITA margin for 19 of 20 firms</a:t>
            </a:r>
            <a:endParaRPr lang="en-US" sz="1300" dirty="0"/>
          </a:p>
        </p:txBody>
      </p:sp>
      <p:sp>
        <p:nvSpPr>
          <p:cNvPr id="11" name="Text 7"/>
          <p:cNvSpPr txBox="1"/>
          <p:nvPr/>
        </p:nvSpPr>
        <p:spPr>
          <a:xfrm>
            <a:off x="9326880" y="4526280"/>
            <a:ext cx="214884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7.0x</a:t>
            </a:r>
            <a:endParaRPr lang="en-US" sz="3400" dirty="0"/>
          </a:p>
        </p:txBody>
      </p:sp>
      <p:sp>
        <p:nvSpPr>
          <p:cNvPr id="12" name="Text 8"/>
          <p:cNvSpPr txBox="1"/>
          <p:nvPr/>
        </p:nvSpPr>
        <p:spPr>
          <a:xfrm>
            <a:off x="9326880" y="5239512"/>
            <a:ext cx="2148840" cy="548640"/>
          </a:xfrm>
          <a:prstGeom prst="rect">
            <a:avLst/>
          </a:prstGeom>
          <a:noFill/>
          <a:ln/>
        </p:spPr>
        <p:txBody>
          <a:bodyPr wrap="square" lIns="0" tIns="0" rIns="0" bIns="0" rtlCol="0" anchor="t"/>
          <a:lstStyle/>
          <a:p>
            <a:pPr marL="0" indent="0">
              <a:buNone/>
            </a:pPr>
            <a:r>
              <a:rPr lang="en-US" sz="1300" dirty="0">
                <a:solidFill>
                  <a:schemeClr val="accent5"/>
                </a:solidFill>
              </a:rPr>
              <a:t>mean EV/EBITA (median 5.7x, SD 4.1x)</a:t>
            </a:r>
            <a:endParaRPr lang="en-US" sz="1300" dirty="0"/>
          </a:p>
        </p:txBody>
      </p:sp>
      <p:sp>
        <p:nvSpPr>
          <p:cNvPr id="13"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 case Tables 3–6. EV = midpoint of acquisition cost range. JBS Eggs (China) has no price and is JV-only, so multiples use 19 firms.</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Cheap targets are cheap for a reason</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Strong negative correlation (r = −0.76): a pattern, not proof of cause</a:t>
            </a:r>
            <a:endParaRPr lang="en-US" sz="1600" dirty="0"/>
          </a:p>
        </p:txBody>
      </p:sp>
      <p:graphicFrame>
        <p:nvGraphicFramePr>
          <p:cNvPr id="4" name="Chart 0"/>
          <p:cNvGraphicFramePr/>
          <p:nvPr/>
        </p:nvGraphicFramePr>
        <p:xfrm>
          <a:off x="548640" y="1600200"/>
          <a:ext cx="694944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863840" y="1691640"/>
            <a:ext cx="3749040" cy="411480"/>
          </a:xfrm>
          <a:prstGeom prst="rect">
            <a:avLst/>
          </a:prstGeom>
          <a:noFill/>
          <a:ln/>
        </p:spPr>
        <p:txBody>
          <a:bodyPr wrap="square" lIns="0" tIns="0" rIns="0" bIns="0" rtlCol="0" anchor="ctr"/>
          <a:lstStyle/>
          <a:p>
            <a:pPr marL="0" indent="0">
              <a:buNone/>
            </a:pPr>
            <a:r>
              <a:rPr lang="en-US" sz="1800" b="1" dirty="0">
                <a:solidFill>
                  <a:schemeClr val="accent4"/>
                </a:solidFill>
                <a:latin typeface="Cambria" pitchFamily="34" charset="0"/>
                <a:ea typeface="Cambria" pitchFamily="34" charset="-122"/>
                <a:cs typeface="Cambria" pitchFamily="34" charset="-120"/>
              </a:rPr>
              <a:t>Bargains we reject</a:t>
            </a:r>
            <a:endParaRPr lang="en-US" sz="1800" dirty="0"/>
          </a:p>
        </p:txBody>
      </p:sp>
      <p:sp>
        <p:nvSpPr>
          <p:cNvPr id="6" name="Card"/>
          <p:cNvSpPr/>
          <p:nvPr/>
        </p:nvSpPr>
        <p:spPr>
          <a:xfrm>
            <a:off x="7863840" y="2240280"/>
            <a:ext cx="3749040" cy="822960"/>
          </a:xfrm>
          <a:prstGeom prst="roundRect">
            <a:avLst>
              <a:gd name="adj" fmla="val 8889"/>
            </a:avLst>
          </a:prstGeom>
          <a:solidFill>
            <a:schemeClr val="bg2"/>
          </a:solidFill>
          <a:ln w="12700">
            <a:solidFill>
              <a:schemeClr val="bg2"/>
            </a:solidFill>
            <a:prstDash val="solid"/>
          </a:ln>
        </p:spPr>
        <p:txBody>
          <a:bodyPr/>
          <a:lstStyle/>
          <a:p>
            <a:endParaRPr lang="zh-SG" altLang="en-US"/>
          </a:p>
        </p:txBody>
      </p:sp>
      <p:sp>
        <p:nvSpPr>
          <p:cNvPr id="7" name="Text 4"/>
          <p:cNvSpPr txBox="1"/>
          <p:nvPr/>
        </p:nvSpPr>
        <p:spPr>
          <a:xfrm>
            <a:off x="8046720" y="2313432"/>
            <a:ext cx="3474720" cy="347472"/>
          </a:xfrm>
          <a:prstGeom prst="rect">
            <a:avLst/>
          </a:prstGeom>
          <a:noFill/>
          <a:ln/>
        </p:spPr>
        <p:txBody>
          <a:bodyPr wrap="square" lIns="0" tIns="0" rIns="0" bIns="0" rtlCol="0" anchor="ctr"/>
          <a:lstStyle/>
          <a:p>
            <a:pPr marL="0" indent="0">
              <a:buNone/>
            </a:pPr>
            <a:r>
              <a:rPr lang="en-US" sz="1400" b="1" dirty="0">
                <a:solidFill>
                  <a:schemeClr val="tx2"/>
                </a:solidFill>
              </a:rPr>
              <a:t>Omega Eggs · Syria</a:t>
            </a:r>
            <a:endParaRPr lang="en-US" sz="1400" dirty="0"/>
          </a:p>
        </p:txBody>
      </p:sp>
      <p:sp>
        <p:nvSpPr>
          <p:cNvPr id="8" name="Text 5"/>
          <p:cNvSpPr txBox="1"/>
          <p:nvPr/>
        </p:nvSpPr>
        <p:spPr>
          <a:xfrm>
            <a:off x="8046720" y="2660904"/>
            <a:ext cx="3474720" cy="329184"/>
          </a:xfrm>
          <a:prstGeom prst="rect">
            <a:avLst/>
          </a:prstGeom>
          <a:noFill/>
          <a:ln/>
        </p:spPr>
        <p:txBody>
          <a:bodyPr wrap="square" lIns="0" tIns="0" rIns="0" bIns="0" rtlCol="0" anchor="ctr"/>
          <a:lstStyle/>
          <a:p>
            <a:pPr marL="0" indent="0">
              <a:buNone/>
            </a:pPr>
            <a:r>
              <a:rPr lang="en-US" sz="1300" dirty="0">
                <a:solidFill>
                  <a:schemeClr val="tx1"/>
                </a:solidFill>
              </a:rPr>
              <a:t>0.8x — civil war</a:t>
            </a:r>
            <a:endParaRPr lang="en-US" sz="1300" dirty="0"/>
          </a:p>
        </p:txBody>
      </p:sp>
      <p:sp>
        <p:nvSpPr>
          <p:cNvPr id="9" name="Card"/>
          <p:cNvSpPr/>
          <p:nvPr/>
        </p:nvSpPr>
        <p:spPr>
          <a:xfrm>
            <a:off x="7863840" y="3200400"/>
            <a:ext cx="3749040" cy="822960"/>
          </a:xfrm>
          <a:prstGeom prst="roundRect">
            <a:avLst>
              <a:gd name="adj" fmla="val 8889"/>
            </a:avLst>
          </a:prstGeom>
          <a:solidFill>
            <a:schemeClr val="bg2"/>
          </a:solidFill>
          <a:ln w="12700">
            <a:solidFill>
              <a:schemeClr val="bg2"/>
            </a:solidFill>
            <a:prstDash val="solid"/>
          </a:ln>
        </p:spPr>
        <p:txBody>
          <a:bodyPr/>
          <a:lstStyle/>
          <a:p>
            <a:endParaRPr lang="zh-SG" altLang="en-US"/>
          </a:p>
        </p:txBody>
      </p:sp>
      <p:sp>
        <p:nvSpPr>
          <p:cNvPr id="10" name="Text 7"/>
          <p:cNvSpPr txBox="1"/>
          <p:nvPr/>
        </p:nvSpPr>
        <p:spPr>
          <a:xfrm>
            <a:off x="8046720" y="3273552"/>
            <a:ext cx="3474720" cy="347472"/>
          </a:xfrm>
          <a:prstGeom prst="rect">
            <a:avLst/>
          </a:prstGeom>
          <a:noFill/>
          <a:ln/>
        </p:spPr>
        <p:txBody>
          <a:bodyPr wrap="square" lIns="0" tIns="0" rIns="0" bIns="0" rtlCol="0" anchor="ctr"/>
          <a:lstStyle/>
          <a:p>
            <a:pPr marL="0" indent="0">
              <a:buNone/>
            </a:pPr>
            <a:r>
              <a:rPr lang="en-US" sz="1400" b="1" dirty="0">
                <a:solidFill>
                  <a:schemeClr val="tx2"/>
                </a:solidFill>
              </a:rPr>
              <a:t>Hen Egg Farms · Bangladesh</a:t>
            </a:r>
            <a:endParaRPr lang="en-US" sz="1400" dirty="0"/>
          </a:p>
        </p:txBody>
      </p:sp>
      <p:sp>
        <p:nvSpPr>
          <p:cNvPr id="11" name="Text 8"/>
          <p:cNvSpPr txBox="1"/>
          <p:nvPr/>
        </p:nvSpPr>
        <p:spPr>
          <a:xfrm>
            <a:off x="8046720" y="3621024"/>
            <a:ext cx="3474720" cy="329184"/>
          </a:xfrm>
          <a:prstGeom prst="rect">
            <a:avLst/>
          </a:prstGeom>
          <a:noFill/>
          <a:ln/>
        </p:spPr>
        <p:txBody>
          <a:bodyPr wrap="square" lIns="0" tIns="0" rIns="0" bIns="0" rtlCol="0" anchor="ctr"/>
          <a:lstStyle/>
          <a:p>
            <a:pPr marL="0" indent="0">
              <a:buNone/>
            </a:pPr>
            <a:r>
              <a:rPr lang="en-US" sz="1300" dirty="0">
                <a:solidFill>
                  <a:schemeClr val="tx1"/>
                </a:solidFill>
              </a:rPr>
              <a:t>1.8x — price-manipulation probe</a:t>
            </a:r>
            <a:endParaRPr lang="en-US" sz="1300" dirty="0"/>
          </a:p>
        </p:txBody>
      </p:sp>
      <p:sp>
        <p:nvSpPr>
          <p:cNvPr id="12" name="Card"/>
          <p:cNvSpPr/>
          <p:nvPr/>
        </p:nvSpPr>
        <p:spPr>
          <a:xfrm>
            <a:off x="7863840" y="4160520"/>
            <a:ext cx="3749040" cy="822960"/>
          </a:xfrm>
          <a:prstGeom prst="roundRect">
            <a:avLst>
              <a:gd name="adj" fmla="val 8889"/>
            </a:avLst>
          </a:prstGeom>
          <a:solidFill>
            <a:schemeClr val="bg2"/>
          </a:solidFill>
          <a:ln w="12700">
            <a:solidFill>
              <a:schemeClr val="bg2"/>
            </a:solidFill>
            <a:prstDash val="solid"/>
          </a:ln>
        </p:spPr>
        <p:txBody>
          <a:bodyPr/>
          <a:lstStyle/>
          <a:p>
            <a:endParaRPr lang="zh-SG" altLang="en-US"/>
          </a:p>
        </p:txBody>
      </p:sp>
      <p:sp>
        <p:nvSpPr>
          <p:cNvPr id="13" name="Text 10"/>
          <p:cNvSpPr txBox="1"/>
          <p:nvPr/>
        </p:nvSpPr>
        <p:spPr>
          <a:xfrm>
            <a:off x="8046720" y="4233672"/>
            <a:ext cx="3474720" cy="347472"/>
          </a:xfrm>
          <a:prstGeom prst="rect">
            <a:avLst/>
          </a:prstGeom>
          <a:noFill/>
          <a:ln/>
        </p:spPr>
        <p:txBody>
          <a:bodyPr wrap="square" lIns="0" tIns="0" rIns="0" bIns="0" rtlCol="0" anchor="ctr"/>
          <a:lstStyle/>
          <a:p>
            <a:pPr marL="0" indent="0">
              <a:buNone/>
            </a:pPr>
            <a:r>
              <a:rPr lang="en-US" sz="1400" b="1" dirty="0">
                <a:solidFill>
                  <a:schemeClr val="tx2"/>
                </a:solidFill>
              </a:rPr>
              <a:t>River Hallow · Ukraine</a:t>
            </a:r>
            <a:endParaRPr lang="en-US" sz="1400" dirty="0"/>
          </a:p>
        </p:txBody>
      </p:sp>
      <p:sp>
        <p:nvSpPr>
          <p:cNvPr id="14" name="Text 11"/>
          <p:cNvSpPr txBox="1"/>
          <p:nvPr/>
        </p:nvSpPr>
        <p:spPr>
          <a:xfrm>
            <a:off x="8046720" y="4581144"/>
            <a:ext cx="3474720" cy="329184"/>
          </a:xfrm>
          <a:prstGeom prst="rect">
            <a:avLst/>
          </a:prstGeom>
          <a:noFill/>
          <a:ln/>
        </p:spPr>
        <p:txBody>
          <a:bodyPr wrap="square" lIns="0" tIns="0" rIns="0" bIns="0" rtlCol="0" anchor="ctr"/>
          <a:lstStyle/>
          <a:p>
            <a:pPr marL="0" indent="0">
              <a:buNone/>
            </a:pPr>
            <a:r>
              <a:rPr lang="en-US" sz="1300" dirty="0">
                <a:solidFill>
                  <a:schemeClr val="tx1"/>
                </a:solidFill>
              </a:rPr>
              <a:t>2.7x — war losses ~$51M</a:t>
            </a:r>
            <a:endParaRPr lang="en-US" sz="1300" dirty="0"/>
          </a:p>
        </p:txBody>
      </p:sp>
      <p:sp>
        <p:nvSpPr>
          <p:cNvPr id="15" name="Text 12"/>
          <p:cNvSpPr txBox="1"/>
          <p:nvPr/>
        </p:nvSpPr>
        <p:spPr>
          <a:xfrm>
            <a:off x="7863840" y="5120640"/>
            <a:ext cx="3749040" cy="685800"/>
          </a:xfrm>
          <a:prstGeom prst="rect">
            <a:avLst/>
          </a:prstGeom>
          <a:noFill/>
          <a:ln/>
        </p:spPr>
        <p:txBody>
          <a:bodyPr wrap="square" lIns="0" tIns="0" rIns="0" bIns="0" rtlCol="0" anchor="t"/>
          <a:lstStyle/>
          <a:p>
            <a:pPr marL="0" indent="0">
              <a:buNone/>
            </a:pPr>
            <a:r>
              <a:rPr lang="en-US" sz="1300" i="1" dirty="0">
                <a:solidFill>
                  <a:schemeClr val="accent2"/>
                </a:solidFill>
              </a:rPr>
              <a:t>Decision rule: a low multiple only counts as value if country risk is ≤3 and there is no legal red flag.</a:t>
            </a:r>
            <a:endParaRPr lang="en-US" sz="1300" dirty="0"/>
          </a:p>
        </p:txBody>
      </p:sp>
      <p:sp>
        <p:nvSpPr>
          <p:cNvPr id="16" name="Text 13"/>
          <p:cNvSpPr txBox="1"/>
          <p:nvPr/>
        </p:nvSpPr>
        <p:spPr>
          <a:xfrm>
            <a:off x="548640" y="5715000"/>
            <a:ext cx="6949440" cy="548640"/>
          </a:xfrm>
          <a:prstGeom prst="rect">
            <a:avLst/>
          </a:prstGeom>
          <a:noFill/>
          <a:ln/>
        </p:spPr>
        <p:txBody>
          <a:bodyPr wrap="square" lIns="0" tIns="0" rIns="0" bIns="0" rtlCol="0" anchor="t"/>
          <a:lstStyle/>
          <a:p>
            <a:pPr marL="0" indent="0">
              <a:buNone/>
            </a:pPr>
            <a:r>
              <a:rPr lang="en-US" sz="1200" i="1" dirty="0">
                <a:solidFill>
                  <a:schemeClr val="accent4"/>
                </a:solidFill>
              </a:rPr>
              <a:t>Limits: only 19 data points; risk scores are our own judgement; correlation is not causation (size or data quality may also drive price).</a:t>
            </a:r>
            <a:endParaRPr lang="en-US" sz="1200" dirty="0"/>
          </a:p>
        </p:txBody>
      </p:sp>
      <p:sp>
        <p:nvSpPr>
          <p:cNvPr id="17"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 case Tables 3–6; risk scores assigned by the group from the 'in-country risk' and 'economy' columns. Pearson r computed on 19 priced targets.</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Qualitative coding: what the due-diligence text says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Price volatility and disease dominate risk; cage-free and sustainability are the opportunity themes</a:t>
            </a:r>
            <a:endParaRPr lang="en-US" sz="1600" dirty="0"/>
          </a:p>
        </p:txBody>
      </p:sp>
      <p:graphicFrame>
        <p:nvGraphicFramePr>
          <p:cNvPr id="4" name="Chart 0"/>
          <p:cNvGraphicFramePr/>
          <p:nvPr/>
        </p:nvGraphicFramePr>
        <p:xfrm>
          <a:off x="548640" y="1600200"/>
          <a:ext cx="658368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7406640" y="1645920"/>
            <a:ext cx="42062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7589520" y="1737360"/>
            <a:ext cx="3840480" cy="347472"/>
          </a:xfrm>
          <a:prstGeom prst="rect">
            <a:avLst/>
          </a:prstGeom>
          <a:noFill/>
          <a:ln/>
        </p:spPr>
        <p:txBody>
          <a:bodyPr wrap="square" lIns="0" tIns="0" rIns="0" bIns="0" rtlCol="0" anchor="ctr"/>
          <a:lstStyle/>
          <a:p>
            <a:pPr marL="0" indent="0">
              <a:buNone/>
            </a:pPr>
            <a:r>
              <a:rPr lang="en-US" sz="1500" b="1" dirty="0">
                <a:solidFill>
                  <a:schemeClr val="accent4"/>
                </a:solidFill>
              </a:rPr>
              <a:t>Risk themes (red)</a:t>
            </a:r>
            <a:endParaRPr lang="en-US" sz="1500" dirty="0"/>
          </a:p>
        </p:txBody>
      </p:sp>
      <p:sp>
        <p:nvSpPr>
          <p:cNvPr id="7" name="Text 4"/>
          <p:cNvSpPr txBox="1"/>
          <p:nvPr/>
        </p:nvSpPr>
        <p:spPr>
          <a:xfrm>
            <a:off x="7589520" y="2103120"/>
            <a:ext cx="3840480" cy="822960"/>
          </a:xfrm>
          <a:prstGeom prst="rect">
            <a:avLst/>
          </a:prstGeom>
          <a:noFill/>
          <a:ln/>
        </p:spPr>
        <p:txBody>
          <a:bodyPr wrap="square" lIns="0" tIns="0" rIns="0" bIns="0" rtlCol="0" anchor="t"/>
          <a:lstStyle/>
          <a:p>
            <a:pPr marL="0" indent="0">
              <a:buNone/>
            </a:pPr>
            <a:r>
              <a:rPr lang="en-US" sz="1300" dirty="0">
                <a:solidFill>
                  <a:schemeClr val="tx1"/>
                </a:solidFill>
              </a:rPr>
              <a:t>Avian flu cut Mexican flocks by 43M hens; France had salmonella; 4 firms face price-fixing or monopoly claims.</a:t>
            </a:r>
            <a:endParaRPr lang="en-US" sz="1300" dirty="0"/>
          </a:p>
        </p:txBody>
      </p:sp>
      <p:sp>
        <p:nvSpPr>
          <p:cNvPr id="8" name="Card"/>
          <p:cNvSpPr/>
          <p:nvPr/>
        </p:nvSpPr>
        <p:spPr>
          <a:xfrm>
            <a:off x="7406640" y="3154680"/>
            <a:ext cx="42062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9" name="Text 6"/>
          <p:cNvSpPr txBox="1"/>
          <p:nvPr/>
        </p:nvSpPr>
        <p:spPr>
          <a:xfrm>
            <a:off x="7589520" y="3246120"/>
            <a:ext cx="3840480" cy="347472"/>
          </a:xfrm>
          <a:prstGeom prst="rect">
            <a:avLst/>
          </a:prstGeom>
          <a:noFill/>
          <a:ln/>
        </p:spPr>
        <p:txBody>
          <a:bodyPr wrap="square" lIns="0" tIns="0" rIns="0" bIns="0" rtlCol="0" anchor="ctr"/>
          <a:lstStyle/>
          <a:p>
            <a:pPr marL="0" indent="0">
              <a:buNone/>
            </a:pPr>
            <a:r>
              <a:rPr lang="en-US" sz="1500" b="1" dirty="0">
                <a:solidFill>
                  <a:schemeClr val="tx2"/>
                </a:solidFill>
              </a:rPr>
              <a:t>Opportunity themes (green)</a:t>
            </a:r>
            <a:endParaRPr lang="en-US" sz="1500" dirty="0"/>
          </a:p>
        </p:txBody>
      </p:sp>
      <p:sp>
        <p:nvSpPr>
          <p:cNvPr id="10" name="Text 7"/>
          <p:cNvSpPr txBox="1"/>
          <p:nvPr/>
        </p:nvSpPr>
        <p:spPr>
          <a:xfrm>
            <a:off x="7589520" y="3611880"/>
            <a:ext cx="3840480" cy="822960"/>
          </a:xfrm>
          <a:prstGeom prst="rect">
            <a:avLst/>
          </a:prstGeom>
          <a:noFill/>
          <a:ln/>
        </p:spPr>
        <p:txBody>
          <a:bodyPr wrap="square" lIns="0" tIns="0" rIns="0" bIns="0" rtlCol="0" anchor="t"/>
          <a:lstStyle/>
          <a:p>
            <a:pPr marL="0" indent="0">
              <a:buNone/>
            </a:pPr>
            <a:r>
              <a:rPr lang="en-US" sz="1300" dirty="0">
                <a:solidFill>
                  <a:schemeClr val="tx1"/>
                </a:solidFill>
              </a:rPr>
              <a:t>Thailand's Free Range Roost plans 20M cage-free capacity; Brazil's Planeta avícola targets 2.5M cage-free layers and egg subscriptions.</a:t>
            </a:r>
            <a:endParaRPr lang="en-US" sz="1300" dirty="0"/>
          </a:p>
        </p:txBody>
      </p:sp>
      <p:sp>
        <p:nvSpPr>
          <p:cNvPr id="11" name="Card"/>
          <p:cNvSpPr/>
          <p:nvPr/>
        </p:nvSpPr>
        <p:spPr>
          <a:xfrm>
            <a:off x="7406640" y="4663440"/>
            <a:ext cx="4206240" cy="1325880"/>
          </a:xfrm>
          <a:prstGeom prst="roundRect">
            <a:avLst>
              <a:gd name="adj" fmla="val 5517"/>
            </a:avLst>
          </a:prstGeom>
          <a:solidFill>
            <a:schemeClr val="bg2"/>
          </a:solidFill>
          <a:ln w="12700">
            <a:solidFill>
              <a:schemeClr val="bg2"/>
            </a:solidFill>
            <a:prstDash val="solid"/>
          </a:ln>
        </p:spPr>
        <p:txBody>
          <a:bodyPr/>
          <a:lstStyle/>
          <a:p>
            <a:endParaRPr lang="zh-SG" altLang="en-US"/>
          </a:p>
        </p:txBody>
      </p:sp>
      <p:sp>
        <p:nvSpPr>
          <p:cNvPr id="12" name="Text 9"/>
          <p:cNvSpPr txBox="1"/>
          <p:nvPr/>
        </p:nvSpPr>
        <p:spPr>
          <a:xfrm>
            <a:off x="7589520" y="4754880"/>
            <a:ext cx="3840480" cy="347472"/>
          </a:xfrm>
          <a:prstGeom prst="rect">
            <a:avLst/>
          </a:prstGeom>
          <a:noFill/>
          <a:ln/>
        </p:spPr>
        <p:txBody>
          <a:bodyPr wrap="square" lIns="0" tIns="0" rIns="0" bIns="0" rtlCol="0" anchor="ctr"/>
          <a:lstStyle/>
          <a:p>
            <a:pPr marL="0" indent="0">
              <a:buNone/>
            </a:pPr>
            <a:r>
              <a:rPr lang="en-US" sz="1500" b="1" dirty="0">
                <a:solidFill>
                  <a:schemeClr val="tx2"/>
                </a:solidFill>
              </a:rPr>
              <a:t>Cultural fit</a:t>
            </a:r>
            <a:endParaRPr lang="en-US" sz="1500" dirty="0"/>
          </a:p>
        </p:txBody>
      </p:sp>
      <p:sp>
        <p:nvSpPr>
          <p:cNvPr id="13" name="Text 10"/>
          <p:cNvSpPr txBox="1"/>
          <p:nvPr/>
        </p:nvSpPr>
        <p:spPr>
          <a:xfrm>
            <a:off x="7589520" y="5120640"/>
            <a:ext cx="3840480" cy="822960"/>
          </a:xfrm>
          <a:prstGeom prst="rect">
            <a:avLst/>
          </a:prstGeom>
          <a:noFill/>
          <a:ln/>
        </p:spPr>
        <p:txBody>
          <a:bodyPr wrap="square" lIns="0" tIns="0" rIns="0" bIns="0" rtlCol="0" anchor="t"/>
          <a:lstStyle/>
          <a:p>
            <a:pPr marL="0" indent="0">
              <a:buNone/>
            </a:pPr>
            <a:r>
              <a:rPr lang="en-US" sz="1300" dirty="0">
                <a:solidFill>
                  <a:schemeClr val="tx1"/>
                </a:solidFill>
              </a:rPr>
              <a:t>AmEgg's employee-first, above-market pay culture favours partners with stable labour markets and local leadership we can keep.</a:t>
            </a:r>
            <a:endParaRPr lang="en-US" sz="1300" dirty="0"/>
          </a:p>
        </p:txBody>
      </p:sp>
      <p:sp>
        <p:nvSpPr>
          <p:cNvPr id="14"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Method: each firm's 'key news', 'in-country risk' and 'economy' entries (case Tables 3–6) coded into themes by two group members; counts are firms, not mentions.</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Weighted scoring model ranks the targets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After an $800M budget filter, Japan/India, Thailand and Brazil lead the shortlist</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863840" cy="914400"/>
        </p:xfrm>
        <a:graphic>
          <a:graphicData uri="http://schemas.openxmlformats.org/drawingml/2006/table">
            <a:tbl>
              <a:tblPr/>
              <a:tblGrid>
                <a:gridCol w="3657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1508760">
                  <a:extLst>
                    <a:ext uri="{9D8B030D-6E8A-4147-A177-3AD203B41FA5}">
                      <a16:colId xmlns:a16="http://schemas.microsoft.com/office/drawing/2014/main" val="20007"/>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Revenue $M</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Price $M</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EV/EBITA</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Score</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Canyon Crossing Farms</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USA</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1,700</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1,062.5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12.5x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3.96</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Excluded: &gt; budget, antitrust</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S. Bound Eggs</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Japan/India</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602</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124.5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4.1x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3.52</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Calibri" pitchFamily="34" charset="0"/>
                          <a:ea typeface="Calibri" pitchFamily="34" charset="-122"/>
                          <a:cs typeface="Calibri" pitchFamily="34" charset="-120"/>
                        </a:rPr>
                        <a:t>Acquire Yr1</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Free Range Roost Group</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Thailand</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662</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5.7x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3.34</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Calibri" pitchFamily="34" charset="0"/>
                          <a:ea typeface="Calibri" pitchFamily="34" charset="-122"/>
                          <a:cs typeface="Calibri" pitchFamily="34" charset="-120"/>
                        </a:rPr>
                        <a:t>Acquire Yr2</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l'Acre de Noyers</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301</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115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7.7x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3.32</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Calibri" pitchFamily="34" charset="0"/>
                          <a:ea typeface="Calibri" pitchFamily="34" charset="-122"/>
                          <a:cs typeface="Calibri" pitchFamily="34" charset="-120"/>
                        </a:rPr>
                        <a:t>Acquire Yr5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Planeta avícola</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Brazil</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346</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71.5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4.1x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3.25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Calibri" pitchFamily="34" charset="0"/>
                          <a:ea typeface="Calibri" pitchFamily="34" charset="-122"/>
                          <a:cs typeface="Calibri" pitchFamily="34" charset="-120"/>
                        </a:rPr>
                        <a:t>Acquire Yr3</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5"/>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les Acres de la Cabane</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223</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103.5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9.2x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3.18</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Backup (JV $100M)</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Acres botánicos</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Mexico</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367</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4.8x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tc>
                  <a:txBody>
                    <a:bodyPr/>
                    <a:lstStyle/>
                    <a:p>
                      <a:pPr marL="0" indent="0">
                        <a:buNone/>
                      </a:pPr>
                      <a:r>
                        <a:rPr lang="en-US" sz="1100" b="1" dirty="0">
                          <a:solidFill>
                            <a:srgbClr val="1B2A22"/>
                          </a:solidFill>
                          <a:latin typeface="Calibri" pitchFamily="34" charset="0"/>
                          <a:ea typeface="Calibri" pitchFamily="34" charset="-122"/>
                          <a:cs typeface="Calibri" pitchFamily="34" charset="-120"/>
                        </a:rPr>
                        <a:t>Acquire Yr4</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BEFCF"/>
                    </a:solidFill>
                  </a:tcPr>
                </a:tc>
                <a:extLst>
                  <a:ext uri="{0D108BD9-81ED-4DB2-BD59-A6C34878D82A}">
                    <a16:rowId xmlns:a16="http://schemas.microsoft.com/office/drawing/2014/main" val="10007"/>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Lácteos recién</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Mexico</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361</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71.5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4.0x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Backup</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Hollybrook Farm</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UK</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180</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58.5</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10.8x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3.03</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Watch</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9"/>
                  </a:ext>
                </a:extLst>
              </a:tr>
              <a:tr h="384048">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Crossroad Lands</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USA</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519</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259</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10.0x</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2.99</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100" dirty="0">
                          <a:solidFill>
                            <a:srgbClr val="1B2A22"/>
                          </a:solidFill>
                          <a:latin typeface="Calibri" pitchFamily="34" charset="0"/>
                          <a:ea typeface="Calibri" pitchFamily="34" charset="-122"/>
                          <a:cs typeface="Calibri" pitchFamily="34" charset="-120"/>
                        </a:rPr>
                        <a:t>Reject: price-fixing</a:t>
                      </a:r>
                      <a:endParaRPr lang="en-US" sz="11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Card"/>
          <p:cNvSpPr/>
          <p:nvPr/>
        </p:nvSpPr>
        <p:spPr>
          <a:xfrm>
            <a:off x="8686800" y="1600200"/>
            <a:ext cx="2926080" cy="4526280"/>
          </a:xfrm>
          <a:prstGeom prst="roundRect">
            <a:avLst>
              <a:gd name="adj" fmla="val 2500"/>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8869680" y="1691640"/>
            <a:ext cx="2651760" cy="36576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Criteria and weights</a:t>
            </a:r>
            <a:endParaRPr lang="en-US" sz="1600" dirty="0"/>
          </a:p>
        </p:txBody>
      </p:sp>
      <p:sp>
        <p:nvSpPr>
          <p:cNvPr id="7" name="Text 4"/>
          <p:cNvSpPr txBox="1"/>
          <p:nvPr/>
        </p:nvSpPr>
        <p:spPr>
          <a:xfrm>
            <a:off x="8869680" y="2148840"/>
            <a:ext cx="1920240" cy="365760"/>
          </a:xfrm>
          <a:prstGeom prst="rect">
            <a:avLst/>
          </a:prstGeom>
          <a:noFill/>
          <a:ln/>
        </p:spPr>
        <p:txBody>
          <a:bodyPr wrap="square" lIns="0" tIns="0" rIns="0" bIns="0" rtlCol="0" anchor="ctr"/>
          <a:lstStyle/>
          <a:p>
            <a:pPr marL="0" indent="0">
              <a:buNone/>
            </a:pPr>
            <a:r>
              <a:rPr lang="en-US" sz="1400" dirty="0">
                <a:solidFill>
                  <a:schemeClr val="tx1"/>
                </a:solidFill>
              </a:rPr>
              <a:t>Country risk</a:t>
            </a:r>
            <a:endParaRPr lang="en-US" sz="1400" dirty="0"/>
          </a:p>
        </p:txBody>
      </p:sp>
      <p:sp>
        <p:nvSpPr>
          <p:cNvPr id="8" name="Text 5"/>
          <p:cNvSpPr txBox="1"/>
          <p:nvPr/>
        </p:nvSpPr>
        <p:spPr>
          <a:xfrm>
            <a:off x="10789920" y="21488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25%</a:t>
            </a:r>
            <a:endParaRPr lang="en-US" sz="1400" dirty="0"/>
          </a:p>
        </p:txBody>
      </p:sp>
      <p:sp>
        <p:nvSpPr>
          <p:cNvPr id="9" name="Text 6"/>
          <p:cNvSpPr txBox="1"/>
          <p:nvPr/>
        </p:nvSpPr>
        <p:spPr>
          <a:xfrm>
            <a:off x="8869680" y="2606040"/>
            <a:ext cx="1920240" cy="365760"/>
          </a:xfrm>
          <a:prstGeom prst="rect">
            <a:avLst/>
          </a:prstGeom>
          <a:noFill/>
          <a:ln/>
        </p:spPr>
        <p:txBody>
          <a:bodyPr wrap="square" lIns="0" tIns="0" rIns="0" bIns="0" rtlCol="0" anchor="ctr"/>
          <a:lstStyle/>
          <a:p>
            <a:pPr marL="0" indent="0">
              <a:buNone/>
            </a:pPr>
            <a:r>
              <a:rPr lang="en-US" sz="1400" dirty="0">
                <a:solidFill>
                  <a:schemeClr val="tx1"/>
                </a:solidFill>
              </a:rPr>
              <a:t>Value (EV/EBITA)</a:t>
            </a:r>
            <a:endParaRPr lang="en-US" sz="1400" dirty="0"/>
          </a:p>
        </p:txBody>
      </p:sp>
      <p:sp>
        <p:nvSpPr>
          <p:cNvPr id="10" name="Text 7"/>
          <p:cNvSpPr txBox="1"/>
          <p:nvPr/>
        </p:nvSpPr>
        <p:spPr>
          <a:xfrm>
            <a:off x="10789920" y="26060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20%</a:t>
            </a:r>
            <a:endParaRPr lang="en-US" sz="1400" dirty="0"/>
          </a:p>
        </p:txBody>
      </p:sp>
      <p:sp>
        <p:nvSpPr>
          <p:cNvPr id="11" name="Text 8"/>
          <p:cNvSpPr txBox="1"/>
          <p:nvPr/>
        </p:nvSpPr>
        <p:spPr>
          <a:xfrm>
            <a:off x="8869680" y="3063240"/>
            <a:ext cx="1920240" cy="365760"/>
          </a:xfrm>
          <a:prstGeom prst="rect">
            <a:avLst/>
          </a:prstGeom>
          <a:noFill/>
          <a:ln/>
        </p:spPr>
        <p:txBody>
          <a:bodyPr wrap="square" lIns="0" tIns="0" rIns="0" bIns="0" rtlCol="0" anchor="ctr"/>
          <a:lstStyle/>
          <a:p>
            <a:pPr marL="0" indent="0">
              <a:buNone/>
            </a:pPr>
            <a:r>
              <a:rPr lang="en-US" sz="1400" dirty="0">
                <a:solidFill>
                  <a:schemeClr val="tx1"/>
                </a:solidFill>
              </a:rPr>
              <a:t>Scale (revenue)</a:t>
            </a:r>
            <a:endParaRPr lang="en-US" sz="1400" dirty="0"/>
          </a:p>
        </p:txBody>
      </p:sp>
      <p:sp>
        <p:nvSpPr>
          <p:cNvPr id="4" name="Text 9"/>
          <p:cNvSpPr txBox="1"/>
          <p:nvPr/>
        </p:nvSpPr>
        <p:spPr>
          <a:xfrm>
            <a:off x="10789920" y="30632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20%</a:t>
            </a:r>
            <a:endParaRPr lang="en-US" sz="1400" dirty="0"/>
          </a:p>
        </p:txBody>
      </p:sp>
      <p:sp>
        <p:nvSpPr>
          <p:cNvPr id="13" name="Text 10"/>
          <p:cNvSpPr txBox="1"/>
          <p:nvPr/>
        </p:nvSpPr>
        <p:spPr>
          <a:xfrm>
            <a:off x="8869680" y="3520440"/>
            <a:ext cx="1920240" cy="365760"/>
          </a:xfrm>
          <a:prstGeom prst="rect">
            <a:avLst/>
          </a:prstGeom>
          <a:noFill/>
          <a:ln/>
        </p:spPr>
        <p:txBody>
          <a:bodyPr wrap="square" lIns="0" tIns="0" rIns="0" bIns="0" rtlCol="0" anchor="ctr"/>
          <a:lstStyle/>
          <a:p>
            <a:pPr marL="0" indent="0">
              <a:buNone/>
            </a:pPr>
            <a:r>
              <a:rPr lang="en-US" sz="1400" dirty="0">
                <a:solidFill>
                  <a:schemeClr val="tx1"/>
                </a:solidFill>
              </a:rPr>
              <a:t>Cage-free fit</a:t>
            </a:r>
            <a:endParaRPr lang="en-US" sz="1400" dirty="0"/>
          </a:p>
        </p:txBody>
      </p:sp>
      <p:sp>
        <p:nvSpPr>
          <p:cNvPr id="14" name="Text 11"/>
          <p:cNvSpPr txBox="1"/>
          <p:nvPr/>
        </p:nvSpPr>
        <p:spPr>
          <a:xfrm>
            <a:off x="10789920" y="35204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15%</a:t>
            </a:r>
            <a:endParaRPr lang="en-US" sz="1400" dirty="0"/>
          </a:p>
        </p:txBody>
      </p:sp>
      <p:sp>
        <p:nvSpPr>
          <p:cNvPr id="15" name="Text 12"/>
          <p:cNvSpPr txBox="1"/>
          <p:nvPr/>
        </p:nvSpPr>
        <p:spPr>
          <a:xfrm>
            <a:off x="8869680" y="3977640"/>
            <a:ext cx="1920240" cy="365760"/>
          </a:xfrm>
          <a:prstGeom prst="rect">
            <a:avLst/>
          </a:prstGeom>
          <a:noFill/>
          <a:ln/>
        </p:spPr>
        <p:txBody>
          <a:bodyPr wrap="square" lIns="0" tIns="0" rIns="0" bIns="0" rtlCol="0" anchor="ctr"/>
          <a:lstStyle/>
          <a:p>
            <a:pPr marL="0" indent="0">
              <a:buNone/>
            </a:pPr>
            <a:r>
              <a:rPr lang="en-US" sz="1400" dirty="0">
                <a:solidFill>
                  <a:schemeClr val="tx1"/>
                </a:solidFill>
              </a:rPr>
              <a:t>Governance</a:t>
            </a:r>
            <a:endParaRPr lang="en-US" sz="1400" dirty="0"/>
          </a:p>
        </p:txBody>
      </p:sp>
      <p:sp>
        <p:nvSpPr>
          <p:cNvPr id="16" name="Text 13"/>
          <p:cNvSpPr txBox="1"/>
          <p:nvPr/>
        </p:nvSpPr>
        <p:spPr>
          <a:xfrm>
            <a:off x="10789920" y="39776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10%</a:t>
            </a:r>
            <a:endParaRPr lang="en-US" sz="1400" dirty="0"/>
          </a:p>
        </p:txBody>
      </p:sp>
      <p:sp>
        <p:nvSpPr>
          <p:cNvPr id="17" name="Text 14"/>
          <p:cNvSpPr txBox="1"/>
          <p:nvPr/>
        </p:nvSpPr>
        <p:spPr>
          <a:xfrm>
            <a:off x="8869680" y="4434840"/>
            <a:ext cx="1920240" cy="365760"/>
          </a:xfrm>
          <a:prstGeom prst="rect">
            <a:avLst/>
          </a:prstGeom>
          <a:noFill/>
          <a:ln/>
        </p:spPr>
        <p:txBody>
          <a:bodyPr wrap="square" lIns="0" tIns="0" rIns="0" bIns="0" rtlCol="0" anchor="ctr"/>
          <a:lstStyle/>
          <a:p>
            <a:pPr marL="0" indent="0">
              <a:buNone/>
            </a:pPr>
            <a:r>
              <a:rPr lang="en-US" sz="1400" dirty="0">
                <a:solidFill>
                  <a:schemeClr val="tx1"/>
                </a:solidFill>
              </a:rPr>
              <a:t>Global fit (Goal 3)</a:t>
            </a:r>
            <a:endParaRPr lang="en-US" sz="1400" dirty="0"/>
          </a:p>
        </p:txBody>
      </p:sp>
      <p:sp>
        <p:nvSpPr>
          <p:cNvPr id="18" name="Text 15"/>
          <p:cNvSpPr txBox="1"/>
          <p:nvPr/>
        </p:nvSpPr>
        <p:spPr>
          <a:xfrm>
            <a:off x="10789920" y="4434840"/>
            <a:ext cx="640080" cy="365760"/>
          </a:xfrm>
          <a:prstGeom prst="rect">
            <a:avLst/>
          </a:prstGeom>
          <a:noFill/>
          <a:ln/>
        </p:spPr>
        <p:txBody>
          <a:bodyPr wrap="square" lIns="0" tIns="0" rIns="0" bIns="0" rtlCol="0" anchor="ctr"/>
          <a:lstStyle/>
          <a:p>
            <a:pPr marL="0" indent="0" algn="r">
              <a:buNone/>
            </a:pPr>
            <a:r>
              <a:rPr lang="en-US" sz="1400" b="1" dirty="0">
                <a:solidFill>
                  <a:schemeClr val="accent2"/>
                </a:solidFill>
              </a:rPr>
              <a:t>10%</a:t>
            </a:r>
            <a:endParaRPr lang="en-US" sz="1400" dirty="0"/>
          </a:p>
        </p:txBody>
      </p:sp>
      <p:sp>
        <p:nvSpPr>
          <p:cNvPr id="19" name="Text 16"/>
          <p:cNvSpPr txBox="1"/>
          <p:nvPr/>
        </p:nvSpPr>
        <p:spPr>
          <a:xfrm>
            <a:off x="8869680" y="4983480"/>
            <a:ext cx="2651760" cy="1005840"/>
          </a:xfrm>
          <a:prstGeom prst="rect">
            <a:avLst/>
          </a:prstGeom>
          <a:noFill/>
          <a:ln/>
        </p:spPr>
        <p:txBody>
          <a:bodyPr wrap="square" lIns="0" tIns="0" rIns="0" bIns="0" rtlCol="0" anchor="t"/>
          <a:lstStyle/>
          <a:p>
            <a:pPr marL="0" indent="0">
              <a:buNone/>
            </a:pPr>
            <a:r>
              <a:rPr lang="en-US" sz="1200" i="1" dirty="0">
                <a:solidFill>
                  <a:schemeClr val="accent5"/>
                </a:solidFill>
              </a:rPr>
              <a:t>Each criterion scaled 1–5 (min-max); score = weighted sum. Highlighted rows are selected.</a:t>
            </a:r>
            <a:endParaRPr lang="en-US" sz="1200" dirty="0"/>
          </a:p>
        </p:txBody>
      </p:sp>
      <p:sp>
        <p:nvSpPr>
          <p:cNvPr id="20"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 group scoring model on case Tables 2–6. Hard filters applied after scoring: price within $800M capital, no unresolved legal red flag.</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Recommendation: fix the mix, buy growth abroad</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Five acquisitions over five years give AmEgg operations on four continents</a:t>
            </a:r>
            <a:endParaRPr lang="en-US" sz="1600" dirty="0"/>
          </a:p>
        </p:txBody>
      </p:sp>
      <p:sp>
        <p:nvSpPr>
          <p:cNvPr id="4" name="Timeline"/>
          <p:cNvSpPr/>
          <p:nvPr/>
        </p:nvSpPr>
        <p:spPr>
          <a:xfrm>
            <a:off x="822960" y="2057400"/>
            <a:ext cx="10515600" cy="0"/>
          </a:xfrm>
          <a:prstGeom prst="line">
            <a:avLst/>
          </a:prstGeom>
          <a:noFill/>
          <a:ln w="25400">
            <a:solidFill>
              <a:srgbClr val="9DBF9E"/>
            </a:solidFill>
            <a:prstDash val="solid"/>
          </a:ln>
        </p:spPr>
        <p:txBody>
          <a:bodyPr/>
          <a:lstStyle/>
          <a:p>
            <a:endParaRPr lang="zh-SG" altLang="en-US"/>
          </a:p>
        </p:txBody>
      </p:sp>
      <p:sp>
        <p:nvSpPr>
          <p:cNvPr id="5" name="Egg badge"/>
          <p:cNvSpPr/>
          <p:nvPr/>
        </p:nvSpPr>
        <p:spPr>
          <a:xfrm>
            <a:off x="731520" y="1828800"/>
            <a:ext cx="412394" cy="502920"/>
          </a:xfrm>
          <a:prstGeom prst="ellipse">
            <a:avLst/>
          </a:prstGeom>
          <a:solidFill>
            <a:schemeClr val="accent1"/>
          </a:solidFill>
          <a:ln w="12700">
            <a:solidFill>
              <a:schemeClr val="accent1"/>
            </a:solidFill>
            <a:prstDash val="solid"/>
          </a:ln>
        </p:spPr>
        <p:txBody>
          <a:bodyPr/>
          <a:lstStyle/>
          <a:p>
            <a:endParaRPr lang="zh-SG" altLang="en-US"/>
          </a:p>
        </p:txBody>
      </p:sp>
      <p:sp>
        <p:nvSpPr>
          <p:cNvPr id="6" name="Text 4"/>
          <p:cNvSpPr txBox="1"/>
          <p:nvPr/>
        </p:nvSpPr>
        <p:spPr>
          <a:xfrm>
            <a:off x="731520" y="1828800"/>
            <a:ext cx="412394" cy="502920"/>
          </a:xfrm>
          <a:prstGeom prst="rect">
            <a:avLst/>
          </a:prstGeom>
          <a:noFill/>
          <a:ln/>
        </p:spPr>
        <p:txBody>
          <a:bodyPr wrap="square" lIns="0" tIns="0" rIns="0" bIns="0" rtlCol="0" anchor="ctr"/>
          <a:lstStyle/>
          <a:p>
            <a:pPr marL="0" indent="0" algn="ctr">
              <a:buNone/>
            </a:pPr>
            <a:r>
              <a:rPr lang="en-US" sz="1400" b="1" dirty="0">
                <a:solidFill>
                  <a:schemeClr val="tx2"/>
                </a:solidFill>
              </a:rPr>
              <a:t>Yr1</a:t>
            </a:r>
            <a:endParaRPr lang="en-US" sz="1400" dirty="0"/>
          </a:p>
        </p:txBody>
      </p:sp>
      <p:sp>
        <p:nvSpPr>
          <p:cNvPr id="7" name="Card"/>
          <p:cNvSpPr/>
          <p:nvPr/>
        </p:nvSpPr>
        <p:spPr>
          <a:xfrm>
            <a:off x="548640"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8" name="Text 6"/>
          <p:cNvSpPr txBox="1"/>
          <p:nvPr/>
        </p:nvSpPr>
        <p:spPr>
          <a:xfrm>
            <a:off x="685800" y="2606040"/>
            <a:ext cx="1783080" cy="411480"/>
          </a:xfrm>
          <a:prstGeom prst="rect">
            <a:avLst/>
          </a:prstGeom>
          <a:noFill/>
          <a:ln/>
        </p:spPr>
        <p:txBody>
          <a:bodyPr wrap="square" lIns="0" tIns="0" rIns="0" bIns="0" rtlCol="0" anchor="ctr"/>
          <a:lstStyle/>
          <a:p>
            <a:pPr marL="0" indent="0">
              <a:buNone/>
            </a:pPr>
            <a:r>
              <a:rPr lang="en-US" sz="1600" b="1" dirty="0">
                <a:solidFill>
                  <a:schemeClr val="tx2"/>
                </a:solidFill>
              </a:rPr>
              <a:t>S. Bound Eggs</a:t>
            </a:r>
            <a:endParaRPr lang="en-US" sz="1600" dirty="0"/>
          </a:p>
        </p:txBody>
      </p:sp>
      <p:sp>
        <p:nvSpPr>
          <p:cNvPr id="9" name="Text 7"/>
          <p:cNvSpPr txBox="1"/>
          <p:nvPr/>
        </p:nvSpPr>
        <p:spPr>
          <a:xfrm>
            <a:off x="685800"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Japan/India · $124.5M · +$602M</a:t>
            </a:r>
            <a:endParaRPr lang="en-US" sz="1200" dirty="0"/>
          </a:p>
        </p:txBody>
      </p:sp>
      <p:sp>
        <p:nvSpPr>
          <p:cNvPr id="10" name="Text 8"/>
          <p:cNvSpPr txBox="1"/>
          <p:nvPr/>
        </p:nvSpPr>
        <p:spPr>
          <a:xfrm>
            <a:off x="685800"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Lowest-risk Asian entry; India JV and cold chain</a:t>
            </a:r>
            <a:endParaRPr lang="en-US" sz="1300" dirty="0"/>
          </a:p>
        </p:txBody>
      </p:sp>
      <p:sp>
        <p:nvSpPr>
          <p:cNvPr id="11" name="Egg badge"/>
          <p:cNvSpPr/>
          <p:nvPr/>
        </p:nvSpPr>
        <p:spPr>
          <a:xfrm>
            <a:off x="2999232" y="1828800"/>
            <a:ext cx="412394" cy="502920"/>
          </a:xfrm>
          <a:prstGeom prst="ellipse">
            <a:avLst/>
          </a:prstGeom>
          <a:solidFill>
            <a:schemeClr val="accent1"/>
          </a:solidFill>
          <a:ln w="12700">
            <a:solidFill>
              <a:schemeClr val="accent1"/>
            </a:solidFill>
            <a:prstDash val="solid"/>
          </a:ln>
        </p:spPr>
        <p:txBody>
          <a:bodyPr/>
          <a:lstStyle/>
          <a:p>
            <a:endParaRPr lang="zh-SG" altLang="en-US"/>
          </a:p>
        </p:txBody>
      </p:sp>
      <p:sp>
        <p:nvSpPr>
          <p:cNvPr id="12" name="Text 10"/>
          <p:cNvSpPr txBox="1"/>
          <p:nvPr/>
        </p:nvSpPr>
        <p:spPr>
          <a:xfrm>
            <a:off x="2999232" y="1828800"/>
            <a:ext cx="412394" cy="502920"/>
          </a:xfrm>
          <a:prstGeom prst="rect">
            <a:avLst/>
          </a:prstGeom>
          <a:noFill/>
          <a:ln/>
        </p:spPr>
        <p:txBody>
          <a:bodyPr wrap="square" lIns="0" tIns="0" rIns="0" bIns="0" rtlCol="0" anchor="ctr"/>
          <a:lstStyle/>
          <a:p>
            <a:pPr marL="0" indent="0" algn="ctr">
              <a:buNone/>
            </a:pPr>
            <a:r>
              <a:rPr lang="en-US" sz="1400" b="1" dirty="0">
                <a:solidFill>
                  <a:schemeClr val="tx2"/>
                </a:solidFill>
              </a:rPr>
              <a:t>Yr2</a:t>
            </a:r>
            <a:endParaRPr lang="en-US" sz="1400" dirty="0"/>
          </a:p>
        </p:txBody>
      </p:sp>
      <p:sp>
        <p:nvSpPr>
          <p:cNvPr id="13" name="Card"/>
          <p:cNvSpPr/>
          <p:nvPr/>
        </p:nvSpPr>
        <p:spPr>
          <a:xfrm>
            <a:off x="2816352"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14" name="Text 12"/>
          <p:cNvSpPr txBox="1"/>
          <p:nvPr/>
        </p:nvSpPr>
        <p:spPr>
          <a:xfrm>
            <a:off x="2953512" y="2606040"/>
            <a:ext cx="1783080" cy="411480"/>
          </a:xfrm>
          <a:prstGeom prst="rect">
            <a:avLst/>
          </a:prstGeom>
          <a:noFill/>
          <a:ln/>
        </p:spPr>
        <p:txBody>
          <a:bodyPr wrap="square" lIns="0" tIns="0" rIns="0" bIns="0" rtlCol="0" anchor="ctr"/>
          <a:lstStyle/>
          <a:p>
            <a:pPr marL="0" indent="0">
              <a:buNone/>
            </a:pPr>
            <a:r>
              <a:rPr lang="en-US" sz="1600" b="1" dirty="0">
                <a:solidFill>
                  <a:schemeClr val="tx2"/>
                </a:solidFill>
              </a:rPr>
              <a:t>Free Range Roost</a:t>
            </a:r>
            <a:endParaRPr lang="en-US" sz="1600" dirty="0"/>
          </a:p>
        </p:txBody>
      </p:sp>
      <p:sp>
        <p:nvSpPr>
          <p:cNvPr id="15" name="Text 13"/>
          <p:cNvSpPr txBox="1"/>
          <p:nvPr/>
        </p:nvSpPr>
        <p:spPr>
          <a:xfrm>
            <a:off x="2953512"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Thailand · $189M · +$662M</a:t>
            </a:r>
            <a:endParaRPr lang="en-US" sz="1200" dirty="0"/>
          </a:p>
        </p:txBody>
      </p:sp>
      <p:sp>
        <p:nvSpPr>
          <p:cNvPr id="16" name="Text 14"/>
          <p:cNvSpPr txBox="1"/>
          <p:nvPr/>
        </p:nvSpPr>
        <p:spPr>
          <a:xfrm>
            <a:off x="2953512"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Scale hub for SE Asia; 20M cage-free plan</a:t>
            </a:r>
            <a:endParaRPr lang="en-US" sz="1300" dirty="0"/>
          </a:p>
        </p:txBody>
      </p:sp>
      <p:sp>
        <p:nvSpPr>
          <p:cNvPr id="17" name="Egg badge"/>
          <p:cNvSpPr/>
          <p:nvPr/>
        </p:nvSpPr>
        <p:spPr>
          <a:xfrm>
            <a:off x="5266944" y="1828800"/>
            <a:ext cx="412394" cy="502920"/>
          </a:xfrm>
          <a:prstGeom prst="ellipse">
            <a:avLst/>
          </a:prstGeom>
          <a:solidFill>
            <a:schemeClr val="accent1"/>
          </a:solidFill>
          <a:ln w="12700">
            <a:solidFill>
              <a:schemeClr val="accent1"/>
            </a:solidFill>
            <a:prstDash val="solid"/>
          </a:ln>
        </p:spPr>
        <p:txBody>
          <a:bodyPr/>
          <a:lstStyle/>
          <a:p>
            <a:endParaRPr lang="zh-SG" altLang="en-US"/>
          </a:p>
        </p:txBody>
      </p:sp>
      <p:sp>
        <p:nvSpPr>
          <p:cNvPr id="18" name="Text 16"/>
          <p:cNvSpPr txBox="1"/>
          <p:nvPr/>
        </p:nvSpPr>
        <p:spPr>
          <a:xfrm>
            <a:off x="5266944" y="1828800"/>
            <a:ext cx="412394" cy="502920"/>
          </a:xfrm>
          <a:prstGeom prst="rect">
            <a:avLst/>
          </a:prstGeom>
          <a:noFill/>
          <a:ln/>
        </p:spPr>
        <p:txBody>
          <a:bodyPr wrap="square" lIns="0" tIns="0" rIns="0" bIns="0" rtlCol="0" anchor="ctr"/>
          <a:lstStyle/>
          <a:p>
            <a:pPr marL="0" indent="0" algn="ctr">
              <a:buNone/>
            </a:pPr>
            <a:r>
              <a:rPr lang="en-US" sz="1400" b="1" dirty="0">
                <a:solidFill>
                  <a:schemeClr val="tx2"/>
                </a:solidFill>
              </a:rPr>
              <a:t>Yr3</a:t>
            </a:r>
            <a:endParaRPr lang="en-US" sz="1400" dirty="0"/>
          </a:p>
        </p:txBody>
      </p:sp>
      <p:sp>
        <p:nvSpPr>
          <p:cNvPr id="19" name="Card"/>
          <p:cNvSpPr/>
          <p:nvPr/>
        </p:nvSpPr>
        <p:spPr>
          <a:xfrm>
            <a:off x="5084064"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0" name="Text 18"/>
          <p:cNvSpPr txBox="1"/>
          <p:nvPr/>
        </p:nvSpPr>
        <p:spPr>
          <a:xfrm>
            <a:off x="5221224" y="2606040"/>
            <a:ext cx="1783080" cy="411480"/>
          </a:xfrm>
          <a:prstGeom prst="rect">
            <a:avLst/>
          </a:prstGeom>
          <a:noFill/>
          <a:ln/>
        </p:spPr>
        <p:txBody>
          <a:bodyPr wrap="square" lIns="0" tIns="0" rIns="0" bIns="0" rtlCol="0" anchor="ctr"/>
          <a:lstStyle/>
          <a:p>
            <a:pPr marL="0" indent="0">
              <a:buNone/>
            </a:pPr>
            <a:r>
              <a:rPr lang="en-US" sz="1600" b="1" dirty="0">
                <a:solidFill>
                  <a:schemeClr val="tx2"/>
                </a:solidFill>
              </a:rPr>
              <a:t>Planeta avícola</a:t>
            </a:r>
            <a:endParaRPr lang="en-US" sz="1600" dirty="0"/>
          </a:p>
        </p:txBody>
      </p:sp>
      <p:sp>
        <p:nvSpPr>
          <p:cNvPr id="21" name="Text 19"/>
          <p:cNvSpPr txBox="1"/>
          <p:nvPr/>
        </p:nvSpPr>
        <p:spPr>
          <a:xfrm>
            <a:off x="5221224"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Brazil · $71.5M · +$346M</a:t>
            </a:r>
            <a:endParaRPr lang="en-US" sz="1200" dirty="0"/>
          </a:p>
        </p:txBody>
      </p:sp>
      <p:sp>
        <p:nvSpPr>
          <p:cNvPr id="22" name="Text 20"/>
          <p:cNvSpPr txBox="1"/>
          <p:nvPr/>
        </p:nvSpPr>
        <p:spPr>
          <a:xfrm>
            <a:off x="5221224"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Largest LatAm economy; cage-free and subscriptions</a:t>
            </a:r>
            <a:endParaRPr lang="en-US" sz="1300" dirty="0"/>
          </a:p>
        </p:txBody>
      </p:sp>
      <p:sp>
        <p:nvSpPr>
          <p:cNvPr id="23" name="Egg badge"/>
          <p:cNvSpPr/>
          <p:nvPr/>
        </p:nvSpPr>
        <p:spPr>
          <a:xfrm>
            <a:off x="7534656" y="1828800"/>
            <a:ext cx="412394" cy="502920"/>
          </a:xfrm>
          <a:prstGeom prst="ellipse">
            <a:avLst/>
          </a:prstGeom>
          <a:solidFill>
            <a:schemeClr val="accent1"/>
          </a:solidFill>
          <a:ln w="12700">
            <a:solidFill>
              <a:schemeClr val="accent1"/>
            </a:solidFill>
            <a:prstDash val="solid"/>
          </a:ln>
        </p:spPr>
        <p:txBody>
          <a:bodyPr/>
          <a:lstStyle/>
          <a:p>
            <a:endParaRPr lang="zh-SG" altLang="en-US"/>
          </a:p>
        </p:txBody>
      </p:sp>
      <p:sp>
        <p:nvSpPr>
          <p:cNvPr id="24" name="Text 22"/>
          <p:cNvSpPr txBox="1"/>
          <p:nvPr/>
        </p:nvSpPr>
        <p:spPr>
          <a:xfrm>
            <a:off x="7534656" y="1828800"/>
            <a:ext cx="412394" cy="502920"/>
          </a:xfrm>
          <a:prstGeom prst="rect">
            <a:avLst/>
          </a:prstGeom>
          <a:noFill/>
          <a:ln/>
        </p:spPr>
        <p:txBody>
          <a:bodyPr wrap="square" lIns="0" tIns="0" rIns="0" bIns="0" rtlCol="0" anchor="ctr"/>
          <a:lstStyle/>
          <a:p>
            <a:pPr marL="0" indent="0" algn="ctr">
              <a:buNone/>
            </a:pPr>
            <a:r>
              <a:rPr lang="en-US" sz="1400" b="1" dirty="0">
                <a:solidFill>
                  <a:schemeClr val="tx2"/>
                </a:solidFill>
              </a:rPr>
              <a:t>Yr4</a:t>
            </a:r>
            <a:endParaRPr lang="en-US" sz="1400" dirty="0"/>
          </a:p>
        </p:txBody>
      </p:sp>
      <p:sp>
        <p:nvSpPr>
          <p:cNvPr id="25" name="Card"/>
          <p:cNvSpPr/>
          <p:nvPr/>
        </p:nvSpPr>
        <p:spPr>
          <a:xfrm>
            <a:off x="7351776"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26" name="Text 24"/>
          <p:cNvSpPr txBox="1"/>
          <p:nvPr/>
        </p:nvSpPr>
        <p:spPr>
          <a:xfrm>
            <a:off x="7488936" y="2606040"/>
            <a:ext cx="1783080" cy="411480"/>
          </a:xfrm>
          <a:prstGeom prst="rect">
            <a:avLst/>
          </a:prstGeom>
          <a:noFill/>
          <a:ln/>
        </p:spPr>
        <p:txBody>
          <a:bodyPr wrap="square" lIns="0" tIns="0" rIns="0" bIns="0" rtlCol="0" anchor="ctr"/>
          <a:lstStyle/>
          <a:p>
            <a:pPr marL="0" indent="0">
              <a:buNone/>
            </a:pPr>
            <a:r>
              <a:rPr lang="en-US" sz="1600" b="1" dirty="0">
                <a:solidFill>
                  <a:schemeClr val="tx2"/>
                </a:solidFill>
              </a:rPr>
              <a:t>Acres botánicos</a:t>
            </a:r>
            <a:endParaRPr lang="en-US" sz="1600" dirty="0"/>
          </a:p>
        </p:txBody>
      </p:sp>
      <p:sp>
        <p:nvSpPr>
          <p:cNvPr id="27" name="Text 25"/>
          <p:cNvSpPr txBox="1"/>
          <p:nvPr/>
        </p:nvSpPr>
        <p:spPr>
          <a:xfrm>
            <a:off x="7488936"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Mexico · $88M · +$367M</a:t>
            </a:r>
            <a:endParaRPr lang="en-US" sz="1200" dirty="0"/>
          </a:p>
        </p:txBody>
      </p:sp>
      <p:sp>
        <p:nvSpPr>
          <p:cNvPr id="28" name="Text 26"/>
          <p:cNvSpPr txBox="1"/>
          <p:nvPr/>
        </p:nvSpPr>
        <p:spPr>
          <a:xfrm>
            <a:off x="7488936"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Free-range, already in US and Mexico (USMCA)</a:t>
            </a:r>
            <a:endParaRPr lang="en-US" sz="1300" dirty="0"/>
          </a:p>
        </p:txBody>
      </p:sp>
      <p:sp>
        <p:nvSpPr>
          <p:cNvPr id="29" name="Egg badge"/>
          <p:cNvSpPr/>
          <p:nvPr/>
        </p:nvSpPr>
        <p:spPr>
          <a:xfrm>
            <a:off x="9802368" y="1828800"/>
            <a:ext cx="412394" cy="502920"/>
          </a:xfrm>
          <a:prstGeom prst="ellipse">
            <a:avLst/>
          </a:prstGeom>
          <a:solidFill>
            <a:schemeClr val="accent1"/>
          </a:solidFill>
          <a:ln w="12700">
            <a:solidFill>
              <a:schemeClr val="accent1"/>
            </a:solidFill>
            <a:prstDash val="solid"/>
          </a:ln>
        </p:spPr>
        <p:txBody>
          <a:bodyPr/>
          <a:lstStyle/>
          <a:p>
            <a:endParaRPr lang="zh-SG" altLang="en-US"/>
          </a:p>
        </p:txBody>
      </p:sp>
      <p:sp>
        <p:nvSpPr>
          <p:cNvPr id="30" name="Text 28"/>
          <p:cNvSpPr txBox="1"/>
          <p:nvPr/>
        </p:nvSpPr>
        <p:spPr>
          <a:xfrm>
            <a:off x="9802368" y="1828800"/>
            <a:ext cx="412394" cy="502920"/>
          </a:xfrm>
          <a:prstGeom prst="rect">
            <a:avLst/>
          </a:prstGeom>
          <a:noFill/>
          <a:ln/>
        </p:spPr>
        <p:txBody>
          <a:bodyPr wrap="square" lIns="0" tIns="0" rIns="0" bIns="0" rtlCol="0" anchor="ctr"/>
          <a:lstStyle/>
          <a:p>
            <a:pPr marL="0" indent="0" algn="ctr">
              <a:buNone/>
            </a:pPr>
            <a:r>
              <a:rPr lang="en-US" sz="1400" b="1" dirty="0">
                <a:solidFill>
                  <a:schemeClr val="tx2"/>
                </a:solidFill>
              </a:rPr>
              <a:t>Yr5</a:t>
            </a:r>
            <a:endParaRPr lang="en-US" sz="1400" dirty="0"/>
          </a:p>
        </p:txBody>
      </p:sp>
      <p:sp>
        <p:nvSpPr>
          <p:cNvPr id="31" name="Card"/>
          <p:cNvSpPr/>
          <p:nvPr/>
        </p:nvSpPr>
        <p:spPr>
          <a:xfrm>
            <a:off x="9619488" y="2514600"/>
            <a:ext cx="2057400" cy="2377440"/>
          </a:xfrm>
          <a:prstGeom prst="roundRect">
            <a:avLst>
              <a:gd name="adj" fmla="val 3556"/>
            </a:avLst>
          </a:prstGeom>
          <a:solidFill>
            <a:schemeClr val="bg2"/>
          </a:solidFill>
          <a:ln w="12700">
            <a:solidFill>
              <a:schemeClr val="bg2"/>
            </a:solidFill>
            <a:prstDash val="solid"/>
          </a:ln>
        </p:spPr>
        <p:txBody>
          <a:bodyPr/>
          <a:lstStyle/>
          <a:p>
            <a:endParaRPr lang="zh-SG" altLang="en-US"/>
          </a:p>
        </p:txBody>
      </p:sp>
      <p:sp>
        <p:nvSpPr>
          <p:cNvPr id="32" name="Text 30"/>
          <p:cNvSpPr txBox="1"/>
          <p:nvPr/>
        </p:nvSpPr>
        <p:spPr>
          <a:xfrm>
            <a:off x="9756648" y="2606040"/>
            <a:ext cx="1783080" cy="411480"/>
          </a:xfrm>
          <a:prstGeom prst="rect">
            <a:avLst/>
          </a:prstGeom>
          <a:noFill/>
          <a:ln/>
        </p:spPr>
        <p:txBody>
          <a:bodyPr wrap="square" lIns="0" tIns="0" rIns="0" bIns="0" rtlCol="0" anchor="ctr"/>
          <a:lstStyle/>
          <a:p>
            <a:pPr marL="0" indent="0">
              <a:buNone/>
            </a:pPr>
            <a:r>
              <a:rPr lang="en-US" sz="1600" b="1" dirty="0">
                <a:solidFill>
                  <a:schemeClr val="tx2"/>
                </a:solidFill>
              </a:rPr>
              <a:t>l'Acre de Noyers</a:t>
            </a:r>
            <a:endParaRPr lang="en-US" sz="1600" dirty="0"/>
          </a:p>
        </p:txBody>
      </p:sp>
      <p:sp>
        <p:nvSpPr>
          <p:cNvPr id="33" name="Text 31"/>
          <p:cNvSpPr txBox="1"/>
          <p:nvPr/>
        </p:nvSpPr>
        <p:spPr>
          <a:xfrm>
            <a:off x="9756648" y="3017520"/>
            <a:ext cx="1783080" cy="548640"/>
          </a:xfrm>
          <a:prstGeom prst="rect">
            <a:avLst/>
          </a:prstGeom>
          <a:noFill/>
          <a:ln/>
        </p:spPr>
        <p:txBody>
          <a:bodyPr wrap="square" lIns="0" tIns="0" rIns="0" bIns="0" rtlCol="0" anchor="t"/>
          <a:lstStyle/>
          <a:p>
            <a:pPr marL="0" indent="0">
              <a:buNone/>
            </a:pPr>
            <a:r>
              <a:rPr lang="en-US" sz="1200" b="1" dirty="0">
                <a:solidFill>
                  <a:schemeClr val="accent2"/>
                </a:solidFill>
              </a:rPr>
              <a:t>France · $115M · +$301M</a:t>
            </a:r>
            <a:endParaRPr lang="en-US" sz="1200" dirty="0"/>
          </a:p>
        </p:txBody>
      </p:sp>
      <p:sp>
        <p:nvSpPr>
          <p:cNvPr id="34" name="Text 32"/>
          <p:cNvSpPr txBox="1"/>
          <p:nvPr/>
        </p:nvSpPr>
        <p:spPr>
          <a:xfrm>
            <a:off x="9756648" y="3611880"/>
            <a:ext cx="1783080" cy="1188720"/>
          </a:xfrm>
          <a:prstGeom prst="rect">
            <a:avLst/>
          </a:prstGeom>
          <a:noFill/>
          <a:ln/>
        </p:spPr>
        <p:txBody>
          <a:bodyPr wrap="square" lIns="0" tIns="0" rIns="0" bIns="0" rtlCol="0" anchor="t"/>
          <a:lstStyle/>
          <a:p>
            <a:pPr marL="0" indent="0">
              <a:buNone/>
            </a:pPr>
            <a:r>
              <a:rPr lang="en-US" sz="1300" dirty="0">
                <a:solidFill>
                  <a:schemeClr val="tx1"/>
                </a:solidFill>
              </a:rPr>
              <a:t>EU entry; blockchain traceability, going cage-free</a:t>
            </a:r>
            <a:endParaRPr lang="en-US" sz="1300" dirty="0"/>
          </a:p>
        </p:txBody>
      </p:sp>
      <p:sp>
        <p:nvSpPr>
          <p:cNvPr id="35" name="Card"/>
          <p:cNvSpPr/>
          <p:nvPr/>
        </p:nvSpPr>
        <p:spPr>
          <a:xfrm>
            <a:off x="548640" y="5120640"/>
            <a:ext cx="11064240" cy="1051560"/>
          </a:xfrm>
          <a:prstGeom prst="roundRect">
            <a:avLst>
              <a:gd name="adj" fmla="val 6957"/>
            </a:avLst>
          </a:prstGeom>
          <a:solidFill>
            <a:schemeClr val="bg2"/>
          </a:solidFill>
          <a:ln w="12700">
            <a:solidFill>
              <a:schemeClr val="bg2"/>
            </a:solidFill>
            <a:prstDash val="solid"/>
          </a:ln>
        </p:spPr>
        <p:txBody>
          <a:bodyPr/>
          <a:lstStyle/>
          <a:p>
            <a:endParaRPr lang="zh-SG" altLang="en-US"/>
          </a:p>
        </p:txBody>
      </p:sp>
      <p:sp>
        <p:nvSpPr>
          <p:cNvPr id="36" name="Text 34"/>
          <p:cNvSpPr txBox="1"/>
          <p:nvPr/>
        </p:nvSpPr>
        <p:spPr>
          <a:xfrm>
            <a:off x="777240" y="5166360"/>
            <a:ext cx="10607040" cy="960120"/>
          </a:xfrm>
          <a:prstGeom prst="rect">
            <a:avLst/>
          </a:prstGeom>
          <a:noFill/>
          <a:ln/>
        </p:spPr>
        <p:txBody>
          <a:bodyPr wrap="square" lIns="0" tIns="0" rIns="0" bIns="0" rtlCol="0" anchor="ctr"/>
          <a:lstStyle/>
          <a:p>
            <a:pPr marL="0" indent="0">
              <a:buNone/>
            </a:pPr>
            <a:r>
              <a:rPr lang="en-US" sz="1400" b="1" dirty="0">
                <a:solidFill>
                  <a:schemeClr val="tx2"/>
                </a:solidFill>
              </a:rPr>
              <a:t>At home (Yr1–3): </a:t>
            </a:r>
            <a:r>
              <a:rPr lang="en-US" sz="1400" dirty="0">
                <a:solidFill>
                  <a:schemeClr val="tx1"/>
                </a:solidFill>
              </a:rPr>
              <a:t>2 egg-product plants ($50M), $20M cage-free conversion, +0.25% specialty marketing.   </a:t>
            </a:r>
            <a:r>
              <a:rPr lang="en-US" sz="1400" b="1" dirty="0">
                <a:solidFill>
                  <a:schemeClr val="tx2"/>
                </a:solidFill>
              </a:rPr>
              <a:t>Backups: </a:t>
            </a:r>
            <a:r>
              <a:rPr lang="en-US" sz="1400" dirty="0">
                <a:solidFill>
                  <a:schemeClr val="tx1"/>
                </a:solidFill>
              </a:rPr>
              <a:t>Lácteos recién (Mexico) and a $100M JV with les Acres de la Cabane (France).</a:t>
            </a:r>
            <a:endParaRPr lang="en-US" sz="1400" dirty="0"/>
          </a:p>
        </p:txBody>
      </p:sp>
      <p:sp>
        <p:nvSpPr>
          <p:cNvPr id="37"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Prices = midpoint of case acquisition ranges; revenue = current egg-business revenue (held flat, conservative).</a:t>
            </a:r>
            <a:endParaRPr lang="en-US" sz="1000" dirty="0"/>
          </a:p>
        </p:txBody>
      </p:sp>
      <p:sp>
        <p:nvSpPr>
          <p:cNvPr id="38"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Funding: $658M deployed, $142M held in reserve</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Blended price of 5.2x EBITA; acquired EBITA covers new interest more than 10 times</a:t>
            </a:r>
            <a:endParaRPr lang="en-US" sz="1600" dirty="0"/>
          </a:p>
        </p:txBody>
      </p:sp>
      <p:graphicFrame>
        <p:nvGraphicFramePr>
          <p:cNvPr id="4" name="Chart 0"/>
          <p:cNvGraphicFramePr/>
          <p:nvPr/>
        </p:nvGraphicFramePr>
        <p:xfrm>
          <a:off x="548640" y="1600200"/>
          <a:ext cx="62179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132320" y="1600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$300M + $358M</a:t>
            </a:r>
            <a:endParaRPr lang="en-US" sz="3400" dirty="0"/>
          </a:p>
        </p:txBody>
      </p:sp>
      <p:sp>
        <p:nvSpPr>
          <p:cNvPr id="6" name="Text 3"/>
          <p:cNvSpPr txBox="1"/>
          <p:nvPr/>
        </p:nvSpPr>
        <p:spPr>
          <a:xfrm>
            <a:off x="7132320" y="2313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reserves used first, then 10-year debt at 3%</a:t>
            </a:r>
            <a:endParaRPr lang="en-US" sz="1300" dirty="0"/>
          </a:p>
        </p:txBody>
      </p:sp>
      <p:sp>
        <p:nvSpPr>
          <p:cNvPr id="7" name="Text 4"/>
          <p:cNvSpPr txBox="1"/>
          <p:nvPr/>
        </p:nvSpPr>
        <p:spPr>
          <a:xfrm>
            <a:off x="7132320" y="2743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$10.7M / yr</a:t>
            </a:r>
            <a:endParaRPr lang="en-US" sz="3400" dirty="0"/>
          </a:p>
        </p:txBody>
      </p:sp>
      <p:sp>
        <p:nvSpPr>
          <p:cNvPr id="8" name="Text 5"/>
          <p:cNvSpPr txBox="1"/>
          <p:nvPr/>
        </p:nvSpPr>
        <p:spPr>
          <a:xfrm>
            <a:off x="7132320" y="3456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interest on $358M debt</a:t>
            </a:r>
            <a:endParaRPr lang="en-US" sz="1300" dirty="0"/>
          </a:p>
        </p:txBody>
      </p:sp>
      <p:sp>
        <p:nvSpPr>
          <p:cNvPr id="9" name="Text 6"/>
          <p:cNvSpPr txBox="1"/>
          <p:nvPr/>
        </p:nvSpPr>
        <p:spPr>
          <a:xfrm>
            <a:off x="7132320" y="3886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$113.9M / yr</a:t>
            </a:r>
            <a:endParaRPr lang="en-US" sz="3400" dirty="0"/>
          </a:p>
        </p:txBody>
      </p:sp>
      <p:sp>
        <p:nvSpPr>
          <p:cNvPr id="10" name="Text 7"/>
          <p:cNvSpPr txBox="1"/>
          <p:nvPr/>
        </p:nvSpPr>
        <p:spPr>
          <a:xfrm>
            <a:off x="7132320" y="4599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EBITA acquired (5 firms) → 10.6x interest cover</a:t>
            </a:r>
            <a:endParaRPr lang="en-US" sz="1300" dirty="0"/>
          </a:p>
        </p:txBody>
      </p:sp>
      <p:sp>
        <p:nvSpPr>
          <p:cNvPr id="11" name="Text 8"/>
          <p:cNvSpPr txBox="1"/>
          <p:nvPr/>
        </p:nvSpPr>
        <p:spPr>
          <a:xfrm>
            <a:off x="7132320" y="5029200"/>
            <a:ext cx="44805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5.2x</a:t>
            </a:r>
            <a:endParaRPr lang="en-US" sz="3400" dirty="0"/>
          </a:p>
        </p:txBody>
      </p:sp>
      <p:sp>
        <p:nvSpPr>
          <p:cNvPr id="12" name="Text 9"/>
          <p:cNvSpPr txBox="1"/>
          <p:nvPr/>
        </p:nvSpPr>
        <p:spPr>
          <a:xfrm>
            <a:off x="7132320" y="5742432"/>
            <a:ext cx="4480560" cy="548640"/>
          </a:xfrm>
          <a:prstGeom prst="rect">
            <a:avLst/>
          </a:prstGeom>
          <a:noFill/>
          <a:ln/>
        </p:spPr>
        <p:txBody>
          <a:bodyPr wrap="square" lIns="0" tIns="0" rIns="0" bIns="0" rtlCol="0" anchor="t"/>
          <a:lstStyle/>
          <a:p>
            <a:pPr marL="0" indent="0">
              <a:buNone/>
            </a:pPr>
            <a:r>
              <a:rPr lang="en-US" sz="1300" dirty="0">
                <a:solidFill>
                  <a:schemeClr val="accent5"/>
                </a:solidFill>
              </a:rPr>
              <a:t>blended price ÷ EBITA vs 11.4x for US targets</a:t>
            </a:r>
            <a:endParaRPr lang="en-US" sz="1300" dirty="0"/>
          </a:p>
        </p:txBody>
      </p:sp>
      <p:sp>
        <p:nvSpPr>
          <p:cNvPr id="13"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 case capital terms ($300M reserves, up to $500M at 3% for 10 years); group calculations.</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Goal 1 met in Year 2; $4.1B by Year 3</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International revenue grows to 47% of the total by Year 7</a:t>
            </a:r>
            <a:endParaRPr lang="en-US" sz="1600" dirty="0"/>
          </a:p>
        </p:txBody>
      </p:sp>
      <p:graphicFrame>
        <p:nvGraphicFramePr>
          <p:cNvPr id="4" name="Chart 0"/>
          <p:cNvGraphicFramePr/>
          <p:nvPr/>
        </p:nvGraphicFramePr>
        <p:xfrm>
          <a:off x="548640" y="1600200"/>
          <a:ext cx="76809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503920" y="1691640"/>
            <a:ext cx="3108960" cy="685800"/>
          </a:xfrm>
          <a:prstGeom prst="rect">
            <a:avLst/>
          </a:prstGeom>
          <a:noFill/>
          <a:ln/>
        </p:spPr>
        <p:txBody>
          <a:bodyPr wrap="square" lIns="0" tIns="0" rIns="0" bIns="0" rtlCol="0" anchor="b"/>
          <a:lstStyle/>
          <a:p>
            <a:pPr marL="0" indent="0">
              <a:buNone/>
            </a:pPr>
            <a:r>
              <a:rPr lang="en-US" sz="3400" b="1" dirty="0">
                <a:solidFill>
                  <a:schemeClr val="accent2"/>
                </a:solidFill>
                <a:latin typeface="Cambria" pitchFamily="34" charset="0"/>
                <a:ea typeface="Cambria" pitchFamily="34" charset="-122"/>
                <a:cs typeface="Cambria" pitchFamily="34" charset="-120"/>
              </a:rPr>
              <a:t>$3,717M</a:t>
            </a:r>
            <a:endParaRPr lang="en-US" sz="3400" dirty="0"/>
          </a:p>
        </p:txBody>
      </p:sp>
      <p:sp>
        <p:nvSpPr>
          <p:cNvPr id="6" name="Text 3"/>
          <p:cNvSpPr txBox="1"/>
          <p:nvPr/>
        </p:nvSpPr>
        <p:spPr>
          <a:xfrm>
            <a:off x="8503920" y="2404872"/>
            <a:ext cx="3108960" cy="548640"/>
          </a:xfrm>
          <a:prstGeom prst="rect">
            <a:avLst/>
          </a:prstGeom>
          <a:noFill/>
          <a:ln/>
        </p:spPr>
        <p:txBody>
          <a:bodyPr wrap="square" lIns="0" tIns="0" rIns="0" bIns="0" rtlCol="0" anchor="t"/>
          <a:lstStyle/>
          <a:p>
            <a:pPr marL="0" indent="0">
              <a:buNone/>
            </a:pPr>
            <a:r>
              <a:rPr lang="en-US" sz="1300" dirty="0">
                <a:solidFill>
                  <a:schemeClr val="accent5"/>
                </a:solidFill>
              </a:rPr>
              <a:t>Year 2 total — target passed a year early</a:t>
            </a:r>
            <a:endParaRPr lang="en-US" sz="1300" dirty="0"/>
          </a:p>
        </p:txBody>
      </p:sp>
      <p:sp>
        <p:nvSpPr>
          <p:cNvPr id="7" name="Text 4"/>
          <p:cNvSpPr txBox="1"/>
          <p:nvPr/>
        </p:nvSpPr>
        <p:spPr>
          <a:xfrm>
            <a:off x="8503920" y="3108960"/>
            <a:ext cx="31089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$4,129M</a:t>
            </a:r>
            <a:endParaRPr lang="en-US" sz="3400" dirty="0"/>
          </a:p>
        </p:txBody>
      </p:sp>
      <p:sp>
        <p:nvSpPr>
          <p:cNvPr id="8" name="Text 5"/>
          <p:cNvSpPr txBox="1"/>
          <p:nvPr/>
        </p:nvSpPr>
        <p:spPr>
          <a:xfrm>
            <a:off x="8503920" y="3822192"/>
            <a:ext cx="3108960" cy="548640"/>
          </a:xfrm>
          <a:prstGeom prst="rect">
            <a:avLst/>
          </a:prstGeom>
          <a:noFill/>
          <a:ln/>
        </p:spPr>
        <p:txBody>
          <a:bodyPr wrap="square" lIns="0" tIns="0" rIns="0" bIns="0" rtlCol="0" anchor="t"/>
          <a:lstStyle/>
          <a:p>
            <a:pPr marL="0" indent="0">
              <a:buNone/>
            </a:pPr>
            <a:r>
              <a:rPr lang="en-US" sz="1300" dirty="0">
                <a:solidFill>
                  <a:schemeClr val="accent5"/>
                </a:solidFill>
              </a:rPr>
              <a:t>Year 3 total (+77% vs today)</a:t>
            </a:r>
            <a:endParaRPr lang="en-US" sz="1300" dirty="0"/>
          </a:p>
        </p:txBody>
      </p:sp>
      <p:sp>
        <p:nvSpPr>
          <p:cNvPr id="9" name="Text 6"/>
          <p:cNvSpPr txBox="1"/>
          <p:nvPr/>
        </p:nvSpPr>
        <p:spPr>
          <a:xfrm>
            <a:off x="8503920" y="4526280"/>
            <a:ext cx="3108960" cy="685800"/>
          </a:xfrm>
          <a:prstGeom prst="rect">
            <a:avLst/>
          </a:prstGeom>
          <a:noFill/>
          <a:ln/>
        </p:spPr>
        <p:txBody>
          <a:bodyPr wrap="square" lIns="0" tIns="0" rIns="0" bIns="0" rtlCol="0" anchor="b"/>
          <a:lstStyle/>
          <a:p>
            <a:pPr marL="0" indent="0">
              <a:buNone/>
            </a:pPr>
            <a:r>
              <a:rPr lang="en-US" sz="3400" b="1" dirty="0">
                <a:solidFill>
                  <a:schemeClr val="tx2"/>
                </a:solidFill>
                <a:latin typeface="Cambria" pitchFamily="34" charset="0"/>
                <a:ea typeface="Cambria" pitchFamily="34" charset="-122"/>
                <a:cs typeface="Cambria" pitchFamily="34" charset="-120"/>
              </a:rPr>
              <a:t>$4,865M</a:t>
            </a:r>
            <a:endParaRPr lang="en-US" sz="3400" dirty="0"/>
          </a:p>
        </p:txBody>
      </p:sp>
      <p:sp>
        <p:nvSpPr>
          <p:cNvPr id="10" name="Text 7"/>
          <p:cNvSpPr txBox="1"/>
          <p:nvPr/>
        </p:nvSpPr>
        <p:spPr>
          <a:xfrm>
            <a:off x="8503920" y="5239512"/>
            <a:ext cx="3108960" cy="548640"/>
          </a:xfrm>
          <a:prstGeom prst="rect">
            <a:avLst/>
          </a:prstGeom>
          <a:noFill/>
          <a:ln/>
        </p:spPr>
        <p:txBody>
          <a:bodyPr wrap="square" lIns="0" tIns="0" rIns="0" bIns="0" rtlCol="0" anchor="t"/>
          <a:lstStyle/>
          <a:p>
            <a:pPr marL="0" indent="0">
              <a:buNone/>
            </a:pPr>
            <a:r>
              <a:rPr lang="en-US" sz="1300" dirty="0">
                <a:solidFill>
                  <a:schemeClr val="accent5"/>
                </a:solidFill>
              </a:rPr>
              <a:t>Year 7 total; 47% international</a:t>
            </a:r>
            <a:endParaRPr lang="en-US" sz="1300" dirty="0"/>
          </a:p>
        </p:txBody>
      </p:sp>
      <p:sp>
        <p:nvSpPr>
          <p:cNvPr id="11"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Assumptions: commodity price flat at today's level; acquired revenue held flat; specialty market +2.5%/yr (case).</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Stress test: the plan survives a 30% commodity price fall</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Only a repeat of the 48% crash breaks the target; pulling Mexico forward restores it</a:t>
            </a:r>
            <a:endParaRPr lang="en-US" sz="1600" dirty="0"/>
          </a:p>
        </p:txBody>
      </p:sp>
      <p:graphicFrame>
        <p:nvGraphicFramePr>
          <p:cNvPr id="4" name="Chart 0"/>
          <p:cNvGraphicFramePr/>
          <p:nvPr/>
        </p:nvGraphicFramePr>
        <p:xfrm>
          <a:off x="548640" y="1600200"/>
          <a:ext cx="76809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8503920" y="1691640"/>
            <a:ext cx="3108960" cy="4389120"/>
          </a:xfrm>
          <a:prstGeom prst="roundRect">
            <a:avLst>
              <a:gd name="adj" fmla="val 2353"/>
            </a:avLst>
          </a:prstGeom>
          <a:solidFill>
            <a:schemeClr val="bg2"/>
          </a:solidFill>
          <a:ln w="12700">
            <a:solidFill>
              <a:schemeClr val="bg2"/>
            </a:solidFill>
            <a:prstDash val="solid"/>
          </a:ln>
        </p:spPr>
        <p:txBody>
          <a:bodyPr/>
          <a:lstStyle/>
          <a:p>
            <a:endParaRPr lang="zh-SG" altLang="en-US"/>
          </a:p>
        </p:txBody>
      </p:sp>
      <p:sp>
        <p:nvSpPr>
          <p:cNvPr id="6" name="Text 3"/>
          <p:cNvSpPr txBox="1"/>
          <p:nvPr/>
        </p:nvSpPr>
        <p:spPr>
          <a:xfrm>
            <a:off x="8686800" y="1783080"/>
            <a:ext cx="274320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What it means</a:t>
            </a:r>
            <a:endParaRPr lang="en-US" sz="1800" dirty="0"/>
          </a:p>
        </p:txBody>
      </p:sp>
      <p:sp>
        <p:nvSpPr>
          <p:cNvPr id="7" name="Text 4"/>
          <p:cNvSpPr txBox="1"/>
          <p:nvPr/>
        </p:nvSpPr>
        <p:spPr>
          <a:xfrm>
            <a:off x="8686800" y="2240280"/>
            <a:ext cx="278892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Break-even shock: commodity can fall 38% before Year-3 revenue drops below $3.5B.</a:t>
            </a:r>
            <a:endParaRPr lang="en-US" sz="1400" dirty="0"/>
          </a:p>
          <a:p>
            <a:pPr marL="342900" indent="-342900">
              <a:spcAft>
                <a:spcPts val="800"/>
              </a:spcAft>
              <a:buSzPct val="100000"/>
              <a:buChar char="•"/>
            </a:pPr>
            <a:r>
              <a:rPr lang="en-US" sz="1400" dirty="0">
                <a:solidFill>
                  <a:schemeClr val="tx1"/>
                </a:solidFill>
              </a:rPr>
              <a:t>Trigger: if US commodity revenue runs &gt;30% below plan for two quarters, close Acres botánicos in Year 3 (+$367M).</a:t>
            </a:r>
            <a:endParaRPr lang="en-US" sz="1400" dirty="0"/>
          </a:p>
          <a:p>
            <a:pPr marL="342900" indent="-342900">
              <a:spcAft>
                <a:spcPts val="800"/>
              </a:spcAft>
              <a:buSzPct val="100000"/>
              <a:buChar char="•"/>
            </a:pPr>
            <a:r>
              <a:rPr lang="en-US" sz="1400" dirty="0">
                <a:solidFill>
                  <a:schemeClr val="tx1"/>
                </a:solidFill>
              </a:rPr>
              <a:t>Specialty share rises in a crash, so Goal 2 is not at risk.</a:t>
            </a:r>
            <a:endParaRPr lang="en-US" sz="1400" dirty="0"/>
          </a:p>
        </p:txBody>
      </p:sp>
      <p:sp>
        <p:nvSpPr>
          <p:cNvPr id="8"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Shock applied to Year-3 US commodity revenue ($1,661M). Break-even = ($4,128.5M − $3,500M) ÷ $1,661M = 37.8%.</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Goal 1 · Exceed $3.5B revenue in three years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Two objectives, each with two evidenced risks and a planned response</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Objective (data-driven)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 (with evidence)</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Contingency action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960120">
                <a:tc rowSpan="2">
                  <a:txBody>
                    <a:bodyPr/>
                    <a:lstStyle/>
                    <a:p>
                      <a:pPr marL="0" indent="0">
                        <a:buNone/>
                      </a:pPr>
                      <a:r>
                        <a:rPr lang="en-US" sz="1200" b="1" dirty="0">
                          <a:solidFill>
                            <a:srgbClr val="23412F"/>
                          </a:solidFill>
                          <a:latin typeface="Calibri" pitchFamily="34" charset="0"/>
                          <a:ea typeface="Calibri" pitchFamily="34" charset="-122"/>
                          <a:cs typeface="Calibri" pitchFamily="34" charset="-120"/>
                        </a:rPr>
                        <a:t>O1.1 Acquire S. Bound, Free Range Roost and Planeta avícola by Yr3 (+$1.61B revenue for $385M, 4.9x EBITA)</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Commodity price crash: revenue fell 48% in the down year; price CV is 21%</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Price trigger: pull Acres botánicos into Yr3; raise share of contract-priced sales</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960120">
                <a:tc vMerge="1">
                  <a:txBody>
                    <a:bodyPr/>
                    <a:lstStyle/>
                    <a:p>
                      <a:endParaRPr lang="zh-SG"/>
                    </a:p>
                  </a:txBody>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Overpaying or failed integration (prices span up to ±20% around midpoint)</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Bid at the low end with earn-outs; keep local CEOs; 100-day integration plan per deal</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2"/>
                  </a:ext>
                </a:extLst>
              </a:tr>
              <a:tr h="960120">
                <a:tc rowSpan="2">
                  <a:txBody>
                    <a:bodyPr/>
                    <a:lstStyle/>
                    <a:p>
                      <a:pPr marL="0" indent="0">
                        <a:buNone/>
                      </a:pPr>
                      <a:r>
                        <a:rPr lang="en-US" sz="1200" b="1" dirty="0">
                          <a:solidFill>
                            <a:srgbClr val="23412F"/>
                          </a:solidFill>
                          <a:latin typeface="Calibri" pitchFamily="34" charset="0"/>
                          <a:ea typeface="Calibri" pitchFamily="34" charset="-122"/>
                          <a:cs typeface="Calibri" pitchFamily="34" charset="-120"/>
                        </a:rPr>
                        <a:t>O1.2 Grow US revenue to $2.52B via specialty growth, marketing and 2 product plants</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Avian flu: ~18.8M US layers lost in Jan 2025 alone; ~43M in Jan–Feb (Farm Bureau est.)</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Spread flocks across sites; strict biosecurity; use USDA indemnity and insurance</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vMerge="1">
                  <a:txBody>
                    <a:bodyPr/>
                    <a:lstStyle/>
                    <a:p>
                      <a:endParaRPr lang="zh-SG"/>
                    </a:p>
                  </a:txBody>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Plant build delays push $100M revenue past Yr3</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Stage plants (Yr2 and Yr3); pre-sell output to foodservice customers before construction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Sources: case data; group model; USDA and Farm Bureau figures via Capital FM (2025).</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Goal 2 · Specialty ≥30% of US revenue in three years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Mix target passes in Year 2 and reaches 34% in Year 3</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Objective (data-driven)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 (with evidence)</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Contingency action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960120">
                <a:tc rowSpan="2">
                  <a:txBody>
                    <a:bodyPr/>
                    <a:lstStyle/>
                    <a:p>
                      <a:pPr marL="0" indent="0">
                        <a:buNone/>
                      </a:pPr>
                      <a:r>
                        <a:rPr lang="en-US" sz="1200" b="1" dirty="0">
                          <a:solidFill>
                            <a:srgbClr val="23412F"/>
                          </a:solidFill>
                          <a:latin typeface="Calibri" pitchFamily="34" charset="0"/>
                          <a:ea typeface="Calibri" pitchFamily="34" charset="-122"/>
                          <a:cs typeface="Calibri" pitchFamily="34" charset="-120"/>
                        </a:rPr>
                        <a:t>O2.1 Convert $20M of commodity capacity to cage-free, shifting $100M to specialty (15% margin)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Cage-free supply catches up and premiums fall: cage-free was already 38.8% of US layers in Nov 2023 (USDA)</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Convert only against signed retailer or foodservice contracts; phase in two $10M tranches</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960120">
                <a:tc vMerge="1">
                  <a:txBody>
                    <a:bodyPr/>
                    <a:lstStyle/>
                    <a:p>
                      <a:endParaRPr lang="zh-SG"/>
                    </a:p>
                  </a:txBody>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Conversion reduces birds per barn and short-term output</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Convert during scheduled flock turnover; track output per house monthly</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2"/>
                  </a:ext>
                </a:extLst>
              </a:tr>
              <a:tr h="960120">
                <a:tc rowSpan="2">
                  <a:txBody>
                    <a:bodyPr/>
                    <a:lstStyle/>
                    <a:p>
                      <a:pPr marL="0" indent="0">
                        <a:buNone/>
                      </a:pPr>
                      <a:r>
                        <a:rPr lang="en-US" sz="1200" b="1" dirty="0">
                          <a:solidFill>
                            <a:srgbClr val="23412F"/>
                          </a:solidFill>
                          <a:latin typeface="Calibri" pitchFamily="34" charset="0"/>
                          <a:ea typeface="Calibri" pitchFamily="34" charset="-122"/>
                          <a:cs typeface="Calibri" pitchFamily="34" charset="-120"/>
                        </a:rPr>
                        <a:t>O2.2 Build two egg-product plants ($50M, +$100M at 20%) and add 0.25% marketing</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Weak demand for prepared products (e.g. patties) in a downturn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Diversify channels: retail, foodservice, ingredient buyers; flexible product lines</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vMerge="1">
                  <a:txBody>
                    <a:bodyPr/>
                    <a:lstStyle/>
                    <a:p>
                      <a:endParaRPr lang="zh-SG"/>
                    </a:p>
                  </a:txBody>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Marketing returns only ~$1.1M net profit a year</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KPI gate after 12 months; redirect spend to the plants if specialty lift is below 4%</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Sources: case lever yields; USDA Cage-Free Shell Egg Report via O’Keefe (2024); group calculations.</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Goal 3 · Become a global company within seven years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Assumption: ‘global’ = 4+ continents and ~half of revenue from new markets (our definition)</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2008163304"/>
              </p:ext>
            </p:extLst>
          </p:nvPr>
        </p:nvGraphicFramePr>
        <p:xfrm>
          <a:off x="548640" y="1600200"/>
          <a:ext cx="11064240" cy="4224528"/>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Objective (data-driven)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 (with evidence)</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Contingency action</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3412F"/>
                    </a:solidFill>
                  </a:tcPr>
                </a:tc>
                <a:extLst>
                  <a:ext uri="{0D108BD9-81ED-4DB2-BD59-A6C34878D82A}">
                    <a16:rowId xmlns:a16="http://schemas.microsoft.com/office/drawing/2014/main" val="10000"/>
                  </a:ext>
                </a:extLst>
              </a:tr>
              <a:tr h="960120">
                <a:tc rowSpan="2">
                  <a:txBody>
                    <a:bodyPr/>
                    <a:lstStyle/>
                    <a:p>
                      <a:pPr marL="0" indent="0">
                        <a:buNone/>
                      </a:pPr>
                      <a:r>
                        <a:rPr lang="en-US" sz="1200" b="1" dirty="0">
                          <a:solidFill>
                            <a:srgbClr val="23412F"/>
                          </a:solidFill>
                          <a:latin typeface="Calibri" pitchFamily="34" charset="0"/>
                          <a:ea typeface="Calibri" pitchFamily="34" charset="-122"/>
                          <a:cs typeface="Calibri" pitchFamily="34" charset="-120"/>
                        </a:rPr>
                        <a:t>O3.1 Operate in 4 continents by Yr5 through five staged acquisitions</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Political and currency risk: Brazil and Mexico are developing economies; Thailand depends heavily on exports</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Borrow partly in local currency; hedge cash flows; one deal per year to limit exposure</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1"/>
                  </a:ext>
                </a:extLst>
              </a:tr>
              <a:tr h="960120">
                <a:tc vMerge="1">
                  <a:txBody>
                    <a:bodyPr/>
                    <a:lstStyle/>
                    <a:p>
                      <a:endParaRPr lang="zh-SG"/>
                    </a:p>
                  </a:txBody>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Cultural and regulatory differences, e.g. EU welfare rules, family-firm culture</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Keep local management; phase in AmEgg pay and people practices; local compliance leads</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3EC"/>
                    </a:solidFill>
                  </a:tcPr>
                </a:tc>
                <a:extLst>
                  <a:ext uri="{0D108BD9-81ED-4DB2-BD59-A6C34878D82A}">
                    <a16:rowId xmlns:a16="http://schemas.microsoft.com/office/drawing/2014/main" val="10002"/>
                  </a:ext>
                </a:extLst>
              </a:tr>
              <a:tr h="960120">
                <a:tc rowSpan="2">
                  <a:txBody>
                    <a:bodyPr/>
                    <a:lstStyle/>
                    <a:p>
                      <a:pPr marL="0" indent="0">
                        <a:buNone/>
                      </a:pPr>
                      <a:r>
                        <a:rPr lang="en-US" sz="1200" b="1" dirty="0">
                          <a:solidFill>
                            <a:srgbClr val="23412F"/>
                          </a:solidFill>
                          <a:latin typeface="Calibri" pitchFamily="34" charset="0"/>
                          <a:ea typeface="Calibri" pitchFamily="34" charset="-122"/>
                          <a:cs typeface="Calibri" pitchFamily="34" charset="-120"/>
                        </a:rPr>
                        <a:t>O3.2 Keep finance conservative: $658M of $800M, debt $358M at 3%</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Interest and refinancing risk if earnings fall</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Fixed 10-year rate; interest cover &gt;10x; repay debt from acquired EBITA first</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vMerge="1">
                  <a:txBody>
                    <a:bodyPr/>
                    <a:lstStyle/>
                    <a:p>
                      <a:endParaRPr lang="zh-SG"/>
                    </a:p>
                  </a:txBody>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A target is sold to a rival before we close</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Ranked backup list: Lácteos recién, Cabane JV ($100M), Hollybrook</a:t>
                      </a:r>
                      <a:endParaRPr lang="en-US" sz="1200" dirty="0">
                        <a:latin typeface="Calibri" charset="0"/>
                        <a:ea typeface="Calibri" charset="0"/>
                        <a:cs typeface="Calibri" charset="0"/>
                      </a:endParaRPr>
                    </a:p>
                  </a:txBody>
                  <a:tcPr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Sources: case Tables 3–6 (economy and in-country risk columns); group model.</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Where the goals help or hurt each other</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International deals drive Goals 1 and 3 without diluting the US mix in Goal 2</a:t>
            </a:r>
            <a:endParaRPr lang="en-US" sz="1600" dirty="0"/>
          </a:p>
        </p:txBody>
      </p:sp>
      <p:sp>
        <p:nvSpPr>
          <p:cNvPr id="4" name="Text 2"/>
          <p:cNvSpPr txBox="1"/>
          <p:nvPr/>
        </p:nvSpPr>
        <p:spPr>
          <a:xfrm>
            <a:off x="548640" y="1645920"/>
            <a:ext cx="5440680" cy="411480"/>
          </a:xfrm>
          <a:prstGeom prst="rect">
            <a:avLst/>
          </a:prstGeom>
          <a:noFill/>
          <a:ln/>
        </p:spPr>
        <p:txBody>
          <a:bodyPr wrap="square" lIns="0" tIns="0" rIns="0" bIns="0" rtlCol="0" anchor="ctr"/>
          <a:lstStyle/>
          <a:p>
            <a:pPr marL="0" indent="0">
              <a:buNone/>
            </a:pPr>
            <a:r>
              <a:rPr lang="en-US" sz="2000" b="1" dirty="0">
                <a:solidFill>
                  <a:schemeClr val="accent2"/>
                </a:solidFill>
                <a:latin typeface="Cambria" pitchFamily="34" charset="0"/>
                <a:ea typeface="Cambria" pitchFamily="34" charset="-122"/>
                <a:cs typeface="Cambria" pitchFamily="34" charset="-120"/>
              </a:rPr>
              <a:t>Synergies</a:t>
            </a:r>
            <a:endParaRPr lang="en-US" sz="2000" dirty="0"/>
          </a:p>
        </p:txBody>
      </p:sp>
      <p:sp>
        <p:nvSpPr>
          <p:cNvPr id="5" name="Card"/>
          <p:cNvSpPr/>
          <p:nvPr/>
        </p:nvSpPr>
        <p:spPr>
          <a:xfrm>
            <a:off x="548640" y="219456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6" name="Egg badge"/>
          <p:cNvSpPr/>
          <p:nvPr/>
        </p:nvSpPr>
        <p:spPr>
          <a:xfrm>
            <a:off x="731520" y="2560320"/>
            <a:ext cx="374904" cy="457200"/>
          </a:xfrm>
          <a:prstGeom prst="ellipse">
            <a:avLst/>
          </a:prstGeom>
          <a:solidFill>
            <a:schemeClr val="accent2"/>
          </a:solidFill>
          <a:ln w="12700">
            <a:solidFill>
              <a:schemeClr val="accent2"/>
            </a:solidFill>
            <a:prstDash val="solid"/>
          </a:ln>
        </p:spPr>
        <p:txBody>
          <a:bodyPr/>
          <a:lstStyle/>
          <a:p>
            <a:endParaRPr lang="zh-SG" altLang="en-US"/>
          </a:p>
        </p:txBody>
      </p:sp>
      <p:sp>
        <p:nvSpPr>
          <p:cNvPr id="7" name="Text 5"/>
          <p:cNvSpPr txBox="1"/>
          <p:nvPr/>
        </p:nvSpPr>
        <p:spPr>
          <a:xfrm>
            <a:off x="731520" y="256032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6"/>
          <p:cNvSpPr txBox="1"/>
          <p:nvPr/>
        </p:nvSpPr>
        <p:spPr>
          <a:xfrm>
            <a:off x="1325880" y="230428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Revenue + global</a:t>
            </a:r>
            <a:endParaRPr lang="en-US" sz="1600" dirty="0"/>
          </a:p>
        </p:txBody>
      </p:sp>
      <p:sp>
        <p:nvSpPr>
          <p:cNvPr id="9" name="Text 7"/>
          <p:cNvSpPr txBox="1"/>
          <p:nvPr/>
        </p:nvSpPr>
        <p:spPr>
          <a:xfrm>
            <a:off x="1325880" y="2670048"/>
            <a:ext cx="4526280" cy="658368"/>
          </a:xfrm>
          <a:prstGeom prst="rect">
            <a:avLst/>
          </a:prstGeom>
          <a:noFill/>
          <a:ln/>
        </p:spPr>
        <p:txBody>
          <a:bodyPr wrap="square" lIns="0" tIns="0" rIns="0" bIns="0" rtlCol="0" anchor="t"/>
          <a:lstStyle/>
          <a:p>
            <a:pPr marL="0" indent="0">
              <a:buNone/>
            </a:pPr>
            <a:r>
              <a:rPr lang="en-US" sz="1300" dirty="0">
                <a:solidFill>
                  <a:schemeClr val="tx1"/>
                </a:solidFill>
              </a:rPr>
              <a:t>Each foreign acquisition counts toward both the $3.5B target and the global footprint.</a:t>
            </a:r>
            <a:endParaRPr lang="en-US" sz="1300" dirty="0"/>
          </a:p>
        </p:txBody>
      </p:sp>
      <p:sp>
        <p:nvSpPr>
          <p:cNvPr id="10" name="Card"/>
          <p:cNvSpPr/>
          <p:nvPr/>
        </p:nvSpPr>
        <p:spPr>
          <a:xfrm>
            <a:off x="548640" y="352044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11" name="Egg badge"/>
          <p:cNvSpPr/>
          <p:nvPr/>
        </p:nvSpPr>
        <p:spPr>
          <a:xfrm>
            <a:off x="731520" y="3886200"/>
            <a:ext cx="374904" cy="457200"/>
          </a:xfrm>
          <a:prstGeom prst="ellipse">
            <a:avLst/>
          </a:prstGeom>
          <a:solidFill>
            <a:schemeClr val="accent2"/>
          </a:solidFill>
          <a:ln w="12700">
            <a:solidFill>
              <a:schemeClr val="accent2"/>
            </a:solidFill>
            <a:prstDash val="solid"/>
          </a:ln>
        </p:spPr>
        <p:txBody>
          <a:bodyPr/>
          <a:lstStyle/>
          <a:p>
            <a:endParaRPr lang="zh-SG" altLang="en-US"/>
          </a:p>
        </p:txBody>
      </p:sp>
      <p:sp>
        <p:nvSpPr>
          <p:cNvPr id="12" name="Text 10"/>
          <p:cNvSpPr txBox="1"/>
          <p:nvPr/>
        </p:nvSpPr>
        <p:spPr>
          <a:xfrm>
            <a:off x="731520" y="388620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1"/>
          <p:cNvSpPr txBox="1"/>
          <p:nvPr/>
        </p:nvSpPr>
        <p:spPr>
          <a:xfrm>
            <a:off x="1325880" y="363016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Mix + profit</a:t>
            </a:r>
            <a:endParaRPr lang="en-US" sz="1600" dirty="0"/>
          </a:p>
        </p:txBody>
      </p:sp>
      <p:sp>
        <p:nvSpPr>
          <p:cNvPr id="14" name="Text 12"/>
          <p:cNvSpPr txBox="1"/>
          <p:nvPr/>
        </p:nvSpPr>
        <p:spPr>
          <a:xfrm>
            <a:off x="1325880" y="3995928"/>
            <a:ext cx="4526280" cy="658368"/>
          </a:xfrm>
          <a:prstGeom prst="rect">
            <a:avLst/>
          </a:prstGeom>
          <a:noFill/>
          <a:ln/>
        </p:spPr>
        <p:txBody>
          <a:bodyPr wrap="square" lIns="0" tIns="0" rIns="0" bIns="0" rtlCol="0" anchor="t"/>
          <a:lstStyle/>
          <a:p>
            <a:pPr marL="0" indent="0">
              <a:buNone/>
            </a:pPr>
            <a:r>
              <a:rPr lang="en-US" sz="1300" dirty="0">
                <a:solidFill>
                  <a:schemeClr val="tx1"/>
                </a:solidFill>
              </a:rPr>
              <a:t>Plants and cage-free raise the US specialty share and lift margins that service debt.</a:t>
            </a:r>
            <a:endParaRPr lang="en-US" sz="1300" dirty="0"/>
          </a:p>
        </p:txBody>
      </p:sp>
      <p:sp>
        <p:nvSpPr>
          <p:cNvPr id="15" name="Card"/>
          <p:cNvSpPr/>
          <p:nvPr/>
        </p:nvSpPr>
        <p:spPr>
          <a:xfrm>
            <a:off x="548640" y="484632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16" name="Egg badge"/>
          <p:cNvSpPr/>
          <p:nvPr/>
        </p:nvSpPr>
        <p:spPr>
          <a:xfrm>
            <a:off x="731520" y="5212080"/>
            <a:ext cx="374904" cy="457200"/>
          </a:xfrm>
          <a:prstGeom prst="ellipse">
            <a:avLst/>
          </a:prstGeom>
          <a:solidFill>
            <a:schemeClr val="accent2"/>
          </a:solidFill>
          <a:ln w="12700">
            <a:solidFill>
              <a:schemeClr val="accent2"/>
            </a:solidFill>
            <a:prstDash val="solid"/>
          </a:ln>
        </p:spPr>
        <p:txBody>
          <a:bodyPr/>
          <a:lstStyle/>
          <a:p>
            <a:endParaRPr lang="zh-SG" altLang="en-US"/>
          </a:p>
        </p:txBody>
      </p:sp>
      <p:sp>
        <p:nvSpPr>
          <p:cNvPr id="17" name="Text 15"/>
          <p:cNvSpPr txBox="1"/>
          <p:nvPr/>
        </p:nvSpPr>
        <p:spPr>
          <a:xfrm>
            <a:off x="731520" y="521208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6"/>
          <p:cNvSpPr txBox="1"/>
          <p:nvPr/>
        </p:nvSpPr>
        <p:spPr>
          <a:xfrm>
            <a:off x="1325880" y="495604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Know-how transfer</a:t>
            </a:r>
            <a:endParaRPr lang="en-US" sz="1600" dirty="0"/>
          </a:p>
        </p:txBody>
      </p:sp>
      <p:sp>
        <p:nvSpPr>
          <p:cNvPr id="19" name="Text 17"/>
          <p:cNvSpPr txBox="1"/>
          <p:nvPr/>
        </p:nvSpPr>
        <p:spPr>
          <a:xfrm>
            <a:off x="1325880" y="5321808"/>
            <a:ext cx="4526280" cy="658368"/>
          </a:xfrm>
          <a:prstGeom prst="rect">
            <a:avLst/>
          </a:prstGeom>
          <a:noFill/>
          <a:ln/>
        </p:spPr>
        <p:txBody>
          <a:bodyPr wrap="square" lIns="0" tIns="0" rIns="0" bIns="0" rtlCol="0" anchor="t"/>
          <a:lstStyle/>
          <a:p>
            <a:pPr marL="0" indent="0">
              <a:buNone/>
            </a:pPr>
            <a:r>
              <a:rPr lang="en-US" sz="1300" dirty="0">
                <a:solidFill>
                  <a:schemeClr val="tx1"/>
                </a:solidFill>
              </a:rPr>
              <a:t>Thai and Brazilian cage-free plans and French traceability feed AmEgg's specialty range.</a:t>
            </a:r>
            <a:endParaRPr lang="en-US" sz="1300" dirty="0"/>
          </a:p>
        </p:txBody>
      </p:sp>
      <p:sp>
        <p:nvSpPr>
          <p:cNvPr id="20" name="Text 18"/>
          <p:cNvSpPr txBox="1"/>
          <p:nvPr/>
        </p:nvSpPr>
        <p:spPr>
          <a:xfrm>
            <a:off x="6172200" y="1645920"/>
            <a:ext cx="5440680" cy="411480"/>
          </a:xfrm>
          <a:prstGeom prst="rect">
            <a:avLst/>
          </a:prstGeom>
          <a:noFill/>
          <a:ln/>
        </p:spPr>
        <p:txBody>
          <a:bodyPr wrap="square" lIns="0" tIns="0" rIns="0" bIns="0" rtlCol="0" anchor="ctr"/>
          <a:lstStyle/>
          <a:p>
            <a:pPr marL="0" indent="0">
              <a:buNone/>
            </a:pPr>
            <a:r>
              <a:rPr lang="en-US" sz="2000" b="1" dirty="0">
                <a:solidFill>
                  <a:schemeClr val="accent4"/>
                </a:solidFill>
                <a:latin typeface="Cambria" pitchFamily="34" charset="0"/>
                <a:ea typeface="Cambria" pitchFamily="34" charset="-122"/>
                <a:cs typeface="Cambria" pitchFamily="34" charset="-120"/>
              </a:rPr>
              <a:t>Misalignment to manage</a:t>
            </a:r>
            <a:endParaRPr lang="en-US" sz="2000" dirty="0"/>
          </a:p>
        </p:txBody>
      </p:sp>
      <p:sp>
        <p:nvSpPr>
          <p:cNvPr id="21" name="Card"/>
          <p:cNvSpPr/>
          <p:nvPr/>
        </p:nvSpPr>
        <p:spPr>
          <a:xfrm>
            <a:off x="6172200" y="219456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22" name="Egg badge"/>
          <p:cNvSpPr/>
          <p:nvPr/>
        </p:nvSpPr>
        <p:spPr>
          <a:xfrm>
            <a:off x="6355080" y="2560320"/>
            <a:ext cx="374904" cy="457200"/>
          </a:xfrm>
          <a:prstGeom prst="ellipse">
            <a:avLst/>
          </a:prstGeom>
          <a:solidFill>
            <a:schemeClr val="accent4"/>
          </a:solidFill>
          <a:ln w="12700">
            <a:solidFill>
              <a:schemeClr val="accent4"/>
            </a:solidFill>
            <a:prstDash val="solid"/>
          </a:ln>
        </p:spPr>
        <p:txBody>
          <a:bodyPr/>
          <a:lstStyle/>
          <a:p>
            <a:endParaRPr lang="zh-SG" altLang="en-US"/>
          </a:p>
        </p:txBody>
      </p:sp>
      <p:sp>
        <p:nvSpPr>
          <p:cNvPr id="23" name="Text 21"/>
          <p:cNvSpPr txBox="1"/>
          <p:nvPr/>
        </p:nvSpPr>
        <p:spPr>
          <a:xfrm>
            <a:off x="6355080" y="256032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4" name="Text 22"/>
          <p:cNvSpPr txBox="1"/>
          <p:nvPr/>
        </p:nvSpPr>
        <p:spPr>
          <a:xfrm>
            <a:off x="6949440" y="230428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Buying US commodity firms</a:t>
            </a:r>
            <a:endParaRPr lang="en-US" sz="1600" dirty="0"/>
          </a:p>
        </p:txBody>
      </p:sp>
      <p:sp>
        <p:nvSpPr>
          <p:cNvPr id="25" name="Text 23"/>
          <p:cNvSpPr txBox="1"/>
          <p:nvPr/>
        </p:nvSpPr>
        <p:spPr>
          <a:xfrm>
            <a:off x="6949440" y="2670048"/>
            <a:ext cx="4526280" cy="658368"/>
          </a:xfrm>
          <a:prstGeom prst="rect">
            <a:avLst/>
          </a:prstGeom>
          <a:noFill/>
          <a:ln/>
        </p:spPr>
        <p:txBody>
          <a:bodyPr wrap="square" lIns="0" tIns="0" rIns="0" bIns="0" rtlCol="0" anchor="t"/>
          <a:lstStyle/>
          <a:p>
            <a:pPr marL="0" indent="0">
              <a:buNone/>
            </a:pPr>
            <a:r>
              <a:rPr lang="en-US" sz="1300" dirty="0">
                <a:solidFill>
                  <a:schemeClr val="tx1"/>
                </a:solidFill>
              </a:rPr>
              <a:t>Canyon or Good Day would hit Goal 1 fast but dilute the specialty share and raise antitrust risk.</a:t>
            </a:r>
            <a:endParaRPr lang="en-US" sz="1300" dirty="0"/>
          </a:p>
        </p:txBody>
      </p:sp>
      <p:sp>
        <p:nvSpPr>
          <p:cNvPr id="26" name="Card"/>
          <p:cNvSpPr/>
          <p:nvPr/>
        </p:nvSpPr>
        <p:spPr>
          <a:xfrm>
            <a:off x="6172200" y="352044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27" name="Egg badge"/>
          <p:cNvSpPr/>
          <p:nvPr/>
        </p:nvSpPr>
        <p:spPr>
          <a:xfrm>
            <a:off x="6355080" y="3886200"/>
            <a:ext cx="374904" cy="457200"/>
          </a:xfrm>
          <a:prstGeom prst="ellipse">
            <a:avLst/>
          </a:prstGeom>
          <a:solidFill>
            <a:schemeClr val="accent4"/>
          </a:solidFill>
          <a:ln w="12700">
            <a:solidFill>
              <a:schemeClr val="accent4"/>
            </a:solidFill>
            <a:prstDash val="solid"/>
          </a:ln>
        </p:spPr>
        <p:txBody>
          <a:bodyPr/>
          <a:lstStyle/>
          <a:p>
            <a:endParaRPr lang="zh-SG" altLang="en-US"/>
          </a:p>
        </p:txBody>
      </p:sp>
      <p:sp>
        <p:nvSpPr>
          <p:cNvPr id="28" name="Text 26"/>
          <p:cNvSpPr txBox="1"/>
          <p:nvPr/>
        </p:nvSpPr>
        <p:spPr>
          <a:xfrm>
            <a:off x="6355080" y="388620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9" name="Text 27"/>
          <p:cNvSpPr txBox="1"/>
          <p:nvPr/>
        </p:nvSpPr>
        <p:spPr>
          <a:xfrm>
            <a:off x="6949440" y="363016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Capital competition</a:t>
            </a:r>
            <a:endParaRPr lang="en-US" sz="1600" dirty="0"/>
          </a:p>
        </p:txBody>
      </p:sp>
      <p:sp>
        <p:nvSpPr>
          <p:cNvPr id="30" name="Text 28"/>
          <p:cNvSpPr txBox="1"/>
          <p:nvPr/>
        </p:nvSpPr>
        <p:spPr>
          <a:xfrm>
            <a:off x="6949440" y="3995928"/>
            <a:ext cx="4526280" cy="658368"/>
          </a:xfrm>
          <a:prstGeom prst="rect">
            <a:avLst/>
          </a:prstGeom>
          <a:noFill/>
          <a:ln/>
        </p:spPr>
        <p:txBody>
          <a:bodyPr wrap="square" lIns="0" tIns="0" rIns="0" bIns="0" rtlCol="0" anchor="t"/>
          <a:lstStyle/>
          <a:p>
            <a:pPr marL="0" indent="0">
              <a:buNone/>
            </a:pPr>
            <a:r>
              <a:rPr lang="en-US" sz="1300" dirty="0">
                <a:solidFill>
                  <a:schemeClr val="tx1"/>
                </a:solidFill>
              </a:rPr>
              <a:t>Every $25M plant is $25M less for deals; the $142M reserve keeps both funded.</a:t>
            </a:r>
            <a:endParaRPr lang="en-US" sz="1300" dirty="0"/>
          </a:p>
        </p:txBody>
      </p:sp>
      <p:sp>
        <p:nvSpPr>
          <p:cNvPr id="31" name="Card"/>
          <p:cNvSpPr/>
          <p:nvPr/>
        </p:nvSpPr>
        <p:spPr>
          <a:xfrm>
            <a:off x="6172200" y="4846320"/>
            <a:ext cx="5440680" cy="1188720"/>
          </a:xfrm>
          <a:prstGeom prst="roundRect">
            <a:avLst>
              <a:gd name="adj" fmla="val 6154"/>
            </a:avLst>
          </a:prstGeom>
          <a:solidFill>
            <a:schemeClr val="bg2"/>
          </a:solidFill>
          <a:ln w="12700">
            <a:solidFill>
              <a:schemeClr val="bg2"/>
            </a:solidFill>
            <a:prstDash val="solid"/>
          </a:ln>
        </p:spPr>
        <p:txBody>
          <a:bodyPr/>
          <a:lstStyle/>
          <a:p>
            <a:endParaRPr lang="zh-SG" altLang="en-US"/>
          </a:p>
        </p:txBody>
      </p:sp>
      <p:sp>
        <p:nvSpPr>
          <p:cNvPr id="32" name="Egg badge"/>
          <p:cNvSpPr/>
          <p:nvPr/>
        </p:nvSpPr>
        <p:spPr>
          <a:xfrm>
            <a:off x="6355080" y="5212080"/>
            <a:ext cx="374904" cy="457200"/>
          </a:xfrm>
          <a:prstGeom prst="ellipse">
            <a:avLst/>
          </a:prstGeom>
          <a:solidFill>
            <a:schemeClr val="accent4"/>
          </a:solidFill>
          <a:ln w="12700">
            <a:solidFill>
              <a:schemeClr val="accent4"/>
            </a:solidFill>
            <a:prstDash val="solid"/>
          </a:ln>
        </p:spPr>
        <p:txBody>
          <a:bodyPr/>
          <a:lstStyle/>
          <a:p>
            <a:endParaRPr lang="zh-SG" altLang="en-US"/>
          </a:p>
        </p:txBody>
      </p:sp>
      <p:sp>
        <p:nvSpPr>
          <p:cNvPr id="33" name="Text 31"/>
          <p:cNvSpPr txBox="1"/>
          <p:nvPr/>
        </p:nvSpPr>
        <p:spPr>
          <a:xfrm>
            <a:off x="6355080" y="5212080"/>
            <a:ext cx="374904"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4" name="Text 32"/>
          <p:cNvSpPr txBox="1"/>
          <p:nvPr/>
        </p:nvSpPr>
        <p:spPr>
          <a:xfrm>
            <a:off x="6949440" y="4956048"/>
            <a:ext cx="4526280" cy="365760"/>
          </a:xfrm>
          <a:prstGeom prst="rect">
            <a:avLst/>
          </a:prstGeom>
          <a:noFill/>
          <a:ln/>
        </p:spPr>
        <p:txBody>
          <a:bodyPr wrap="square" lIns="0" tIns="0" rIns="0" bIns="0" rtlCol="0" anchor="ctr"/>
          <a:lstStyle/>
          <a:p>
            <a:pPr marL="0" indent="0">
              <a:buNone/>
            </a:pPr>
            <a:r>
              <a:rPr lang="en-US" sz="1600" b="1" dirty="0">
                <a:solidFill>
                  <a:schemeClr val="tx2"/>
                </a:solidFill>
              </a:rPr>
              <a:t>Management bandwidth</a:t>
            </a:r>
            <a:endParaRPr lang="en-US" sz="1600" dirty="0"/>
          </a:p>
        </p:txBody>
      </p:sp>
      <p:sp>
        <p:nvSpPr>
          <p:cNvPr id="35" name="Text 33"/>
          <p:cNvSpPr txBox="1"/>
          <p:nvPr/>
        </p:nvSpPr>
        <p:spPr>
          <a:xfrm>
            <a:off x="6949440" y="5321808"/>
            <a:ext cx="4526280" cy="658368"/>
          </a:xfrm>
          <a:prstGeom prst="rect">
            <a:avLst/>
          </a:prstGeom>
          <a:noFill/>
          <a:ln/>
        </p:spPr>
        <p:txBody>
          <a:bodyPr wrap="square" lIns="0" tIns="0" rIns="0" bIns="0" rtlCol="0" anchor="t"/>
          <a:lstStyle/>
          <a:p>
            <a:pPr marL="0" indent="0">
              <a:buNone/>
            </a:pPr>
            <a:r>
              <a:rPr lang="en-US" sz="1300" dirty="0">
                <a:solidFill>
                  <a:schemeClr val="tx1"/>
                </a:solidFill>
              </a:rPr>
              <a:t>Five deals and two plants stretch leaders; we sequence one deal per year.</a:t>
            </a:r>
            <a:endParaRPr lang="en-US" sz="1300" dirty="0"/>
          </a:p>
        </p:txBody>
      </p:sp>
      <p:sp>
        <p:nvSpPr>
          <p:cNvPr id="36" name="Source"/>
          <p:cNvSpPr txBox="1"/>
          <p:nvPr/>
        </p:nvSpPr>
        <p:spPr>
          <a:xfrm>
            <a:off x="548640" y="6355080"/>
            <a:ext cx="10515600" cy="320040"/>
          </a:xfrm>
          <a:prstGeom prst="rect">
            <a:avLst/>
          </a:prstGeom>
          <a:noFill/>
          <a:ln/>
        </p:spPr>
        <p:txBody>
          <a:bodyPr wrap="square" lIns="0" tIns="0" rIns="0" bIns="0" rtlCol="0" anchor="ctr"/>
          <a:lstStyle/>
          <a:p>
            <a:pPr marL="0" indent="0">
              <a:buNone/>
            </a:pPr>
            <a:r>
              <a:rPr lang="en-US" sz="1000" dirty="0">
                <a:solidFill>
                  <a:schemeClr val="accent5"/>
                </a:solidFill>
              </a:rPr>
              <a:t>Answers case discussion question 2: goal-accomplishment synergies and sources of misalignment.</a:t>
            </a:r>
            <a:endParaRPr lang="en-US" sz="1000" dirty="0"/>
          </a:p>
        </p:txBody>
      </p:sp>
      <p:sp>
        <p:nvSpPr>
          <p:cNvPr id="37"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822960"/>
          </a:xfrm>
          <a:prstGeom prst="rect">
            <a:avLst/>
          </a:prstGeom>
          <a:noFill/>
          <a:ln/>
        </p:spPr>
        <p:txBody>
          <a:bodyPr wrap="square" lIns="0" tIns="0" rIns="0" bIns="0" rtlCol="0" anchor="ctr"/>
          <a:lstStyle/>
          <a:p>
            <a:pPr marL="0" indent="0" algn="l">
              <a:buNone/>
            </a:pPr>
            <a:r>
              <a:rPr lang="en-US" sz="3600" b="1" dirty="0">
                <a:solidFill>
                  <a:schemeClr val="bg1"/>
                </a:solidFill>
                <a:latin typeface="Cambria" pitchFamily="34" charset="0"/>
                <a:ea typeface="Cambria" pitchFamily="34" charset="-122"/>
                <a:cs typeface="Cambria" pitchFamily="34" charset="-120"/>
              </a:rPr>
              <a:t>Conclusion: three takeaways</a:t>
            </a:r>
            <a:endParaRPr lang="en-US" sz="3600" dirty="0"/>
          </a:p>
        </p:txBody>
      </p:sp>
      <p:sp>
        <p:nvSpPr>
          <p:cNvPr id="3" name="Takeaway card"/>
          <p:cNvSpPr/>
          <p:nvPr/>
        </p:nvSpPr>
        <p:spPr>
          <a:xfrm>
            <a:off x="548640" y="1645920"/>
            <a:ext cx="3520440" cy="3291840"/>
          </a:xfrm>
          <a:prstGeom prst="roundRect">
            <a:avLst>
              <a:gd name="adj" fmla="val 2222"/>
            </a:avLst>
          </a:prstGeom>
          <a:solidFill>
            <a:schemeClr val="accent2"/>
          </a:solidFill>
          <a:ln w="12700">
            <a:solidFill>
              <a:schemeClr val="accent2"/>
            </a:solidFill>
            <a:prstDash val="solid"/>
          </a:ln>
        </p:spPr>
        <p:txBody>
          <a:bodyPr/>
          <a:lstStyle/>
          <a:p>
            <a:endParaRPr lang="zh-SG" altLang="en-US"/>
          </a:p>
        </p:txBody>
      </p:sp>
      <p:sp>
        <p:nvSpPr>
          <p:cNvPr id="4" name="Egg badge"/>
          <p:cNvSpPr/>
          <p:nvPr/>
        </p:nvSpPr>
        <p:spPr>
          <a:xfrm>
            <a:off x="777240" y="1874520"/>
            <a:ext cx="449885" cy="548640"/>
          </a:xfrm>
          <a:prstGeom prst="ellipse">
            <a:avLst/>
          </a:prstGeom>
          <a:solidFill>
            <a:schemeClr val="accent1"/>
          </a:solidFill>
          <a:ln w="12700">
            <a:solidFill>
              <a:schemeClr val="accent1"/>
            </a:solidFill>
            <a:prstDash val="solid"/>
          </a:ln>
        </p:spPr>
        <p:txBody>
          <a:bodyPr/>
          <a:lstStyle/>
          <a:p>
            <a:endParaRPr lang="zh-SG" altLang="en-US"/>
          </a:p>
        </p:txBody>
      </p:sp>
      <p:sp>
        <p:nvSpPr>
          <p:cNvPr id="5" name="Text 3"/>
          <p:cNvSpPr txBox="1"/>
          <p:nvPr/>
        </p:nvSpPr>
        <p:spPr>
          <a:xfrm>
            <a:off x="777240" y="1874520"/>
            <a:ext cx="449885" cy="548640"/>
          </a:xfrm>
          <a:prstGeom prst="rect">
            <a:avLst/>
          </a:prstGeom>
          <a:no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6" name="Text 4"/>
          <p:cNvSpPr txBox="1"/>
          <p:nvPr/>
        </p:nvSpPr>
        <p:spPr>
          <a:xfrm>
            <a:off x="777240" y="2606040"/>
            <a:ext cx="3063240" cy="457200"/>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All three goals are met</a:t>
            </a:r>
            <a:endParaRPr lang="en-US" sz="2000" dirty="0"/>
          </a:p>
        </p:txBody>
      </p:sp>
      <p:sp>
        <p:nvSpPr>
          <p:cNvPr id="7" name="Text 5"/>
          <p:cNvSpPr txBox="1"/>
          <p:nvPr/>
        </p:nvSpPr>
        <p:spPr>
          <a:xfrm>
            <a:off x="777240" y="3108960"/>
            <a:ext cx="3063240" cy="1691640"/>
          </a:xfrm>
          <a:prstGeom prst="rect">
            <a:avLst/>
          </a:prstGeom>
          <a:noFill/>
          <a:ln/>
        </p:spPr>
        <p:txBody>
          <a:bodyPr wrap="square" lIns="0" tIns="0" rIns="0" bIns="0" rtlCol="0" anchor="t"/>
          <a:lstStyle/>
          <a:p>
            <a:pPr marL="0" indent="0">
              <a:buNone/>
            </a:pPr>
            <a:r>
              <a:rPr lang="en-US" sz="1500" dirty="0">
                <a:solidFill>
                  <a:schemeClr val="bg1"/>
                </a:solidFill>
              </a:rPr>
              <a:t>$4.13B revenue in Year 3, 34% US specialty share and 8 countries by Year 7, using $658M of the $800M available.</a:t>
            </a:r>
            <a:endParaRPr lang="en-US" sz="1500" dirty="0"/>
          </a:p>
        </p:txBody>
      </p:sp>
      <p:sp>
        <p:nvSpPr>
          <p:cNvPr id="8" name="Takeaway card"/>
          <p:cNvSpPr/>
          <p:nvPr/>
        </p:nvSpPr>
        <p:spPr>
          <a:xfrm>
            <a:off x="4297680" y="1645920"/>
            <a:ext cx="3520440" cy="3291840"/>
          </a:xfrm>
          <a:prstGeom prst="roundRect">
            <a:avLst>
              <a:gd name="adj" fmla="val 2222"/>
            </a:avLst>
          </a:prstGeom>
          <a:solidFill>
            <a:schemeClr val="accent2"/>
          </a:solidFill>
          <a:ln w="12700">
            <a:solidFill>
              <a:schemeClr val="accent2"/>
            </a:solidFill>
            <a:prstDash val="solid"/>
          </a:ln>
        </p:spPr>
        <p:txBody>
          <a:bodyPr/>
          <a:lstStyle/>
          <a:p>
            <a:endParaRPr lang="zh-SG" altLang="en-US"/>
          </a:p>
        </p:txBody>
      </p:sp>
      <p:sp>
        <p:nvSpPr>
          <p:cNvPr id="9" name="Egg badge"/>
          <p:cNvSpPr/>
          <p:nvPr/>
        </p:nvSpPr>
        <p:spPr>
          <a:xfrm>
            <a:off x="4526280" y="1874520"/>
            <a:ext cx="449885" cy="548640"/>
          </a:xfrm>
          <a:prstGeom prst="ellipse">
            <a:avLst/>
          </a:prstGeom>
          <a:solidFill>
            <a:schemeClr val="accent1"/>
          </a:solidFill>
          <a:ln w="12700">
            <a:solidFill>
              <a:schemeClr val="accent1"/>
            </a:solidFill>
            <a:prstDash val="solid"/>
          </a:ln>
        </p:spPr>
        <p:txBody>
          <a:bodyPr/>
          <a:lstStyle/>
          <a:p>
            <a:endParaRPr lang="zh-SG" altLang="en-US"/>
          </a:p>
        </p:txBody>
      </p:sp>
      <p:sp>
        <p:nvSpPr>
          <p:cNvPr id="10" name="Text 8"/>
          <p:cNvSpPr txBox="1"/>
          <p:nvPr/>
        </p:nvSpPr>
        <p:spPr>
          <a:xfrm>
            <a:off x="4526280" y="1874520"/>
            <a:ext cx="449885" cy="548640"/>
          </a:xfrm>
          <a:prstGeom prst="rect">
            <a:avLst/>
          </a:prstGeom>
          <a:no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1" name="Text 9"/>
          <p:cNvSpPr txBox="1"/>
          <p:nvPr/>
        </p:nvSpPr>
        <p:spPr>
          <a:xfrm>
            <a:off x="4526280" y="2606040"/>
            <a:ext cx="3063240" cy="457200"/>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Price is not value</a:t>
            </a:r>
            <a:endParaRPr lang="en-US" sz="2000" dirty="0"/>
          </a:p>
        </p:txBody>
      </p:sp>
      <p:sp>
        <p:nvSpPr>
          <p:cNvPr id="12" name="Text 10"/>
          <p:cNvSpPr txBox="1"/>
          <p:nvPr/>
        </p:nvSpPr>
        <p:spPr>
          <a:xfrm>
            <a:off x="4526280" y="3108960"/>
            <a:ext cx="3063240" cy="1691640"/>
          </a:xfrm>
          <a:prstGeom prst="rect">
            <a:avLst/>
          </a:prstGeom>
          <a:noFill/>
          <a:ln/>
        </p:spPr>
        <p:txBody>
          <a:bodyPr wrap="square" lIns="0" tIns="0" rIns="0" bIns="0" rtlCol="0" anchor="t"/>
          <a:lstStyle/>
          <a:p>
            <a:pPr marL="0" indent="0">
              <a:buNone/>
            </a:pPr>
            <a:r>
              <a:rPr lang="en-US" sz="1500" dirty="0">
                <a:solidFill>
                  <a:schemeClr val="bg1"/>
                </a:solidFill>
              </a:rPr>
              <a:t>Across 19 targets, risk and valuation correlate at r = −0.76 (a pattern, not proof); the cheapest carry war, legal or political risk.</a:t>
            </a:r>
            <a:endParaRPr lang="en-US" sz="1500" dirty="0"/>
          </a:p>
        </p:txBody>
      </p:sp>
      <p:sp>
        <p:nvSpPr>
          <p:cNvPr id="13" name="Takeaway card"/>
          <p:cNvSpPr/>
          <p:nvPr/>
        </p:nvSpPr>
        <p:spPr>
          <a:xfrm>
            <a:off x="8046720" y="1645920"/>
            <a:ext cx="3520440" cy="3291840"/>
          </a:xfrm>
          <a:prstGeom prst="roundRect">
            <a:avLst>
              <a:gd name="adj" fmla="val 2222"/>
            </a:avLst>
          </a:prstGeom>
          <a:solidFill>
            <a:schemeClr val="accent2"/>
          </a:solidFill>
          <a:ln w="12700">
            <a:solidFill>
              <a:schemeClr val="accent2"/>
            </a:solidFill>
            <a:prstDash val="solid"/>
          </a:ln>
        </p:spPr>
        <p:txBody>
          <a:bodyPr/>
          <a:lstStyle/>
          <a:p>
            <a:endParaRPr lang="zh-SG" altLang="en-US"/>
          </a:p>
        </p:txBody>
      </p:sp>
      <p:sp>
        <p:nvSpPr>
          <p:cNvPr id="14" name="Egg badge"/>
          <p:cNvSpPr/>
          <p:nvPr/>
        </p:nvSpPr>
        <p:spPr>
          <a:xfrm>
            <a:off x="8275320" y="1874520"/>
            <a:ext cx="449885" cy="548640"/>
          </a:xfrm>
          <a:prstGeom prst="ellipse">
            <a:avLst/>
          </a:prstGeom>
          <a:solidFill>
            <a:schemeClr val="accent1"/>
          </a:solidFill>
          <a:ln w="12700">
            <a:solidFill>
              <a:schemeClr val="accent1"/>
            </a:solidFill>
            <a:prstDash val="solid"/>
          </a:ln>
        </p:spPr>
        <p:txBody>
          <a:bodyPr/>
          <a:lstStyle/>
          <a:p>
            <a:endParaRPr lang="zh-SG" altLang="en-US"/>
          </a:p>
        </p:txBody>
      </p:sp>
      <p:sp>
        <p:nvSpPr>
          <p:cNvPr id="15" name="Text 13"/>
          <p:cNvSpPr txBox="1"/>
          <p:nvPr/>
        </p:nvSpPr>
        <p:spPr>
          <a:xfrm>
            <a:off x="8275320" y="1874520"/>
            <a:ext cx="449885" cy="548640"/>
          </a:xfrm>
          <a:prstGeom prst="rect">
            <a:avLst/>
          </a:prstGeom>
          <a:no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16" name="Text 14"/>
          <p:cNvSpPr txBox="1"/>
          <p:nvPr/>
        </p:nvSpPr>
        <p:spPr>
          <a:xfrm>
            <a:off x="8275320" y="2606040"/>
            <a:ext cx="3063240" cy="457200"/>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Volatility shapes the plan</a:t>
            </a:r>
            <a:endParaRPr lang="en-US" sz="2000" dirty="0"/>
          </a:p>
        </p:txBody>
      </p:sp>
      <p:sp>
        <p:nvSpPr>
          <p:cNvPr id="17" name="Text 15"/>
          <p:cNvSpPr txBox="1"/>
          <p:nvPr/>
        </p:nvSpPr>
        <p:spPr>
          <a:xfrm>
            <a:off x="8275320" y="3108960"/>
            <a:ext cx="3063240" cy="1691640"/>
          </a:xfrm>
          <a:prstGeom prst="rect">
            <a:avLst/>
          </a:prstGeom>
          <a:noFill/>
          <a:ln/>
        </p:spPr>
        <p:txBody>
          <a:bodyPr wrap="square" lIns="0" tIns="0" rIns="0" bIns="0" rtlCol="0" anchor="t"/>
          <a:lstStyle/>
          <a:p>
            <a:pPr marL="0" indent="0">
              <a:buNone/>
            </a:pPr>
            <a:r>
              <a:rPr lang="en-US" sz="1500" dirty="0">
                <a:solidFill>
                  <a:schemeClr val="bg1"/>
                </a:solidFill>
              </a:rPr>
              <a:t>Commodity price CV is 21%; the plan survives a 38% price fall and has a trigger for a deeper crash.</a:t>
            </a:r>
            <a:endParaRPr lang="en-US" sz="1500" dirty="0"/>
          </a:p>
        </p:txBody>
      </p:sp>
      <p:sp>
        <p:nvSpPr>
          <p:cNvPr id="18" name="Text 16"/>
          <p:cNvSpPr txBox="1"/>
          <p:nvPr/>
        </p:nvSpPr>
        <p:spPr>
          <a:xfrm>
            <a:off x="548640" y="5394960"/>
            <a:ext cx="11064240" cy="64008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Thank you — questions welcome</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References</a:t>
            </a:r>
            <a:endParaRPr lang="en-US" sz="3200" dirty="0"/>
          </a:p>
        </p:txBody>
      </p:sp>
      <p:sp>
        <p:nvSpPr>
          <p:cNvPr id="3" name="Text 0"/>
          <p:cNvSpPr>
            <a:spLocks noGrp="1"/>
          </p:cNvSpPr>
          <p:nvPr>
            <p:ph type="body" idx="101" hasCustomPrompt="1"/>
          </p:nvPr>
        </p:nvSpPr>
        <p:spPr>
          <a:xfrm>
            <a:off x="548640" y="1005840"/>
            <a:ext cx="11064240" cy="411480"/>
          </a:xfrm>
          <a:prstGeom prst="rect">
            <a:avLst/>
          </a:prstGeom>
          <a:noFill/>
          <a:ln/>
        </p:spPr>
        <p:txBody>
          <a:bodyPr wrap="square" lIns="0" tIns="0" rIns="0" bIns="0" rtlCol="0" anchor="t"/>
          <a:lstStyle/>
          <a:p>
            <a:pPr marL="0" indent="0" algn="l">
              <a:buNone/>
            </a:pPr>
            <a:r>
              <a:rPr lang="en-US" sz="1600" i="1" dirty="0">
                <a:solidFill>
                  <a:schemeClr val="accent2"/>
                </a:solidFill>
                <a:latin typeface="Calibri" pitchFamily="34" charset="0"/>
                <a:ea typeface="Calibri" pitchFamily="34" charset="-122"/>
                <a:cs typeface="Calibri" pitchFamily="34" charset="-120"/>
              </a:rPr>
              <a:t>Harvard style · all other figures are group calculations from the case data</a:t>
            </a:r>
            <a:endParaRPr lang="en-US" sz="1600" dirty="0"/>
          </a:p>
        </p:txBody>
      </p:sp>
      <p:sp>
        <p:nvSpPr>
          <p:cNvPr id="4" name="Text 2"/>
          <p:cNvSpPr txBox="1"/>
          <p:nvPr/>
        </p:nvSpPr>
        <p:spPr>
          <a:xfrm>
            <a:off x="548640" y="1645920"/>
            <a:ext cx="11064240" cy="4480560"/>
          </a:xfrm>
          <a:prstGeom prst="rect">
            <a:avLst/>
          </a:prstGeom>
          <a:noFill/>
          <a:ln/>
        </p:spPr>
        <p:txBody>
          <a:bodyPr wrap="square" lIns="0" tIns="0" rIns="0" bIns="0" rtlCol="0" anchor="t"/>
          <a:lstStyle/>
          <a:p>
            <a:pPr marL="0" indent="0">
              <a:spcAft>
                <a:spcPts val="1400"/>
              </a:spcAft>
              <a:buNone/>
            </a:pPr>
            <a:r>
              <a:rPr lang="en-US" sz="1400" dirty="0">
                <a:solidFill>
                  <a:schemeClr val="tx1"/>
                </a:solidFill>
              </a:rPr>
              <a:t>Capital FM (2025) ‘Egg prices soar to record levels as bird flu ravages U.S. laying flocks’, Capital FM. Available at: https://capitalfm.africa/egg-prices-soar-to-record-levels-as-bird-flu-ravages-u-s-laying-flocks/ (Accessed: 2</a:t>
            </a:r>
            <a:r>
              <a:rPr lang="en-US" altLang="zh-CN" sz="1400" dirty="0">
                <a:solidFill>
                  <a:schemeClr val="tx1"/>
                </a:solidFill>
              </a:rPr>
              <a:t>2</a:t>
            </a:r>
            <a:r>
              <a:rPr lang="en-US" sz="1400" dirty="0">
                <a:solidFill>
                  <a:schemeClr val="tx1"/>
                </a:solidFill>
              </a:rPr>
              <a:t> October 2026).</a:t>
            </a:r>
            <a:endParaRPr lang="en-US" sz="1400" dirty="0"/>
          </a:p>
          <a:p>
            <a:pPr>
              <a:spcAft>
                <a:spcPts val="1400"/>
              </a:spcAft>
            </a:pPr>
            <a:r>
              <a:rPr lang="en-US" sz="1400" dirty="0">
                <a:solidFill>
                  <a:schemeClr val="tx1"/>
                </a:solidFill>
              </a:rPr>
              <a:t>Gagnon, M.A. and Lulek, W. (2024) American Egg: Strategic Growth and International Expansion. SAGE Business Cases. London: SAGE Publications. Available at: https://doi.org/10.4135/9781071937013 (Accessed: </a:t>
            </a:r>
            <a:r>
              <a:rPr lang="en-US" altLang="zh-SG" sz="1400" dirty="0"/>
              <a:t>2</a:t>
            </a:r>
            <a:r>
              <a:rPr lang="en-US" altLang="zh-CN" sz="1400" dirty="0"/>
              <a:t>2</a:t>
            </a:r>
            <a:r>
              <a:rPr lang="en-US" altLang="zh-SG" sz="1400" dirty="0"/>
              <a:t> October </a:t>
            </a:r>
            <a:r>
              <a:rPr lang="en-US" sz="1400" dirty="0">
                <a:solidFill>
                  <a:schemeClr val="tx1"/>
                </a:solidFill>
              </a:rPr>
              <a:t>2026).</a:t>
            </a:r>
            <a:endParaRPr lang="en-US" sz="1400" dirty="0"/>
          </a:p>
          <a:p>
            <a:pPr>
              <a:spcAft>
                <a:spcPts val="1400"/>
              </a:spcAft>
            </a:pPr>
            <a:r>
              <a:rPr lang="en-US" sz="1400" dirty="0">
                <a:solidFill>
                  <a:schemeClr val="tx1"/>
                </a:solidFill>
              </a:rPr>
              <a:t>O’Keefe, T. (2024) ‘US cage-free egg pledges coming due, chaos not expected’, WATTPoultry, 5 February. Available at: https://www.wattagnet.com/egg/article/15661839/us-cagefree-egg-pledges-coming-due-chaos-not-expected (Accessed: </a:t>
            </a:r>
            <a:r>
              <a:rPr lang="en-US" altLang="zh-SG" sz="1400" dirty="0"/>
              <a:t>2</a:t>
            </a:r>
            <a:r>
              <a:rPr lang="en-US" altLang="zh-CN" sz="1400" dirty="0"/>
              <a:t>2</a:t>
            </a:r>
            <a:r>
              <a:rPr lang="en-US" altLang="zh-SG" sz="1400" dirty="0"/>
              <a:t> October </a:t>
            </a:r>
            <a:r>
              <a:rPr lang="en-US" sz="1400" dirty="0">
                <a:solidFill>
                  <a:schemeClr val="tx1"/>
                </a:solidFill>
              </a:rPr>
              <a:t>2026).</a:t>
            </a:r>
            <a:endParaRPr lang="en-US" sz="1400" dirty="0"/>
          </a:p>
          <a:p>
            <a:pPr>
              <a:spcAft>
                <a:spcPts val="1400"/>
              </a:spcAft>
            </a:pPr>
            <a:r>
              <a:rPr lang="en-US" sz="1400" dirty="0">
                <a:solidFill>
                  <a:schemeClr val="tx1"/>
                </a:solidFill>
              </a:rPr>
              <a:t>The Hill (2025) ‘Egg prices hit record $4.95 per dozen in January’, Yahoo News, 12 February. Available at: https://www.yahoo.com/news/egg-prices-hit-record-4-205119752.html (Accessed: </a:t>
            </a:r>
            <a:r>
              <a:rPr lang="en-US" altLang="zh-SG" sz="1400" dirty="0"/>
              <a:t>2</a:t>
            </a:r>
            <a:r>
              <a:rPr lang="en-US" altLang="zh-CN" sz="1400" dirty="0"/>
              <a:t>2</a:t>
            </a:r>
            <a:r>
              <a:rPr lang="en-US" altLang="zh-SG" sz="1400" dirty="0"/>
              <a:t> October </a:t>
            </a:r>
            <a:r>
              <a:rPr lang="en-US" sz="1400" dirty="0">
                <a:solidFill>
                  <a:schemeClr val="tx1"/>
                </a:solidFill>
              </a:rPr>
              <a:t>2026).</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F73"/>
                </a:solidFill>
                <a:latin typeface="Calibri"/>
                <a:ea typeface="Calibri"/>
                <a:cs typeface="Calibri"/>
              </a:defRPr>
            </a:lvl1pPr>
          </a:lstStyle>
          <a:p>
            <a:pPr algn="l"/>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AmEgg Yolk &amp; Field">
  <a:themeElements>
    <a:clrScheme name="AmEgg Yolk &amp; Field">
      <a:dk1>
        <a:srgbClr val="1B2A22"/>
      </a:dk1>
      <a:lt1>
        <a:srgbClr val="FFFFFF"/>
      </a:lt1>
      <a:dk2>
        <a:srgbClr val="23412F"/>
      </a:dk2>
      <a:lt2>
        <a:srgbClr val="EEF3EC"/>
      </a:lt2>
      <a:accent1>
        <a:srgbClr val="E8A317"/>
      </a:accent1>
      <a:accent2>
        <a:srgbClr val="3E7C59"/>
      </a:accent2>
      <a:accent3>
        <a:srgbClr val="9DBF9E"/>
      </a:accent3>
      <a:accent4>
        <a:srgbClr val="C0563B"/>
      </a:accent4>
      <a:accent5>
        <a:srgbClr val="6B7F73"/>
      </a:accent5>
      <a:accent6>
        <a:srgbClr val="F2D27A"/>
      </a:accent6>
      <a:hlink>
        <a:srgbClr val="3E7C59"/>
      </a:hlink>
      <a:folHlink>
        <a:srgbClr val="6B7F73"/>
      </a:folHlink>
    </a:clrScheme>
    <a:fontScheme name="AmEgg Yolk &amp; F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5530</Words>
  <Application>Microsoft Macintosh PowerPoint</Application>
  <PresentationFormat>宽屏</PresentationFormat>
  <Paragraphs>422</Paragraphs>
  <Slides>21</Slides>
  <Notes>21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Arial</vt:lpstr>
      <vt:lpstr>Calibri</vt:lpstr>
      <vt:lpstr>Cambria</vt:lpstr>
      <vt:lpstr>AmEgg Yolk &amp; Field</vt:lpstr>
      <vt:lpstr>American Egg: from $2.3B US producer to a $4B+ global specialty leader</vt:lpstr>
      <vt:lpstr>Our approach</vt:lpstr>
      <vt:lpstr>The business problem</vt:lpstr>
      <vt:lpstr>Three goals, three measurable gaps</vt:lpstr>
      <vt:lpstr>Commodity prices are the core volatility risk</vt:lpstr>
      <vt:lpstr>Domestic levers: which dollar works hardest?</vt:lpstr>
      <vt:lpstr>Goal 2: specialty reaches 34% by Year 3</vt:lpstr>
      <vt:lpstr>Screening 20 international targets</vt:lpstr>
      <vt:lpstr>Cheap targets are cheap for a reason</vt:lpstr>
      <vt:lpstr>Qualitative coding: what the due-diligence text says</vt:lpstr>
      <vt:lpstr>Weighted scoring model ranks the targets</vt:lpstr>
      <vt:lpstr>Recommendation: fix the mix, buy growth abroad</vt:lpstr>
      <vt:lpstr>Funding: $658M deployed, $142M held in reserve</vt:lpstr>
      <vt:lpstr>Goal 1 met in Year 2; $4.1B by Year 3</vt:lpstr>
      <vt:lpstr>Stress test: the plan survives a 30% commodity price fall</vt:lpstr>
      <vt:lpstr>Goal 1 · Exceed $3.5B revenue in three years</vt:lpstr>
      <vt:lpstr>Goal 2 · Specialty ≥30% of US revenue in three years</vt:lpstr>
      <vt:lpstr>Goal 3 · Become a global company within seven years</vt:lpstr>
      <vt:lpstr>Where the goals help or hurt each other</vt:lpstr>
      <vt:lpstr>Conclusion: three takeaways</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 Egg: Strategic Growth and International Expansion</dc:title>
  <dc:subject>PptxGenJS Presentation</dc:subject>
  <dc:creator>COMP1913 Group</dc:creator>
  <cp:lastModifiedBy>amos</cp:lastModifiedBy>
  <cp:revision>3</cp:revision>
  <dcterms:created xsi:type="dcterms:W3CDTF">2026-10-20T15:41:42Z</dcterms:created>
  <dcterms:modified xsi:type="dcterms:W3CDTF">2026-10-21T03:11:14Z</dcterms:modified>
</cp:coreProperties>
</file>