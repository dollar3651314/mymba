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F36"/>
                </a:solidFill>
                <a:latin typeface="Arial"/>
              </a:defRPr>
            </a:pPr>
            <a:r>
              <a:rPr sz="1200" b="0" i="0" u="none" strike="noStrike">
                <a:solidFill>
                  <a:srgbClr val="1A1F36"/>
                </a:solidFill>
                <a:latin typeface="Arial"/>
              </a:rPr>
              <a:t>Turnover, € billion</a:t>
            </a:r>
          </a:p>
        </c:rich>
      </c:tx>
      <c:layout/>
      <c:overlay val="0"/>
    </c:title>
    <c:autoTitleDeleted val="0"/>
    <c:plotArea>
      <c:layout/>
      <c:barChart>
        <c:barDir val="col"/>
        <c:grouping val="clustered"/>
        <c:varyColors val="0"/>
        <c:ser>
          <c:idx val="0"/>
          <c:order val="0"/>
          <c:tx>
            <c:strRef>
              <c:f>Sheet1!$B$1</c:f>
              <c:strCache>
                <c:ptCount val="1"/>
                <c:pt idx="0">
                  <c:v>Turnover (€bn)</c:v>
                </c:pt>
              </c:strCache>
            </c:strRef>
          </c:tx>
          <c:spPr>
            <a:solidFill>
              <a:srgbClr val="1F36C7"/>
            </a:solidFill>
            <a:effectLst/>
          </c:spPr>
          <c:invertIfNegative val="0"/>
          <c:dLbls>
            <c:numFmt formatCode="#,##0" sourceLinked="0"/>
            <c:txPr>
              <a:bodyPr/>
              <a:lstStyle/>
              <a:p>
                <a:pPr>
                  <a:defRPr b="0" i="0" strike="noStrike" sz="1000" u="none">
                    <a:solidFill>
                      <a:srgbClr val="1A1F36"/>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2020</c:v>
                  </c:pt>
                  <c:pt idx="1">
                    <c:v>2021</c:v>
                  </c:pt>
                  <c:pt idx="2">
                    <c:v>2022</c:v>
                  </c:pt>
                  <c:pt idx="3">
                    <c:v>2023</c:v>
                  </c:pt>
                  <c:pt idx="4">
                    <c:v>2024</c:v>
                  </c:pt>
                  <c:pt idx="5">
                    <c:v>2025*</c:v>
                  </c:pt>
                </c:lvl>
              </c:multiLvlStrCache>
            </c:multiLvlStrRef>
          </c:cat>
          <c:val>
            <c:numRef>
              <c:f>Sheet1!$B$2:$B$7</c:f>
              <c:numCache>
                <c:formatCode>General</c:formatCode>
                <c:ptCount val="6"/>
                <c:pt idx="0">
                  <c:v>50.7</c:v>
                </c:pt>
                <c:pt idx="1">
                  <c:v>52.4</c:v>
                </c:pt>
                <c:pt idx="2">
                  <c:v>60.1</c:v>
                </c:pt>
                <c:pt idx="3">
                  <c:v>59.6</c:v>
                </c:pt>
                <c:pt idx="4">
                  <c:v>60.8</c:v>
                </c:pt>
                <c:pt idx="5">
                  <c:v>50.5</c:v>
                </c:pt>
              </c:numCache>
            </c:numRef>
          </c:val>
        </c:ser>
        <c:dLbls>
          <c:numFmt formatCode="#,##0" sourceLinked="0"/>
          <c:txPr>
            <a:bodyPr/>
            <a:lstStyle/>
            <a:p>
              <a:pPr>
                <a:defRPr b="0" i="0" strike="noStrike" sz="1000" u="none">
                  <a:solidFill>
                    <a:srgbClr val="1A1F3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F36"/>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Our company is Unilever, and we look at the years 2020 to 2025. Our mind map has four branches: globalisation, regional integration, MNEs from advanced economies, and FDI. I will start with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shows the mind map: four branches, one per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Background slide. Speaker 1 can mention: turnover 50.5 billion euros in 2025, 59 percent from emerging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Levitt says that a global company treats the world as one market and sells the same things in the same way. There are five drivers of globalisation: political, technology, market, cost and competition. Globalisation has two sides: the globalisation of markets, and the globalisation of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markets. Unilever sells in about 190 countries, and 3.4 billion people use its products every day. In 2025, its turnover was 50.5 billion euros, and 59 percent came from emerging markets. Asia Pacific and Africa is now its biggest region, with 44 percent. Europe, its home region, is only 19 percent. Second, production. Unilever had more than 280 factories in 2023, so it gets economies of scale. This is the cost driver. Its 30 Power Brands, such as Dove, make 78 percent of turnover. So it sells the same brands across the world, as Levitt said. But these years also show the risks. In March 2020, COVID-19 disrupted supply chains, and the extra costs cut the margin by about 0.9 percentage points. In 2022, inflation was high all year. Unilever raised prices by 11.3 percent, and volumes fell by 2.1 percent. In March 2022, after the war in Ukraine started, Unilever stopped trade and capital flows with Russia, and in October 2024 it sold its Russian business. In its 2025 report, Unilever says rising protectionism and tariffs are a risk to its supply chain. My conclusion: Unilever is still very global, but globalisation is less smooth now, and Unilever must manage more risk. One way it does this is through regions. My teammate will explain this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My theory is regional integration. Countries can integrate at five levels: free trade area, customs union, common market, economic union and political union. Each level goes deeper. Integration can create trade, because tariffs between members fall. But it can also divert trade, from a cheaper country outside to a member country. Only the EU has gone very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Unilever is a good example, because it is organised by region: Asia Pacific and Africa, the Americas, and Europe. First, its own structure. Until 2020, Unilever had two parent companies, one British and one Dutch. In November 2020, it became one company, Unilever PLC, based in London. UNCTAD counted this as a cross-border merger worth 81 billion dollars. Unilever said this gives it more flexibility to buy and sell businesses, and it used this later, for example to demerge its ice cream business in December 2025. In December 2020, the UK also left the EU single market. So now Unilever's head office is outside the EU, but many of its factories and customers are inside it. Second, the Americas. USMCA, the trade agreement between the US, Mexico and Canada, started in July 2020. In February 2023, Unilever announced a new factory in Mexico, and in April 2025 it doubled the investment to 800 million dollars. This plant will mainly export to the US and Canada. This is trade creation inside the region. Third, Asia and Africa. RCEP started in January 2022, and Indonesia joined in January 2023. Unilever owns 85 percent of Unilever Indonesia. In Africa, AfCFTA trading started in January 2021, and Unilever owns 76 percent of Unilever Nigeria. These agreements can help Unilever supply many countries from one regional factory. But there are limits. Most of these agreements are only free trade areas, the first level. And Unilever has not said how they affect it, so this is our own analysis. My conclusion: regional integration helps Unilever build regional supply hubs, but most regions are still shallow. Next, my teammate will explain Unilever as an MNE from an advanced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My theory is MNEs from advanced economies. An MNE and its host country both have goals. The MNE wants high returns, more sales, lower costs and to share risk. The host country wants jobs, growth, technology, control of its economy and a clean environment. Sometimes these goals clash. For example, a host government may change its rules to take more value from the MNE. This is called creeping expropriation.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Unilever is a British MNE. Its advantages come from an advanced economy: strong brands, money and research. Its 30 Power Brands make 78 percent of turnover, and it spends between 800 million and nearly 1 billion euros a year on research and development. Host countries also gain. Look at India. Unilever owns 61.9 percent of Hindustan Unilever, which is listed in India. So Indian investors share the profits, and the company employs local people. In April 2025, Hindustan Unilever completed buying 90.5 percent of Minimalist, an Indian skincare brand, for about 2,670 crore rupees. This moves it into faster-growing beauty in India. But there are also conflicts. First, jobs. In March 2024, Unilever announced it would cut about 7,500 office jobs to save about 800 million euros over three years. By the end of 2024, 4,300 jobs had gone. This helps profits, but it goes against the host country's goal of employment. Second, politics. Unilever stayed in Russia from March 2022 until October 2024, when it finally sold the business. This shows how the MNE's goal of protecting its assets can clash with political goals. My conclusion: Unilever's advantages come from being an advanced-economy MNE, and it shares benefits with host countries like India. But it must balance profit with jobs and politics. Next, our last speaker will explain how Unilever invests abroad through FDI.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My theory is FDI, foreign direct investment. FDI means a company owns and controls a business in another country. There are two ways: greenfield, which means building something new, and M&amp;A, which means buying a company. Dunning's OLI model explains why companies do FDI. O is ownership advantage, like brands. L is location advantage, like a big market or low costs. I is internalisation: doing it yourself is better than licensing. There are four motives: market-seeking, resource-seeking, efficiency-seeking and strategic asset-seeking.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Unilever. First, building new: greenfield. In June 2020, Unilever invested 100 million euros in its ice cream factory in Taicang, China. The new factory opened in April 2022. This is market-seeking. In February 2023, Unilever announced a new factory in Mexico, and in April 2025 it doubled the investment to 800 million dollars. It will create 850 jobs and mainly export to the US and Canada. This is market-seeking and efficiency-seeking. Second, buying: M&amp;A. In August 2021, Unilever bought Paula's Choice, an American skincare brand, for 1.8 billion euros. In 2022, it helped Prestige Beauty grow by double digits. In September 2025, it bought Dr. Squatch for 1.2 billion euros, to move into premium, high-growth men's care. These deals are strategic asset-seeking: Unilever buys brands and online skills. But there is risk: when the US premium beauty market slowed in 2024, Paula's Choice slowed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Unilever also sells. In July 2022, it sold its tea business for 4.6 billion euros. It made a gain of 2.3 billion euros and reduced its debt, but its turnover in 2023 was 1.7 percent lower. In October 2024, it sold its Russian business. Together with three other sales that year, this gave a net loss of 406 million euros. In December 2025, it demerged its ice cream business, Magnum. On the new basis, its 2024 turnover is 52.5 billion euros, not 60.8. But the demerger gave a gain of 3.4 billion euros, and Unilever kept 19.85 percent of Magnum. My conclusion: Unilever's FDI follows the OLI model. Its ownership advantage is its brands. It builds in big markets, buys beauty brands, and sells slower businesses. So it became smaller, but more focused.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Unilever is global, it works through regions, it uses its advantages as a British MNE, and it grows through FDI. Thank you for listening.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F36"/>
        </a:solidFill>
      </p:bgPr>
    </p:bg>
    <p:spTree>
      <p:nvGrpSpPr>
        <p:cNvPr id="1" name=""/>
        <p:cNvGrpSpPr/>
        <p:nvPr/>
      </p:nvGrpSpPr>
      <p:grpSpPr>
        <a:xfrm>
          <a:off x="0" y="0"/>
          <a:ext cx="0" cy="0"/>
          <a:chOff x="0" y="0"/>
          <a:chExt cx="0" cy="0"/>
        </a:xfrm>
      </p:grpSpPr>
      <p:sp>
        <p:nvSpPr>
          <p:cNvPr id="2" name="Text 0"/>
          <p:cNvSpPr/>
          <p:nvPr/>
        </p:nvSpPr>
        <p:spPr>
          <a:xfrm>
            <a:off x="548640" y="1097280"/>
            <a:ext cx="8046720"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Unilever in the Global Economy</a:t>
            </a:r>
            <a:endParaRPr lang="en-US" sz="3400" dirty="0"/>
          </a:p>
        </p:txBody>
      </p:sp>
      <p:sp>
        <p:nvSpPr>
          <p:cNvPr id="3" name="Text 1"/>
          <p:cNvSpPr/>
          <p:nvPr/>
        </p:nvSpPr>
        <p:spPr>
          <a:xfrm>
            <a:off x="548640" y="1920240"/>
            <a:ext cx="8046720" cy="548640"/>
          </a:xfrm>
          <a:prstGeom prst="rect">
            <a:avLst/>
          </a:prstGeom>
          <a:noFill/>
          <a:ln/>
        </p:spPr>
        <p:txBody>
          <a:bodyPr wrap="square" lIns="0" tIns="0" rIns="0" bIns="0" rtlCol="0" anchor="ctr"/>
          <a:lstStyle/>
          <a:p>
            <a:pPr indent="0" marL="0">
              <a:buNone/>
            </a:pPr>
            <a:r>
              <a:rPr lang="en-US" sz="2600" dirty="0">
                <a:solidFill>
                  <a:srgbClr val="A5B4FC"/>
                </a:solidFill>
                <a:latin typeface="Calibri" pitchFamily="34" charset="0"/>
                <a:ea typeface="Calibri" pitchFamily="34" charset="-122"/>
                <a:cs typeface="Calibri" pitchFamily="34" charset="-120"/>
              </a:rPr>
              <a:t>2020–2025</a:t>
            </a:r>
            <a:endParaRPr lang="en-US" sz="2600" dirty="0"/>
          </a:p>
        </p:txBody>
      </p:sp>
      <p:sp>
        <p:nvSpPr>
          <p:cNvPr id="4" name="Shape 2"/>
          <p:cNvSpPr/>
          <p:nvPr/>
        </p:nvSpPr>
        <p:spPr>
          <a:xfrm>
            <a:off x="548640" y="2926080"/>
            <a:ext cx="1874520" cy="822960"/>
          </a:xfrm>
          <a:prstGeom prst="roundRect">
            <a:avLst>
              <a:gd name="adj" fmla="val 8889"/>
            </a:avLst>
          </a:prstGeom>
          <a:solidFill>
            <a:srgbClr val="1F36C7"/>
          </a:solidFill>
          <a:ln/>
        </p:spPr>
      </p:sp>
      <p:sp>
        <p:nvSpPr>
          <p:cNvPr id="5" name="Text 3"/>
          <p:cNvSpPr/>
          <p:nvPr/>
        </p:nvSpPr>
        <p:spPr>
          <a:xfrm>
            <a:off x="640080" y="2926080"/>
            <a:ext cx="169164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Speaker 1</a:t>
            </a:r>
            <a:endParaRPr lang="en-US" sz="1000" dirty="0"/>
          </a:p>
          <a:p>
            <a:pPr indent="0" marL="0">
              <a:buNone/>
            </a:pPr>
            <a:r>
              <a:rPr lang="en-US" sz="1300" b="1" dirty="0">
                <a:solidFill>
                  <a:srgbClr val="FFFFFF"/>
                </a:solidFill>
                <a:latin typeface="Calibri" pitchFamily="34" charset="0"/>
                <a:ea typeface="Calibri" pitchFamily="34" charset="-122"/>
                <a:cs typeface="Calibri" pitchFamily="34" charset="-120"/>
              </a:rPr>
              <a:t>Globalisation</a:t>
            </a:r>
            <a:endParaRPr lang="en-US" sz="1000" dirty="0"/>
          </a:p>
        </p:txBody>
      </p:sp>
      <p:sp>
        <p:nvSpPr>
          <p:cNvPr id="6" name="Shape 4"/>
          <p:cNvSpPr/>
          <p:nvPr/>
        </p:nvSpPr>
        <p:spPr>
          <a:xfrm>
            <a:off x="2560320" y="2926080"/>
            <a:ext cx="1874520" cy="822960"/>
          </a:xfrm>
          <a:prstGeom prst="roundRect">
            <a:avLst>
              <a:gd name="adj" fmla="val 8889"/>
            </a:avLst>
          </a:prstGeom>
          <a:solidFill>
            <a:srgbClr val="0F8A6B"/>
          </a:solidFill>
          <a:ln/>
        </p:spPr>
      </p:sp>
      <p:sp>
        <p:nvSpPr>
          <p:cNvPr id="7" name="Text 5"/>
          <p:cNvSpPr/>
          <p:nvPr/>
        </p:nvSpPr>
        <p:spPr>
          <a:xfrm>
            <a:off x="2651760" y="2926080"/>
            <a:ext cx="169164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Speaker 2</a:t>
            </a:r>
            <a:endParaRPr lang="en-US" sz="1000" dirty="0"/>
          </a:p>
          <a:p>
            <a:pPr indent="0" marL="0">
              <a:buNone/>
            </a:pPr>
            <a:r>
              <a:rPr lang="en-US" sz="1300" b="1" dirty="0">
                <a:solidFill>
                  <a:srgbClr val="FFFFFF"/>
                </a:solidFill>
                <a:latin typeface="Calibri" pitchFamily="34" charset="0"/>
                <a:ea typeface="Calibri" pitchFamily="34" charset="-122"/>
                <a:cs typeface="Calibri" pitchFamily="34" charset="-120"/>
              </a:rPr>
              <a:t>Regional Integration</a:t>
            </a:r>
            <a:endParaRPr lang="en-US" sz="1000" dirty="0"/>
          </a:p>
        </p:txBody>
      </p:sp>
      <p:sp>
        <p:nvSpPr>
          <p:cNvPr id="8" name="Shape 6"/>
          <p:cNvSpPr/>
          <p:nvPr/>
        </p:nvSpPr>
        <p:spPr>
          <a:xfrm>
            <a:off x="4572000" y="2926080"/>
            <a:ext cx="1874520" cy="822960"/>
          </a:xfrm>
          <a:prstGeom prst="roundRect">
            <a:avLst>
              <a:gd name="adj" fmla="val 8889"/>
            </a:avLst>
          </a:prstGeom>
          <a:solidFill>
            <a:srgbClr val="D9822B"/>
          </a:solidFill>
          <a:ln/>
        </p:spPr>
      </p:sp>
      <p:sp>
        <p:nvSpPr>
          <p:cNvPr id="9" name="Text 7"/>
          <p:cNvSpPr/>
          <p:nvPr/>
        </p:nvSpPr>
        <p:spPr>
          <a:xfrm>
            <a:off x="4663440" y="2926080"/>
            <a:ext cx="169164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Speaker 3</a:t>
            </a:r>
            <a:endParaRPr lang="en-US" sz="1000" dirty="0"/>
          </a:p>
          <a:p>
            <a:pPr indent="0" marL="0">
              <a:buNone/>
            </a:pPr>
            <a:r>
              <a:rPr lang="en-US" sz="1300" b="1" dirty="0">
                <a:solidFill>
                  <a:srgbClr val="FFFFFF"/>
                </a:solidFill>
                <a:latin typeface="Calibri" pitchFamily="34" charset="0"/>
                <a:ea typeface="Calibri" pitchFamily="34" charset="-122"/>
                <a:cs typeface="Calibri" pitchFamily="34" charset="-120"/>
              </a:rPr>
              <a:t>MNEs from Advanced Economies</a:t>
            </a:r>
            <a:endParaRPr lang="en-US" sz="1000" dirty="0"/>
          </a:p>
        </p:txBody>
      </p:sp>
      <p:sp>
        <p:nvSpPr>
          <p:cNvPr id="10" name="Shape 8"/>
          <p:cNvSpPr/>
          <p:nvPr/>
        </p:nvSpPr>
        <p:spPr>
          <a:xfrm>
            <a:off x="6583680" y="2926080"/>
            <a:ext cx="1874520" cy="822960"/>
          </a:xfrm>
          <a:prstGeom prst="roundRect">
            <a:avLst>
              <a:gd name="adj" fmla="val 8889"/>
            </a:avLst>
          </a:prstGeom>
          <a:solidFill>
            <a:srgbClr val="7C3AED"/>
          </a:solidFill>
          <a:ln/>
        </p:spPr>
      </p:sp>
      <p:sp>
        <p:nvSpPr>
          <p:cNvPr id="11" name="Text 9"/>
          <p:cNvSpPr/>
          <p:nvPr/>
        </p:nvSpPr>
        <p:spPr>
          <a:xfrm>
            <a:off x="6675120" y="2926080"/>
            <a:ext cx="169164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Speaker 4</a:t>
            </a:r>
            <a:endParaRPr lang="en-US" sz="1000" dirty="0"/>
          </a:p>
          <a:p>
            <a:pPr indent="0" marL="0">
              <a:buNone/>
            </a:pPr>
            <a:r>
              <a:rPr lang="en-US" sz="1300" b="1" dirty="0">
                <a:solidFill>
                  <a:srgbClr val="FFFFFF"/>
                </a:solidFill>
                <a:latin typeface="Calibri" pitchFamily="34" charset="0"/>
                <a:ea typeface="Calibri" pitchFamily="34" charset="-122"/>
                <a:cs typeface="Calibri" pitchFamily="34" charset="-120"/>
              </a:rPr>
              <a:t>FDI</a:t>
            </a:r>
            <a:endParaRPr lang="en-US" sz="1000" dirty="0"/>
          </a:p>
        </p:txBody>
      </p:sp>
      <p:sp>
        <p:nvSpPr>
          <p:cNvPr id="12" name="Text 10"/>
          <p:cNvSpPr/>
          <p:nvPr/>
        </p:nvSpPr>
        <p:spPr>
          <a:xfrm>
            <a:off x="548640" y="4206240"/>
            <a:ext cx="8046720" cy="320040"/>
          </a:xfrm>
          <a:prstGeom prst="rect">
            <a:avLst/>
          </a:prstGeom>
          <a:noFill/>
          <a:ln/>
        </p:spPr>
        <p:txBody>
          <a:bodyPr wrap="square" lIns="0" tIns="0" rIns="0" bIns="0" rtlCol="0" anchor="ctr"/>
          <a:lstStyle/>
          <a:p>
            <a:pPr indent="0" marL="0">
              <a:buNone/>
            </a:pPr>
            <a:r>
              <a:rPr lang="en-US" sz="1200" dirty="0">
                <a:solidFill>
                  <a:srgbClr val="D1D5DB"/>
                </a:solidFill>
                <a:latin typeface="Calibri" pitchFamily="34" charset="0"/>
                <a:ea typeface="Calibri" pitchFamily="34" charset="-122"/>
                <a:cs typeface="Calibri" pitchFamily="34" charset="-120"/>
              </a:rPr>
              <a:t>BUSI 1763 Dynamics of Global Business · Group presentation · 14 November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Our mind map</a:t>
            </a:r>
            <a:endParaRPr lang="en-US" sz="2500" dirty="0"/>
          </a:p>
        </p:txBody>
      </p:sp>
      <p:sp>
        <p:nvSpPr>
          <p:cNvPr id="3" name="Text 1"/>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Four branches, one company, one period: 2020–2025</a:t>
            </a:r>
            <a:endParaRPr lang="en-US" sz="1300" dirty="0"/>
          </a:p>
        </p:txBody>
      </p:sp>
      <p:pic>
        <p:nvPicPr>
          <p:cNvPr id="4" name="Image 0" descr="mindmap.png">    </p:cNvPr>
          <p:cNvPicPr>
            <a:picLocks noChangeAspect="1"/>
          </p:cNvPicPr>
          <p:nvPr/>
        </p:nvPicPr>
        <p:blipFill>
          <a:blip r:embed="rId1"/>
          <a:stretch>
            <a:fillRect/>
          </a:stretch>
        </p:blipFill>
        <p:spPr>
          <a:xfrm>
            <a:off x="1853215" y="1188720"/>
            <a:ext cx="5437570" cy="38404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Unilever at a glance, 2020–2025</a:t>
            </a:r>
            <a:endParaRPr lang="en-US" sz="2500" dirty="0"/>
          </a:p>
        </p:txBody>
      </p:sp>
      <p:sp>
        <p:nvSpPr>
          <p:cNvPr id="3" name="Text 1"/>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UK-based consumer goods MNE: beauty, personal care, home care, food</a:t>
            </a:r>
            <a:endParaRPr lang="en-US" sz="1300" dirty="0"/>
          </a:p>
        </p:txBody>
      </p:sp>
      <p:graphicFrame>
        <p:nvGraphicFramePr>
          <p:cNvPr id="4" name="Chart 0" descr=""/>
          <p:cNvGraphicFramePr/>
          <p:nvPr/>
        </p:nvGraphicFramePr>
        <p:xfrm>
          <a:off x="411480" y="1188720"/>
          <a:ext cx="4754880" cy="3429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411480" y="4526280"/>
            <a:ext cx="4754880" cy="22860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*2025 excludes Ice Cream (demerged December 2025); 2024 on the same basis: €52.5bn.</a:t>
            </a:r>
            <a:endParaRPr lang="en-US" sz="850" dirty="0"/>
          </a:p>
        </p:txBody>
      </p:sp>
      <p:sp>
        <p:nvSpPr>
          <p:cNvPr id="6" name="Shape 3"/>
          <p:cNvSpPr/>
          <p:nvPr/>
        </p:nvSpPr>
        <p:spPr>
          <a:xfrm>
            <a:off x="5440680" y="1188720"/>
            <a:ext cx="3291840" cy="749808"/>
          </a:xfrm>
          <a:prstGeom prst="roundRect">
            <a:avLst>
              <a:gd name="adj" fmla="val 9756"/>
            </a:avLst>
          </a:prstGeom>
          <a:solidFill>
            <a:srgbClr val="F3F4F8"/>
          </a:solidFill>
          <a:ln/>
        </p:spPr>
      </p:sp>
      <p:sp>
        <p:nvSpPr>
          <p:cNvPr id="7" name="Text 4"/>
          <p:cNvSpPr/>
          <p:nvPr/>
        </p:nvSpPr>
        <p:spPr>
          <a:xfrm>
            <a:off x="5577840" y="1188720"/>
            <a:ext cx="1234440" cy="749808"/>
          </a:xfrm>
          <a:prstGeom prst="rect">
            <a:avLst/>
          </a:prstGeom>
          <a:noFill/>
          <a:ln/>
        </p:spPr>
        <p:txBody>
          <a:bodyPr wrap="square" lIns="0" tIns="0" rIns="0" bIns="0" rtlCol="0" anchor="ctr"/>
          <a:lstStyle/>
          <a:p>
            <a:pPr indent="0" marL="0">
              <a:buNone/>
            </a:pPr>
            <a:r>
              <a:rPr lang="en-US" sz="2100" b="1" dirty="0">
                <a:solidFill>
                  <a:srgbClr val="1F36C7"/>
                </a:solidFill>
                <a:latin typeface="Calibri" pitchFamily="34" charset="0"/>
                <a:ea typeface="Calibri" pitchFamily="34" charset="-122"/>
                <a:cs typeface="Calibri" pitchFamily="34" charset="-120"/>
              </a:rPr>
              <a:t>59%</a:t>
            </a:r>
            <a:endParaRPr lang="en-US" sz="2100" dirty="0"/>
          </a:p>
        </p:txBody>
      </p:sp>
      <p:sp>
        <p:nvSpPr>
          <p:cNvPr id="8" name="Text 5"/>
          <p:cNvSpPr/>
          <p:nvPr/>
        </p:nvSpPr>
        <p:spPr>
          <a:xfrm>
            <a:off x="6812280" y="1188720"/>
            <a:ext cx="1828800" cy="749808"/>
          </a:xfrm>
          <a:prstGeom prst="rect">
            <a:avLst/>
          </a:prstGeom>
          <a:noFill/>
          <a:ln/>
        </p:spPr>
        <p:txBody>
          <a:bodyPr wrap="square" lIns="0" tIns="0" rIns="0" bIns="0" rtlCol="0" anchor="ctr"/>
          <a:lstStyle/>
          <a:p>
            <a:pPr indent="0" marL="0">
              <a:buNone/>
            </a:pPr>
            <a:r>
              <a:rPr lang="en-US" sz="1050" dirty="0">
                <a:solidFill>
                  <a:srgbClr val="1A1F36"/>
                </a:solidFill>
                <a:latin typeface="Calibri" pitchFamily="34" charset="0"/>
                <a:ea typeface="Calibri" pitchFamily="34" charset="-122"/>
                <a:cs typeface="Calibri" pitchFamily="34" charset="-120"/>
              </a:rPr>
              <a:t>of turnover from emerging markets (2025)</a:t>
            </a:r>
            <a:endParaRPr lang="en-US" sz="1050" dirty="0"/>
          </a:p>
        </p:txBody>
      </p:sp>
      <p:sp>
        <p:nvSpPr>
          <p:cNvPr id="9" name="Shape 6"/>
          <p:cNvSpPr/>
          <p:nvPr/>
        </p:nvSpPr>
        <p:spPr>
          <a:xfrm>
            <a:off x="5440680" y="2057400"/>
            <a:ext cx="3291840" cy="749808"/>
          </a:xfrm>
          <a:prstGeom prst="roundRect">
            <a:avLst>
              <a:gd name="adj" fmla="val 9756"/>
            </a:avLst>
          </a:prstGeom>
          <a:solidFill>
            <a:srgbClr val="F3F4F8"/>
          </a:solidFill>
          <a:ln/>
        </p:spPr>
      </p:sp>
      <p:sp>
        <p:nvSpPr>
          <p:cNvPr id="10" name="Text 7"/>
          <p:cNvSpPr/>
          <p:nvPr/>
        </p:nvSpPr>
        <p:spPr>
          <a:xfrm>
            <a:off x="5577840" y="2057400"/>
            <a:ext cx="1234440" cy="749808"/>
          </a:xfrm>
          <a:prstGeom prst="rect">
            <a:avLst/>
          </a:prstGeom>
          <a:noFill/>
          <a:ln/>
        </p:spPr>
        <p:txBody>
          <a:bodyPr wrap="square" lIns="0" tIns="0" rIns="0" bIns="0" rtlCol="0" anchor="ctr"/>
          <a:lstStyle/>
          <a:p>
            <a:pPr indent="0" marL="0">
              <a:buNone/>
            </a:pPr>
            <a:r>
              <a:rPr lang="en-US" sz="2100" b="1" dirty="0">
                <a:solidFill>
                  <a:srgbClr val="1F36C7"/>
                </a:solidFill>
                <a:latin typeface="Calibri" pitchFamily="34" charset="0"/>
                <a:ea typeface="Calibri" pitchFamily="34" charset="-122"/>
                <a:cs typeface="Calibri" pitchFamily="34" charset="-120"/>
              </a:rPr>
              <a:t>~190</a:t>
            </a:r>
            <a:endParaRPr lang="en-US" sz="2100" dirty="0"/>
          </a:p>
        </p:txBody>
      </p:sp>
      <p:sp>
        <p:nvSpPr>
          <p:cNvPr id="11" name="Text 8"/>
          <p:cNvSpPr/>
          <p:nvPr/>
        </p:nvSpPr>
        <p:spPr>
          <a:xfrm>
            <a:off x="6812280" y="2057400"/>
            <a:ext cx="1828800" cy="749808"/>
          </a:xfrm>
          <a:prstGeom prst="rect">
            <a:avLst/>
          </a:prstGeom>
          <a:noFill/>
          <a:ln/>
        </p:spPr>
        <p:txBody>
          <a:bodyPr wrap="square" lIns="0" tIns="0" rIns="0" bIns="0" rtlCol="0" anchor="ctr"/>
          <a:lstStyle/>
          <a:p>
            <a:pPr indent="0" marL="0">
              <a:buNone/>
            </a:pPr>
            <a:r>
              <a:rPr lang="en-US" sz="1050" dirty="0">
                <a:solidFill>
                  <a:srgbClr val="1A1F36"/>
                </a:solidFill>
                <a:latin typeface="Calibri" pitchFamily="34" charset="0"/>
                <a:ea typeface="Calibri" pitchFamily="34" charset="-122"/>
                <a:cs typeface="Calibri" pitchFamily="34" charset="-120"/>
              </a:rPr>
              <a:t>countries where its brands are sold</a:t>
            </a:r>
            <a:endParaRPr lang="en-US" sz="1050" dirty="0"/>
          </a:p>
        </p:txBody>
      </p:sp>
      <p:sp>
        <p:nvSpPr>
          <p:cNvPr id="12" name="Shape 9"/>
          <p:cNvSpPr/>
          <p:nvPr/>
        </p:nvSpPr>
        <p:spPr>
          <a:xfrm>
            <a:off x="5440680" y="2926080"/>
            <a:ext cx="3291840" cy="749808"/>
          </a:xfrm>
          <a:prstGeom prst="roundRect">
            <a:avLst>
              <a:gd name="adj" fmla="val 9756"/>
            </a:avLst>
          </a:prstGeom>
          <a:solidFill>
            <a:srgbClr val="F3F4F8"/>
          </a:solidFill>
          <a:ln/>
        </p:spPr>
      </p:sp>
      <p:sp>
        <p:nvSpPr>
          <p:cNvPr id="13" name="Text 10"/>
          <p:cNvSpPr/>
          <p:nvPr/>
        </p:nvSpPr>
        <p:spPr>
          <a:xfrm>
            <a:off x="5577840" y="2926080"/>
            <a:ext cx="1234440" cy="749808"/>
          </a:xfrm>
          <a:prstGeom prst="rect">
            <a:avLst/>
          </a:prstGeom>
          <a:noFill/>
          <a:ln/>
        </p:spPr>
        <p:txBody>
          <a:bodyPr wrap="square" lIns="0" tIns="0" rIns="0" bIns="0" rtlCol="0" anchor="ctr"/>
          <a:lstStyle/>
          <a:p>
            <a:pPr indent="0" marL="0">
              <a:buNone/>
            </a:pPr>
            <a:r>
              <a:rPr lang="en-US" sz="2100" b="1" dirty="0">
                <a:solidFill>
                  <a:srgbClr val="1F36C7"/>
                </a:solidFill>
                <a:latin typeface="Calibri" pitchFamily="34" charset="0"/>
                <a:ea typeface="Calibri" pitchFamily="34" charset="-122"/>
                <a:cs typeface="Calibri" pitchFamily="34" charset="-120"/>
              </a:rPr>
              <a:t>3.4bn</a:t>
            </a:r>
            <a:endParaRPr lang="en-US" sz="2100" dirty="0"/>
          </a:p>
        </p:txBody>
      </p:sp>
      <p:sp>
        <p:nvSpPr>
          <p:cNvPr id="14" name="Text 11"/>
          <p:cNvSpPr/>
          <p:nvPr/>
        </p:nvSpPr>
        <p:spPr>
          <a:xfrm>
            <a:off x="6812280" y="2926080"/>
            <a:ext cx="1828800" cy="749808"/>
          </a:xfrm>
          <a:prstGeom prst="rect">
            <a:avLst/>
          </a:prstGeom>
          <a:noFill/>
          <a:ln/>
        </p:spPr>
        <p:txBody>
          <a:bodyPr wrap="square" lIns="0" tIns="0" rIns="0" bIns="0" rtlCol="0" anchor="ctr"/>
          <a:lstStyle/>
          <a:p>
            <a:pPr indent="0" marL="0">
              <a:buNone/>
            </a:pPr>
            <a:r>
              <a:rPr lang="en-US" sz="1050" dirty="0">
                <a:solidFill>
                  <a:srgbClr val="1A1F36"/>
                </a:solidFill>
                <a:latin typeface="Calibri" pitchFamily="34" charset="0"/>
                <a:ea typeface="Calibri" pitchFamily="34" charset="-122"/>
                <a:cs typeface="Calibri" pitchFamily="34" charset="-120"/>
              </a:rPr>
              <a:t>people use its products every day</a:t>
            </a:r>
            <a:endParaRPr lang="en-US" sz="1050" dirty="0"/>
          </a:p>
        </p:txBody>
      </p:sp>
      <p:sp>
        <p:nvSpPr>
          <p:cNvPr id="15" name="Shape 12"/>
          <p:cNvSpPr/>
          <p:nvPr/>
        </p:nvSpPr>
        <p:spPr>
          <a:xfrm>
            <a:off x="5440680" y="3794760"/>
            <a:ext cx="3291840" cy="749808"/>
          </a:xfrm>
          <a:prstGeom prst="roundRect">
            <a:avLst>
              <a:gd name="adj" fmla="val 9756"/>
            </a:avLst>
          </a:prstGeom>
          <a:solidFill>
            <a:srgbClr val="F3F4F8"/>
          </a:solidFill>
          <a:ln/>
        </p:spPr>
      </p:sp>
      <p:sp>
        <p:nvSpPr>
          <p:cNvPr id="16" name="Text 13"/>
          <p:cNvSpPr/>
          <p:nvPr/>
        </p:nvSpPr>
        <p:spPr>
          <a:xfrm>
            <a:off x="5577840" y="3794760"/>
            <a:ext cx="1234440" cy="749808"/>
          </a:xfrm>
          <a:prstGeom prst="rect">
            <a:avLst/>
          </a:prstGeom>
          <a:noFill/>
          <a:ln/>
        </p:spPr>
        <p:txBody>
          <a:bodyPr wrap="square" lIns="0" tIns="0" rIns="0" bIns="0" rtlCol="0" anchor="ctr"/>
          <a:lstStyle/>
          <a:p>
            <a:pPr indent="0" marL="0">
              <a:buNone/>
            </a:pPr>
            <a:r>
              <a:rPr lang="en-US" sz="2100" b="1" dirty="0">
                <a:solidFill>
                  <a:srgbClr val="1F36C7"/>
                </a:solidFill>
                <a:latin typeface="Calibri" pitchFamily="34" charset="0"/>
                <a:ea typeface="Calibri" pitchFamily="34" charset="-122"/>
                <a:cs typeface="Calibri" pitchFamily="34" charset="-120"/>
              </a:rPr>
              <a:t>118k</a:t>
            </a:r>
            <a:endParaRPr lang="en-US" sz="2100" dirty="0"/>
          </a:p>
        </p:txBody>
      </p:sp>
      <p:sp>
        <p:nvSpPr>
          <p:cNvPr id="17" name="Text 14"/>
          <p:cNvSpPr/>
          <p:nvPr/>
        </p:nvSpPr>
        <p:spPr>
          <a:xfrm>
            <a:off x="6812280" y="3794760"/>
            <a:ext cx="1828800" cy="749808"/>
          </a:xfrm>
          <a:prstGeom prst="rect">
            <a:avLst/>
          </a:prstGeom>
          <a:noFill/>
          <a:ln/>
        </p:spPr>
        <p:txBody>
          <a:bodyPr wrap="square" lIns="0" tIns="0" rIns="0" bIns="0" rtlCol="0" anchor="ctr"/>
          <a:lstStyle/>
          <a:p>
            <a:pPr indent="0" marL="0">
              <a:buNone/>
            </a:pPr>
            <a:r>
              <a:rPr lang="en-US" sz="1050" dirty="0">
                <a:solidFill>
                  <a:srgbClr val="1A1F36"/>
                </a:solidFill>
                <a:latin typeface="Calibri" pitchFamily="34" charset="0"/>
                <a:ea typeface="Calibri" pitchFamily="34" charset="-122"/>
                <a:cs typeface="Calibri" pitchFamily="34" charset="-120"/>
              </a:rPr>
              <a:t>average employees in 2025 (150k in 2020)</a:t>
            </a:r>
            <a:endParaRPr lang="en-US" sz="1050" dirty="0"/>
          </a:p>
        </p:txBody>
      </p:sp>
      <p:sp>
        <p:nvSpPr>
          <p:cNvPr id="18" name="Text 15"/>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(2021; 2026a; 2026b).</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F36C7"/>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1F36C7"/>
                </a:solidFill>
                <a:latin typeface="Calibri" pitchFamily="34" charset="0"/>
                <a:ea typeface="Calibri" pitchFamily="34" charset="-122"/>
                <a:cs typeface="Calibri" pitchFamily="34" charset="-120"/>
              </a:rPr>
              <a:t>Speaker 1 · Globalisation</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Globalisation: one world market?</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Levitt (1983) and the five drivers (Lecture 1)</a:t>
            </a:r>
            <a:endParaRPr lang="en-US" sz="1300" dirty="0"/>
          </a:p>
        </p:txBody>
      </p:sp>
      <p:sp>
        <p:nvSpPr>
          <p:cNvPr id="6" name="Shape 4"/>
          <p:cNvSpPr/>
          <p:nvPr/>
        </p:nvSpPr>
        <p:spPr>
          <a:xfrm>
            <a:off x="411480" y="1234440"/>
            <a:ext cx="8321040" cy="713232"/>
          </a:xfrm>
          <a:prstGeom prst="roundRect">
            <a:avLst>
              <a:gd name="adj" fmla="val 10256"/>
            </a:avLst>
          </a:prstGeom>
          <a:solidFill>
            <a:srgbClr val="1F36C7"/>
          </a:solidFill>
          <a:ln/>
        </p:spPr>
      </p:sp>
      <p:sp>
        <p:nvSpPr>
          <p:cNvPr id="7" name="Text 5"/>
          <p:cNvSpPr/>
          <p:nvPr/>
        </p:nvSpPr>
        <p:spPr>
          <a:xfrm>
            <a:off x="594360" y="1234440"/>
            <a:ext cx="79552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 global company treats the world as one market and sells the same things in the same way (Levitt, 1983).</a:t>
            </a:r>
            <a:endParaRPr lang="en-US" sz="1400" dirty="0"/>
          </a:p>
        </p:txBody>
      </p:sp>
      <p:sp>
        <p:nvSpPr>
          <p:cNvPr id="8" name="Shape 6"/>
          <p:cNvSpPr/>
          <p:nvPr/>
        </p:nvSpPr>
        <p:spPr>
          <a:xfrm>
            <a:off x="411480" y="2103120"/>
            <a:ext cx="2651760" cy="2514600"/>
          </a:xfrm>
          <a:prstGeom prst="roundRect">
            <a:avLst>
              <a:gd name="adj" fmla="val 2909"/>
            </a:avLst>
          </a:prstGeom>
          <a:solidFill>
            <a:srgbClr val="F3F4F8"/>
          </a:solidFill>
          <a:ln/>
        </p:spPr>
      </p:sp>
      <p:sp>
        <p:nvSpPr>
          <p:cNvPr id="9" name="Text 7"/>
          <p:cNvSpPr/>
          <p:nvPr/>
        </p:nvSpPr>
        <p:spPr>
          <a:xfrm>
            <a:off x="548640" y="2194560"/>
            <a:ext cx="2377440" cy="365760"/>
          </a:xfrm>
          <a:prstGeom prst="rect">
            <a:avLst/>
          </a:prstGeom>
          <a:noFill/>
          <a:ln/>
        </p:spPr>
        <p:txBody>
          <a:bodyPr wrap="square" lIns="0" tIns="0" rIns="0" bIns="0" rtlCol="0" anchor="ctr"/>
          <a:lstStyle/>
          <a:p>
            <a:pPr indent="0" marL="0">
              <a:buNone/>
            </a:pPr>
            <a:r>
              <a:rPr lang="en-US" sz="1350" b="1" dirty="0">
                <a:solidFill>
                  <a:srgbClr val="1F36C7"/>
                </a:solidFill>
                <a:latin typeface="Calibri" pitchFamily="34" charset="0"/>
                <a:ea typeface="Calibri" pitchFamily="34" charset="-122"/>
                <a:cs typeface="Calibri" pitchFamily="34" charset="-120"/>
              </a:rPr>
              <a:t>Five drivers</a:t>
            </a:r>
            <a:endParaRPr lang="en-US" sz="1350" dirty="0"/>
          </a:p>
        </p:txBody>
      </p:sp>
      <p:sp>
        <p:nvSpPr>
          <p:cNvPr id="10" name="Text 8"/>
          <p:cNvSpPr/>
          <p:nvPr/>
        </p:nvSpPr>
        <p:spPr>
          <a:xfrm>
            <a:off x="54864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Political: lower trade barriers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Technology: digital, AI</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Market: global customers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Cost: economies of scale</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Competition: global rivals</a:t>
            </a:r>
            <a:endParaRPr lang="en-US" sz="1150" dirty="0"/>
          </a:p>
        </p:txBody>
      </p:sp>
      <p:sp>
        <p:nvSpPr>
          <p:cNvPr id="11" name="Shape 9"/>
          <p:cNvSpPr/>
          <p:nvPr/>
        </p:nvSpPr>
        <p:spPr>
          <a:xfrm>
            <a:off x="3246120" y="2103120"/>
            <a:ext cx="2651760" cy="2514600"/>
          </a:xfrm>
          <a:prstGeom prst="roundRect">
            <a:avLst>
              <a:gd name="adj" fmla="val 2909"/>
            </a:avLst>
          </a:prstGeom>
          <a:solidFill>
            <a:srgbClr val="F3F4F8"/>
          </a:solidFill>
          <a:ln/>
        </p:spPr>
      </p:sp>
      <p:sp>
        <p:nvSpPr>
          <p:cNvPr id="12" name="Text 10"/>
          <p:cNvSpPr/>
          <p:nvPr/>
        </p:nvSpPr>
        <p:spPr>
          <a:xfrm>
            <a:off x="3383280" y="2194560"/>
            <a:ext cx="2377440" cy="365760"/>
          </a:xfrm>
          <a:prstGeom prst="rect">
            <a:avLst/>
          </a:prstGeom>
          <a:noFill/>
          <a:ln/>
        </p:spPr>
        <p:txBody>
          <a:bodyPr wrap="square" lIns="0" tIns="0" rIns="0" bIns="0" rtlCol="0" anchor="ctr"/>
          <a:lstStyle/>
          <a:p>
            <a:pPr indent="0" marL="0">
              <a:buNone/>
            </a:pPr>
            <a:r>
              <a:rPr lang="en-US" sz="1350" b="1" dirty="0">
                <a:solidFill>
                  <a:srgbClr val="1F36C7"/>
                </a:solidFill>
                <a:latin typeface="Calibri" pitchFamily="34" charset="0"/>
                <a:ea typeface="Calibri" pitchFamily="34" charset="-122"/>
                <a:cs typeface="Calibri" pitchFamily="34" charset="-120"/>
              </a:rPr>
              <a:t>Two areas</a:t>
            </a:r>
            <a:endParaRPr lang="en-US" sz="1350" dirty="0"/>
          </a:p>
        </p:txBody>
      </p:sp>
      <p:sp>
        <p:nvSpPr>
          <p:cNvPr id="13" name="Text 11"/>
          <p:cNvSpPr/>
          <p:nvPr/>
        </p:nvSpPr>
        <p:spPr>
          <a:xfrm>
            <a:off x="338328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Globalisation of markets: new customers, smoother income</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Globalisation of production: make where it is best and cheapest</a:t>
            </a:r>
            <a:endParaRPr lang="en-US" sz="1150" dirty="0"/>
          </a:p>
        </p:txBody>
      </p:sp>
      <p:sp>
        <p:nvSpPr>
          <p:cNvPr id="14" name="Shape 12"/>
          <p:cNvSpPr/>
          <p:nvPr/>
        </p:nvSpPr>
        <p:spPr>
          <a:xfrm>
            <a:off x="6080760" y="2103120"/>
            <a:ext cx="2651760" cy="2514600"/>
          </a:xfrm>
          <a:prstGeom prst="roundRect">
            <a:avLst>
              <a:gd name="adj" fmla="val 2909"/>
            </a:avLst>
          </a:prstGeom>
          <a:solidFill>
            <a:srgbClr val="F3F4F8"/>
          </a:solidFill>
          <a:ln/>
        </p:spPr>
      </p:sp>
      <p:sp>
        <p:nvSpPr>
          <p:cNvPr id="15" name="Text 13"/>
          <p:cNvSpPr/>
          <p:nvPr/>
        </p:nvSpPr>
        <p:spPr>
          <a:xfrm>
            <a:off x="6217920" y="2194560"/>
            <a:ext cx="2377440" cy="365760"/>
          </a:xfrm>
          <a:prstGeom prst="rect">
            <a:avLst/>
          </a:prstGeom>
          <a:noFill/>
          <a:ln/>
        </p:spPr>
        <p:txBody>
          <a:bodyPr wrap="square" lIns="0" tIns="0" rIns="0" bIns="0" rtlCol="0" anchor="ctr"/>
          <a:lstStyle/>
          <a:p>
            <a:pPr indent="0" marL="0">
              <a:buNone/>
            </a:pPr>
            <a:r>
              <a:rPr lang="en-US" sz="1350" b="1" dirty="0">
                <a:solidFill>
                  <a:srgbClr val="1F36C7"/>
                </a:solidFill>
                <a:latin typeface="Calibri" pitchFamily="34" charset="0"/>
                <a:ea typeface="Calibri" pitchFamily="34" charset="-122"/>
                <a:cs typeface="Calibri" pitchFamily="34" charset="-120"/>
              </a:rPr>
              <a:t>The tension</a:t>
            </a:r>
            <a:endParaRPr lang="en-US" sz="1350" dirty="0"/>
          </a:p>
        </p:txBody>
      </p:sp>
      <p:sp>
        <p:nvSpPr>
          <p:cNvPr id="16" name="Text 14"/>
          <p:cNvSpPr/>
          <p:nvPr/>
        </p:nvSpPr>
        <p:spPr>
          <a:xfrm>
            <a:off x="621792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Standardise: global brands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Localise: local tastes and prices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Risks: shocks travel fast</a:t>
            </a:r>
            <a:endParaRPr lang="en-US" sz="1150" dirty="0"/>
          </a:p>
        </p:txBody>
      </p:sp>
      <p:sp>
        <p:nvSpPr>
          <p:cNvPr id="17" name="Text 15"/>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Levitt (1983); University of Greenwich (2026a).</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F36C7"/>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1F36C7"/>
                </a:solidFill>
                <a:latin typeface="Calibri" pitchFamily="34" charset="0"/>
                <a:ea typeface="Calibri" pitchFamily="34" charset="-122"/>
                <a:cs typeface="Calibri" pitchFamily="34" charset="-120"/>
              </a:rPr>
              <a:t>Speaker 1 · Globalisation</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Unilever: global growth, global shocks</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Same brands everywhere, but more risk in 2020–2025</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914400"/>
                <a:gridCol w="3429000"/>
                <a:gridCol w="397764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F36C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happened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F36C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Impact on Unilever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F36C7"/>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Mar 2020</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COVID-19 lockdowns; supply chain change programmes paused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Extra supply-chain costs cut underlying operating margin by ~0.9 points; emerging-market sales growth only 1.2% in 2020</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Mar 2022</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War in Ukraine: imports, exports and capital flows with Russia stopped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Russia = 1.4% of turnover, ~3,000 staff, 4 factories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Jan–Dec 2022</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High inflation: net material inflation €4.3bn</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Prices +11.3%, volumes −2.1%; underlying sales growth 9.0%</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Oct 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Sale of the Russian business to Arnest Group completed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Unilever left a market for political reasons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Dec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Year-end: Asia Pacific Africa 44%, Americas 37%, Europe 19% of turnover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59% from emerging markets: growth now depends on them</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2025 report</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Rising protectionism and tariffs named as a supply-chain risk</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Globalisation is less smooth</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224528"/>
            <a:ext cx="8321040" cy="457200"/>
          </a:xfrm>
          <a:prstGeom prst="roundRect">
            <a:avLst>
              <a:gd name="adj" fmla="val 12000"/>
            </a:avLst>
          </a:prstGeom>
          <a:solidFill>
            <a:srgbClr val="F3F4F8"/>
          </a:solidFill>
          <a:ln w="12700">
            <a:solidFill>
              <a:srgbClr val="1F36C7"/>
            </a:solidFill>
            <a:prstDash val="solid"/>
          </a:ln>
        </p:spPr>
      </p:sp>
      <p:sp>
        <p:nvSpPr>
          <p:cNvPr id="8" name="Text 5"/>
          <p:cNvSpPr/>
          <p:nvPr/>
        </p:nvSpPr>
        <p:spPr>
          <a:xfrm>
            <a:off x="548640" y="4224528"/>
            <a:ext cx="8046720" cy="457200"/>
          </a:xfrm>
          <a:prstGeom prst="rect">
            <a:avLst/>
          </a:prstGeom>
          <a:noFill/>
          <a:ln/>
        </p:spPr>
        <p:txBody>
          <a:bodyPr wrap="square" lIns="0" tIns="0" rIns="0" bIns="0" rtlCol="0" anchor="ctr"/>
          <a:lstStyle/>
          <a:p>
            <a:pPr indent="0" marL="0">
              <a:buNone/>
            </a:pPr>
            <a:r>
              <a:rPr lang="en-US" sz="1150" b="1" dirty="0">
                <a:solidFill>
                  <a:srgbClr val="1F36C7"/>
                </a:solidFill>
                <a:latin typeface="Calibri" pitchFamily="34" charset="0"/>
                <a:ea typeface="Calibri" pitchFamily="34" charset="-122"/>
                <a:cs typeface="Calibri" pitchFamily="34" charset="-120"/>
              </a:rPr>
              <a:t>So what?  </a:t>
            </a:r>
            <a:pPr indent="0" marL="0">
              <a:buNone/>
            </a:pPr>
            <a:r>
              <a:rPr lang="en-US" sz="1150" dirty="0">
                <a:solidFill>
                  <a:srgbClr val="1A1F36"/>
                </a:solidFill>
                <a:latin typeface="Calibri" pitchFamily="34" charset="0"/>
                <a:ea typeface="Calibri" pitchFamily="34" charset="-122"/>
                <a:cs typeface="Calibri" pitchFamily="34" charset="-120"/>
              </a:rPr>
              <a:t>Global brands and emerging markets drive growth, but shocks now travel fast.</a:t>
            </a:r>
            <a:endParaRPr lang="en-US" sz="1150" dirty="0"/>
          </a:p>
        </p:txBody>
      </p:sp>
      <p:sp>
        <p:nvSpPr>
          <p:cNvPr id="9" name="Text 6"/>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(2021; 2023b; 2025a; 2026a; 2026b).</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F8A6B"/>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0F8A6B"/>
                </a:solidFill>
                <a:latin typeface="Calibri" pitchFamily="34" charset="0"/>
                <a:ea typeface="Calibri" pitchFamily="34" charset="-122"/>
                <a:cs typeface="Calibri" pitchFamily="34" charset="-120"/>
              </a:rPr>
              <a:t>Speaker 2 · Regional Integration</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Regional integration: five levels</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Lecture 2: from free trade area to political union</a:t>
            </a:r>
            <a:endParaRPr lang="en-US" sz="1300" dirty="0"/>
          </a:p>
        </p:txBody>
      </p:sp>
      <p:sp>
        <p:nvSpPr>
          <p:cNvPr id="6" name="Shape 4"/>
          <p:cNvSpPr/>
          <p:nvPr/>
        </p:nvSpPr>
        <p:spPr>
          <a:xfrm>
            <a:off x="411480" y="1234440"/>
            <a:ext cx="8321040" cy="713232"/>
          </a:xfrm>
          <a:prstGeom prst="roundRect">
            <a:avLst>
              <a:gd name="adj" fmla="val 10256"/>
            </a:avLst>
          </a:prstGeom>
          <a:solidFill>
            <a:srgbClr val="0F8A6B"/>
          </a:solidFill>
          <a:ln/>
        </p:spPr>
      </p:sp>
      <p:sp>
        <p:nvSpPr>
          <p:cNvPr id="7" name="Text 5"/>
          <p:cNvSpPr/>
          <p:nvPr/>
        </p:nvSpPr>
        <p:spPr>
          <a:xfrm>
            <a:off x="594360" y="1234440"/>
            <a:ext cx="79552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Countries in a region remove barriers between them, step by step. Each level goes deeper.</a:t>
            </a:r>
            <a:endParaRPr lang="en-US" sz="1400" dirty="0"/>
          </a:p>
        </p:txBody>
      </p:sp>
      <p:sp>
        <p:nvSpPr>
          <p:cNvPr id="8" name="Shape 6"/>
          <p:cNvSpPr/>
          <p:nvPr/>
        </p:nvSpPr>
        <p:spPr>
          <a:xfrm>
            <a:off x="411480" y="2103120"/>
            <a:ext cx="2651760" cy="2514600"/>
          </a:xfrm>
          <a:prstGeom prst="roundRect">
            <a:avLst>
              <a:gd name="adj" fmla="val 2909"/>
            </a:avLst>
          </a:prstGeom>
          <a:solidFill>
            <a:srgbClr val="F3F4F8"/>
          </a:solidFill>
          <a:ln/>
        </p:spPr>
      </p:sp>
      <p:sp>
        <p:nvSpPr>
          <p:cNvPr id="9" name="Text 7"/>
          <p:cNvSpPr/>
          <p:nvPr/>
        </p:nvSpPr>
        <p:spPr>
          <a:xfrm>
            <a:off x="548640" y="2194560"/>
            <a:ext cx="2377440" cy="365760"/>
          </a:xfrm>
          <a:prstGeom prst="rect">
            <a:avLst/>
          </a:prstGeom>
          <a:noFill/>
          <a:ln/>
        </p:spPr>
        <p:txBody>
          <a:bodyPr wrap="square" lIns="0" tIns="0" rIns="0" bIns="0" rtlCol="0" anchor="ctr"/>
          <a:lstStyle/>
          <a:p>
            <a:pPr indent="0" marL="0">
              <a:buNone/>
            </a:pPr>
            <a:r>
              <a:rPr lang="en-US" sz="1350" b="1" dirty="0">
                <a:solidFill>
                  <a:srgbClr val="0F8A6B"/>
                </a:solidFill>
                <a:latin typeface="Calibri" pitchFamily="34" charset="0"/>
                <a:ea typeface="Calibri" pitchFamily="34" charset="-122"/>
                <a:cs typeface="Calibri" pitchFamily="34" charset="-120"/>
              </a:rPr>
              <a:t>Five levels</a:t>
            </a:r>
            <a:endParaRPr lang="en-US" sz="1350" dirty="0"/>
          </a:p>
        </p:txBody>
      </p:sp>
      <p:sp>
        <p:nvSpPr>
          <p:cNvPr id="10" name="Text 8"/>
          <p:cNvSpPr/>
          <p:nvPr/>
        </p:nvSpPr>
        <p:spPr>
          <a:xfrm>
            <a:off x="54864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Free trade area: no tariffs inside</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Customs union: + common outside tariff</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Common market: + free movement of people and capital</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Economic union: + common policy</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Political union</a:t>
            </a:r>
            <a:endParaRPr lang="en-US" sz="1150" dirty="0"/>
          </a:p>
        </p:txBody>
      </p:sp>
      <p:sp>
        <p:nvSpPr>
          <p:cNvPr id="11" name="Shape 9"/>
          <p:cNvSpPr/>
          <p:nvPr/>
        </p:nvSpPr>
        <p:spPr>
          <a:xfrm>
            <a:off x="3246120" y="2103120"/>
            <a:ext cx="2651760" cy="2514600"/>
          </a:xfrm>
          <a:prstGeom prst="roundRect">
            <a:avLst>
              <a:gd name="adj" fmla="val 2909"/>
            </a:avLst>
          </a:prstGeom>
          <a:solidFill>
            <a:srgbClr val="F3F4F8"/>
          </a:solidFill>
          <a:ln/>
        </p:spPr>
      </p:sp>
      <p:sp>
        <p:nvSpPr>
          <p:cNvPr id="12" name="Text 10"/>
          <p:cNvSpPr/>
          <p:nvPr/>
        </p:nvSpPr>
        <p:spPr>
          <a:xfrm>
            <a:off x="3383280" y="2194560"/>
            <a:ext cx="2377440" cy="365760"/>
          </a:xfrm>
          <a:prstGeom prst="rect">
            <a:avLst/>
          </a:prstGeom>
          <a:noFill/>
          <a:ln/>
        </p:spPr>
        <p:txBody>
          <a:bodyPr wrap="square" lIns="0" tIns="0" rIns="0" bIns="0" rtlCol="0" anchor="ctr"/>
          <a:lstStyle/>
          <a:p>
            <a:pPr indent="0" marL="0">
              <a:buNone/>
            </a:pPr>
            <a:r>
              <a:rPr lang="en-US" sz="1350" b="1" dirty="0">
                <a:solidFill>
                  <a:srgbClr val="0F8A6B"/>
                </a:solidFill>
                <a:latin typeface="Calibri" pitchFamily="34" charset="0"/>
                <a:ea typeface="Calibri" pitchFamily="34" charset="-122"/>
                <a:cs typeface="Calibri" pitchFamily="34" charset="-120"/>
              </a:rPr>
              <a:t>Effects</a:t>
            </a:r>
            <a:endParaRPr lang="en-US" sz="1350" dirty="0"/>
          </a:p>
        </p:txBody>
      </p:sp>
      <p:sp>
        <p:nvSpPr>
          <p:cNvPr id="13" name="Text 11"/>
          <p:cNvSpPr/>
          <p:nvPr/>
        </p:nvSpPr>
        <p:spPr>
          <a:xfrm>
            <a:off x="338328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Trade creation: more trade between members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Trade diversion: from a cheaper outside country to a member</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Spreads risk</a:t>
            </a:r>
            <a:endParaRPr lang="en-US" sz="1150" dirty="0"/>
          </a:p>
        </p:txBody>
      </p:sp>
      <p:sp>
        <p:nvSpPr>
          <p:cNvPr id="14" name="Shape 12"/>
          <p:cNvSpPr/>
          <p:nvPr/>
        </p:nvSpPr>
        <p:spPr>
          <a:xfrm>
            <a:off x="6080760" y="2103120"/>
            <a:ext cx="2651760" cy="2514600"/>
          </a:xfrm>
          <a:prstGeom prst="roundRect">
            <a:avLst>
              <a:gd name="adj" fmla="val 2909"/>
            </a:avLst>
          </a:prstGeom>
          <a:solidFill>
            <a:srgbClr val="F3F4F8"/>
          </a:solidFill>
          <a:ln/>
        </p:spPr>
      </p:sp>
      <p:sp>
        <p:nvSpPr>
          <p:cNvPr id="15" name="Text 13"/>
          <p:cNvSpPr/>
          <p:nvPr/>
        </p:nvSpPr>
        <p:spPr>
          <a:xfrm>
            <a:off x="6217920" y="2194560"/>
            <a:ext cx="2377440" cy="365760"/>
          </a:xfrm>
          <a:prstGeom prst="rect">
            <a:avLst/>
          </a:prstGeom>
          <a:noFill/>
          <a:ln/>
        </p:spPr>
        <p:txBody>
          <a:bodyPr wrap="square" lIns="0" tIns="0" rIns="0" bIns="0" rtlCol="0" anchor="ctr"/>
          <a:lstStyle/>
          <a:p>
            <a:pPr indent="0" marL="0">
              <a:buNone/>
            </a:pPr>
            <a:r>
              <a:rPr lang="en-US" sz="1350" b="1" dirty="0">
                <a:solidFill>
                  <a:srgbClr val="0F8A6B"/>
                </a:solidFill>
                <a:latin typeface="Calibri" pitchFamily="34" charset="0"/>
                <a:ea typeface="Calibri" pitchFamily="34" charset="-122"/>
                <a:cs typeface="Calibri" pitchFamily="34" charset="-120"/>
              </a:rPr>
              <a:t>Limits</a:t>
            </a:r>
            <a:endParaRPr lang="en-US" sz="1350" dirty="0"/>
          </a:p>
        </p:txBody>
      </p:sp>
      <p:sp>
        <p:nvSpPr>
          <p:cNvPr id="16" name="Text 14"/>
          <p:cNvSpPr/>
          <p:nvPr/>
        </p:nvSpPr>
        <p:spPr>
          <a:xfrm>
            <a:off x="621792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Most agreements stay at level 1</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Only the EU has gone far</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Countries lose some sovereignty</a:t>
            </a:r>
            <a:endParaRPr lang="en-US" sz="1150" dirty="0"/>
          </a:p>
        </p:txBody>
      </p:sp>
      <p:sp>
        <p:nvSpPr>
          <p:cNvPr id="17" name="Text 15"/>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University of Greenwich (2026b).</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F8A6B"/>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0F8A6B"/>
                </a:solidFill>
                <a:latin typeface="Calibri" pitchFamily="34" charset="0"/>
                <a:ea typeface="Calibri" pitchFamily="34" charset="-122"/>
                <a:cs typeface="Calibri" pitchFamily="34" charset="-120"/>
              </a:rPr>
              <a:t>Speaker 2 · Regional Integration</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Unilever: regional hubs inside trade blocs</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Organised in three regions: Asia Pacific Africa · Americas · Europe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914400"/>
                <a:gridCol w="3429000"/>
                <a:gridCol w="397764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8A6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happened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8A6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Impact on Unilever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8A6B"/>
                    </a:solidFill>
                  </a:tcPr>
                </a:tc>
              </a:tr>
              <a:tr h="0">
                <a:tc>
                  <a:txBody>
                    <a:bodyPr/>
                    <a:lstStyle/>
                    <a:p>
                      <a:pPr indent="0" marL="0">
                        <a:buNone/>
                      </a:pPr>
                      <a:r>
                        <a:rPr lang="en-US" sz="1050" b="1" dirty="0">
                          <a:solidFill>
                            <a:srgbClr val="0F8A6B"/>
                          </a:solidFill>
                          <a:latin typeface="Calibri" pitchFamily="34" charset="0"/>
                          <a:ea typeface="Calibri" pitchFamily="34" charset="-122"/>
                          <a:cs typeface="Calibri" pitchFamily="34" charset="-120"/>
                        </a:rPr>
                        <a:t>Jul 2020</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USMCA (US–Mexico–Canada) enters into force</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Mexico plant: $400m (Feb 2023) raised to $800m (Apr 2025); mainly exports to the US and Canada</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F8A6B"/>
                          </a:solidFill>
                          <a:latin typeface="Calibri" pitchFamily="34" charset="0"/>
                          <a:ea typeface="Calibri" pitchFamily="34" charset="-122"/>
                          <a:cs typeface="Calibri" pitchFamily="34" charset="-120"/>
                        </a:rPr>
                        <a:t>Nov 2020</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Unification: one UK parent, Unilever PLC, based in London</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One share class; more flexibility to buy, sell and demerge businesses (used for ice cream, Dec 2025); UNCTAD: $81bn cross-border merger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F8A6B"/>
                          </a:solidFill>
                          <a:latin typeface="Calibri" pitchFamily="34" charset="0"/>
                          <a:ea typeface="Calibri" pitchFamily="34" charset="-122"/>
                          <a:cs typeface="Calibri" pitchFamily="34" charset="-120"/>
                        </a:rPr>
                        <a:t>Dec 2020</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Brexit transition ends: UK leaves the EU single market</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Head office outside the EU; Europe is 19% of turnover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F8A6B"/>
                          </a:solidFill>
                          <a:latin typeface="Calibri" pitchFamily="34" charset="0"/>
                          <a:ea typeface="Calibri" pitchFamily="34" charset="-122"/>
                          <a:cs typeface="Calibri" pitchFamily="34" charset="-120"/>
                        </a:rPr>
                        <a:t>Jan 2021</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AfCFTA trading begins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Unilever Nigeria (76% owned) is inside an Africa-wide free trade area</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F8A6B"/>
                          </a:solidFill>
                          <a:latin typeface="Calibri" pitchFamily="34" charset="0"/>
                          <a:ea typeface="Calibri" pitchFamily="34" charset="-122"/>
                          <a:cs typeface="Calibri" pitchFamily="34" charset="-120"/>
                        </a:rPr>
                        <a:t>Jan 2022</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RCEP enters into force (15 Asia-Pacific countries)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Indonesia joins in Jan 2023; Unilever owns 85% of Unilever Indonesia</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224528"/>
            <a:ext cx="8321040" cy="457200"/>
          </a:xfrm>
          <a:prstGeom prst="roundRect">
            <a:avLst>
              <a:gd name="adj" fmla="val 12000"/>
            </a:avLst>
          </a:prstGeom>
          <a:solidFill>
            <a:srgbClr val="F3F4F8"/>
          </a:solidFill>
          <a:ln w="12700">
            <a:solidFill>
              <a:srgbClr val="0F8A6B"/>
            </a:solidFill>
            <a:prstDash val="solid"/>
          </a:ln>
        </p:spPr>
      </p:sp>
      <p:sp>
        <p:nvSpPr>
          <p:cNvPr id="8" name="Text 5"/>
          <p:cNvSpPr/>
          <p:nvPr/>
        </p:nvSpPr>
        <p:spPr>
          <a:xfrm>
            <a:off x="548640" y="4224528"/>
            <a:ext cx="8046720" cy="457200"/>
          </a:xfrm>
          <a:prstGeom prst="rect">
            <a:avLst/>
          </a:prstGeom>
          <a:noFill/>
          <a:ln/>
        </p:spPr>
        <p:txBody>
          <a:bodyPr wrap="square" lIns="0" tIns="0" rIns="0" bIns="0" rtlCol="0" anchor="ctr"/>
          <a:lstStyle/>
          <a:p>
            <a:pPr indent="0" marL="0">
              <a:buNone/>
            </a:pPr>
            <a:r>
              <a:rPr lang="en-US" sz="1150" b="1" dirty="0">
                <a:solidFill>
                  <a:srgbClr val="0F8A6B"/>
                </a:solidFill>
                <a:latin typeface="Calibri" pitchFamily="34" charset="0"/>
                <a:ea typeface="Calibri" pitchFamily="34" charset="-122"/>
                <a:cs typeface="Calibri" pitchFamily="34" charset="-120"/>
              </a:rPr>
              <a:t>So what?  </a:t>
            </a:r>
            <a:pPr indent="0" marL="0">
              <a:buNone/>
            </a:pPr>
            <a:r>
              <a:rPr lang="en-US" sz="1150" dirty="0">
                <a:solidFill>
                  <a:srgbClr val="1A1F36"/>
                </a:solidFill>
                <a:latin typeface="Calibri" pitchFamily="34" charset="0"/>
                <a:ea typeface="Calibri" pitchFamily="34" charset="-122"/>
                <a:cs typeface="Calibri" pitchFamily="34" charset="-120"/>
              </a:rPr>
              <a:t>Trade blocs help Unilever supply many countries from regional hubs, but most blocs are only free trade areas.</a:t>
            </a:r>
            <a:endParaRPr lang="en-US" sz="1150" dirty="0"/>
          </a:p>
        </p:txBody>
      </p:sp>
      <p:sp>
        <p:nvSpPr>
          <p:cNvPr id="9" name="Text 6"/>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(2021; 2025a; 2026b); UNCTAD (2021); USTR (n.d.); AfCFTA Secretariat (n.d.); ADB (2021); MND Staff (2025).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D9822B"/>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D9822B"/>
                </a:solidFill>
                <a:latin typeface="Calibri" pitchFamily="34" charset="0"/>
                <a:ea typeface="Calibri" pitchFamily="34" charset="-122"/>
                <a:cs typeface="Calibri" pitchFamily="34" charset="-120"/>
              </a:rPr>
              <a:t>Speaker 3 · MNEs from Advanced Economies</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MNEs from advanced economies</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Lecture 4: MNE goals vs host-country goals</a:t>
            </a:r>
            <a:endParaRPr lang="en-US" sz="1300" dirty="0"/>
          </a:p>
        </p:txBody>
      </p:sp>
      <p:sp>
        <p:nvSpPr>
          <p:cNvPr id="6" name="Shape 4"/>
          <p:cNvSpPr/>
          <p:nvPr/>
        </p:nvSpPr>
        <p:spPr>
          <a:xfrm>
            <a:off x="411480" y="1234440"/>
            <a:ext cx="8321040" cy="713232"/>
          </a:xfrm>
          <a:prstGeom prst="roundRect">
            <a:avLst>
              <a:gd name="adj" fmla="val 10256"/>
            </a:avLst>
          </a:prstGeom>
          <a:solidFill>
            <a:srgbClr val="D9822B"/>
          </a:solidFill>
          <a:ln/>
        </p:spPr>
      </p:sp>
      <p:sp>
        <p:nvSpPr>
          <p:cNvPr id="7" name="Text 5"/>
          <p:cNvSpPr/>
          <p:nvPr/>
        </p:nvSpPr>
        <p:spPr>
          <a:xfrm>
            <a:off x="594360" y="1234440"/>
            <a:ext cx="79552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An advanced-economy MNE goes abroad to use advantages it already has. Its goals and the host country's goals can clash.</a:t>
            </a:r>
            <a:endParaRPr lang="en-US" sz="1400" dirty="0"/>
          </a:p>
        </p:txBody>
      </p:sp>
      <p:sp>
        <p:nvSpPr>
          <p:cNvPr id="8" name="Shape 6"/>
          <p:cNvSpPr/>
          <p:nvPr/>
        </p:nvSpPr>
        <p:spPr>
          <a:xfrm>
            <a:off x="411480" y="2103120"/>
            <a:ext cx="2651760" cy="2514600"/>
          </a:xfrm>
          <a:prstGeom prst="roundRect">
            <a:avLst>
              <a:gd name="adj" fmla="val 2909"/>
            </a:avLst>
          </a:prstGeom>
          <a:solidFill>
            <a:srgbClr val="F3F4F8"/>
          </a:solidFill>
          <a:ln/>
        </p:spPr>
      </p:sp>
      <p:sp>
        <p:nvSpPr>
          <p:cNvPr id="9" name="Text 7"/>
          <p:cNvSpPr/>
          <p:nvPr/>
        </p:nvSpPr>
        <p:spPr>
          <a:xfrm>
            <a:off x="548640" y="2194560"/>
            <a:ext cx="2377440" cy="365760"/>
          </a:xfrm>
          <a:prstGeom prst="rect">
            <a:avLst/>
          </a:prstGeom>
          <a:noFill/>
          <a:ln/>
        </p:spPr>
        <p:txBody>
          <a:bodyPr wrap="square" lIns="0" tIns="0" rIns="0" bIns="0" rtlCol="0" anchor="ctr"/>
          <a:lstStyle/>
          <a:p>
            <a:pPr indent="0" marL="0">
              <a:buNone/>
            </a:pPr>
            <a:r>
              <a:rPr lang="en-US" sz="1350" b="1" dirty="0">
                <a:solidFill>
                  <a:srgbClr val="D9822B"/>
                </a:solidFill>
                <a:latin typeface="Calibri" pitchFamily="34" charset="0"/>
                <a:ea typeface="Calibri" pitchFamily="34" charset="-122"/>
                <a:cs typeface="Calibri" pitchFamily="34" charset="-120"/>
              </a:rPr>
              <a:t>MNE goals</a:t>
            </a:r>
            <a:endParaRPr lang="en-US" sz="1350" dirty="0"/>
          </a:p>
        </p:txBody>
      </p:sp>
      <p:sp>
        <p:nvSpPr>
          <p:cNvPr id="10" name="Text 8"/>
          <p:cNvSpPr/>
          <p:nvPr/>
        </p:nvSpPr>
        <p:spPr>
          <a:xfrm>
            <a:off x="54864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High returns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More sales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Lower costs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Share risk</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Better technology</a:t>
            </a:r>
            <a:endParaRPr lang="en-US" sz="1150" dirty="0"/>
          </a:p>
        </p:txBody>
      </p:sp>
      <p:sp>
        <p:nvSpPr>
          <p:cNvPr id="11" name="Shape 9"/>
          <p:cNvSpPr/>
          <p:nvPr/>
        </p:nvSpPr>
        <p:spPr>
          <a:xfrm>
            <a:off x="3246120" y="2103120"/>
            <a:ext cx="2651760" cy="2514600"/>
          </a:xfrm>
          <a:prstGeom prst="roundRect">
            <a:avLst>
              <a:gd name="adj" fmla="val 2909"/>
            </a:avLst>
          </a:prstGeom>
          <a:solidFill>
            <a:srgbClr val="F3F4F8"/>
          </a:solidFill>
          <a:ln/>
        </p:spPr>
      </p:sp>
      <p:sp>
        <p:nvSpPr>
          <p:cNvPr id="12" name="Text 10"/>
          <p:cNvSpPr/>
          <p:nvPr/>
        </p:nvSpPr>
        <p:spPr>
          <a:xfrm>
            <a:off x="3383280" y="2194560"/>
            <a:ext cx="2377440" cy="365760"/>
          </a:xfrm>
          <a:prstGeom prst="rect">
            <a:avLst/>
          </a:prstGeom>
          <a:noFill/>
          <a:ln/>
        </p:spPr>
        <p:txBody>
          <a:bodyPr wrap="square" lIns="0" tIns="0" rIns="0" bIns="0" rtlCol="0" anchor="ctr"/>
          <a:lstStyle/>
          <a:p>
            <a:pPr indent="0" marL="0">
              <a:buNone/>
            </a:pPr>
            <a:r>
              <a:rPr lang="en-US" sz="1350" b="1" dirty="0">
                <a:solidFill>
                  <a:srgbClr val="D9822B"/>
                </a:solidFill>
                <a:latin typeface="Calibri" pitchFamily="34" charset="0"/>
                <a:ea typeface="Calibri" pitchFamily="34" charset="-122"/>
                <a:cs typeface="Calibri" pitchFamily="34" charset="-120"/>
              </a:rPr>
              <a:t>Host-country goals</a:t>
            </a:r>
            <a:endParaRPr lang="en-US" sz="1350" dirty="0"/>
          </a:p>
        </p:txBody>
      </p:sp>
      <p:sp>
        <p:nvSpPr>
          <p:cNvPr id="13" name="Text 11"/>
          <p:cNvSpPr/>
          <p:nvPr/>
        </p:nvSpPr>
        <p:spPr>
          <a:xfrm>
            <a:off x="338328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Jobs and growth</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Technology</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Control of the economy</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A fair share of profits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Clean environment</a:t>
            </a:r>
            <a:endParaRPr lang="en-US" sz="1150" dirty="0"/>
          </a:p>
        </p:txBody>
      </p:sp>
      <p:sp>
        <p:nvSpPr>
          <p:cNvPr id="14" name="Shape 12"/>
          <p:cNvSpPr/>
          <p:nvPr/>
        </p:nvSpPr>
        <p:spPr>
          <a:xfrm>
            <a:off x="6080760" y="2103120"/>
            <a:ext cx="2651760" cy="2514600"/>
          </a:xfrm>
          <a:prstGeom prst="roundRect">
            <a:avLst>
              <a:gd name="adj" fmla="val 2909"/>
            </a:avLst>
          </a:prstGeom>
          <a:solidFill>
            <a:srgbClr val="F3F4F8"/>
          </a:solidFill>
          <a:ln/>
        </p:spPr>
      </p:sp>
      <p:sp>
        <p:nvSpPr>
          <p:cNvPr id="15" name="Text 13"/>
          <p:cNvSpPr/>
          <p:nvPr/>
        </p:nvSpPr>
        <p:spPr>
          <a:xfrm>
            <a:off x="6217920" y="2194560"/>
            <a:ext cx="2377440" cy="365760"/>
          </a:xfrm>
          <a:prstGeom prst="rect">
            <a:avLst/>
          </a:prstGeom>
          <a:noFill/>
          <a:ln/>
        </p:spPr>
        <p:txBody>
          <a:bodyPr wrap="square" lIns="0" tIns="0" rIns="0" bIns="0" rtlCol="0" anchor="ctr"/>
          <a:lstStyle/>
          <a:p>
            <a:pPr indent="0" marL="0">
              <a:buNone/>
            </a:pPr>
            <a:r>
              <a:rPr lang="en-US" sz="1350" b="1" dirty="0">
                <a:solidFill>
                  <a:srgbClr val="D9822B"/>
                </a:solidFill>
                <a:latin typeface="Calibri" pitchFamily="34" charset="0"/>
                <a:ea typeface="Calibri" pitchFamily="34" charset="-122"/>
                <a:cs typeface="Calibri" pitchFamily="34" charset="-120"/>
              </a:rPr>
              <a:t>When they clash</a:t>
            </a:r>
            <a:endParaRPr lang="en-US" sz="1350" dirty="0"/>
          </a:p>
        </p:txBody>
      </p:sp>
      <p:sp>
        <p:nvSpPr>
          <p:cNvPr id="16" name="Text 14"/>
          <p:cNvSpPr/>
          <p:nvPr/>
        </p:nvSpPr>
        <p:spPr>
          <a:xfrm>
            <a:off x="621792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Creeping expropriation: new taxes and rules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Outright expropriation</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Profits leaving the country</a:t>
            </a:r>
            <a:endParaRPr lang="en-US" sz="1150" dirty="0"/>
          </a:p>
        </p:txBody>
      </p:sp>
      <p:sp>
        <p:nvSpPr>
          <p:cNvPr id="17" name="Text 15"/>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University of Greenwich (2026c).</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D9822B"/>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D9822B"/>
                </a:solidFill>
                <a:latin typeface="Calibri" pitchFamily="34" charset="0"/>
                <a:ea typeface="Calibri" pitchFamily="34" charset="-122"/>
                <a:cs typeface="Calibri" pitchFamily="34" charset="-120"/>
              </a:rPr>
              <a:t>Speaker 3 · MNEs from Advanced Economies</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Unilever: British advantages, local partners</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Brands and R&amp;D from home; shared ownership abroad</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914400"/>
                <a:gridCol w="3429000"/>
                <a:gridCol w="397764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D9822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happened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D9822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Impact on Unilever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D9822B"/>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2020–2024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R&amp;D spending grows from €800m to €987m a year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Technology and brands: ownership advantages from an advanced economy</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Mar 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Productivity programme: about 7,500 office jobs to go</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Target €800m savings in 3 years; €200m saved and 4,300 jobs gone by Dec 2024; €850m restructuring costs in 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Oct 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Russian business sold, after staying since Mar 2022</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Protected assets for 2½ years, but clashed with home and host politics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Dec 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Local listed subsidiaries: India 61.9%, Indonesia 85%, Nigeria 76%</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Local investors share profits; lowers political risk</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Apr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Hindustan Unilever buys 90.5% of Minimalist (Rs 2,670 crore; announced Jan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Moves Beauty &amp; Wellbeing in India towards faster-growing spaces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Dec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30 Power Brands make 78% of turnover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Global brands are the core of its advantage</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224528"/>
            <a:ext cx="8321040" cy="457200"/>
          </a:xfrm>
          <a:prstGeom prst="roundRect">
            <a:avLst>
              <a:gd name="adj" fmla="val 12000"/>
            </a:avLst>
          </a:prstGeom>
          <a:solidFill>
            <a:srgbClr val="F3F4F8"/>
          </a:solidFill>
          <a:ln w="12700">
            <a:solidFill>
              <a:srgbClr val="D9822B"/>
            </a:solidFill>
            <a:prstDash val="solid"/>
          </a:ln>
        </p:spPr>
      </p:sp>
      <p:sp>
        <p:nvSpPr>
          <p:cNvPr id="8" name="Text 5"/>
          <p:cNvSpPr/>
          <p:nvPr/>
        </p:nvSpPr>
        <p:spPr>
          <a:xfrm>
            <a:off x="548640" y="4224528"/>
            <a:ext cx="8046720" cy="457200"/>
          </a:xfrm>
          <a:prstGeom prst="rect">
            <a:avLst/>
          </a:prstGeom>
          <a:noFill/>
          <a:ln/>
        </p:spPr>
        <p:txBody>
          <a:bodyPr wrap="square" lIns="0" tIns="0" rIns="0" bIns="0" rtlCol="0" anchor="ctr"/>
          <a:lstStyle/>
          <a:p>
            <a:pPr indent="0" marL="0">
              <a:buNone/>
            </a:pPr>
            <a:r>
              <a:rPr lang="en-US" sz="1150" b="1" dirty="0">
                <a:solidFill>
                  <a:srgbClr val="D9822B"/>
                </a:solidFill>
                <a:latin typeface="Calibri" pitchFamily="34" charset="0"/>
                <a:ea typeface="Calibri" pitchFamily="34" charset="-122"/>
                <a:cs typeface="Calibri" pitchFamily="34" charset="-120"/>
              </a:rPr>
              <a:t>So what?  </a:t>
            </a:r>
            <a:pPr indent="0" marL="0">
              <a:buNone/>
            </a:pPr>
            <a:r>
              <a:rPr lang="en-US" sz="1150" dirty="0">
                <a:solidFill>
                  <a:srgbClr val="1A1F36"/>
                </a:solidFill>
                <a:latin typeface="Calibri" pitchFamily="34" charset="0"/>
                <a:ea typeface="Calibri" pitchFamily="34" charset="-122"/>
                <a:cs typeface="Calibri" pitchFamily="34" charset="-120"/>
              </a:rPr>
              <a:t>Unilever's advantages come from home, but it must balance profit with host-country jobs and politics.</a:t>
            </a:r>
            <a:endParaRPr lang="en-US" sz="1150" dirty="0"/>
          </a:p>
        </p:txBody>
      </p:sp>
      <p:sp>
        <p:nvSpPr>
          <p:cNvPr id="9" name="Text 6"/>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(2021; 2025a; 2025b; 2026a; 2026b); Entrackr (2025).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7C3AED"/>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7C3AED"/>
                </a:solidFill>
                <a:latin typeface="Calibri" pitchFamily="34" charset="0"/>
                <a:ea typeface="Calibri" pitchFamily="34" charset="-122"/>
                <a:cs typeface="Calibri" pitchFamily="34" charset="-120"/>
              </a:rPr>
              <a:t>Speaker 4 · FDI</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FDI: why and how firms invest abroad</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Lecture 3 · World FDI: $1.0tn in 2020 (−35%) → $1.6tn in 2025 (UNCTAD)</a:t>
            </a:r>
            <a:endParaRPr lang="en-US" sz="1300" dirty="0"/>
          </a:p>
        </p:txBody>
      </p:sp>
      <p:sp>
        <p:nvSpPr>
          <p:cNvPr id="6" name="Shape 4"/>
          <p:cNvSpPr/>
          <p:nvPr/>
        </p:nvSpPr>
        <p:spPr>
          <a:xfrm>
            <a:off x="411480" y="1234440"/>
            <a:ext cx="8321040" cy="713232"/>
          </a:xfrm>
          <a:prstGeom prst="roundRect">
            <a:avLst>
              <a:gd name="adj" fmla="val 10256"/>
            </a:avLst>
          </a:prstGeom>
          <a:solidFill>
            <a:srgbClr val="7C3AED"/>
          </a:solidFill>
          <a:ln/>
        </p:spPr>
      </p:sp>
      <p:sp>
        <p:nvSpPr>
          <p:cNvPr id="7" name="Text 5"/>
          <p:cNvSpPr/>
          <p:nvPr/>
        </p:nvSpPr>
        <p:spPr>
          <a:xfrm>
            <a:off x="594360" y="1234440"/>
            <a:ext cx="79552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FDI: a company owns and controls a business in another country, by building it (greenfield) or buying it (M&amp;A).</a:t>
            </a:r>
            <a:endParaRPr lang="en-US" sz="1400" dirty="0"/>
          </a:p>
        </p:txBody>
      </p:sp>
      <p:sp>
        <p:nvSpPr>
          <p:cNvPr id="8" name="Shape 6"/>
          <p:cNvSpPr/>
          <p:nvPr/>
        </p:nvSpPr>
        <p:spPr>
          <a:xfrm>
            <a:off x="411480" y="2103120"/>
            <a:ext cx="2651760" cy="2514600"/>
          </a:xfrm>
          <a:prstGeom prst="roundRect">
            <a:avLst>
              <a:gd name="adj" fmla="val 2909"/>
            </a:avLst>
          </a:prstGeom>
          <a:solidFill>
            <a:srgbClr val="F3F4F8"/>
          </a:solidFill>
          <a:ln/>
        </p:spPr>
      </p:sp>
      <p:sp>
        <p:nvSpPr>
          <p:cNvPr id="9" name="Text 7"/>
          <p:cNvSpPr/>
          <p:nvPr/>
        </p:nvSpPr>
        <p:spPr>
          <a:xfrm>
            <a:off x="548640" y="2194560"/>
            <a:ext cx="2377440" cy="36576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OLI model (Dunning)</a:t>
            </a:r>
            <a:endParaRPr lang="en-US" sz="1350" dirty="0"/>
          </a:p>
        </p:txBody>
      </p:sp>
      <p:sp>
        <p:nvSpPr>
          <p:cNvPr id="10" name="Text 8"/>
          <p:cNvSpPr/>
          <p:nvPr/>
        </p:nvSpPr>
        <p:spPr>
          <a:xfrm>
            <a:off x="54864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O – Ownership: brands, technology</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L – Location: big market, low costs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I – Internalisation: own it, do not license it</a:t>
            </a:r>
            <a:endParaRPr lang="en-US" sz="1150" dirty="0"/>
          </a:p>
        </p:txBody>
      </p:sp>
      <p:sp>
        <p:nvSpPr>
          <p:cNvPr id="11" name="Shape 9"/>
          <p:cNvSpPr/>
          <p:nvPr/>
        </p:nvSpPr>
        <p:spPr>
          <a:xfrm>
            <a:off x="3246120" y="2103120"/>
            <a:ext cx="2651760" cy="2514600"/>
          </a:xfrm>
          <a:prstGeom prst="roundRect">
            <a:avLst>
              <a:gd name="adj" fmla="val 2909"/>
            </a:avLst>
          </a:prstGeom>
          <a:solidFill>
            <a:srgbClr val="F3F4F8"/>
          </a:solidFill>
          <a:ln/>
        </p:spPr>
      </p:sp>
      <p:sp>
        <p:nvSpPr>
          <p:cNvPr id="12" name="Text 10"/>
          <p:cNvSpPr/>
          <p:nvPr/>
        </p:nvSpPr>
        <p:spPr>
          <a:xfrm>
            <a:off x="3383280" y="2194560"/>
            <a:ext cx="2377440" cy="36576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Four motives</a:t>
            </a:r>
            <a:endParaRPr lang="en-US" sz="1350" dirty="0"/>
          </a:p>
        </p:txBody>
      </p:sp>
      <p:sp>
        <p:nvSpPr>
          <p:cNvPr id="13" name="Text 11"/>
          <p:cNvSpPr/>
          <p:nvPr/>
        </p:nvSpPr>
        <p:spPr>
          <a:xfrm>
            <a:off x="338328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Market-seeking</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Resource-seeking</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Efficiency-seeking</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Strategic asset-seeking</a:t>
            </a:r>
            <a:endParaRPr lang="en-US" sz="1150" dirty="0"/>
          </a:p>
        </p:txBody>
      </p:sp>
      <p:sp>
        <p:nvSpPr>
          <p:cNvPr id="14" name="Shape 12"/>
          <p:cNvSpPr/>
          <p:nvPr/>
        </p:nvSpPr>
        <p:spPr>
          <a:xfrm>
            <a:off x="6080760" y="2103120"/>
            <a:ext cx="2651760" cy="2514600"/>
          </a:xfrm>
          <a:prstGeom prst="roundRect">
            <a:avLst>
              <a:gd name="adj" fmla="val 2909"/>
            </a:avLst>
          </a:prstGeom>
          <a:solidFill>
            <a:srgbClr val="F3F4F8"/>
          </a:solidFill>
          <a:ln/>
        </p:spPr>
      </p:sp>
      <p:sp>
        <p:nvSpPr>
          <p:cNvPr id="15" name="Text 13"/>
          <p:cNvSpPr/>
          <p:nvPr/>
        </p:nvSpPr>
        <p:spPr>
          <a:xfrm>
            <a:off x="6217920" y="2194560"/>
            <a:ext cx="2377440" cy="36576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Two modes</a:t>
            </a:r>
            <a:endParaRPr lang="en-US" sz="1350" dirty="0"/>
          </a:p>
        </p:txBody>
      </p:sp>
      <p:sp>
        <p:nvSpPr>
          <p:cNvPr id="16" name="Text 14"/>
          <p:cNvSpPr/>
          <p:nvPr/>
        </p:nvSpPr>
        <p:spPr>
          <a:xfrm>
            <a:off x="621792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Greenfield: build new; slower, full control</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M&amp;A: buy; faster, but integration is hard</a:t>
            </a:r>
            <a:endParaRPr lang="en-US" sz="1150" dirty="0"/>
          </a:p>
        </p:txBody>
      </p:sp>
      <p:sp>
        <p:nvSpPr>
          <p:cNvPr id="17" name="Text 15"/>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Dunning (1988); University of Greenwich (2026d); UNCTAD (2021; 2026).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7C3AED"/>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7C3AED"/>
                </a:solidFill>
                <a:latin typeface="Calibri" pitchFamily="34" charset="0"/>
                <a:ea typeface="Calibri" pitchFamily="34" charset="-122"/>
                <a:cs typeface="Calibri" pitchFamily="34" charset="-120"/>
              </a:rPr>
              <a:t>Speaker 4 · FDI</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Unilever FDI ①: build and buy</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Greenfield in big markets, M&amp;A for beauty and wellbeing brands</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914400"/>
                <a:gridCol w="3429000"/>
                <a:gridCol w="3977640"/>
              </a:tblGrid>
              <a:tr h="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Date</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7C3AED"/>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happened</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7C3AED"/>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Impact on Unilever</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7C3AED"/>
                    </a:solidFill>
                  </a:tcPr>
                </a:tc>
              </a:tr>
              <a:tr h="0">
                <a:tc>
                  <a:txBody>
                    <a:bodyPr/>
                    <a:lstStyle/>
                    <a:p>
                      <a:pPr indent="0" marL="0">
                        <a:buNone/>
                      </a:pPr>
                      <a:r>
                        <a:rPr lang="en-US" sz="950" b="1" dirty="0">
                          <a:solidFill>
                            <a:srgbClr val="7C3AED"/>
                          </a:solidFill>
                          <a:latin typeface="Calibri" pitchFamily="34" charset="0"/>
                          <a:ea typeface="Calibri" pitchFamily="34" charset="-122"/>
                          <a:cs typeface="Calibri" pitchFamily="34" charset="-120"/>
                        </a:rPr>
                        <a:t>Jun 2020</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1A1F36"/>
                          </a:solidFill>
                          <a:latin typeface="Calibri" pitchFamily="34" charset="0"/>
                          <a:ea typeface="Calibri" pitchFamily="34" charset="-122"/>
                          <a:cs typeface="Calibri" pitchFamily="34" charset="-120"/>
                        </a:rPr>
                        <a:t>Greenfield: €100m Taicang ice cream plant, China (150,000 t a year)</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1A1F36"/>
                          </a:solidFill>
                          <a:latin typeface="Calibri" pitchFamily="34" charset="0"/>
                          <a:ea typeface="Calibri" pitchFamily="34" charset="-122"/>
                          <a:cs typeface="Calibri" pitchFamily="34" charset="-120"/>
                        </a:rPr>
                        <a:t>Largest recent food investment; WEF "lighthouse" factory (Sep 2021); opened Apr 2022 · market-seeking</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7C3AED"/>
                          </a:solidFill>
                          <a:latin typeface="Calibri" pitchFamily="34" charset="0"/>
                          <a:ea typeface="Calibri" pitchFamily="34" charset="-122"/>
                          <a:cs typeface="Calibri" pitchFamily="34" charset="-120"/>
                        </a:rPr>
                        <a:t>Aug 2021</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1A1F36"/>
                          </a:solidFill>
                          <a:latin typeface="Calibri" pitchFamily="34" charset="0"/>
                          <a:ea typeface="Calibri" pitchFamily="34" charset="-122"/>
                          <a:cs typeface="Calibri" pitchFamily="34" charset="-120"/>
                        </a:rPr>
                        <a:t>M&amp;A: Paula's Choice (US skincare), 100%, €1.83bn</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1A1F36"/>
                          </a:solidFill>
                          <a:latin typeface="Calibri" pitchFamily="34" charset="0"/>
                          <a:ea typeface="Calibri" pitchFamily="34" charset="-122"/>
                          <a:cs typeface="Calibri" pitchFamily="34" charset="-120"/>
                        </a:rPr>
                        <a:t>Prestige Beauty double-digit growth in 2022; slowed with US premium beauty in 2024; back to growth H2 2025</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7C3AED"/>
                          </a:solidFill>
                          <a:latin typeface="Calibri" pitchFamily="34" charset="0"/>
                          <a:ea typeface="Calibri" pitchFamily="34" charset="-122"/>
                          <a:cs typeface="Calibri" pitchFamily="34" charset="-120"/>
                        </a:rPr>
                        <a:t>Jul 2022</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1A1F36"/>
                          </a:solidFill>
                          <a:latin typeface="Calibri" pitchFamily="34" charset="0"/>
                          <a:ea typeface="Calibri" pitchFamily="34" charset="-122"/>
                          <a:cs typeface="Calibri" pitchFamily="34" charset="-120"/>
                        </a:rPr>
                        <a:t>M&amp;A: Nutrafol (US hair wellness), stake raised to 80% for €811m</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1A1F36"/>
                          </a:solidFill>
                          <a:latin typeface="Calibri" pitchFamily="34" charset="0"/>
                          <a:ea typeface="Calibri" pitchFamily="34" charset="-122"/>
                          <a:cs typeface="Calibri" pitchFamily="34" charset="-120"/>
                        </a:rPr>
                        <a:t>Led double-digit Wellbeing growth in 2025; first launch outside the US (Canada, 2023)</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7C3AED"/>
                          </a:solidFill>
                          <a:latin typeface="Calibri" pitchFamily="34" charset="0"/>
                          <a:ea typeface="Calibri" pitchFamily="34" charset="-122"/>
                          <a:cs typeface="Calibri" pitchFamily="34" charset="-120"/>
                        </a:rPr>
                        <a:t>Feb 2024</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1A1F36"/>
                          </a:solidFill>
                          <a:latin typeface="Calibri" pitchFamily="34" charset="0"/>
                          <a:ea typeface="Calibri" pitchFamily="34" charset="-122"/>
                          <a:cs typeface="Calibri" pitchFamily="34" charset="-120"/>
                        </a:rPr>
                        <a:t>M&amp;A: K18 (US hair care), 91.88%</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1A1F36"/>
                          </a:solidFill>
                          <a:latin typeface="Calibri" pitchFamily="34" charset="0"/>
                          <a:ea typeface="Calibri" pitchFamily="34" charset="-122"/>
                          <a:cs typeface="Calibri" pitchFamily="34" charset="-120"/>
                        </a:rPr>
                        <a:t>Grew double-digit in 2024</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7C3AED"/>
                          </a:solidFill>
                          <a:latin typeface="Calibri" pitchFamily="34" charset="0"/>
                          <a:ea typeface="Calibri" pitchFamily="34" charset="-122"/>
                          <a:cs typeface="Calibri" pitchFamily="34" charset="-120"/>
                        </a:rPr>
                        <a:t>Apr 2025</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1A1F36"/>
                          </a:solidFill>
                          <a:latin typeface="Calibri" pitchFamily="34" charset="0"/>
                          <a:ea typeface="Calibri" pitchFamily="34" charset="-122"/>
                          <a:cs typeface="Calibri" pitchFamily="34" charset="-120"/>
                        </a:rPr>
                        <a:t>Greenfield: Mexico plant raised from $400m (Feb 2023) to $800m</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1A1F36"/>
                          </a:solidFill>
                          <a:latin typeface="Calibri" pitchFamily="34" charset="0"/>
                          <a:ea typeface="Calibri" pitchFamily="34" charset="-122"/>
                          <a:cs typeface="Calibri" pitchFamily="34" charset="-120"/>
                        </a:rPr>
                        <a:t>850 direct jobs; mainly exports to the US and Canada · market- and efficiency-seeking</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7C3AED"/>
                          </a:solidFill>
                          <a:latin typeface="Calibri" pitchFamily="34" charset="0"/>
                          <a:ea typeface="Calibri" pitchFamily="34" charset="-122"/>
                          <a:cs typeface="Calibri" pitchFamily="34" charset="-120"/>
                        </a:rPr>
                        <a:t>Sep 2025</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1A1F36"/>
                          </a:solidFill>
                          <a:latin typeface="Calibri" pitchFamily="34" charset="0"/>
                          <a:ea typeface="Calibri" pitchFamily="34" charset="-122"/>
                          <a:cs typeface="Calibri" pitchFamily="34" charset="-120"/>
                        </a:rPr>
                        <a:t>M&amp;A: Dr. Squatch (US men's care), 98.7%, €1.24bn</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1A1F36"/>
                          </a:solidFill>
                          <a:latin typeface="Calibri" pitchFamily="34" charset="0"/>
                          <a:ea typeface="Calibri" pitchFamily="34" charset="-122"/>
                          <a:cs typeface="Calibri" pitchFamily="34" charset="-120"/>
                        </a:rPr>
                        <a:t>Moves Unilever into "premium and high-growth spaces" · strategic asset-seeking</a:t>
                      </a:r>
                      <a:endParaRPr lang="en-US" sz="9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224528"/>
            <a:ext cx="8321040" cy="457200"/>
          </a:xfrm>
          <a:prstGeom prst="roundRect">
            <a:avLst>
              <a:gd name="adj" fmla="val 12000"/>
            </a:avLst>
          </a:prstGeom>
          <a:solidFill>
            <a:srgbClr val="F3F4F8"/>
          </a:solidFill>
          <a:ln w="12700">
            <a:solidFill>
              <a:srgbClr val="7C3AED"/>
            </a:solidFill>
            <a:prstDash val="solid"/>
          </a:ln>
        </p:spPr>
      </p:sp>
      <p:sp>
        <p:nvSpPr>
          <p:cNvPr id="8" name="Text 5"/>
          <p:cNvSpPr/>
          <p:nvPr/>
        </p:nvSpPr>
        <p:spPr>
          <a:xfrm>
            <a:off x="548640" y="4224528"/>
            <a:ext cx="8046720" cy="457200"/>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So what?  </a:t>
            </a:r>
            <a:pPr indent="0" marL="0">
              <a:buNone/>
            </a:pPr>
            <a:r>
              <a:rPr lang="en-US" sz="1150" dirty="0">
                <a:solidFill>
                  <a:srgbClr val="1A1F36"/>
                </a:solidFill>
                <a:latin typeface="Calibri" pitchFamily="34" charset="0"/>
                <a:ea typeface="Calibri" pitchFamily="34" charset="-122"/>
                <a:cs typeface="Calibri" pitchFamily="34" charset="-120"/>
              </a:rPr>
              <a:t>Brands are the ownership (O) advantage; Unilever buys brands and online skills it does not have.</a:t>
            </a:r>
            <a:endParaRPr lang="en-US" sz="1150" dirty="0"/>
          </a:p>
        </p:txBody>
      </p:sp>
      <p:sp>
        <p:nvSpPr>
          <p:cNvPr id="9" name="Text 6"/>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China Daily (2020); Xinhua (2022); MND Staff (2025); Unilever PLC (2022; 2023b; 2024; 2025a; 2025b; 2026a; 2026b).</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7C3AED"/>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7C3AED"/>
                </a:solidFill>
                <a:latin typeface="Calibri" pitchFamily="34" charset="0"/>
                <a:ea typeface="Calibri" pitchFamily="34" charset="-122"/>
                <a:cs typeface="Calibri" pitchFamily="34" charset="-120"/>
              </a:rPr>
              <a:t>Speaker 4 · FDI</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Unilever FDI ②: sell and focus</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Divesting slower businesses changed the size and shape of Unilever</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914400"/>
                <a:gridCol w="3429000"/>
                <a:gridCol w="397764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7C3AE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happened</a:t>
                      </a:r>
                      <a:endParaRPr lang="en-US" sz="12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7C3AE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Impact on Unilever</a:t>
                      </a:r>
                      <a:endParaRPr lang="en-US" sz="12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7C3AED"/>
                    </a:solidFill>
                  </a:tcPr>
                </a:tc>
              </a:tr>
              <a:tr h="0">
                <a:tc>
                  <a:txBody>
                    <a:bodyPr/>
                    <a:lstStyle/>
                    <a:p>
                      <a:pPr indent="0" marL="0">
                        <a:buNone/>
                      </a:pPr>
                      <a:r>
                        <a:rPr lang="en-US" sz="1200" b="1" dirty="0">
                          <a:solidFill>
                            <a:srgbClr val="7C3AED"/>
                          </a:solidFill>
                          <a:latin typeface="Calibri" pitchFamily="34" charset="0"/>
                          <a:ea typeface="Calibri" pitchFamily="34" charset="-122"/>
                          <a:cs typeface="Calibri" pitchFamily="34" charset="-120"/>
                        </a:rPr>
                        <a:t>Jul 2022</a:t>
                      </a:r>
                      <a:endParaRPr lang="en-US" sz="12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A1F36"/>
                          </a:solidFill>
                          <a:latin typeface="Calibri" pitchFamily="34" charset="0"/>
                          <a:ea typeface="Calibri" pitchFamily="34" charset="-122"/>
                          <a:cs typeface="Calibri" pitchFamily="34" charset="-120"/>
                        </a:rPr>
                        <a:t>Tea business (ekaterra) sold to CVC for €4.59bn (announced Nov 2021)</a:t>
                      </a:r>
                      <a:endParaRPr lang="en-US" sz="12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A1F36"/>
                          </a:solidFill>
                          <a:latin typeface="Calibri" pitchFamily="34" charset="0"/>
                          <a:ea typeface="Calibri" pitchFamily="34" charset="-122"/>
                          <a:cs typeface="Calibri" pitchFamily="34" charset="-120"/>
                        </a:rPr>
                        <a:t>Gain €2.3bn; net debt fell; turnover 1.7% lower in 2023</a:t>
                      </a:r>
                      <a:endParaRPr lang="en-US" sz="12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7C3AED"/>
                          </a:solidFill>
                          <a:latin typeface="Calibri" pitchFamily="34" charset="0"/>
                          <a:ea typeface="Calibri" pitchFamily="34" charset="-122"/>
                          <a:cs typeface="Calibri" pitchFamily="34" charset="-120"/>
                        </a:rPr>
                        <a:t>Oct 2024</a:t>
                      </a:r>
                      <a:endParaRPr lang="en-US" sz="12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A1F36"/>
                          </a:solidFill>
                          <a:latin typeface="Calibri" pitchFamily="34" charset="0"/>
                          <a:ea typeface="Calibri" pitchFamily="34" charset="-122"/>
                          <a:cs typeface="Calibri" pitchFamily="34" charset="-120"/>
                        </a:rPr>
                        <a:t>Russian business (4 factories) sold to Arnest Group; price not disclosed</a:t>
                      </a:r>
                      <a:endParaRPr lang="en-US" sz="12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A1F36"/>
                          </a:solidFill>
                          <a:latin typeface="Calibri" pitchFamily="34" charset="0"/>
                          <a:ea typeface="Calibri" pitchFamily="34" charset="-122"/>
                          <a:cs typeface="Calibri" pitchFamily="34" charset="-120"/>
                        </a:rPr>
                        <a:t>Net loss €406m on four disposals that year (incl. Russia)</a:t>
                      </a:r>
                      <a:endParaRPr lang="en-US" sz="12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7C3AED"/>
                          </a:solidFill>
                          <a:latin typeface="Calibri" pitchFamily="34" charset="0"/>
                          <a:ea typeface="Calibri" pitchFamily="34" charset="-122"/>
                          <a:cs typeface="Calibri" pitchFamily="34" charset="-120"/>
                        </a:rPr>
                        <a:t>Dec 2025</a:t>
                      </a:r>
                      <a:endParaRPr lang="en-US" sz="12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A1F36"/>
                          </a:solidFill>
                          <a:latin typeface="Calibri" pitchFamily="34" charset="0"/>
                          <a:ea typeface="Calibri" pitchFamily="34" charset="-122"/>
                          <a:cs typeface="Calibri" pitchFamily="34" charset="-120"/>
                        </a:rPr>
                        <a:t>Magnum Ice Cream Company demerged (announced Mar 2024); Unilever keeps 19.85%</a:t>
                      </a:r>
                      <a:endParaRPr lang="en-US" sz="12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A1F36"/>
                          </a:solidFill>
                          <a:latin typeface="Calibri" pitchFamily="34" charset="0"/>
                          <a:ea typeface="Calibri" pitchFamily="34" charset="-122"/>
                          <a:cs typeface="Calibri" pitchFamily="34" charset="-120"/>
                        </a:rPr>
                        <a:t>2024 turnover restated €60.8bn → €52.5bn; demerger gain €3.4bn; stake worth €1.7bn</a:t>
                      </a:r>
                      <a:endParaRPr lang="en-US" sz="12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224528"/>
            <a:ext cx="8321040" cy="457200"/>
          </a:xfrm>
          <a:prstGeom prst="roundRect">
            <a:avLst>
              <a:gd name="adj" fmla="val 12000"/>
            </a:avLst>
          </a:prstGeom>
          <a:solidFill>
            <a:srgbClr val="F3F4F8"/>
          </a:solidFill>
          <a:ln w="12700">
            <a:solidFill>
              <a:srgbClr val="7C3AED"/>
            </a:solidFill>
            <a:prstDash val="solid"/>
          </a:ln>
        </p:spPr>
      </p:sp>
      <p:sp>
        <p:nvSpPr>
          <p:cNvPr id="8" name="Text 5"/>
          <p:cNvSpPr/>
          <p:nvPr/>
        </p:nvSpPr>
        <p:spPr>
          <a:xfrm>
            <a:off x="548640" y="4224528"/>
            <a:ext cx="8046720" cy="457200"/>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So what?  </a:t>
            </a:r>
            <a:pPr indent="0" marL="0">
              <a:buNone/>
            </a:pPr>
            <a:r>
              <a:rPr lang="en-US" sz="1150" dirty="0">
                <a:solidFill>
                  <a:srgbClr val="1A1F36"/>
                </a:solidFill>
                <a:latin typeface="Calibri" pitchFamily="34" charset="0"/>
                <a:ea typeface="Calibri" pitchFamily="34" charset="-122"/>
                <a:cs typeface="Calibri" pitchFamily="34" charset="-120"/>
              </a:rPr>
              <a:t>Unilever became smaller, but more focused on beauty, personal care and fast-growing markets.</a:t>
            </a:r>
            <a:endParaRPr lang="en-US" sz="1150" dirty="0"/>
          </a:p>
        </p:txBody>
      </p:sp>
      <p:sp>
        <p:nvSpPr>
          <p:cNvPr id="9" name="Text 6"/>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(2022; 2023b; 2025b; 2026a; 2026b).</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Conclusion: smaller, but more focused</a:t>
            </a:r>
            <a:endParaRPr lang="en-US" sz="2500" dirty="0"/>
          </a:p>
        </p:txBody>
      </p:sp>
      <p:sp>
        <p:nvSpPr>
          <p:cNvPr id="3" name="Text 1"/>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What our four theories tell us about Unilever, 2020–2025</a:t>
            </a:r>
            <a:endParaRPr lang="en-US" sz="1300" dirty="0"/>
          </a:p>
        </p:txBody>
      </p:sp>
      <p:sp>
        <p:nvSpPr>
          <p:cNvPr id="4" name="Shape 2"/>
          <p:cNvSpPr/>
          <p:nvPr/>
        </p:nvSpPr>
        <p:spPr>
          <a:xfrm>
            <a:off x="411480" y="1234440"/>
            <a:ext cx="2194560" cy="658368"/>
          </a:xfrm>
          <a:prstGeom prst="roundRect">
            <a:avLst>
              <a:gd name="adj" fmla="val 11111"/>
            </a:avLst>
          </a:prstGeom>
          <a:solidFill>
            <a:srgbClr val="1F36C7"/>
          </a:solidFill>
          <a:ln/>
        </p:spPr>
      </p:sp>
      <p:sp>
        <p:nvSpPr>
          <p:cNvPr id="5" name="Text 3"/>
          <p:cNvSpPr/>
          <p:nvPr/>
        </p:nvSpPr>
        <p:spPr>
          <a:xfrm>
            <a:off x="502920" y="1234440"/>
            <a:ext cx="2011680" cy="65836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Globalisation</a:t>
            </a:r>
            <a:endParaRPr lang="en-US" sz="1250" dirty="0"/>
          </a:p>
        </p:txBody>
      </p:sp>
      <p:sp>
        <p:nvSpPr>
          <p:cNvPr id="6" name="Text 4"/>
          <p:cNvSpPr/>
          <p:nvPr/>
        </p:nvSpPr>
        <p:spPr>
          <a:xfrm>
            <a:off x="2788920" y="1234440"/>
            <a:ext cx="5943600" cy="658368"/>
          </a:xfrm>
          <a:prstGeom prst="rect">
            <a:avLst/>
          </a:prstGeom>
          <a:noFill/>
          <a:ln/>
        </p:spPr>
        <p:txBody>
          <a:bodyPr wrap="square" lIns="0" tIns="0" rIns="0" bIns="0" rtlCol="0" anchor="ctr"/>
          <a:lstStyle/>
          <a:p>
            <a:pPr indent="0" marL="0">
              <a:buNone/>
            </a:pPr>
            <a:r>
              <a:rPr lang="en-US" sz="1200" dirty="0">
                <a:solidFill>
                  <a:srgbClr val="1A1F36"/>
                </a:solidFill>
                <a:latin typeface="Calibri" pitchFamily="34" charset="0"/>
                <a:ea typeface="Calibri" pitchFamily="34" charset="-122"/>
                <a:cs typeface="Calibri" pitchFamily="34" charset="-120"/>
              </a:rPr>
              <a:t>Global brands and emerging markets (59% of turnover) drive growth, but COVID-19, inflation and Russia show the risks.</a:t>
            </a:r>
            <a:endParaRPr lang="en-US" sz="1200" dirty="0"/>
          </a:p>
        </p:txBody>
      </p:sp>
      <p:sp>
        <p:nvSpPr>
          <p:cNvPr id="7" name="Shape 5"/>
          <p:cNvSpPr/>
          <p:nvPr/>
        </p:nvSpPr>
        <p:spPr>
          <a:xfrm>
            <a:off x="411480" y="2011680"/>
            <a:ext cx="2194560" cy="658368"/>
          </a:xfrm>
          <a:prstGeom prst="roundRect">
            <a:avLst>
              <a:gd name="adj" fmla="val 11111"/>
            </a:avLst>
          </a:prstGeom>
          <a:solidFill>
            <a:srgbClr val="0F8A6B"/>
          </a:solidFill>
          <a:ln/>
        </p:spPr>
      </p:sp>
      <p:sp>
        <p:nvSpPr>
          <p:cNvPr id="8" name="Text 6"/>
          <p:cNvSpPr/>
          <p:nvPr/>
        </p:nvSpPr>
        <p:spPr>
          <a:xfrm>
            <a:off x="502920" y="2011680"/>
            <a:ext cx="2011680" cy="65836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Regional Integration</a:t>
            </a:r>
            <a:endParaRPr lang="en-US" sz="1250" dirty="0"/>
          </a:p>
        </p:txBody>
      </p:sp>
      <p:sp>
        <p:nvSpPr>
          <p:cNvPr id="9" name="Text 7"/>
          <p:cNvSpPr/>
          <p:nvPr/>
        </p:nvSpPr>
        <p:spPr>
          <a:xfrm>
            <a:off x="2788920" y="2011680"/>
            <a:ext cx="5943600" cy="658368"/>
          </a:xfrm>
          <a:prstGeom prst="rect">
            <a:avLst/>
          </a:prstGeom>
          <a:noFill/>
          <a:ln/>
        </p:spPr>
        <p:txBody>
          <a:bodyPr wrap="square" lIns="0" tIns="0" rIns="0" bIns="0" rtlCol="0" anchor="ctr"/>
          <a:lstStyle/>
          <a:p>
            <a:pPr indent="0" marL="0">
              <a:buNone/>
            </a:pPr>
            <a:r>
              <a:rPr lang="en-US" sz="1200" dirty="0">
                <a:solidFill>
                  <a:srgbClr val="1A1F36"/>
                </a:solidFill>
                <a:latin typeface="Calibri" pitchFamily="34" charset="0"/>
                <a:ea typeface="Calibri" pitchFamily="34" charset="-122"/>
                <a:cs typeface="Calibri" pitchFamily="34" charset="-120"/>
              </a:rPr>
              <a:t>One UK parent since November 2020; regional hubs in Mexico, Indonesia and Nigeria use trade blocs, which are mostly shallow.</a:t>
            </a:r>
            <a:endParaRPr lang="en-US" sz="1200" dirty="0"/>
          </a:p>
        </p:txBody>
      </p:sp>
      <p:sp>
        <p:nvSpPr>
          <p:cNvPr id="10" name="Shape 8"/>
          <p:cNvSpPr/>
          <p:nvPr/>
        </p:nvSpPr>
        <p:spPr>
          <a:xfrm>
            <a:off x="411480" y="2788920"/>
            <a:ext cx="2194560" cy="658368"/>
          </a:xfrm>
          <a:prstGeom prst="roundRect">
            <a:avLst>
              <a:gd name="adj" fmla="val 11111"/>
            </a:avLst>
          </a:prstGeom>
          <a:solidFill>
            <a:srgbClr val="D9822B"/>
          </a:solidFill>
          <a:ln/>
        </p:spPr>
      </p:sp>
      <p:sp>
        <p:nvSpPr>
          <p:cNvPr id="11" name="Text 9"/>
          <p:cNvSpPr/>
          <p:nvPr/>
        </p:nvSpPr>
        <p:spPr>
          <a:xfrm>
            <a:off x="502920" y="2788920"/>
            <a:ext cx="2011680" cy="65836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MNEs from Advanced Economies</a:t>
            </a:r>
            <a:endParaRPr lang="en-US" sz="1250" dirty="0"/>
          </a:p>
        </p:txBody>
      </p:sp>
      <p:sp>
        <p:nvSpPr>
          <p:cNvPr id="12" name="Text 10"/>
          <p:cNvSpPr/>
          <p:nvPr/>
        </p:nvSpPr>
        <p:spPr>
          <a:xfrm>
            <a:off x="2788920" y="2788920"/>
            <a:ext cx="5943600" cy="658368"/>
          </a:xfrm>
          <a:prstGeom prst="rect">
            <a:avLst/>
          </a:prstGeom>
          <a:noFill/>
          <a:ln/>
        </p:spPr>
        <p:txBody>
          <a:bodyPr wrap="square" lIns="0" tIns="0" rIns="0" bIns="0" rtlCol="0" anchor="ctr"/>
          <a:lstStyle/>
          <a:p>
            <a:pPr indent="0" marL="0">
              <a:buNone/>
            </a:pPr>
            <a:r>
              <a:rPr lang="en-US" sz="1200" dirty="0">
                <a:solidFill>
                  <a:srgbClr val="1A1F36"/>
                </a:solidFill>
                <a:latin typeface="Calibri" pitchFamily="34" charset="0"/>
                <a:ea typeface="Calibri" pitchFamily="34" charset="-122"/>
                <a:cs typeface="Calibri" pitchFamily="34" charset="-120"/>
              </a:rPr>
              <a:t>Brands and R&amp;D are its advantages; local listings share profits, but job cuts and Russia show goal conflicts.</a:t>
            </a:r>
            <a:endParaRPr lang="en-US" sz="1200" dirty="0"/>
          </a:p>
        </p:txBody>
      </p:sp>
      <p:sp>
        <p:nvSpPr>
          <p:cNvPr id="13" name="Shape 11"/>
          <p:cNvSpPr/>
          <p:nvPr/>
        </p:nvSpPr>
        <p:spPr>
          <a:xfrm>
            <a:off x="411480" y="3566160"/>
            <a:ext cx="2194560" cy="658368"/>
          </a:xfrm>
          <a:prstGeom prst="roundRect">
            <a:avLst>
              <a:gd name="adj" fmla="val 11111"/>
            </a:avLst>
          </a:prstGeom>
          <a:solidFill>
            <a:srgbClr val="7C3AED"/>
          </a:solidFill>
          <a:ln/>
        </p:spPr>
      </p:sp>
      <p:sp>
        <p:nvSpPr>
          <p:cNvPr id="14" name="Text 12"/>
          <p:cNvSpPr/>
          <p:nvPr/>
        </p:nvSpPr>
        <p:spPr>
          <a:xfrm>
            <a:off x="502920" y="3566160"/>
            <a:ext cx="2011680" cy="65836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FDI</a:t>
            </a:r>
            <a:endParaRPr lang="en-US" sz="1250" dirty="0"/>
          </a:p>
        </p:txBody>
      </p:sp>
      <p:sp>
        <p:nvSpPr>
          <p:cNvPr id="15" name="Text 13"/>
          <p:cNvSpPr/>
          <p:nvPr/>
        </p:nvSpPr>
        <p:spPr>
          <a:xfrm>
            <a:off x="2788920" y="3566160"/>
            <a:ext cx="5943600" cy="658368"/>
          </a:xfrm>
          <a:prstGeom prst="rect">
            <a:avLst/>
          </a:prstGeom>
          <a:noFill/>
          <a:ln/>
        </p:spPr>
        <p:txBody>
          <a:bodyPr wrap="square" lIns="0" tIns="0" rIns="0" bIns="0" rtlCol="0" anchor="ctr"/>
          <a:lstStyle/>
          <a:p>
            <a:pPr indent="0" marL="0">
              <a:buNone/>
            </a:pPr>
            <a:r>
              <a:rPr lang="en-US" sz="1200" dirty="0">
                <a:solidFill>
                  <a:srgbClr val="1A1F36"/>
                </a:solidFill>
                <a:latin typeface="Calibri" pitchFamily="34" charset="0"/>
                <a:ea typeface="Calibri" pitchFamily="34" charset="-122"/>
                <a:cs typeface="Calibri" pitchFamily="34" charset="-120"/>
              </a:rPr>
              <a:t>Brands are the ownership advantage: it builds in big markets, buys beauty brands and sells slower businesses.</a:t>
            </a:r>
            <a:endParaRPr lang="en-US" sz="1200" dirty="0"/>
          </a:p>
        </p:txBody>
      </p:sp>
      <p:sp>
        <p:nvSpPr>
          <p:cNvPr id="16" name="Text 14"/>
          <p:cNvSpPr/>
          <p:nvPr/>
        </p:nvSpPr>
        <p:spPr>
          <a:xfrm>
            <a:off x="411480" y="4434840"/>
            <a:ext cx="8321040" cy="365760"/>
          </a:xfrm>
          <a:prstGeom prst="rect">
            <a:avLst/>
          </a:prstGeom>
          <a:noFill/>
          <a:ln/>
        </p:spPr>
        <p:txBody>
          <a:bodyPr wrap="square" lIns="0" tIns="0" rIns="0" bIns="0" rtlCol="0" anchor="ctr"/>
          <a:lstStyle/>
          <a:p>
            <a:pPr indent="0" marL="0">
              <a:buNone/>
            </a:pPr>
            <a:r>
              <a:rPr lang="en-US" sz="1200" b="1" i="1" dirty="0">
                <a:solidFill>
                  <a:srgbClr val="1A1F36"/>
                </a:solidFill>
                <a:latin typeface="Calibri" pitchFamily="34" charset="0"/>
                <a:ea typeface="Calibri" pitchFamily="34" charset="-122"/>
                <a:cs typeface="Calibri" pitchFamily="34" charset="-120"/>
              </a:rPr>
              <a:t>From 2020 to 2025, Unilever became smaller, but more focused on beauty, personal care and fast-growing markets.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F36"/>
        </a:solidFill>
      </p:bgPr>
    </p:bg>
    <p:spTree>
      <p:nvGrpSpPr>
        <p:cNvPr id="1" name=""/>
        <p:cNvGrpSpPr/>
        <p:nvPr/>
      </p:nvGrpSpPr>
      <p:grpSpPr>
        <a:xfrm>
          <a:off x="0" y="0"/>
          <a:ext cx="0" cy="0"/>
          <a:chOff x="0" y="0"/>
          <a:chExt cx="0" cy="0"/>
        </a:xfrm>
      </p:grpSpPr>
      <p:sp>
        <p:nvSpPr>
          <p:cNvPr id="2" name="Text 0"/>
          <p:cNvSpPr/>
          <p:nvPr/>
        </p:nvSpPr>
        <p:spPr>
          <a:xfrm>
            <a:off x="548640" y="1554480"/>
            <a:ext cx="804672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Thank you</a:t>
            </a:r>
            <a:endParaRPr lang="en-US" sz="4000" dirty="0"/>
          </a:p>
        </p:txBody>
      </p:sp>
      <p:sp>
        <p:nvSpPr>
          <p:cNvPr id="3" name="Text 1"/>
          <p:cNvSpPr/>
          <p:nvPr/>
        </p:nvSpPr>
        <p:spPr>
          <a:xfrm>
            <a:off x="548640" y="2377440"/>
            <a:ext cx="8046720" cy="548640"/>
          </a:xfrm>
          <a:prstGeom prst="rect">
            <a:avLst/>
          </a:prstGeom>
          <a:noFill/>
          <a:ln/>
        </p:spPr>
        <p:txBody>
          <a:bodyPr wrap="square" lIns="0" tIns="0" rIns="0" bIns="0" rtlCol="0" anchor="ctr"/>
          <a:lstStyle/>
          <a:p>
            <a:pPr algn="ctr" indent="0" marL="0">
              <a:buNone/>
            </a:pPr>
            <a:r>
              <a:rPr lang="en-US" sz="2200" dirty="0">
                <a:solidFill>
                  <a:srgbClr val="A5B4FC"/>
                </a:solidFill>
                <a:latin typeface="Calibri" pitchFamily="34" charset="0"/>
                <a:ea typeface="Calibri" pitchFamily="34" charset="-122"/>
                <a:cs typeface="Calibri" pitchFamily="34" charset="-120"/>
              </a:rPr>
              <a:t>Questions are welcome</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References</a:t>
            </a:r>
            <a:endParaRPr lang="en-US" sz="2500" dirty="0"/>
          </a:p>
        </p:txBody>
      </p:sp>
      <p:sp>
        <p:nvSpPr>
          <p:cNvPr id="3" name="Text 1"/>
          <p:cNvSpPr/>
          <p:nvPr/>
        </p:nvSpPr>
        <p:spPr>
          <a:xfrm>
            <a:off x="411480" y="914400"/>
            <a:ext cx="4069080" cy="4069080"/>
          </a:xfrm>
          <a:prstGeom prst="rect">
            <a:avLst/>
          </a:prstGeom>
          <a:noFill/>
          <a:ln/>
        </p:spPr>
        <p:txBody>
          <a:bodyPr wrap="square" lIns="0" tIns="0" rIns="0" bIns="0" rtlCol="0" anchor="t"/>
          <a:lstStyle/>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ADB (2021) 'RCEP Agreement to Enter into Force on 1 January 2022', SEADS. Available at: https://seads.adb.org/news/rcep-agreement-enter-force-1-january-2022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AfCFTA Secretariat (n.d.) About the AfCFTA. Available at: https://au-afcfta.org/about/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China Daily (2020) 'Unilever to upgrade Jiangsu plant', China Daily Hong Kong, 26 June. Available at: https://www.chinadailyhk.com/hk/article/134983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Dunning, J.H. (1988) 'The eclectic paradigm of international production: a restatement and some possible extensions', Journal of International Business Studies, 19(1), pp. 1–31.</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Entrackr (2025) 'HUL acquires 90.5% stake in Minimalist at Rs 2,955 Cr valuation'. Available at: https://entrackr.com/news/hul-acquires-905-stake-in-minimalist-at-rs-2955-cr-valuation-8644087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Levitt, T. (1983) 'The globalization of markets', Harvard Business Review, 61(3), pp. 92–102.</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MND Staff (2025) 'Household and beauty products giant Unilever to invest US $800M in Nuevo León', Mexico News Daily, 9 April. Available at: https://mexiconewsdaily.com/business/unilever-invest-in-nuevo-leon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UNCTAD (2021) World Investment Report 2021. Geneva: United Nations. Available at: https://unctad.org/system/files/official-document/wir2021_en.pdf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UNCTAD (2026) World Investment Report 2026, Chapter 1. Geneva: United Nations. Available at: https://unctad.org/system/files/official-document/wir2026_ch01_en.pdf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Unilever PLC (2021) Annual Report on Form 20-F 2020. Available at: https://www.sec.gov/Archives/edgar/data/217410/000119312521075770/d14846d20f.htm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Unilever PLC (2022) Annual Report on Form 20-F 2021. Available at: https://www.sec.gov/Archives/edgar/data/217410/000021741022000009/ul-20211231.htm (Accessed: 31 October 2026).</a:t>
            </a:r>
            <a:endParaRPr lang="en-US" sz="750" dirty="0"/>
          </a:p>
        </p:txBody>
      </p:sp>
      <p:sp>
        <p:nvSpPr>
          <p:cNvPr id="4" name="Text 2"/>
          <p:cNvSpPr/>
          <p:nvPr/>
        </p:nvSpPr>
        <p:spPr>
          <a:xfrm>
            <a:off x="4663440" y="914400"/>
            <a:ext cx="4069080" cy="4069080"/>
          </a:xfrm>
          <a:prstGeom prst="rect">
            <a:avLst/>
          </a:prstGeom>
          <a:noFill/>
          <a:ln/>
        </p:spPr>
        <p:txBody>
          <a:bodyPr wrap="square" lIns="0" tIns="0" rIns="0" bIns="0" rtlCol="0" anchor="t"/>
          <a:lstStyle/>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Unilever PLC (2023a) Annual Report on Form 20-F 2022. Available at: https://www.sec.gov/Archives/edgar/data/217410/000021741023000016/ul-20221231.htm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Unilever PLC (2023b) Full Year 2022 Results. Available at: https://data.fca.org.uk/artefacts/NSM/RNS/4669599.html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Unilever PLC (2024) Annual Report on Form 20-F 2023. Available at: https://www.sec.gov/Archives/edgar/data/217410/000021741024000017/ul-20231231.htm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Unilever PLC (2025a) Annual Report on Form 20-F 2024. Available at: https://www.sec.gov/Archives/edgar/data/217410/000021741025000015/ul-20241231.htm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Unilever PLC (2025b) Full Year 2024 Results. Available at: https://data.fca.org.uk/artefacts/NSM/RNS/5536689.html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Unilever PLC (2026a) Annual Report on Form 20-F 2025. Available at: https://www.sec.gov/Archives/edgar/data/217410/000021741026000007/ul-20251231.htm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Unilever PLC (2026b) Full Year 2025 Results. Available at: https://data.fca.org.uk/artefacts/NSM/RNS/b82e96e8-7680-4ddf-8c41-f0bb2a051dd5.html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University of Greenwich (2026a–d) BUSI 1763 Dynamics of Global Business, Lectures 1–4 [Lecture slides]. Available at: Moodle.</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USTR (n.d.) United States-Mexico-Canada Agreement. Available at: https://ustr.gov/trade-agreements/free-trade-agreements/united-states-mexico-canada-agreement (Accessed: 31 October 2026).</a:t>
            </a:r>
            <a:endParaRPr lang="en-US" sz="750" dirty="0"/>
          </a:p>
          <a:p>
            <a:pPr indent="0" marL="0">
              <a:spcAft>
                <a:spcPts val="300"/>
              </a:spcAft>
              <a:buNone/>
            </a:pPr>
            <a:r>
              <a:rPr lang="en-US" sz="750" dirty="0">
                <a:solidFill>
                  <a:srgbClr val="1A1F36"/>
                </a:solidFill>
                <a:latin typeface="Calibri" pitchFamily="34" charset="0"/>
                <a:ea typeface="Calibri" pitchFamily="34" charset="-122"/>
                <a:cs typeface="Calibri" pitchFamily="34" charset="-120"/>
              </a:rPr>
              <a:t>Xinhua (2022) 'Unilever unveils ice cream "lighthouse factory" in east China', 2 April. Available at: http://eng.yidaiyilu.gov.cn/p/232767.html (Accessed: 31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2026-10-31T02:43:18Z</dcterms:created>
  <dcterms:modified xsi:type="dcterms:W3CDTF">2026-10-31T02:43:18Z</dcterms:modified>
</cp:coreProperties>
</file>