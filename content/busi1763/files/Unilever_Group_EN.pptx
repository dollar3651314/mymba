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F36"/>
                </a:solidFill>
                <a:latin typeface="Arial"/>
              </a:defRPr>
            </a:pPr>
            <a:r>
              <a:rPr sz="1200" b="0" i="0" u="none" strike="noStrike">
                <a:solidFill>
                  <a:srgbClr val="1A1F36"/>
                </a:solidFill>
                <a:latin typeface="Arial"/>
              </a:rPr>
              <a:t>Turnover, € billion</a:t>
            </a:r>
          </a:p>
        </c:rich>
      </c:tx>
      <c:layout/>
      <c:overlay val="0"/>
    </c:title>
    <c:autoTitleDeleted val="0"/>
    <c:plotArea>
      <c:layout/>
      <c:barChart>
        <c:barDir val="col"/>
        <c:grouping val="clustered"/>
        <c:varyColors val="0"/>
        <c:ser>
          <c:idx val="0"/>
          <c:order val="0"/>
          <c:tx>
            <c:strRef>
              <c:f>Sheet1!$B$1</c:f>
              <c:strCache>
                <c:ptCount val="1"/>
                <c:pt idx="0">
                  <c:v>Turnover (€bn)</c:v>
                </c:pt>
              </c:strCache>
            </c:strRef>
          </c:tx>
          <c:spPr>
            <a:solidFill>
              <a:srgbClr val="1F36C7"/>
            </a:solidFill>
            <a:effectLst/>
          </c:spPr>
          <c:invertIfNegative val="0"/>
          <c:dLbls>
            <c:numFmt formatCode="0.0" sourceLinked="0"/>
            <c:txPr>
              <a:bodyPr/>
              <a:lstStyle/>
              <a:p>
                <a:pPr>
                  <a:defRPr b="0" i="0" strike="noStrike" sz="1000" u="none">
                    <a:solidFill>
                      <a:srgbClr val="1A1F36"/>
                    </a:solidFill>
                    <a:latin typeface="Arial"/>
                  </a:defRPr>
                </a:pPr>
              </a:p>
            </c:txPr>
            <c:showLegendKey val="0"/>
            <c:showVal val="1"/>
            <c:showCatName val="0"/>
            <c:showSerName val="0"/>
            <c:showPercent val="0"/>
            <c:showBubbleSize val="0"/>
            <c:showLeaderLines val="0"/>
          </c:dLbls>
          <c:cat>
            <c:multiLvlStrRef>
              <c:f>Sheet1!$A$2:$A$7</c:f>
              <c:multiLvlStrCache>
                <c:ptCount val="6"/>
                <c:lvl>
                  <c:pt idx="0">
                    <c:v>2020</c:v>
                  </c:pt>
                  <c:pt idx="1">
                    <c:v>2021</c:v>
                  </c:pt>
                  <c:pt idx="2">
                    <c:v>2022</c:v>
                  </c:pt>
                  <c:pt idx="3">
                    <c:v>2023</c:v>
                  </c:pt>
                  <c:pt idx="4">
                    <c:v>2024</c:v>
                  </c:pt>
                  <c:pt idx="5">
                    <c:v>2025*</c:v>
                  </c:pt>
                </c:lvl>
              </c:multiLvlStrCache>
            </c:multiLvlStrRef>
          </c:cat>
          <c:val>
            <c:numRef>
              <c:f>Sheet1!$B$2:$B$7</c:f>
              <c:numCache>
                <c:formatCode>General</c:formatCode>
                <c:ptCount val="6"/>
                <c:pt idx="0">
                  <c:v>50.7</c:v>
                </c:pt>
                <c:pt idx="1">
                  <c:v>52.4</c:v>
                </c:pt>
                <c:pt idx="2">
                  <c:v>60.1</c:v>
                </c:pt>
                <c:pt idx="3">
                  <c:v>59.6</c:v>
                </c:pt>
                <c:pt idx="4">
                  <c:v>60.8</c:v>
                </c:pt>
                <c:pt idx="5">
                  <c:v>50.5</c:v>
                </c:pt>
              </c:numCache>
            </c:numRef>
          </c:val>
        </c:ser>
        <c:dLbls>
          <c:numFmt formatCode="0.0" sourceLinked="0"/>
          <c:txPr>
            <a:bodyPr/>
            <a:lstStyle/>
            <a:p>
              <a:pPr>
                <a:defRPr b="0" i="0" strike="noStrike" sz="1000" u="none">
                  <a:solidFill>
                    <a:srgbClr val="1A1F3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F36"/>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F36"/>
                </a:solidFill>
                <a:latin typeface="Arial"/>
              </a:defRPr>
            </a:pPr>
            <a:r>
              <a:rPr sz="1200" b="0" i="0" u="none" strike="noStrike">
                <a:solidFill>
                  <a:srgbClr val="1A1F36"/>
                </a:solidFill>
                <a:latin typeface="Arial"/>
              </a:rPr>
              <a:t>Unilever turnover in the US, € billion</a:t>
            </a:r>
          </a:p>
        </c:rich>
      </c:tx>
      <c:layout/>
      <c:overlay val="0"/>
    </c:title>
    <c:autoTitleDeleted val="0"/>
    <c:plotArea>
      <c:layout/>
      <c:barChart>
        <c:barDir val="col"/>
        <c:grouping val="clustered"/>
        <c:varyColors val="0"/>
        <c:ser>
          <c:idx val="0"/>
          <c:order val="0"/>
          <c:tx>
            <c:strRef>
              <c:f>Sheet1!$B$1</c:f>
              <c:strCache>
                <c:ptCount val="1"/>
                <c:pt idx="0">
                  <c:v>US turnover (€bn)</c:v>
                </c:pt>
              </c:strCache>
            </c:strRef>
          </c:tx>
          <c:spPr>
            <a:solidFill>
              <a:srgbClr val="7C3AED"/>
            </a:solidFill>
            <a:effectLst/>
          </c:spPr>
          <c:invertIfNegative val="0"/>
          <c:dLbls>
            <c:numFmt formatCode="0.0" sourceLinked="0"/>
            <c:txPr>
              <a:bodyPr/>
              <a:lstStyle/>
              <a:p>
                <a:pPr>
                  <a:defRPr b="0" i="0" strike="noStrike" sz="1000" u="none">
                    <a:solidFill>
                      <a:srgbClr val="1A1F36"/>
                    </a:solidFill>
                    <a:latin typeface="Arial"/>
                  </a:defRPr>
                </a:pPr>
              </a:p>
            </c:txPr>
            <c:showLegendKey val="0"/>
            <c:showVal val="1"/>
            <c:showCatName val="0"/>
            <c:showSerName val="0"/>
            <c:showPercent val="0"/>
            <c:showBubbleSize val="0"/>
            <c:showLeaderLines val="0"/>
          </c:dLbls>
          <c:cat>
            <c:multiLvlStrRef>
              <c:f>Sheet1!$A$2:$A$7</c:f>
              <c:multiLvlStrCache>
                <c:ptCount val="6"/>
                <c:lvl>
                  <c:pt idx="0">
                    <c:v>2020</c:v>
                  </c:pt>
                  <c:pt idx="1">
                    <c:v>2021</c:v>
                  </c:pt>
                  <c:pt idx="2">
                    <c:v>2022</c:v>
                  </c:pt>
                  <c:pt idx="3">
                    <c:v>2023</c:v>
                  </c:pt>
                  <c:pt idx="4">
                    <c:v>2024</c:v>
                  </c:pt>
                  <c:pt idx="5">
                    <c:v>2025*</c:v>
                  </c:pt>
                </c:lvl>
              </c:multiLvlStrCache>
            </c:multiLvlStrRef>
          </c:cat>
          <c:val>
            <c:numRef>
              <c:f>Sheet1!$B$2:$B$7</c:f>
              <c:numCache>
                <c:formatCode>General</c:formatCode>
                <c:ptCount val="6"/>
                <c:pt idx="0">
                  <c:v>9.4</c:v>
                </c:pt>
                <c:pt idx="1">
                  <c:v>9.9</c:v>
                </c:pt>
                <c:pt idx="2">
                  <c:v>12.1</c:v>
                </c:pt>
                <c:pt idx="3">
                  <c:v>12.3</c:v>
                </c:pt>
                <c:pt idx="4">
                  <c:v>12.5</c:v>
                </c:pt>
                <c:pt idx="5">
                  <c:v>10.5</c:v>
                </c:pt>
              </c:numCache>
            </c:numRef>
          </c:val>
        </c:ser>
        <c:dLbls>
          <c:numFmt formatCode="0.0" sourceLinked="0"/>
          <c:txPr>
            <a:bodyPr/>
            <a:lstStyle/>
            <a:p>
              <a:pPr>
                <a:defRPr b="0" i="0" strike="noStrike" sz="1000" u="none">
                  <a:solidFill>
                    <a:srgbClr val="1A1F3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F36"/>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Our company is Unilever, and we look at the years 2020 to 2025. Our mind map has four branches: globalisation, regional integration, MNEs from advanced economies, and FDI. I will start with globalisation.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shows the mind map: four branches, one per speaker.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slide. Speaker 1 can mention: turnover 50.5 billion euros in 2025, 59 percent from emerging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Levitt says that a global company treats the world as one market and sells the same things in the same way. There are five drivers of globalisation: political, technology, market, cost and competition. Globalisation has two sides: the globalisation of markets, and the globalisation of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markets. Unilever sells in about 190 countries, and 3.4 billion people use its products every day. In 2025, its turnover was 50.5 billion euros, and 59 percent came from emerging markets. Asia Pacific and Africa is now its biggest region, with 44 percent. Europe, its home region, is only 19 percent. Second, production. Unilever had more than 280 factories in 2023, so it gets economies of scale. This is the cost driver. Its 30 Power Brands, such as Dove, make 78 percent of turnover. So it sells the same brands across the world, as Levitt said. But these years also show the risks. In March 2020, COVID-19 disrupted supply chains, and the extra costs cut the margin by about 0.9 percentage points. In 2022, inflation was high all year. Unilever raised prices by 11.3 percent, and volumes fell by 2.1 percent. In March 2022, after the war in Ukraine started, Unilever stopped trade and capital flows with Russia, and in October 2024 it sold its Russian business. In its 2025 report, Unilever says rising protectionism and tariffs are a risk to its supply chain. My conclusion: Unilever is still very global, but globalisation is less smooth now, and Unilever must manage more risk. One way it does this is through regions. My teammate will explain this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My theory is regional integration, and my country is Mexico. Countries can integrate at five levels: free trade area, customs union, common market, economic union and political union. Each level goes deeper. Integration can create trade, because tariffs between members fall. But it can also divert trade, from a cheaper country outside to a member country. Mexico is in USMCA, the trade agreement with the US and Canada. It replaced NAFTA in July 2020. USMCA is a free trade area, the first level. Goods that meet its rules of origin can cross the borders with no tariffs. In 2023, Mexico became the United States' largest trading partner, with almost 800 billion dollars of goods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Unilever in Mexico. Mexico is one of Unilever's ten largest markets, and it has more than 7,000 employees there. In February 2023, Unilever announced a new beauty and personal care factory in Nuevo León, near the US border, for 400 million dollars. In April 2025, it doubled the investment to 800 million dollars. The plant will mainly export to the US and Canada, and it will create 850 direct jobs. In May 2025, Unilever announced an even bigger plan: 30 billion pesos, about 1.5 billion dollars, for Mexico from 2025 to 2028. So what are the benefits for Unilever? First, market access. Products that meet USMCA rules can enter the US with no tariffs, and the US is Unilever's biggest market, with 10.5 billion euros of turnover in 2025. Second, protection from tariffs. In March 2025, the US put a 25 percent tariff on Mexico, but goods that qualify under USMCA were exempted. One month later, Unilever doubled its investment. Third, lower costs and speed. Making products next to the US is cheaper and faster than shipping them from far away. This is trade creation inside North America. But there are limits. Only about half of US imports from Mexico qualified for USMCA in 2024, and US trade policy can change quickly. Unilever has not said publicly that USMCA is the reason for its investment, so this is our own analysis. My conclusion: through USMCA, Mexico gives Unilever a low-cost base with tariff-free access to its biggest market. But the benefit depends on the rules of origin and on US politics. Next, my teammate will explain Unilever as an MNE from an advanced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My theory is MNEs from advanced economies. An MNE and its host country both have goals. The MNE wants high returns, more sales, lower costs and to share risk. The host country wants jobs, growth, technology, control of its economy and a clean environment. Sometimes these goals clash. For example, a host government may change its rules to take more value from the MNE. This is called creeping expropriation.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Unilever is a British MNE. Its advantages come from an advanced economy: strong brands, money and research. Its 30 Power Brands make 78 percent of turnover, and it spends between 800 million and nearly 1 billion euros a year on research and development. Host countries also gain. Look at India. Unilever owns 61.9 percent of Hindustan Unilever, which is listed in India. So Indian investors share the profits, and the company employs local people. In April 2025, Hindustan Unilever completed buying 90.5 percent of Minimalist, an Indian skincare brand, for about 2,670 crore rupees. This moves it into faster-growing beauty in India. But there are also conflicts. First, jobs. In March 2024, Unilever announced it would cut about 7,500 office jobs to save about 800 million euros over three years. By the end of 2024, 4,300 jobs had gone. This helps profits, but it goes against the host country's goal of employment. Second, politics. Unilever stayed in Russia from March 2022 until October 2024, when it finally sold the business. This shows how the MNE's goal of protecting its assets can clash with political goals. My conclusion: Unilever's advantages come from being an advanced-economy MNE, and it shares benefits with host countries like India. But it must balance profit with jobs and politics. Next, our last speaker will explain Unilever's FDI in the United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My theory is FDI, foreign direct investment, and my country is the United States. FDI means a company owns and controls a business in another country. It can build something new, which is greenfield, or buy a company, which is M&amp;A. Dunning's OLI model explains why companies do FDI: ownership advantages, location advantages and internalisation advantages. There are four motives: market-seeking, resource-seeking, efficiency-seeking and strategic asset-seeking.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United States? The US is the world's largest FDI host. In 2024, it received 279 billion dollars. For Unilever, the US is its biggest market. Its US turnover grew from 9.4 billion euros in 2020 to 12.5 billion in 2024, about one fifth of the group. Using OLI: O, Unilever has global brands, money and distribution. L, the US is the biggest market, with many premium and online shoppers. I, Unilever buys and owns these brands, so it controls them and can take them to other countries. For example, it launched Nutrafol in Canada in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Unilever's FDI in the US was mainly M&amp;A. This is strategic asset-seeking: it buys brands, customers and online skills. In August 2021, it bought Paula's Choice, a skincare brand that sells online, for 1.8 billion euros. In 2022, Prestige Beauty grew by double digits. In July 2022, it raised its stake in Nutrafol to 80 percent. In 2025, Nutrafol led double-digit growth in Wellbeing. In February 2024, it bought K18, which grew by double digits that year. In September 2025, it bought Dr. Squatch for 1.2 billion euros. What are the benefits for Unilever? First, faster growth: by 2024, 70 percent of its US Beauty and Wellbeing sales came from these premium brands. Second, a stronger position: its long-term assets in the US grew from 12.9 billion euros in 2020 to 19.7 billion in 2024. Third, results: in 2025, North America grew 5.3 percent, and Unilever recovered much of its lost market share in the US. But there is risk: in 2024, the US premium beauty market slowed, and Paula's Choice slowed too. My conclusion: Unilever's FDI in the US follows the OLI model. By buying American premium brands, it gained growth, online skills and a stronger position in its biggest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Unilever is global, it uses regional trade deals like USMCA, it uses its advantages as a British MNE, and it grows through FDI in its biggest market. Thank you for listening.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36"/>
        </a:solidFill>
      </p:bgPr>
    </p:bg>
    <p:spTree>
      <p:nvGrpSpPr>
        <p:cNvPr id="1" name=""/>
        <p:cNvGrpSpPr/>
        <p:nvPr/>
      </p:nvGrpSpPr>
      <p:grpSpPr>
        <a:xfrm>
          <a:off x="0" y="0"/>
          <a:ext cx="0" cy="0"/>
          <a:chOff x="0" y="0"/>
          <a:chExt cx="0" cy="0"/>
        </a:xfrm>
      </p:grpSpPr>
      <p:sp>
        <p:nvSpPr>
          <p:cNvPr id="2" name="Text 0"/>
          <p:cNvSpPr/>
          <p:nvPr/>
        </p:nvSpPr>
        <p:spPr>
          <a:xfrm>
            <a:off x="548640" y="1097280"/>
            <a:ext cx="804672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Unilever in the Global Economy</a:t>
            </a:r>
            <a:endParaRPr lang="en-US" sz="3400" dirty="0"/>
          </a:p>
        </p:txBody>
      </p:sp>
      <p:sp>
        <p:nvSpPr>
          <p:cNvPr id="3" name="Text 1"/>
          <p:cNvSpPr/>
          <p:nvPr/>
        </p:nvSpPr>
        <p:spPr>
          <a:xfrm>
            <a:off x="548640" y="1920240"/>
            <a:ext cx="8046720" cy="548640"/>
          </a:xfrm>
          <a:prstGeom prst="rect">
            <a:avLst/>
          </a:prstGeom>
          <a:noFill/>
          <a:ln/>
        </p:spPr>
        <p:txBody>
          <a:bodyPr wrap="square" lIns="0" tIns="0" rIns="0" bIns="0" rtlCol="0" anchor="ctr"/>
          <a:lstStyle/>
          <a:p>
            <a:pPr indent="0" marL="0">
              <a:buNone/>
            </a:pPr>
            <a:r>
              <a:rPr lang="en-US" sz="2600" dirty="0">
                <a:solidFill>
                  <a:srgbClr val="A5B4FC"/>
                </a:solidFill>
                <a:latin typeface="Calibri" pitchFamily="34" charset="0"/>
                <a:ea typeface="Calibri" pitchFamily="34" charset="-122"/>
                <a:cs typeface="Calibri" pitchFamily="34" charset="-120"/>
              </a:rPr>
              <a:t>2020–2025</a:t>
            </a:r>
            <a:endParaRPr lang="en-US" sz="2600" dirty="0"/>
          </a:p>
        </p:txBody>
      </p:sp>
      <p:sp>
        <p:nvSpPr>
          <p:cNvPr id="4" name="Shape 2"/>
          <p:cNvSpPr/>
          <p:nvPr/>
        </p:nvSpPr>
        <p:spPr>
          <a:xfrm>
            <a:off x="548640" y="2926080"/>
            <a:ext cx="1874520" cy="822960"/>
          </a:xfrm>
          <a:prstGeom prst="roundRect">
            <a:avLst>
              <a:gd name="adj" fmla="val 8889"/>
            </a:avLst>
          </a:prstGeom>
          <a:solidFill>
            <a:srgbClr val="1F36C7"/>
          </a:solidFill>
          <a:ln/>
        </p:spPr>
      </p:sp>
      <p:sp>
        <p:nvSpPr>
          <p:cNvPr id="5" name="Text 3"/>
          <p:cNvSpPr/>
          <p:nvPr/>
        </p:nvSpPr>
        <p:spPr>
          <a:xfrm>
            <a:off x="640080" y="2926080"/>
            <a:ext cx="1691640" cy="8229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Speaker 1</a:t>
            </a:r>
            <a:endParaRPr lang="en-US" sz="1000" dirty="0"/>
          </a:p>
          <a:p>
            <a:pPr indent="0" marL="0">
              <a:buNone/>
            </a:pPr>
            <a:r>
              <a:rPr lang="en-US" sz="1300" b="1" dirty="0">
                <a:solidFill>
                  <a:srgbClr val="FFFFFF"/>
                </a:solidFill>
                <a:latin typeface="Calibri" pitchFamily="34" charset="0"/>
                <a:ea typeface="Calibri" pitchFamily="34" charset="-122"/>
                <a:cs typeface="Calibri" pitchFamily="34" charset="-120"/>
              </a:rPr>
              <a:t>Globalisation</a:t>
            </a:r>
            <a:endParaRPr lang="en-US" sz="1000" dirty="0"/>
          </a:p>
        </p:txBody>
      </p:sp>
      <p:sp>
        <p:nvSpPr>
          <p:cNvPr id="6" name="Shape 4"/>
          <p:cNvSpPr/>
          <p:nvPr/>
        </p:nvSpPr>
        <p:spPr>
          <a:xfrm>
            <a:off x="2560320" y="2926080"/>
            <a:ext cx="1874520" cy="822960"/>
          </a:xfrm>
          <a:prstGeom prst="roundRect">
            <a:avLst>
              <a:gd name="adj" fmla="val 8889"/>
            </a:avLst>
          </a:prstGeom>
          <a:solidFill>
            <a:srgbClr val="0F8A6B"/>
          </a:solidFill>
          <a:ln/>
        </p:spPr>
      </p:sp>
      <p:sp>
        <p:nvSpPr>
          <p:cNvPr id="7" name="Text 5"/>
          <p:cNvSpPr/>
          <p:nvPr/>
        </p:nvSpPr>
        <p:spPr>
          <a:xfrm>
            <a:off x="2651760" y="2926080"/>
            <a:ext cx="1691640" cy="8229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Speaker 2</a:t>
            </a:r>
            <a:endParaRPr lang="en-US" sz="1000" dirty="0"/>
          </a:p>
          <a:p>
            <a:pPr indent="0" marL="0">
              <a:buNone/>
            </a:pPr>
            <a:r>
              <a:rPr lang="en-US" sz="1300" b="1" dirty="0">
                <a:solidFill>
                  <a:srgbClr val="FFFFFF"/>
                </a:solidFill>
                <a:latin typeface="Calibri" pitchFamily="34" charset="0"/>
                <a:ea typeface="Calibri" pitchFamily="34" charset="-122"/>
                <a:cs typeface="Calibri" pitchFamily="34" charset="-120"/>
              </a:rPr>
              <a:t>Regional Integration</a:t>
            </a:r>
            <a:endParaRPr lang="en-US" sz="1000" dirty="0"/>
          </a:p>
        </p:txBody>
      </p:sp>
      <p:sp>
        <p:nvSpPr>
          <p:cNvPr id="8" name="Shape 6"/>
          <p:cNvSpPr/>
          <p:nvPr/>
        </p:nvSpPr>
        <p:spPr>
          <a:xfrm>
            <a:off x="4572000" y="2926080"/>
            <a:ext cx="1874520" cy="822960"/>
          </a:xfrm>
          <a:prstGeom prst="roundRect">
            <a:avLst>
              <a:gd name="adj" fmla="val 8889"/>
            </a:avLst>
          </a:prstGeom>
          <a:solidFill>
            <a:srgbClr val="D9822B"/>
          </a:solidFill>
          <a:ln/>
        </p:spPr>
      </p:sp>
      <p:sp>
        <p:nvSpPr>
          <p:cNvPr id="9" name="Text 7"/>
          <p:cNvSpPr/>
          <p:nvPr/>
        </p:nvSpPr>
        <p:spPr>
          <a:xfrm>
            <a:off x="4663440" y="2926080"/>
            <a:ext cx="1691640" cy="8229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Speaker 3</a:t>
            </a:r>
            <a:endParaRPr lang="en-US" sz="1000" dirty="0"/>
          </a:p>
          <a:p>
            <a:pPr indent="0" marL="0">
              <a:buNone/>
            </a:pPr>
            <a:r>
              <a:rPr lang="en-US" sz="1300" b="1" dirty="0">
                <a:solidFill>
                  <a:srgbClr val="FFFFFF"/>
                </a:solidFill>
                <a:latin typeface="Calibri" pitchFamily="34" charset="0"/>
                <a:ea typeface="Calibri" pitchFamily="34" charset="-122"/>
                <a:cs typeface="Calibri" pitchFamily="34" charset="-120"/>
              </a:rPr>
              <a:t>MNEs from Advanced Economies</a:t>
            </a:r>
            <a:endParaRPr lang="en-US" sz="1000" dirty="0"/>
          </a:p>
        </p:txBody>
      </p:sp>
      <p:sp>
        <p:nvSpPr>
          <p:cNvPr id="10" name="Shape 8"/>
          <p:cNvSpPr/>
          <p:nvPr/>
        </p:nvSpPr>
        <p:spPr>
          <a:xfrm>
            <a:off x="6583680" y="2926080"/>
            <a:ext cx="1874520" cy="822960"/>
          </a:xfrm>
          <a:prstGeom prst="roundRect">
            <a:avLst>
              <a:gd name="adj" fmla="val 8889"/>
            </a:avLst>
          </a:prstGeom>
          <a:solidFill>
            <a:srgbClr val="7C3AED"/>
          </a:solidFill>
          <a:ln/>
        </p:spPr>
      </p:sp>
      <p:sp>
        <p:nvSpPr>
          <p:cNvPr id="11" name="Text 9"/>
          <p:cNvSpPr/>
          <p:nvPr/>
        </p:nvSpPr>
        <p:spPr>
          <a:xfrm>
            <a:off x="6675120" y="2926080"/>
            <a:ext cx="1691640" cy="8229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Speaker 4</a:t>
            </a:r>
            <a:endParaRPr lang="en-US" sz="1000" dirty="0"/>
          </a:p>
          <a:p>
            <a:pPr indent="0" marL="0">
              <a:buNone/>
            </a:pPr>
            <a:r>
              <a:rPr lang="en-US" sz="1300" b="1" dirty="0">
                <a:solidFill>
                  <a:srgbClr val="FFFFFF"/>
                </a:solidFill>
                <a:latin typeface="Calibri" pitchFamily="34" charset="0"/>
                <a:ea typeface="Calibri" pitchFamily="34" charset="-122"/>
                <a:cs typeface="Calibri" pitchFamily="34" charset="-120"/>
              </a:rPr>
              <a:t>FDI</a:t>
            </a:r>
            <a:endParaRPr lang="en-US" sz="1000" dirty="0"/>
          </a:p>
        </p:txBody>
      </p:sp>
      <p:sp>
        <p:nvSpPr>
          <p:cNvPr id="12" name="Text 10"/>
          <p:cNvSpPr/>
          <p:nvPr/>
        </p:nvSpPr>
        <p:spPr>
          <a:xfrm>
            <a:off x="548640" y="4206240"/>
            <a:ext cx="8046720" cy="320040"/>
          </a:xfrm>
          <a:prstGeom prst="rect">
            <a:avLst/>
          </a:prstGeom>
          <a:noFill/>
          <a:ln/>
        </p:spPr>
        <p:txBody>
          <a:bodyPr wrap="square" lIns="0" tIns="0" rIns="0" bIns="0" rtlCol="0" anchor="ctr"/>
          <a:lstStyle/>
          <a:p>
            <a:pPr indent="0" marL="0">
              <a:buNone/>
            </a:pPr>
            <a:r>
              <a:rPr lang="en-US" sz="1200" dirty="0">
                <a:solidFill>
                  <a:srgbClr val="D1D5DB"/>
                </a:solidFill>
                <a:latin typeface="Calibri" pitchFamily="34" charset="0"/>
                <a:ea typeface="Calibri" pitchFamily="34" charset="-122"/>
                <a:cs typeface="Calibri" pitchFamily="34" charset="-120"/>
              </a:rPr>
              <a:t>BUSI 1763 Dynamics of Global Business · Group presentation · 14 November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11480" y="292608"/>
            <a:ext cx="8321040" cy="548640"/>
          </a:xfrm>
          <a:prstGeom prst="rect">
            <a:avLst/>
          </a:prstGeom>
          <a:noFill/>
          <a:ln/>
        </p:spPr>
        <p:txBody>
          <a:bodyPr wrap="square" lIns="0" tIns="0" rIns="0" bIns="0" rtlCol="0" anchor="ctr"/>
          <a:lstStyle/>
          <a:p>
            <a:pPr indent="0" marL="0">
              <a:buNone/>
            </a:pPr>
            <a:r>
              <a:rPr lang="en-US" sz="2500" b="1" dirty="0">
                <a:solidFill>
                  <a:srgbClr val="1A1F36"/>
                </a:solidFill>
                <a:latin typeface="Calibri" pitchFamily="34" charset="0"/>
                <a:ea typeface="Calibri" pitchFamily="34" charset="-122"/>
                <a:cs typeface="Calibri" pitchFamily="34" charset="-120"/>
              </a:rPr>
              <a:t>Our mind map</a:t>
            </a:r>
            <a:endParaRPr lang="en-US" sz="2500" dirty="0"/>
          </a:p>
        </p:txBody>
      </p:sp>
      <p:sp>
        <p:nvSpPr>
          <p:cNvPr id="3" name="Text 1"/>
          <p:cNvSpPr/>
          <p:nvPr/>
        </p:nvSpPr>
        <p:spPr>
          <a:xfrm>
            <a:off x="411480" y="822960"/>
            <a:ext cx="8321040" cy="292608"/>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Four branches, one company, one period: 2020–2025</a:t>
            </a:r>
            <a:endParaRPr lang="en-US" sz="1300" dirty="0"/>
          </a:p>
        </p:txBody>
      </p:sp>
      <p:pic>
        <p:nvPicPr>
          <p:cNvPr id="4" name="Image 0" descr="mindmap.png">    </p:cNvPr>
          <p:cNvPicPr>
            <a:picLocks noChangeAspect="1"/>
          </p:cNvPicPr>
          <p:nvPr/>
        </p:nvPicPr>
        <p:blipFill>
          <a:blip r:embed="rId1"/>
          <a:stretch>
            <a:fillRect/>
          </a:stretch>
        </p:blipFill>
        <p:spPr>
          <a:xfrm>
            <a:off x="1853215" y="1188720"/>
            <a:ext cx="5437570" cy="3840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11480" y="292608"/>
            <a:ext cx="8321040" cy="548640"/>
          </a:xfrm>
          <a:prstGeom prst="rect">
            <a:avLst/>
          </a:prstGeom>
          <a:noFill/>
          <a:ln/>
        </p:spPr>
        <p:txBody>
          <a:bodyPr wrap="square" lIns="0" tIns="0" rIns="0" bIns="0" rtlCol="0" anchor="ctr"/>
          <a:lstStyle/>
          <a:p>
            <a:pPr indent="0" marL="0">
              <a:buNone/>
            </a:pPr>
            <a:r>
              <a:rPr lang="en-US" sz="2500" b="1" dirty="0">
                <a:solidFill>
                  <a:srgbClr val="1A1F36"/>
                </a:solidFill>
                <a:latin typeface="Calibri" pitchFamily="34" charset="0"/>
                <a:ea typeface="Calibri" pitchFamily="34" charset="-122"/>
                <a:cs typeface="Calibri" pitchFamily="34" charset="-120"/>
              </a:rPr>
              <a:t>Unilever at a glance, 2020–2025</a:t>
            </a:r>
            <a:endParaRPr lang="en-US" sz="2500" dirty="0"/>
          </a:p>
        </p:txBody>
      </p:sp>
      <p:sp>
        <p:nvSpPr>
          <p:cNvPr id="3" name="Text 1"/>
          <p:cNvSpPr/>
          <p:nvPr/>
        </p:nvSpPr>
        <p:spPr>
          <a:xfrm>
            <a:off x="411480" y="822960"/>
            <a:ext cx="8321040" cy="292608"/>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UK-based consumer goods MNE: beauty, personal care, home care, food</a:t>
            </a:r>
            <a:endParaRPr lang="en-US" sz="1300" dirty="0"/>
          </a:p>
        </p:txBody>
      </p:sp>
      <p:graphicFrame>
        <p:nvGraphicFramePr>
          <p:cNvPr id="4" name="Chart 0" descr=""/>
          <p:cNvGraphicFramePr/>
          <p:nvPr/>
        </p:nvGraphicFramePr>
        <p:xfrm>
          <a:off x="411480" y="1188720"/>
          <a:ext cx="4754880" cy="3429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411480" y="4526280"/>
            <a:ext cx="4754880" cy="228600"/>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*2025 excludes Ice Cream (demerged December 2025); 2024 on the same basis: €52.5bn.</a:t>
            </a:r>
            <a:endParaRPr lang="en-US" sz="850" dirty="0"/>
          </a:p>
        </p:txBody>
      </p:sp>
      <p:sp>
        <p:nvSpPr>
          <p:cNvPr id="6" name="Shape 3"/>
          <p:cNvSpPr/>
          <p:nvPr/>
        </p:nvSpPr>
        <p:spPr>
          <a:xfrm>
            <a:off x="5440680" y="1188720"/>
            <a:ext cx="3291840" cy="749808"/>
          </a:xfrm>
          <a:prstGeom prst="roundRect">
            <a:avLst>
              <a:gd name="adj" fmla="val 9756"/>
            </a:avLst>
          </a:prstGeom>
          <a:solidFill>
            <a:srgbClr val="F3F4F8"/>
          </a:solidFill>
          <a:ln/>
        </p:spPr>
      </p:sp>
      <p:sp>
        <p:nvSpPr>
          <p:cNvPr id="7" name="Text 4"/>
          <p:cNvSpPr/>
          <p:nvPr/>
        </p:nvSpPr>
        <p:spPr>
          <a:xfrm>
            <a:off x="5577840" y="1188720"/>
            <a:ext cx="1234440" cy="749808"/>
          </a:xfrm>
          <a:prstGeom prst="rect">
            <a:avLst/>
          </a:prstGeom>
          <a:noFill/>
          <a:ln/>
        </p:spPr>
        <p:txBody>
          <a:bodyPr wrap="square" lIns="0" tIns="0" rIns="0" bIns="0" rtlCol="0" anchor="ctr"/>
          <a:lstStyle/>
          <a:p>
            <a:pPr indent="0" marL="0">
              <a:buNone/>
            </a:pPr>
            <a:r>
              <a:rPr lang="en-US" sz="2100" b="1" dirty="0">
                <a:solidFill>
                  <a:srgbClr val="1F36C7"/>
                </a:solidFill>
                <a:latin typeface="Calibri" pitchFamily="34" charset="0"/>
                <a:ea typeface="Calibri" pitchFamily="34" charset="-122"/>
                <a:cs typeface="Calibri" pitchFamily="34" charset="-120"/>
              </a:rPr>
              <a:t>59%</a:t>
            </a:r>
            <a:endParaRPr lang="en-US" sz="2100" dirty="0"/>
          </a:p>
        </p:txBody>
      </p:sp>
      <p:sp>
        <p:nvSpPr>
          <p:cNvPr id="8" name="Text 5"/>
          <p:cNvSpPr/>
          <p:nvPr/>
        </p:nvSpPr>
        <p:spPr>
          <a:xfrm>
            <a:off x="6812280" y="1188720"/>
            <a:ext cx="1828800" cy="749808"/>
          </a:xfrm>
          <a:prstGeom prst="rect">
            <a:avLst/>
          </a:prstGeom>
          <a:noFill/>
          <a:ln/>
        </p:spPr>
        <p:txBody>
          <a:bodyPr wrap="square" lIns="0" tIns="0" rIns="0" bIns="0" rtlCol="0" anchor="ctr"/>
          <a:lstStyle/>
          <a:p>
            <a:pPr indent="0" marL="0">
              <a:buNone/>
            </a:pPr>
            <a:r>
              <a:rPr lang="en-US" sz="1050" dirty="0">
                <a:solidFill>
                  <a:srgbClr val="1A1F36"/>
                </a:solidFill>
                <a:latin typeface="Calibri" pitchFamily="34" charset="0"/>
                <a:ea typeface="Calibri" pitchFamily="34" charset="-122"/>
                <a:cs typeface="Calibri" pitchFamily="34" charset="-120"/>
              </a:rPr>
              <a:t>of turnover from emerging markets (2025)</a:t>
            </a:r>
            <a:endParaRPr lang="en-US" sz="1050" dirty="0"/>
          </a:p>
        </p:txBody>
      </p:sp>
      <p:sp>
        <p:nvSpPr>
          <p:cNvPr id="9" name="Shape 6"/>
          <p:cNvSpPr/>
          <p:nvPr/>
        </p:nvSpPr>
        <p:spPr>
          <a:xfrm>
            <a:off x="5440680" y="2057400"/>
            <a:ext cx="3291840" cy="749808"/>
          </a:xfrm>
          <a:prstGeom prst="roundRect">
            <a:avLst>
              <a:gd name="adj" fmla="val 9756"/>
            </a:avLst>
          </a:prstGeom>
          <a:solidFill>
            <a:srgbClr val="F3F4F8"/>
          </a:solidFill>
          <a:ln/>
        </p:spPr>
      </p:sp>
      <p:sp>
        <p:nvSpPr>
          <p:cNvPr id="10" name="Text 7"/>
          <p:cNvSpPr/>
          <p:nvPr/>
        </p:nvSpPr>
        <p:spPr>
          <a:xfrm>
            <a:off x="5577840" y="2057400"/>
            <a:ext cx="1234440" cy="749808"/>
          </a:xfrm>
          <a:prstGeom prst="rect">
            <a:avLst/>
          </a:prstGeom>
          <a:noFill/>
          <a:ln/>
        </p:spPr>
        <p:txBody>
          <a:bodyPr wrap="square" lIns="0" tIns="0" rIns="0" bIns="0" rtlCol="0" anchor="ctr"/>
          <a:lstStyle/>
          <a:p>
            <a:pPr indent="0" marL="0">
              <a:buNone/>
            </a:pPr>
            <a:r>
              <a:rPr lang="en-US" sz="2100" b="1" dirty="0">
                <a:solidFill>
                  <a:srgbClr val="1F36C7"/>
                </a:solidFill>
                <a:latin typeface="Calibri" pitchFamily="34" charset="0"/>
                <a:ea typeface="Calibri" pitchFamily="34" charset="-122"/>
                <a:cs typeface="Calibri" pitchFamily="34" charset="-120"/>
              </a:rPr>
              <a:t>~190</a:t>
            </a:r>
            <a:endParaRPr lang="en-US" sz="2100" dirty="0"/>
          </a:p>
        </p:txBody>
      </p:sp>
      <p:sp>
        <p:nvSpPr>
          <p:cNvPr id="11" name="Text 8"/>
          <p:cNvSpPr/>
          <p:nvPr/>
        </p:nvSpPr>
        <p:spPr>
          <a:xfrm>
            <a:off x="6812280" y="2057400"/>
            <a:ext cx="1828800" cy="749808"/>
          </a:xfrm>
          <a:prstGeom prst="rect">
            <a:avLst/>
          </a:prstGeom>
          <a:noFill/>
          <a:ln/>
        </p:spPr>
        <p:txBody>
          <a:bodyPr wrap="square" lIns="0" tIns="0" rIns="0" bIns="0" rtlCol="0" anchor="ctr"/>
          <a:lstStyle/>
          <a:p>
            <a:pPr indent="0" marL="0">
              <a:buNone/>
            </a:pPr>
            <a:r>
              <a:rPr lang="en-US" sz="1050" dirty="0">
                <a:solidFill>
                  <a:srgbClr val="1A1F36"/>
                </a:solidFill>
                <a:latin typeface="Calibri" pitchFamily="34" charset="0"/>
                <a:ea typeface="Calibri" pitchFamily="34" charset="-122"/>
                <a:cs typeface="Calibri" pitchFamily="34" charset="-120"/>
              </a:rPr>
              <a:t>countries where its brands are sold</a:t>
            </a:r>
            <a:endParaRPr lang="en-US" sz="1050" dirty="0"/>
          </a:p>
        </p:txBody>
      </p:sp>
      <p:sp>
        <p:nvSpPr>
          <p:cNvPr id="12" name="Shape 9"/>
          <p:cNvSpPr/>
          <p:nvPr/>
        </p:nvSpPr>
        <p:spPr>
          <a:xfrm>
            <a:off x="5440680" y="2926080"/>
            <a:ext cx="3291840" cy="749808"/>
          </a:xfrm>
          <a:prstGeom prst="roundRect">
            <a:avLst>
              <a:gd name="adj" fmla="val 9756"/>
            </a:avLst>
          </a:prstGeom>
          <a:solidFill>
            <a:srgbClr val="F3F4F8"/>
          </a:solidFill>
          <a:ln/>
        </p:spPr>
      </p:sp>
      <p:sp>
        <p:nvSpPr>
          <p:cNvPr id="13" name="Text 10"/>
          <p:cNvSpPr/>
          <p:nvPr/>
        </p:nvSpPr>
        <p:spPr>
          <a:xfrm>
            <a:off x="5577840" y="2926080"/>
            <a:ext cx="1234440" cy="749808"/>
          </a:xfrm>
          <a:prstGeom prst="rect">
            <a:avLst/>
          </a:prstGeom>
          <a:noFill/>
          <a:ln/>
        </p:spPr>
        <p:txBody>
          <a:bodyPr wrap="square" lIns="0" tIns="0" rIns="0" bIns="0" rtlCol="0" anchor="ctr"/>
          <a:lstStyle/>
          <a:p>
            <a:pPr indent="0" marL="0">
              <a:buNone/>
            </a:pPr>
            <a:r>
              <a:rPr lang="en-US" sz="2100" b="1" dirty="0">
                <a:solidFill>
                  <a:srgbClr val="1F36C7"/>
                </a:solidFill>
                <a:latin typeface="Calibri" pitchFamily="34" charset="0"/>
                <a:ea typeface="Calibri" pitchFamily="34" charset="-122"/>
                <a:cs typeface="Calibri" pitchFamily="34" charset="-120"/>
              </a:rPr>
              <a:t>3.4bn</a:t>
            </a:r>
            <a:endParaRPr lang="en-US" sz="2100" dirty="0"/>
          </a:p>
        </p:txBody>
      </p:sp>
      <p:sp>
        <p:nvSpPr>
          <p:cNvPr id="14" name="Text 11"/>
          <p:cNvSpPr/>
          <p:nvPr/>
        </p:nvSpPr>
        <p:spPr>
          <a:xfrm>
            <a:off x="6812280" y="2926080"/>
            <a:ext cx="1828800" cy="749808"/>
          </a:xfrm>
          <a:prstGeom prst="rect">
            <a:avLst/>
          </a:prstGeom>
          <a:noFill/>
          <a:ln/>
        </p:spPr>
        <p:txBody>
          <a:bodyPr wrap="square" lIns="0" tIns="0" rIns="0" bIns="0" rtlCol="0" anchor="ctr"/>
          <a:lstStyle/>
          <a:p>
            <a:pPr indent="0" marL="0">
              <a:buNone/>
            </a:pPr>
            <a:r>
              <a:rPr lang="en-US" sz="1050" dirty="0">
                <a:solidFill>
                  <a:srgbClr val="1A1F36"/>
                </a:solidFill>
                <a:latin typeface="Calibri" pitchFamily="34" charset="0"/>
                <a:ea typeface="Calibri" pitchFamily="34" charset="-122"/>
                <a:cs typeface="Calibri" pitchFamily="34" charset="-120"/>
              </a:rPr>
              <a:t>people use its products every day</a:t>
            </a:r>
            <a:endParaRPr lang="en-US" sz="1050" dirty="0"/>
          </a:p>
        </p:txBody>
      </p:sp>
      <p:sp>
        <p:nvSpPr>
          <p:cNvPr id="15" name="Shape 12"/>
          <p:cNvSpPr/>
          <p:nvPr/>
        </p:nvSpPr>
        <p:spPr>
          <a:xfrm>
            <a:off x="5440680" y="3794760"/>
            <a:ext cx="3291840" cy="749808"/>
          </a:xfrm>
          <a:prstGeom prst="roundRect">
            <a:avLst>
              <a:gd name="adj" fmla="val 9756"/>
            </a:avLst>
          </a:prstGeom>
          <a:solidFill>
            <a:srgbClr val="F3F4F8"/>
          </a:solidFill>
          <a:ln/>
        </p:spPr>
      </p:sp>
      <p:sp>
        <p:nvSpPr>
          <p:cNvPr id="16" name="Text 13"/>
          <p:cNvSpPr/>
          <p:nvPr/>
        </p:nvSpPr>
        <p:spPr>
          <a:xfrm>
            <a:off x="5577840" y="3794760"/>
            <a:ext cx="1234440" cy="749808"/>
          </a:xfrm>
          <a:prstGeom prst="rect">
            <a:avLst/>
          </a:prstGeom>
          <a:noFill/>
          <a:ln/>
        </p:spPr>
        <p:txBody>
          <a:bodyPr wrap="square" lIns="0" tIns="0" rIns="0" bIns="0" rtlCol="0" anchor="ctr"/>
          <a:lstStyle/>
          <a:p>
            <a:pPr indent="0" marL="0">
              <a:buNone/>
            </a:pPr>
            <a:r>
              <a:rPr lang="en-US" sz="2100" b="1" dirty="0">
                <a:solidFill>
                  <a:srgbClr val="1F36C7"/>
                </a:solidFill>
                <a:latin typeface="Calibri" pitchFamily="34" charset="0"/>
                <a:ea typeface="Calibri" pitchFamily="34" charset="-122"/>
                <a:cs typeface="Calibri" pitchFamily="34" charset="-120"/>
              </a:rPr>
              <a:t>118k</a:t>
            </a:r>
            <a:endParaRPr lang="en-US" sz="2100" dirty="0"/>
          </a:p>
        </p:txBody>
      </p:sp>
      <p:sp>
        <p:nvSpPr>
          <p:cNvPr id="17" name="Text 14"/>
          <p:cNvSpPr/>
          <p:nvPr/>
        </p:nvSpPr>
        <p:spPr>
          <a:xfrm>
            <a:off x="6812280" y="3794760"/>
            <a:ext cx="1828800" cy="749808"/>
          </a:xfrm>
          <a:prstGeom prst="rect">
            <a:avLst/>
          </a:prstGeom>
          <a:noFill/>
          <a:ln/>
        </p:spPr>
        <p:txBody>
          <a:bodyPr wrap="square" lIns="0" tIns="0" rIns="0" bIns="0" rtlCol="0" anchor="ctr"/>
          <a:lstStyle/>
          <a:p>
            <a:pPr indent="0" marL="0">
              <a:buNone/>
            </a:pPr>
            <a:r>
              <a:rPr lang="en-US" sz="1050" dirty="0">
                <a:solidFill>
                  <a:srgbClr val="1A1F36"/>
                </a:solidFill>
                <a:latin typeface="Calibri" pitchFamily="34" charset="0"/>
                <a:ea typeface="Calibri" pitchFamily="34" charset="-122"/>
                <a:cs typeface="Calibri" pitchFamily="34" charset="-120"/>
              </a:rPr>
              <a:t>average employees in 2025 (150k in 2020)</a:t>
            </a:r>
            <a:endParaRPr lang="en-US" sz="1050" dirty="0"/>
          </a:p>
        </p:txBody>
      </p:sp>
      <p:sp>
        <p:nvSpPr>
          <p:cNvPr id="18" name="Text 15"/>
          <p:cNvSpPr/>
          <p:nvPr/>
        </p:nvSpPr>
        <p:spPr>
          <a:xfrm>
            <a:off x="411480" y="4736592"/>
            <a:ext cx="8321040" cy="274320"/>
          </a:xfrm>
          <a:prstGeom prst="rect">
            <a:avLst/>
          </a:prstGeom>
          <a:noFill/>
          <a:ln/>
        </p:spPr>
        <p:txBody>
          <a:bodyPr wrap="square" lIns="0" tIns="0" rIns="0" bIns="0" rtlCol="0" anchor="b"/>
          <a:lstStyle/>
          <a:p>
            <a:pPr indent="0" marL="0">
              <a:buNone/>
            </a:pPr>
            <a:r>
              <a:rPr lang="en-US" sz="800" dirty="0">
                <a:solidFill>
                  <a:srgbClr val="6B7280"/>
                </a:solidFill>
                <a:latin typeface="Calibri" pitchFamily="34" charset="0"/>
                <a:ea typeface="Calibri" pitchFamily="34" charset="-122"/>
                <a:cs typeface="Calibri" pitchFamily="34" charset="-120"/>
              </a:rPr>
              <a:t>Sources: Unilever PLC (2021; 2026a; 2026b).</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F36C7"/>
          </a:solidFill>
          <a:ln/>
        </p:spPr>
      </p:sp>
      <p:sp>
        <p:nvSpPr>
          <p:cNvPr id="3" name="Text 1"/>
          <p:cNvSpPr/>
          <p:nvPr/>
        </p:nvSpPr>
        <p:spPr>
          <a:xfrm>
            <a:off x="4480560" y="109728"/>
            <a:ext cx="4389120" cy="219456"/>
          </a:xfrm>
          <a:prstGeom prst="rect">
            <a:avLst/>
          </a:prstGeom>
          <a:noFill/>
          <a:ln/>
        </p:spPr>
        <p:txBody>
          <a:bodyPr wrap="square" lIns="0" tIns="0" rIns="0" bIns="0" rtlCol="0" anchor="ctr"/>
          <a:lstStyle/>
          <a:p>
            <a:pPr algn="r" indent="0" marL="0">
              <a:buNone/>
            </a:pPr>
            <a:r>
              <a:rPr lang="en-US" sz="1000" b="1" dirty="0">
                <a:solidFill>
                  <a:srgbClr val="1F36C7"/>
                </a:solidFill>
                <a:latin typeface="Calibri" pitchFamily="34" charset="0"/>
                <a:ea typeface="Calibri" pitchFamily="34" charset="-122"/>
                <a:cs typeface="Calibri" pitchFamily="34" charset="-120"/>
              </a:rPr>
              <a:t>Speaker 1 · Globalisation</a:t>
            </a:r>
            <a:endParaRPr lang="en-US" sz="1000" dirty="0"/>
          </a:p>
        </p:txBody>
      </p:sp>
      <p:sp>
        <p:nvSpPr>
          <p:cNvPr id="4" name="Text 2"/>
          <p:cNvSpPr/>
          <p:nvPr/>
        </p:nvSpPr>
        <p:spPr>
          <a:xfrm>
            <a:off x="411480" y="292608"/>
            <a:ext cx="8321040" cy="548640"/>
          </a:xfrm>
          <a:prstGeom prst="rect">
            <a:avLst/>
          </a:prstGeom>
          <a:noFill/>
          <a:ln/>
        </p:spPr>
        <p:txBody>
          <a:bodyPr wrap="square" lIns="0" tIns="0" rIns="0" bIns="0" rtlCol="0" anchor="ctr"/>
          <a:lstStyle/>
          <a:p>
            <a:pPr indent="0" marL="0">
              <a:buNone/>
            </a:pPr>
            <a:r>
              <a:rPr lang="en-US" sz="2500" b="1" dirty="0">
                <a:solidFill>
                  <a:srgbClr val="1A1F36"/>
                </a:solidFill>
                <a:latin typeface="Calibri" pitchFamily="34" charset="0"/>
                <a:ea typeface="Calibri" pitchFamily="34" charset="-122"/>
                <a:cs typeface="Calibri" pitchFamily="34" charset="-120"/>
              </a:rPr>
              <a:t>Globalisation: one world market?</a:t>
            </a:r>
            <a:endParaRPr lang="en-US" sz="2500" dirty="0"/>
          </a:p>
        </p:txBody>
      </p:sp>
      <p:sp>
        <p:nvSpPr>
          <p:cNvPr id="5" name="Text 3"/>
          <p:cNvSpPr/>
          <p:nvPr/>
        </p:nvSpPr>
        <p:spPr>
          <a:xfrm>
            <a:off x="411480" y="822960"/>
            <a:ext cx="8321040" cy="292608"/>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Levitt (1983) and the five drivers (Lecture 1)</a:t>
            </a:r>
            <a:endParaRPr lang="en-US" sz="1300" dirty="0"/>
          </a:p>
        </p:txBody>
      </p:sp>
      <p:sp>
        <p:nvSpPr>
          <p:cNvPr id="6" name="Shape 4"/>
          <p:cNvSpPr/>
          <p:nvPr/>
        </p:nvSpPr>
        <p:spPr>
          <a:xfrm>
            <a:off x="411480" y="1234440"/>
            <a:ext cx="8321040" cy="713232"/>
          </a:xfrm>
          <a:prstGeom prst="roundRect">
            <a:avLst>
              <a:gd name="adj" fmla="val 10256"/>
            </a:avLst>
          </a:prstGeom>
          <a:solidFill>
            <a:srgbClr val="1F36C7"/>
          </a:solidFill>
          <a:ln/>
        </p:spPr>
      </p:sp>
      <p:sp>
        <p:nvSpPr>
          <p:cNvPr id="7" name="Text 5"/>
          <p:cNvSpPr/>
          <p:nvPr/>
        </p:nvSpPr>
        <p:spPr>
          <a:xfrm>
            <a:off x="594360" y="1234440"/>
            <a:ext cx="7955280" cy="7132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global company treats the world as one market and sells the same things in the same way (Levitt, 1983).</a:t>
            </a:r>
            <a:endParaRPr lang="en-US" sz="1400" dirty="0"/>
          </a:p>
        </p:txBody>
      </p:sp>
      <p:sp>
        <p:nvSpPr>
          <p:cNvPr id="8" name="Shape 6"/>
          <p:cNvSpPr/>
          <p:nvPr/>
        </p:nvSpPr>
        <p:spPr>
          <a:xfrm>
            <a:off x="411480" y="2103120"/>
            <a:ext cx="2651760" cy="2514600"/>
          </a:xfrm>
          <a:prstGeom prst="roundRect">
            <a:avLst>
              <a:gd name="adj" fmla="val 2909"/>
            </a:avLst>
          </a:prstGeom>
          <a:solidFill>
            <a:srgbClr val="F3F4F8"/>
          </a:solidFill>
          <a:ln/>
        </p:spPr>
      </p:sp>
      <p:sp>
        <p:nvSpPr>
          <p:cNvPr id="9" name="Text 7"/>
          <p:cNvSpPr/>
          <p:nvPr/>
        </p:nvSpPr>
        <p:spPr>
          <a:xfrm>
            <a:off x="548640" y="2194560"/>
            <a:ext cx="2377440" cy="365760"/>
          </a:xfrm>
          <a:prstGeom prst="rect">
            <a:avLst/>
          </a:prstGeom>
          <a:noFill/>
          <a:ln/>
        </p:spPr>
        <p:txBody>
          <a:bodyPr wrap="square" lIns="0" tIns="0" rIns="0" bIns="0" rtlCol="0" anchor="ctr"/>
          <a:lstStyle/>
          <a:p>
            <a:pPr indent="0" marL="0">
              <a:buNone/>
            </a:pPr>
            <a:r>
              <a:rPr lang="en-US" sz="1350" b="1" dirty="0">
                <a:solidFill>
                  <a:srgbClr val="1F36C7"/>
                </a:solidFill>
                <a:latin typeface="Calibri" pitchFamily="34" charset="0"/>
                <a:ea typeface="Calibri" pitchFamily="34" charset="-122"/>
                <a:cs typeface="Calibri" pitchFamily="34" charset="-120"/>
              </a:rPr>
              <a:t>Five drivers</a:t>
            </a:r>
            <a:endParaRPr lang="en-US" sz="1350" dirty="0"/>
          </a:p>
        </p:txBody>
      </p:sp>
      <p:sp>
        <p:nvSpPr>
          <p:cNvPr id="10" name="Text 8"/>
          <p:cNvSpPr/>
          <p:nvPr/>
        </p:nvSpPr>
        <p:spPr>
          <a:xfrm>
            <a:off x="548640" y="2606040"/>
            <a:ext cx="2377440" cy="19202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Political: lower trade barriers</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Technology: digital, AI</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Market: global customers</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Cost: economies of scale</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Competition: global rivals</a:t>
            </a:r>
            <a:endParaRPr lang="en-US" sz="1150" dirty="0"/>
          </a:p>
        </p:txBody>
      </p:sp>
      <p:sp>
        <p:nvSpPr>
          <p:cNvPr id="11" name="Shape 9"/>
          <p:cNvSpPr/>
          <p:nvPr/>
        </p:nvSpPr>
        <p:spPr>
          <a:xfrm>
            <a:off x="3246120" y="2103120"/>
            <a:ext cx="2651760" cy="2514600"/>
          </a:xfrm>
          <a:prstGeom prst="roundRect">
            <a:avLst>
              <a:gd name="adj" fmla="val 2909"/>
            </a:avLst>
          </a:prstGeom>
          <a:solidFill>
            <a:srgbClr val="F3F4F8"/>
          </a:solidFill>
          <a:ln/>
        </p:spPr>
      </p:sp>
      <p:sp>
        <p:nvSpPr>
          <p:cNvPr id="12" name="Text 10"/>
          <p:cNvSpPr/>
          <p:nvPr/>
        </p:nvSpPr>
        <p:spPr>
          <a:xfrm>
            <a:off x="3383280" y="2194560"/>
            <a:ext cx="2377440" cy="365760"/>
          </a:xfrm>
          <a:prstGeom prst="rect">
            <a:avLst/>
          </a:prstGeom>
          <a:noFill/>
          <a:ln/>
        </p:spPr>
        <p:txBody>
          <a:bodyPr wrap="square" lIns="0" tIns="0" rIns="0" bIns="0" rtlCol="0" anchor="ctr"/>
          <a:lstStyle/>
          <a:p>
            <a:pPr indent="0" marL="0">
              <a:buNone/>
            </a:pPr>
            <a:r>
              <a:rPr lang="en-US" sz="1350" b="1" dirty="0">
                <a:solidFill>
                  <a:srgbClr val="1F36C7"/>
                </a:solidFill>
                <a:latin typeface="Calibri" pitchFamily="34" charset="0"/>
                <a:ea typeface="Calibri" pitchFamily="34" charset="-122"/>
                <a:cs typeface="Calibri" pitchFamily="34" charset="-120"/>
              </a:rPr>
              <a:t>Two areas</a:t>
            </a:r>
            <a:endParaRPr lang="en-US" sz="1350" dirty="0"/>
          </a:p>
        </p:txBody>
      </p:sp>
      <p:sp>
        <p:nvSpPr>
          <p:cNvPr id="13" name="Text 11"/>
          <p:cNvSpPr/>
          <p:nvPr/>
        </p:nvSpPr>
        <p:spPr>
          <a:xfrm>
            <a:off x="3383280" y="2606040"/>
            <a:ext cx="2377440" cy="19202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Globalisation of markets: new customers, smoother income</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Globalisation of production: make where it is best and cheapest</a:t>
            </a:r>
            <a:endParaRPr lang="en-US" sz="1150" dirty="0"/>
          </a:p>
        </p:txBody>
      </p:sp>
      <p:sp>
        <p:nvSpPr>
          <p:cNvPr id="14" name="Shape 12"/>
          <p:cNvSpPr/>
          <p:nvPr/>
        </p:nvSpPr>
        <p:spPr>
          <a:xfrm>
            <a:off x="6080760" y="2103120"/>
            <a:ext cx="2651760" cy="2514600"/>
          </a:xfrm>
          <a:prstGeom prst="roundRect">
            <a:avLst>
              <a:gd name="adj" fmla="val 2909"/>
            </a:avLst>
          </a:prstGeom>
          <a:solidFill>
            <a:srgbClr val="F3F4F8"/>
          </a:solidFill>
          <a:ln/>
        </p:spPr>
      </p:sp>
      <p:sp>
        <p:nvSpPr>
          <p:cNvPr id="15" name="Text 13"/>
          <p:cNvSpPr/>
          <p:nvPr/>
        </p:nvSpPr>
        <p:spPr>
          <a:xfrm>
            <a:off x="6217920" y="2194560"/>
            <a:ext cx="2377440" cy="365760"/>
          </a:xfrm>
          <a:prstGeom prst="rect">
            <a:avLst/>
          </a:prstGeom>
          <a:noFill/>
          <a:ln/>
        </p:spPr>
        <p:txBody>
          <a:bodyPr wrap="square" lIns="0" tIns="0" rIns="0" bIns="0" rtlCol="0" anchor="ctr"/>
          <a:lstStyle/>
          <a:p>
            <a:pPr indent="0" marL="0">
              <a:buNone/>
            </a:pPr>
            <a:r>
              <a:rPr lang="en-US" sz="1350" b="1" dirty="0">
                <a:solidFill>
                  <a:srgbClr val="1F36C7"/>
                </a:solidFill>
                <a:latin typeface="Calibri" pitchFamily="34" charset="0"/>
                <a:ea typeface="Calibri" pitchFamily="34" charset="-122"/>
                <a:cs typeface="Calibri" pitchFamily="34" charset="-120"/>
              </a:rPr>
              <a:t>The tension</a:t>
            </a:r>
            <a:endParaRPr lang="en-US" sz="1350" dirty="0"/>
          </a:p>
        </p:txBody>
      </p:sp>
      <p:sp>
        <p:nvSpPr>
          <p:cNvPr id="16" name="Text 14"/>
          <p:cNvSpPr/>
          <p:nvPr/>
        </p:nvSpPr>
        <p:spPr>
          <a:xfrm>
            <a:off x="6217920" y="2606040"/>
            <a:ext cx="2377440" cy="19202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Standardise: global brands</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Localise: local tastes and prices</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Risks: shocks travel fast</a:t>
            </a:r>
            <a:endParaRPr lang="en-US" sz="1150" dirty="0"/>
          </a:p>
        </p:txBody>
      </p:sp>
      <p:sp>
        <p:nvSpPr>
          <p:cNvPr id="17" name="Text 15"/>
          <p:cNvSpPr/>
          <p:nvPr/>
        </p:nvSpPr>
        <p:spPr>
          <a:xfrm>
            <a:off x="411480" y="4736592"/>
            <a:ext cx="8321040" cy="274320"/>
          </a:xfrm>
          <a:prstGeom prst="rect">
            <a:avLst/>
          </a:prstGeom>
          <a:noFill/>
          <a:ln/>
        </p:spPr>
        <p:txBody>
          <a:bodyPr wrap="square" lIns="0" tIns="0" rIns="0" bIns="0" rtlCol="0" anchor="b"/>
          <a:lstStyle/>
          <a:p>
            <a:pPr indent="0" marL="0">
              <a:buNone/>
            </a:pPr>
            <a:r>
              <a:rPr lang="en-US" sz="800" dirty="0">
                <a:solidFill>
                  <a:srgbClr val="6B7280"/>
                </a:solidFill>
                <a:latin typeface="Calibri" pitchFamily="34" charset="0"/>
                <a:ea typeface="Calibri" pitchFamily="34" charset="-122"/>
                <a:cs typeface="Calibri" pitchFamily="34" charset="-120"/>
              </a:rPr>
              <a:t>Sources: Levitt (1983); University of Greenwich (2026a).</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F36C7"/>
          </a:solidFill>
          <a:ln/>
        </p:spPr>
      </p:sp>
      <p:sp>
        <p:nvSpPr>
          <p:cNvPr id="3" name="Text 1"/>
          <p:cNvSpPr/>
          <p:nvPr/>
        </p:nvSpPr>
        <p:spPr>
          <a:xfrm>
            <a:off x="4480560" y="109728"/>
            <a:ext cx="4389120" cy="219456"/>
          </a:xfrm>
          <a:prstGeom prst="rect">
            <a:avLst/>
          </a:prstGeom>
          <a:noFill/>
          <a:ln/>
        </p:spPr>
        <p:txBody>
          <a:bodyPr wrap="square" lIns="0" tIns="0" rIns="0" bIns="0" rtlCol="0" anchor="ctr"/>
          <a:lstStyle/>
          <a:p>
            <a:pPr algn="r" indent="0" marL="0">
              <a:buNone/>
            </a:pPr>
            <a:r>
              <a:rPr lang="en-US" sz="1000" b="1" dirty="0">
                <a:solidFill>
                  <a:srgbClr val="1F36C7"/>
                </a:solidFill>
                <a:latin typeface="Calibri" pitchFamily="34" charset="0"/>
                <a:ea typeface="Calibri" pitchFamily="34" charset="-122"/>
                <a:cs typeface="Calibri" pitchFamily="34" charset="-120"/>
              </a:rPr>
              <a:t>Speaker 1 · Globalisation</a:t>
            </a:r>
            <a:endParaRPr lang="en-US" sz="1000" dirty="0"/>
          </a:p>
        </p:txBody>
      </p:sp>
      <p:sp>
        <p:nvSpPr>
          <p:cNvPr id="4" name="Text 2"/>
          <p:cNvSpPr/>
          <p:nvPr/>
        </p:nvSpPr>
        <p:spPr>
          <a:xfrm>
            <a:off x="411480" y="292608"/>
            <a:ext cx="8321040" cy="548640"/>
          </a:xfrm>
          <a:prstGeom prst="rect">
            <a:avLst/>
          </a:prstGeom>
          <a:noFill/>
          <a:ln/>
        </p:spPr>
        <p:txBody>
          <a:bodyPr wrap="square" lIns="0" tIns="0" rIns="0" bIns="0" rtlCol="0" anchor="ctr"/>
          <a:lstStyle/>
          <a:p>
            <a:pPr indent="0" marL="0">
              <a:buNone/>
            </a:pPr>
            <a:r>
              <a:rPr lang="en-US" sz="2500" b="1" dirty="0">
                <a:solidFill>
                  <a:srgbClr val="1A1F36"/>
                </a:solidFill>
                <a:latin typeface="Calibri" pitchFamily="34" charset="0"/>
                <a:ea typeface="Calibri" pitchFamily="34" charset="-122"/>
                <a:cs typeface="Calibri" pitchFamily="34" charset="-120"/>
              </a:rPr>
              <a:t>Unilever: global growth, global shocks</a:t>
            </a:r>
            <a:endParaRPr lang="en-US" sz="2500" dirty="0"/>
          </a:p>
        </p:txBody>
      </p:sp>
      <p:sp>
        <p:nvSpPr>
          <p:cNvPr id="5" name="Text 3"/>
          <p:cNvSpPr/>
          <p:nvPr/>
        </p:nvSpPr>
        <p:spPr>
          <a:xfrm>
            <a:off x="411480" y="822960"/>
            <a:ext cx="8321040" cy="292608"/>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Same brands everywhere, but more risk in 2020–2025</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8321040" cy="914400"/>
        </p:xfrm>
        <a:graphic>
          <a:graphicData uri="http://schemas.openxmlformats.org/drawingml/2006/table">
            <a:tbl>
              <a:tblPr/>
              <a:tblGrid>
                <a:gridCol w="914400"/>
                <a:gridCol w="3429000"/>
                <a:gridCol w="397764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Date</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6C7"/>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happened</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6C7"/>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Impact on Unilever</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6C7"/>
                    </a:solidFill>
                  </a:tcPr>
                </a:tc>
              </a:tr>
              <a:tr h="0">
                <a:tc>
                  <a:txBody>
                    <a:bodyPr/>
                    <a:lstStyle/>
                    <a:p>
                      <a:pPr indent="0" marL="0">
                        <a:buNone/>
                      </a:pPr>
                      <a:r>
                        <a:rPr lang="en-US" sz="1050" b="1" dirty="0">
                          <a:solidFill>
                            <a:srgbClr val="1F36C7"/>
                          </a:solidFill>
                          <a:latin typeface="Calibri" pitchFamily="34" charset="0"/>
                          <a:ea typeface="Calibri" pitchFamily="34" charset="-122"/>
                          <a:cs typeface="Calibri" pitchFamily="34" charset="-120"/>
                        </a:rPr>
                        <a:t>Mar 2020</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COVID-19 lockdowns; supply chain change programmes paused</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Extra supply-chain costs cut underlying operating margin by ~0.9 points; emerging-market sales growth only 1.2% in 2020</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36C7"/>
                          </a:solidFill>
                          <a:latin typeface="Calibri" pitchFamily="34" charset="0"/>
                          <a:ea typeface="Calibri" pitchFamily="34" charset="-122"/>
                          <a:cs typeface="Calibri" pitchFamily="34" charset="-120"/>
                        </a:rPr>
                        <a:t>Mar 2022</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War in Ukraine: imports, exports and capital flows with Russia stopped</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Russia = 1.4% of turnover, ~3,000 staff, 4 factories</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36C7"/>
                          </a:solidFill>
                          <a:latin typeface="Calibri" pitchFamily="34" charset="0"/>
                          <a:ea typeface="Calibri" pitchFamily="34" charset="-122"/>
                          <a:cs typeface="Calibri" pitchFamily="34" charset="-120"/>
                        </a:rPr>
                        <a:t>Jan–Dec 2022</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High inflation: net material inflation €4.3bn</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Prices +11.3%, volumes −2.1%; underlying sales growth 9.0%</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36C7"/>
                          </a:solidFill>
                          <a:latin typeface="Calibri" pitchFamily="34" charset="0"/>
                          <a:ea typeface="Calibri" pitchFamily="34" charset="-122"/>
                          <a:cs typeface="Calibri" pitchFamily="34" charset="-120"/>
                        </a:rPr>
                        <a:t>Oct 2024</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Sale of the Russian business to Arnest Group completed</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Unilever left a market for political reasons</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36C7"/>
                          </a:solidFill>
                          <a:latin typeface="Calibri" pitchFamily="34" charset="0"/>
                          <a:ea typeface="Calibri" pitchFamily="34" charset="-122"/>
                          <a:cs typeface="Calibri" pitchFamily="34" charset="-120"/>
                        </a:rPr>
                        <a:t>Dec 2025</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Year-end: Asia Pacific Africa 44%, Americas 37%, Europe 19% of turnover</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59% from emerging markets: growth now depends on them</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36C7"/>
                          </a:solidFill>
                          <a:latin typeface="Calibri" pitchFamily="34" charset="0"/>
                          <a:ea typeface="Calibri" pitchFamily="34" charset="-122"/>
                          <a:cs typeface="Calibri" pitchFamily="34" charset="-120"/>
                        </a:rPr>
                        <a:t>2025 report</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Rising protectionism and tariffs named as a supply-chain risk</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Globalisation is less smooth</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4224528"/>
            <a:ext cx="8321040" cy="457200"/>
          </a:xfrm>
          <a:prstGeom prst="roundRect">
            <a:avLst>
              <a:gd name="adj" fmla="val 12000"/>
            </a:avLst>
          </a:prstGeom>
          <a:solidFill>
            <a:srgbClr val="F3F4F8"/>
          </a:solidFill>
          <a:ln w="12700">
            <a:solidFill>
              <a:srgbClr val="1F36C7"/>
            </a:solidFill>
            <a:prstDash val="solid"/>
          </a:ln>
        </p:spPr>
      </p:sp>
      <p:sp>
        <p:nvSpPr>
          <p:cNvPr id="8" name="Text 5"/>
          <p:cNvSpPr/>
          <p:nvPr/>
        </p:nvSpPr>
        <p:spPr>
          <a:xfrm>
            <a:off x="548640" y="4224528"/>
            <a:ext cx="8046720" cy="457200"/>
          </a:xfrm>
          <a:prstGeom prst="rect">
            <a:avLst/>
          </a:prstGeom>
          <a:noFill/>
          <a:ln/>
        </p:spPr>
        <p:txBody>
          <a:bodyPr wrap="square" lIns="0" tIns="0" rIns="0" bIns="0" rtlCol="0" anchor="ctr"/>
          <a:lstStyle/>
          <a:p>
            <a:pPr indent="0" marL="0">
              <a:buNone/>
            </a:pPr>
            <a:r>
              <a:rPr lang="en-US" sz="1150" b="1" dirty="0">
                <a:solidFill>
                  <a:srgbClr val="1F36C7"/>
                </a:solidFill>
                <a:latin typeface="Calibri" pitchFamily="34" charset="0"/>
                <a:ea typeface="Calibri" pitchFamily="34" charset="-122"/>
                <a:cs typeface="Calibri" pitchFamily="34" charset="-120"/>
              </a:rPr>
              <a:t>So what?  </a:t>
            </a:r>
            <a:pPr indent="0" marL="0">
              <a:buNone/>
            </a:pPr>
            <a:r>
              <a:rPr lang="en-US" sz="1150" dirty="0">
                <a:solidFill>
                  <a:srgbClr val="1A1F36"/>
                </a:solidFill>
                <a:latin typeface="Calibri" pitchFamily="34" charset="0"/>
                <a:ea typeface="Calibri" pitchFamily="34" charset="-122"/>
                <a:cs typeface="Calibri" pitchFamily="34" charset="-120"/>
              </a:rPr>
              <a:t>Global brands and emerging markets drive growth, but shocks now travel fast.</a:t>
            </a:r>
            <a:endParaRPr lang="en-US" sz="1150" dirty="0"/>
          </a:p>
        </p:txBody>
      </p:sp>
      <p:sp>
        <p:nvSpPr>
          <p:cNvPr id="9" name="Text 6"/>
          <p:cNvSpPr/>
          <p:nvPr/>
        </p:nvSpPr>
        <p:spPr>
          <a:xfrm>
            <a:off x="411480" y="4736592"/>
            <a:ext cx="8321040" cy="274320"/>
          </a:xfrm>
          <a:prstGeom prst="rect">
            <a:avLst/>
          </a:prstGeom>
          <a:noFill/>
          <a:ln/>
        </p:spPr>
        <p:txBody>
          <a:bodyPr wrap="square" lIns="0" tIns="0" rIns="0" bIns="0" rtlCol="0" anchor="b"/>
          <a:lstStyle/>
          <a:p>
            <a:pPr indent="0" marL="0">
              <a:buNone/>
            </a:pPr>
            <a:r>
              <a:rPr lang="en-US" sz="800" dirty="0">
                <a:solidFill>
                  <a:srgbClr val="6B7280"/>
                </a:solidFill>
                <a:latin typeface="Calibri" pitchFamily="34" charset="0"/>
                <a:ea typeface="Calibri" pitchFamily="34" charset="-122"/>
                <a:cs typeface="Calibri" pitchFamily="34" charset="-120"/>
              </a:rPr>
              <a:t>Sources: Unilever PLC (2021; 2023b; 2025a; 2026a; 2026b).</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F8A6B"/>
          </a:solidFill>
          <a:ln/>
        </p:spPr>
      </p:sp>
      <p:sp>
        <p:nvSpPr>
          <p:cNvPr id="3" name="Text 1"/>
          <p:cNvSpPr/>
          <p:nvPr/>
        </p:nvSpPr>
        <p:spPr>
          <a:xfrm>
            <a:off x="4480560" y="109728"/>
            <a:ext cx="4389120" cy="219456"/>
          </a:xfrm>
          <a:prstGeom prst="rect">
            <a:avLst/>
          </a:prstGeom>
          <a:noFill/>
          <a:ln/>
        </p:spPr>
        <p:txBody>
          <a:bodyPr wrap="square" lIns="0" tIns="0" rIns="0" bIns="0" rtlCol="0" anchor="ctr"/>
          <a:lstStyle/>
          <a:p>
            <a:pPr algn="r" indent="0" marL="0">
              <a:buNone/>
            </a:pPr>
            <a:r>
              <a:rPr lang="en-US" sz="1000" b="1" dirty="0">
                <a:solidFill>
                  <a:srgbClr val="0F8A6B"/>
                </a:solidFill>
                <a:latin typeface="Calibri" pitchFamily="34" charset="0"/>
                <a:ea typeface="Calibri" pitchFamily="34" charset="-122"/>
                <a:cs typeface="Calibri" pitchFamily="34" charset="-120"/>
              </a:rPr>
              <a:t>Speaker 2 · Regional Integration</a:t>
            </a:r>
            <a:endParaRPr lang="en-US" sz="1000" dirty="0"/>
          </a:p>
        </p:txBody>
      </p:sp>
      <p:sp>
        <p:nvSpPr>
          <p:cNvPr id="4" name="Text 2"/>
          <p:cNvSpPr/>
          <p:nvPr/>
        </p:nvSpPr>
        <p:spPr>
          <a:xfrm>
            <a:off x="411480" y="292608"/>
            <a:ext cx="8321040" cy="548640"/>
          </a:xfrm>
          <a:prstGeom prst="rect">
            <a:avLst/>
          </a:prstGeom>
          <a:noFill/>
          <a:ln/>
        </p:spPr>
        <p:txBody>
          <a:bodyPr wrap="square" lIns="0" tIns="0" rIns="0" bIns="0" rtlCol="0" anchor="ctr"/>
          <a:lstStyle/>
          <a:p>
            <a:pPr indent="0" marL="0">
              <a:buNone/>
            </a:pPr>
            <a:r>
              <a:rPr lang="en-US" sz="2500" b="1" dirty="0">
                <a:solidFill>
                  <a:srgbClr val="1A1F36"/>
                </a:solidFill>
                <a:latin typeface="Calibri" pitchFamily="34" charset="0"/>
                <a:ea typeface="Calibri" pitchFamily="34" charset="-122"/>
                <a:cs typeface="Calibri" pitchFamily="34" charset="-120"/>
              </a:rPr>
              <a:t>Regional integration: Mexico and USMCA</a:t>
            </a:r>
            <a:endParaRPr lang="en-US" sz="2500" dirty="0"/>
          </a:p>
        </p:txBody>
      </p:sp>
      <p:sp>
        <p:nvSpPr>
          <p:cNvPr id="5" name="Text 3"/>
          <p:cNvSpPr/>
          <p:nvPr/>
        </p:nvSpPr>
        <p:spPr>
          <a:xfrm>
            <a:off x="411480" y="822960"/>
            <a:ext cx="8321040" cy="292608"/>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Lecture 2 · Focus country: Mexico</a:t>
            </a:r>
            <a:endParaRPr lang="en-US" sz="1300" dirty="0"/>
          </a:p>
        </p:txBody>
      </p:sp>
      <p:sp>
        <p:nvSpPr>
          <p:cNvPr id="6" name="Shape 4"/>
          <p:cNvSpPr/>
          <p:nvPr/>
        </p:nvSpPr>
        <p:spPr>
          <a:xfrm>
            <a:off x="411480" y="1234440"/>
            <a:ext cx="8321040" cy="713232"/>
          </a:xfrm>
          <a:prstGeom prst="roundRect">
            <a:avLst>
              <a:gd name="adj" fmla="val 10256"/>
            </a:avLst>
          </a:prstGeom>
          <a:solidFill>
            <a:srgbClr val="0F8A6B"/>
          </a:solidFill>
          <a:ln/>
        </p:spPr>
      </p:sp>
      <p:sp>
        <p:nvSpPr>
          <p:cNvPr id="7" name="Text 5"/>
          <p:cNvSpPr/>
          <p:nvPr/>
        </p:nvSpPr>
        <p:spPr>
          <a:xfrm>
            <a:off x="594360" y="1234440"/>
            <a:ext cx="7955280" cy="7132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Countries in a region remove barriers between them, step by step. USMCA is level 1: a free trade area.</a:t>
            </a:r>
            <a:endParaRPr lang="en-US" sz="1400" dirty="0"/>
          </a:p>
        </p:txBody>
      </p:sp>
      <p:sp>
        <p:nvSpPr>
          <p:cNvPr id="8" name="Shape 6"/>
          <p:cNvSpPr/>
          <p:nvPr/>
        </p:nvSpPr>
        <p:spPr>
          <a:xfrm>
            <a:off x="411480" y="2103120"/>
            <a:ext cx="2651760" cy="2514600"/>
          </a:xfrm>
          <a:prstGeom prst="roundRect">
            <a:avLst>
              <a:gd name="adj" fmla="val 2909"/>
            </a:avLst>
          </a:prstGeom>
          <a:solidFill>
            <a:srgbClr val="F3F4F8"/>
          </a:solidFill>
          <a:ln/>
        </p:spPr>
      </p:sp>
      <p:sp>
        <p:nvSpPr>
          <p:cNvPr id="9" name="Text 7"/>
          <p:cNvSpPr/>
          <p:nvPr/>
        </p:nvSpPr>
        <p:spPr>
          <a:xfrm>
            <a:off x="548640" y="2194560"/>
            <a:ext cx="2377440" cy="365760"/>
          </a:xfrm>
          <a:prstGeom prst="rect">
            <a:avLst/>
          </a:prstGeom>
          <a:noFill/>
          <a:ln/>
        </p:spPr>
        <p:txBody>
          <a:bodyPr wrap="square" lIns="0" tIns="0" rIns="0" bIns="0" rtlCol="0" anchor="ctr"/>
          <a:lstStyle/>
          <a:p>
            <a:pPr indent="0" marL="0">
              <a:buNone/>
            </a:pPr>
            <a:r>
              <a:rPr lang="en-US" sz="1350" b="1" dirty="0">
                <a:solidFill>
                  <a:srgbClr val="0F8A6B"/>
                </a:solidFill>
                <a:latin typeface="Calibri" pitchFamily="34" charset="0"/>
                <a:ea typeface="Calibri" pitchFamily="34" charset="-122"/>
                <a:cs typeface="Calibri" pitchFamily="34" charset="-120"/>
              </a:rPr>
              <a:t>Five levels</a:t>
            </a:r>
            <a:endParaRPr lang="en-US" sz="1350" dirty="0"/>
          </a:p>
        </p:txBody>
      </p:sp>
      <p:sp>
        <p:nvSpPr>
          <p:cNvPr id="10" name="Text 8"/>
          <p:cNvSpPr/>
          <p:nvPr/>
        </p:nvSpPr>
        <p:spPr>
          <a:xfrm>
            <a:off x="548640" y="2606040"/>
            <a:ext cx="2377440" cy="19202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Free trade area ← USMCA</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Customs union</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Common market</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Economic union</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Political union</a:t>
            </a:r>
            <a:endParaRPr lang="en-US" sz="1150" dirty="0"/>
          </a:p>
        </p:txBody>
      </p:sp>
      <p:sp>
        <p:nvSpPr>
          <p:cNvPr id="11" name="Shape 9"/>
          <p:cNvSpPr/>
          <p:nvPr/>
        </p:nvSpPr>
        <p:spPr>
          <a:xfrm>
            <a:off x="3246120" y="2103120"/>
            <a:ext cx="2651760" cy="2514600"/>
          </a:xfrm>
          <a:prstGeom prst="roundRect">
            <a:avLst>
              <a:gd name="adj" fmla="val 2909"/>
            </a:avLst>
          </a:prstGeom>
          <a:solidFill>
            <a:srgbClr val="F3F4F8"/>
          </a:solidFill>
          <a:ln/>
        </p:spPr>
      </p:sp>
      <p:sp>
        <p:nvSpPr>
          <p:cNvPr id="12" name="Text 10"/>
          <p:cNvSpPr/>
          <p:nvPr/>
        </p:nvSpPr>
        <p:spPr>
          <a:xfrm>
            <a:off x="3383280" y="2194560"/>
            <a:ext cx="2377440" cy="365760"/>
          </a:xfrm>
          <a:prstGeom prst="rect">
            <a:avLst/>
          </a:prstGeom>
          <a:noFill/>
          <a:ln/>
        </p:spPr>
        <p:txBody>
          <a:bodyPr wrap="square" lIns="0" tIns="0" rIns="0" bIns="0" rtlCol="0" anchor="ctr"/>
          <a:lstStyle/>
          <a:p>
            <a:pPr indent="0" marL="0">
              <a:buNone/>
            </a:pPr>
            <a:r>
              <a:rPr lang="en-US" sz="1350" b="1" dirty="0">
                <a:solidFill>
                  <a:srgbClr val="0F8A6B"/>
                </a:solidFill>
                <a:latin typeface="Calibri" pitchFamily="34" charset="0"/>
                <a:ea typeface="Calibri" pitchFamily="34" charset="-122"/>
                <a:cs typeface="Calibri" pitchFamily="34" charset="-120"/>
              </a:rPr>
              <a:t>Effects</a:t>
            </a:r>
            <a:endParaRPr lang="en-US" sz="1350" dirty="0"/>
          </a:p>
        </p:txBody>
      </p:sp>
      <p:sp>
        <p:nvSpPr>
          <p:cNvPr id="13" name="Text 11"/>
          <p:cNvSpPr/>
          <p:nvPr/>
        </p:nvSpPr>
        <p:spPr>
          <a:xfrm>
            <a:off x="3383280" y="2606040"/>
            <a:ext cx="2377440" cy="19202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Trade creation: more trade between members</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Trade diversion: from a cheaper outside country to a member</a:t>
            </a:r>
            <a:endParaRPr lang="en-US" sz="1150" dirty="0"/>
          </a:p>
        </p:txBody>
      </p:sp>
      <p:sp>
        <p:nvSpPr>
          <p:cNvPr id="14" name="Shape 12"/>
          <p:cNvSpPr/>
          <p:nvPr/>
        </p:nvSpPr>
        <p:spPr>
          <a:xfrm>
            <a:off x="6080760" y="2103120"/>
            <a:ext cx="2651760" cy="2514600"/>
          </a:xfrm>
          <a:prstGeom prst="roundRect">
            <a:avLst>
              <a:gd name="adj" fmla="val 2909"/>
            </a:avLst>
          </a:prstGeom>
          <a:solidFill>
            <a:srgbClr val="F3F4F8"/>
          </a:solidFill>
          <a:ln/>
        </p:spPr>
      </p:sp>
      <p:sp>
        <p:nvSpPr>
          <p:cNvPr id="15" name="Text 13"/>
          <p:cNvSpPr/>
          <p:nvPr/>
        </p:nvSpPr>
        <p:spPr>
          <a:xfrm>
            <a:off x="6217920" y="2194560"/>
            <a:ext cx="2377440" cy="365760"/>
          </a:xfrm>
          <a:prstGeom prst="rect">
            <a:avLst/>
          </a:prstGeom>
          <a:noFill/>
          <a:ln/>
        </p:spPr>
        <p:txBody>
          <a:bodyPr wrap="square" lIns="0" tIns="0" rIns="0" bIns="0" rtlCol="0" anchor="ctr"/>
          <a:lstStyle/>
          <a:p>
            <a:pPr indent="0" marL="0">
              <a:buNone/>
            </a:pPr>
            <a:r>
              <a:rPr lang="en-US" sz="1350" b="1" dirty="0">
                <a:solidFill>
                  <a:srgbClr val="0F8A6B"/>
                </a:solidFill>
                <a:latin typeface="Calibri" pitchFamily="34" charset="0"/>
                <a:ea typeface="Calibri" pitchFamily="34" charset="-122"/>
                <a:cs typeface="Calibri" pitchFamily="34" charset="-120"/>
              </a:rPr>
              <a:t>USMCA in brief</a:t>
            </a:r>
            <a:endParaRPr lang="en-US" sz="1350" dirty="0"/>
          </a:p>
        </p:txBody>
      </p:sp>
      <p:sp>
        <p:nvSpPr>
          <p:cNvPr id="16" name="Text 14"/>
          <p:cNvSpPr/>
          <p:nvPr/>
        </p:nvSpPr>
        <p:spPr>
          <a:xfrm>
            <a:off x="6217920" y="2606040"/>
            <a:ext cx="2377440" cy="19202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US, Mexico and Canada; replaced NAFTA in Jul 2020</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Zero tariffs if rules of origin are met</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Mexico = US's No. 1 trading partner (2023, $799bn goods trade)</a:t>
            </a:r>
            <a:endParaRPr lang="en-US" sz="1150" dirty="0"/>
          </a:p>
        </p:txBody>
      </p:sp>
      <p:sp>
        <p:nvSpPr>
          <p:cNvPr id="17" name="Text 15"/>
          <p:cNvSpPr/>
          <p:nvPr/>
        </p:nvSpPr>
        <p:spPr>
          <a:xfrm>
            <a:off x="411480" y="4736592"/>
            <a:ext cx="8321040" cy="274320"/>
          </a:xfrm>
          <a:prstGeom prst="rect">
            <a:avLst/>
          </a:prstGeom>
          <a:noFill/>
          <a:ln/>
        </p:spPr>
        <p:txBody>
          <a:bodyPr wrap="square" lIns="0" tIns="0" rIns="0" bIns="0" rtlCol="0" anchor="b"/>
          <a:lstStyle/>
          <a:p>
            <a:pPr indent="0" marL="0">
              <a:buNone/>
            </a:pPr>
            <a:r>
              <a:rPr lang="en-US" sz="800" dirty="0">
                <a:solidFill>
                  <a:srgbClr val="6B7280"/>
                </a:solidFill>
                <a:latin typeface="Calibri" pitchFamily="34" charset="0"/>
                <a:ea typeface="Calibri" pitchFamily="34" charset="-122"/>
                <a:cs typeface="Calibri" pitchFamily="34" charset="-120"/>
              </a:rPr>
              <a:t>Sources: University of Greenwich (2026b); USTR (n.d.); US Census Bureau (2024).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F8A6B"/>
          </a:solidFill>
          <a:ln/>
        </p:spPr>
      </p:sp>
      <p:sp>
        <p:nvSpPr>
          <p:cNvPr id="3" name="Text 1"/>
          <p:cNvSpPr/>
          <p:nvPr/>
        </p:nvSpPr>
        <p:spPr>
          <a:xfrm>
            <a:off x="4480560" y="109728"/>
            <a:ext cx="4389120" cy="219456"/>
          </a:xfrm>
          <a:prstGeom prst="rect">
            <a:avLst/>
          </a:prstGeom>
          <a:noFill/>
          <a:ln/>
        </p:spPr>
        <p:txBody>
          <a:bodyPr wrap="square" lIns="0" tIns="0" rIns="0" bIns="0" rtlCol="0" anchor="ctr"/>
          <a:lstStyle/>
          <a:p>
            <a:pPr algn="r" indent="0" marL="0">
              <a:buNone/>
            </a:pPr>
            <a:r>
              <a:rPr lang="en-US" sz="1000" b="1" dirty="0">
                <a:solidFill>
                  <a:srgbClr val="0F8A6B"/>
                </a:solidFill>
                <a:latin typeface="Calibri" pitchFamily="34" charset="0"/>
                <a:ea typeface="Calibri" pitchFamily="34" charset="-122"/>
                <a:cs typeface="Calibri" pitchFamily="34" charset="-120"/>
              </a:rPr>
              <a:t>Speaker 2 · Regional Integration</a:t>
            </a:r>
            <a:endParaRPr lang="en-US" sz="1000" dirty="0"/>
          </a:p>
        </p:txBody>
      </p:sp>
      <p:sp>
        <p:nvSpPr>
          <p:cNvPr id="4" name="Text 2"/>
          <p:cNvSpPr/>
          <p:nvPr/>
        </p:nvSpPr>
        <p:spPr>
          <a:xfrm>
            <a:off x="411480" y="292608"/>
            <a:ext cx="8321040" cy="548640"/>
          </a:xfrm>
          <a:prstGeom prst="rect">
            <a:avLst/>
          </a:prstGeom>
          <a:noFill/>
          <a:ln/>
        </p:spPr>
        <p:txBody>
          <a:bodyPr wrap="square" lIns="0" tIns="0" rIns="0" bIns="0" rtlCol="0" anchor="ctr"/>
          <a:lstStyle/>
          <a:p>
            <a:pPr indent="0" marL="0">
              <a:buNone/>
            </a:pPr>
            <a:r>
              <a:rPr lang="en-US" sz="2500" b="1" dirty="0">
                <a:solidFill>
                  <a:srgbClr val="1A1F36"/>
                </a:solidFill>
                <a:latin typeface="Calibri" pitchFamily="34" charset="0"/>
                <a:ea typeface="Calibri" pitchFamily="34" charset="-122"/>
                <a:cs typeface="Calibri" pitchFamily="34" charset="-120"/>
              </a:rPr>
              <a:t>Mexico: Unilever's door to North America</a:t>
            </a:r>
            <a:endParaRPr lang="en-US" sz="2500" dirty="0"/>
          </a:p>
        </p:txBody>
      </p:sp>
      <p:sp>
        <p:nvSpPr>
          <p:cNvPr id="5" name="Text 3"/>
          <p:cNvSpPr/>
          <p:nvPr/>
        </p:nvSpPr>
        <p:spPr>
          <a:xfrm>
            <a:off x="411480" y="822960"/>
            <a:ext cx="8321040" cy="292608"/>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Mexico is one of Unilever's 10 largest markets; 7,000+ employees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8321040" cy="914400"/>
        </p:xfrm>
        <a:graphic>
          <a:graphicData uri="http://schemas.openxmlformats.org/drawingml/2006/table">
            <a:tbl>
              <a:tblPr/>
              <a:tblGrid>
                <a:gridCol w="914400"/>
                <a:gridCol w="3429000"/>
                <a:gridCol w="397764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Date</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F8A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happened</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F8A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Benefit for Unilever</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F8A6B"/>
                    </a:solidFill>
                  </a:tcPr>
                </a:tc>
              </a:tr>
              <a:tr h="0">
                <a:tc>
                  <a:txBody>
                    <a:bodyPr/>
                    <a:lstStyle/>
                    <a:p>
                      <a:pPr indent="0" marL="0">
                        <a:buNone/>
                      </a:pPr>
                      <a:r>
                        <a:rPr lang="en-US" sz="1050" b="1" dirty="0">
                          <a:solidFill>
                            <a:srgbClr val="0F8A6B"/>
                          </a:solidFill>
                          <a:latin typeface="Calibri" pitchFamily="34" charset="0"/>
                          <a:ea typeface="Calibri" pitchFamily="34" charset="-122"/>
                          <a:cs typeface="Calibri" pitchFamily="34" charset="-120"/>
                        </a:rPr>
                        <a:t>Jul 2020</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USMCA enters into force (replaces NAFTA)</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Qualifying goods made in Mexico enter the US and Canada with no tariffs</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F8A6B"/>
                          </a:solidFill>
                          <a:latin typeface="Calibri" pitchFamily="34" charset="0"/>
                          <a:ea typeface="Calibri" pitchFamily="34" charset="-122"/>
                          <a:cs typeface="Calibri" pitchFamily="34" charset="-120"/>
                        </a:rPr>
                        <a:t>Feb 2023</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New beauty &amp; personal care plant in Nuevo León (near the US border) announced: $400m</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Low-cost production next to the US market</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F8A6B"/>
                          </a:solidFill>
                          <a:latin typeface="Calibri" pitchFamily="34" charset="0"/>
                          <a:ea typeface="Calibri" pitchFamily="34" charset="-122"/>
                          <a:cs typeface="Calibri" pitchFamily="34" charset="-120"/>
                        </a:rPr>
                        <a:t>Mar 2025</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US 25% tariff on Mexico (4 Mar); USMCA-qualifying goods exempted (6 Mar)</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Meeting USMCA rules of origin protects Unilever from tariffs</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F8A6B"/>
                          </a:solidFill>
                          <a:latin typeface="Calibri" pitchFamily="34" charset="0"/>
                          <a:ea typeface="Calibri" pitchFamily="34" charset="-122"/>
                          <a:cs typeface="Calibri" pitchFamily="34" charset="-120"/>
                        </a:rPr>
                        <a:t>Apr 2025</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Plant investment doubled to $800m; will "mainly export to the U.S. and Canada"</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850 direct jobs; supplies the US, Unilever's biggest market (€10.5bn turnover, 2025)</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F8A6B"/>
                          </a:solidFill>
                          <a:latin typeface="Calibri" pitchFamily="34" charset="0"/>
                          <a:ea typeface="Calibri" pitchFamily="34" charset="-122"/>
                          <a:cs typeface="Calibri" pitchFamily="34" charset="-120"/>
                        </a:rPr>
                        <a:t>May 2025</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MXN 30bn (~$1.5bn) Mexico plan for 2025–2028 announced with President Sheinbaum</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New lines, logistics and digital tools; plant serves Mexico, the US and Canada</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4224528"/>
            <a:ext cx="8321040" cy="457200"/>
          </a:xfrm>
          <a:prstGeom prst="roundRect">
            <a:avLst>
              <a:gd name="adj" fmla="val 12000"/>
            </a:avLst>
          </a:prstGeom>
          <a:solidFill>
            <a:srgbClr val="F3F4F8"/>
          </a:solidFill>
          <a:ln w="12700">
            <a:solidFill>
              <a:srgbClr val="0F8A6B"/>
            </a:solidFill>
            <a:prstDash val="solid"/>
          </a:ln>
        </p:spPr>
      </p:sp>
      <p:sp>
        <p:nvSpPr>
          <p:cNvPr id="8" name="Text 5"/>
          <p:cNvSpPr/>
          <p:nvPr/>
        </p:nvSpPr>
        <p:spPr>
          <a:xfrm>
            <a:off x="548640" y="4224528"/>
            <a:ext cx="8046720" cy="457200"/>
          </a:xfrm>
          <a:prstGeom prst="rect">
            <a:avLst/>
          </a:prstGeom>
          <a:noFill/>
          <a:ln/>
        </p:spPr>
        <p:txBody>
          <a:bodyPr wrap="square" lIns="0" tIns="0" rIns="0" bIns="0" rtlCol="0" anchor="ctr"/>
          <a:lstStyle/>
          <a:p>
            <a:pPr indent="0" marL="0">
              <a:buNone/>
            </a:pPr>
            <a:r>
              <a:rPr lang="en-US" sz="1150" b="1" dirty="0">
                <a:solidFill>
                  <a:srgbClr val="0F8A6B"/>
                </a:solidFill>
                <a:latin typeface="Calibri" pitchFamily="34" charset="0"/>
                <a:ea typeface="Calibri" pitchFamily="34" charset="-122"/>
                <a:cs typeface="Calibri" pitchFamily="34" charset="-120"/>
              </a:rPr>
              <a:t>So what?  </a:t>
            </a:r>
            <a:pPr indent="0" marL="0">
              <a:buNone/>
            </a:pPr>
            <a:r>
              <a:rPr lang="en-US" sz="1150" dirty="0">
                <a:solidFill>
                  <a:srgbClr val="1A1F36"/>
                </a:solidFill>
                <a:latin typeface="Calibri" pitchFamily="34" charset="0"/>
                <a:ea typeface="Calibri" pitchFamily="34" charset="-122"/>
                <a:cs typeface="Calibri" pitchFamily="34" charset="-120"/>
              </a:rPr>
              <a:t>USMCA makes Mexico a low-cost, tariff-free base for the US. Limit: only ~half of US imports from Mexico qualified in 2024.</a:t>
            </a:r>
            <a:endParaRPr lang="en-US" sz="1150" dirty="0"/>
          </a:p>
        </p:txBody>
      </p:sp>
      <p:sp>
        <p:nvSpPr>
          <p:cNvPr id="9" name="Text 6"/>
          <p:cNvSpPr/>
          <p:nvPr/>
        </p:nvSpPr>
        <p:spPr>
          <a:xfrm>
            <a:off x="411480" y="4736592"/>
            <a:ext cx="8321040" cy="274320"/>
          </a:xfrm>
          <a:prstGeom prst="rect">
            <a:avLst/>
          </a:prstGeom>
          <a:noFill/>
          <a:ln/>
        </p:spPr>
        <p:txBody>
          <a:bodyPr wrap="square" lIns="0" tIns="0" rIns="0" bIns="0" rtlCol="0" anchor="b"/>
          <a:lstStyle/>
          <a:p>
            <a:pPr indent="0" marL="0">
              <a:buNone/>
            </a:pPr>
            <a:r>
              <a:rPr lang="en-US" sz="800" dirty="0">
                <a:solidFill>
                  <a:srgbClr val="6B7280"/>
                </a:solidFill>
                <a:latin typeface="Calibri" pitchFamily="34" charset="0"/>
                <a:ea typeface="Calibri" pitchFamily="34" charset="-122"/>
                <a:cs typeface="Calibri" pitchFamily="34" charset="-120"/>
              </a:rPr>
              <a:t>Sources: USTR (n.d.); MND Staff (2025); Fortune (2025); Bloomberg Línea (2025); Unilever PLC (2026a).</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9822B"/>
          </a:solidFill>
          <a:ln/>
        </p:spPr>
      </p:sp>
      <p:sp>
        <p:nvSpPr>
          <p:cNvPr id="3" name="Text 1"/>
          <p:cNvSpPr/>
          <p:nvPr/>
        </p:nvSpPr>
        <p:spPr>
          <a:xfrm>
            <a:off x="4480560" y="109728"/>
            <a:ext cx="4389120" cy="219456"/>
          </a:xfrm>
          <a:prstGeom prst="rect">
            <a:avLst/>
          </a:prstGeom>
          <a:noFill/>
          <a:ln/>
        </p:spPr>
        <p:txBody>
          <a:bodyPr wrap="square" lIns="0" tIns="0" rIns="0" bIns="0" rtlCol="0" anchor="ctr"/>
          <a:lstStyle/>
          <a:p>
            <a:pPr algn="r" indent="0" marL="0">
              <a:buNone/>
            </a:pPr>
            <a:r>
              <a:rPr lang="en-US" sz="1000" b="1" dirty="0">
                <a:solidFill>
                  <a:srgbClr val="D9822B"/>
                </a:solidFill>
                <a:latin typeface="Calibri" pitchFamily="34" charset="0"/>
                <a:ea typeface="Calibri" pitchFamily="34" charset="-122"/>
                <a:cs typeface="Calibri" pitchFamily="34" charset="-120"/>
              </a:rPr>
              <a:t>Speaker 3 · MNEs from Advanced Economies</a:t>
            </a:r>
            <a:endParaRPr lang="en-US" sz="1000" dirty="0"/>
          </a:p>
        </p:txBody>
      </p:sp>
      <p:sp>
        <p:nvSpPr>
          <p:cNvPr id="4" name="Text 2"/>
          <p:cNvSpPr/>
          <p:nvPr/>
        </p:nvSpPr>
        <p:spPr>
          <a:xfrm>
            <a:off x="411480" y="292608"/>
            <a:ext cx="8321040" cy="548640"/>
          </a:xfrm>
          <a:prstGeom prst="rect">
            <a:avLst/>
          </a:prstGeom>
          <a:noFill/>
          <a:ln/>
        </p:spPr>
        <p:txBody>
          <a:bodyPr wrap="square" lIns="0" tIns="0" rIns="0" bIns="0" rtlCol="0" anchor="ctr"/>
          <a:lstStyle/>
          <a:p>
            <a:pPr indent="0" marL="0">
              <a:buNone/>
            </a:pPr>
            <a:r>
              <a:rPr lang="en-US" sz="2500" b="1" dirty="0">
                <a:solidFill>
                  <a:srgbClr val="1A1F36"/>
                </a:solidFill>
                <a:latin typeface="Calibri" pitchFamily="34" charset="0"/>
                <a:ea typeface="Calibri" pitchFamily="34" charset="-122"/>
                <a:cs typeface="Calibri" pitchFamily="34" charset="-120"/>
              </a:rPr>
              <a:t>MNEs from advanced economies</a:t>
            </a:r>
            <a:endParaRPr lang="en-US" sz="2500" dirty="0"/>
          </a:p>
        </p:txBody>
      </p:sp>
      <p:sp>
        <p:nvSpPr>
          <p:cNvPr id="5" name="Text 3"/>
          <p:cNvSpPr/>
          <p:nvPr/>
        </p:nvSpPr>
        <p:spPr>
          <a:xfrm>
            <a:off x="411480" y="822960"/>
            <a:ext cx="8321040" cy="292608"/>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Lecture 4: MNE goals vs host-country goals</a:t>
            </a:r>
            <a:endParaRPr lang="en-US" sz="1300" dirty="0"/>
          </a:p>
        </p:txBody>
      </p:sp>
      <p:sp>
        <p:nvSpPr>
          <p:cNvPr id="6" name="Shape 4"/>
          <p:cNvSpPr/>
          <p:nvPr/>
        </p:nvSpPr>
        <p:spPr>
          <a:xfrm>
            <a:off x="411480" y="1234440"/>
            <a:ext cx="8321040" cy="713232"/>
          </a:xfrm>
          <a:prstGeom prst="roundRect">
            <a:avLst>
              <a:gd name="adj" fmla="val 10256"/>
            </a:avLst>
          </a:prstGeom>
          <a:solidFill>
            <a:srgbClr val="D9822B"/>
          </a:solidFill>
          <a:ln/>
        </p:spPr>
      </p:sp>
      <p:sp>
        <p:nvSpPr>
          <p:cNvPr id="7" name="Text 5"/>
          <p:cNvSpPr/>
          <p:nvPr/>
        </p:nvSpPr>
        <p:spPr>
          <a:xfrm>
            <a:off x="594360" y="1234440"/>
            <a:ext cx="7955280" cy="7132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 advanced-economy MNE goes abroad to use advantages it already has. Its goals and the host country's goals can clash.</a:t>
            </a:r>
            <a:endParaRPr lang="en-US" sz="1400" dirty="0"/>
          </a:p>
        </p:txBody>
      </p:sp>
      <p:sp>
        <p:nvSpPr>
          <p:cNvPr id="8" name="Shape 6"/>
          <p:cNvSpPr/>
          <p:nvPr/>
        </p:nvSpPr>
        <p:spPr>
          <a:xfrm>
            <a:off x="411480" y="2103120"/>
            <a:ext cx="2651760" cy="2514600"/>
          </a:xfrm>
          <a:prstGeom prst="roundRect">
            <a:avLst>
              <a:gd name="adj" fmla="val 2909"/>
            </a:avLst>
          </a:prstGeom>
          <a:solidFill>
            <a:srgbClr val="F3F4F8"/>
          </a:solidFill>
          <a:ln/>
        </p:spPr>
      </p:sp>
      <p:sp>
        <p:nvSpPr>
          <p:cNvPr id="9" name="Text 7"/>
          <p:cNvSpPr/>
          <p:nvPr/>
        </p:nvSpPr>
        <p:spPr>
          <a:xfrm>
            <a:off x="548640" y="2194560"/>
            <a:ext cx="2377440" cy="365760"/>
          </a:xfrm>
          <a:prstGeom prst="rect">
            <a:avLst/>
          </a:prstGeom>
          <a:noFill/>
          <a:ln/>
        </p:spPr>
        <p:txBody>
          <a:bodyPr wrap="square" lIns="0" tIns="0" rIns="0" bIns="0" rtlCol="0" anchor="ctr"/>
          <a:lstStyle/>
          <a:p>
            <a:pPr indent="0" marL="0">
              <a:buNone/>
            </a:pPr>
            <a:r>
              <a:rPr lang="en-US" sz="1350" b="1" dirty="0">
                <a:solidFill>
                  <a:srgbClr val="D9822B"/>
                </a:solidFill>
                <a:latin typeface="Calibri" pitchFamily="34" charset="0"/>
                <a:ea typeface="Calibri" pitchFamily="34" charset="-122"/>
                <a:cs typeface="Calibri" pitchFamily="34" charset="-120"/>
              </a:rPr>
              <a:t>MNE goals</a:t>
            </a:r>
            <a:endParaRPr lang="en-US" sz="1350" dirty="0"/>
          </a:p>
        </p:txBody>
      </p:sp>
      <p:sp>
        <p:nvSpPr>
          <p:cNvPr id="10" name="Text 8"/>
          <p:cNvSpPr/>
          <p:nvPr/>
        </p:nvSpPr>
        <p:spPr>
          <a:xfrm>
            <a:off x="548640" y="2606040"/>
            <a:ext cx="2377440" cy="19202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High returns</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More sales</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Lower costs</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Share risk</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Better technology</a:t>
            </a:r>
            <a:endParaRPr lang="en-US" sz="1150" dirty="0"/>
          </a:p>
        </p:txBody>
      </p:sp>
      <p:sp>
        <p:nvSpPr>
          <p:cNvPr id="11" name="Shape 9"/>
          <p:cNvSpPr/>
          <p:nvPr/>
        </p:nvSpPr>
        <p:spPr>
          <a:xfrm>
            <a:off x="3246120" y="2103120"/>
            <a:ext cx="2651760" cy="2514600"/>
          </a:xfrm>
          <a:prstGeom prst="roundRect">
            <a:avLst>
              <a:gd name="adj" fmla="val 2909"/>
            </a:avLst>
          </a:prstGeom>
          <a:solidFill>
            <a:srgbClr val="F3F4F8"/>
          </a:solidFill>
          <a:ln/>
        </p:spPr>
      </p:sp>
      <p:sp>
        <p:nvSpPr>
          <p:cNvPr id="12" name="Text 10"/>
          <p:cNvSpPr/>
          <p:nvPr/>
        </p:nvSpPr>
        <p:spPr>
          <a:xfrm>
            <a:off x="3383280" y="2194560"/>
            <a:ext cx="2377440" cy="365760"/>
          </a:xfrm>
          <a:prstGeom prst="rect">
            <a:avLst/>
          </a:prstGeom>
          <a:noFill/>
          <a:ln/>
        </p:spPr>
        <p:txBody>
          <a:bodyPr wrap="square" lIns="0" tIns="0" rIns="0" bIns="0" rtlCol="0" anchor="ctr"/>
          <a:lstStyle/>
          <a:p>
            <a:pPr indent="0" marL="0">
              <a:buNone/>
            </a:pPr>
            <a:r>
              <a:rPr lang="en-US" sz="1350" b="1" dirty="0">
                <a:solidFill>
                  <a:srgbClr val="D9822B"/>
                </a:solidFill>
                <a:latin typeface="Calibri" pitchFamily="34" charset="0"/>
                <a:ea typeface="Calibri" pitchFamily="34" charset="-122"/>
                <a:cs typeface="Calibri" pitchFamily="34" charset="-120"/>
              </a:rPr>
              <a:t>Host-country goals</a:t>
            </a:r>
            <a:endParaRPr lang="en-US" sz="1350" dirty="0"/>
          </a:p>
        </p:txBody>
      </p:sp>
      <p:sp>
        <p:nvSpPr>
          <p:cNvPr id="13" name="Text 11"/>
          <p:cNvSpPr/>
          <p:nvPr/>
        </p:nvSpPr>
        <p:spPr>
          <a:xfrm>
            <a:off x="3383280" y="2606040"/>
            <a:ext cx="2377440" cy="19202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Jobs and growth</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Technology</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Control of the economy</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A fair share of profits</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Clean environment</a:t>
            </a:r>
            <a:endParaRPr lang="en-US" sz="1150" dirty="0"/>
          </a:p>
        </p:txBody>
      </p:sp>
      <p:sp>
        <p:nvSpPr>
          <p:cNvPr id="14" name="Shape 12"/>
          <p:cNvSpPr/>
          <p:nvPr/>
        </p:nvSpPr>
        <p:spPr>
          <a:xfrm>
            <a:off x="6080760" y="2103120"/>
            <a:ext cx="2651760" cy="2514600"/>
          </a:xfrm>
          <a:prstGeom prst="roundRect">
            <a:avLst>
              <a:gd name="adj" fmla="val 2909"/>
            </a:avLst>
          </a:prstGeom>
          <a:solidFill>
            <a:srgbClr val="F3F4F8"/>
          </a:solidFill>
          <a:ln/>
        </p:spPr>
      </p:sp>
      <p:sp>
        <p:nvSpPr>
          <p:cNvPr id="15" name="Text 13"/>
          <p:cNvSpPr/>
          <p:nvPr/>
        </p:nvSpPr>
        <p:spPr>
          <a:xfrm>
            <a:off x="6217920" y="2194560"/>
            <a:ext cx="2377440" cy="365760"/>
          </a:xfrm>
          <a:prstGeom prst="rect">
            <a:avLst/>
          </a:prstGeom>
          <a:noFill/>
          <a:ln/>
        </p:spPr>
        <p:txBody>
          <a:bodyPr wrap="square" lIns="0" tIns="0" rIns="0" bIns="0" rtlCol="0" anchor="ctr"/>
          <a:lstStyle/>
          <a:p>
            <a:pPr indent="0" marL="0">
              <a:buNone/>
            </a:pPr>
            <a:r>
              <a:rPr lang="en-US" sz="1350" b="1" dirty="0">
                <a:solidFill>
                  <a:srgbClr val="D9822B"/>
                </a:solidFill>
                <a:latin typeface="Calibri" pitchFamily="34" charset="0"/>
                <a:ea typeface="Calibri" pitchFamily="34" charset="-122"/>
                <a:cs typeface="Calibri" pitchFamily="34" charset="-120"/>
              </a:rPr>
              <a:t>When they clash</a:t>
            </a:r>
            <a:endParaRPr lang="en-US" sz="1350" dirty="0"/>
          </a:p>
        </p:txBody>
      </p:sp>
      <p:sp>
        <p:nvSpPr>
          <p:cNvPr id="16" name="Text 14"/>
          <p:cNvSpPr/>
          <p:nvPr/>
        </p:nvSpPr>
        <p:spPr>
          <a:xfrm>
            <a:off x="6217920" y="2606040"/>
            <a:ext cx="2377440" cy="19202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Creeping expropriation: new taxes and rules</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Outright expropriation</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Profits leaving the country</a:t>
            </a:r>
            <a:endParaRPr lang="en-US" sz="1150" dirty="0"/>
          </a:p>
        </p:txBody>
      </p:sp>
      <p:sp>
        <p:nvSpPr>
          <p:cNvPr id="17" name="Text 15"/>
          <p:cNvSpPr/>
          <p:nvPr/>
        </p:nvSpPr>
        <p:spPr>
          <a:xfrm>
            <a:off x="411480" y="4736592"/>
            <a:ext cx="8321040" cy="274320"/>
          </a:xfrm>
          <a:prstGeom prst="rect">
            <a:avLst/>
          </a:prstGeom>
          <a:noFill/>
          <a:ln/>
        </p:spPr>
        <p:txBody>
          <a:bodyPr wrap="square" lIns="0" tIns="0" rIns="0" bIns="0" rtlCol="0" anchor="b"/>
          <a:lstStyle/>
          <a:p>
            <a:pPr indent="0" marL="0">
              <a:buNone/>
            </a:pPr>
            <a:r>
              <a:rPr lang="en-US" sz="800" dirty="0">
                <a:solidFill>
                  <a:srgbClr val="6B7280"/>
                </a:solidFill>
                <a:latin typeface="Calibri" pitchFamily="34" charset="0"/>
                <a:ea typeface="Calibri" pitchFamily="34" charset="-122"/>
                <a:cs typeface="Calibri" pitchFamily="34" charset="-120"/>
              </a:rPr>
              <a:t>Sources: University of Greenwich (2026c).</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9822B"/>
          </a:solidFill>
          <a:ln/>
        </p:spPr>
      </p:sp>
      <p:sp>
        <p:nvSpPr>
          <p:cNvPr id="3" name="Text 1"/>
          <p:cNvSpPr/>
          <p:nvPr/>
        </p:nvSpPr>
        <p:spPr>
          <a:xfrm>
            <a:off x="4480560" y="109728"/>
            <a:ext cx="4389120" cy="219456"/>
          </a:xfrm>
          <a:prstGeom prst="rect">
            <a:avLst/>
          </a:prstGeom>
          <a:noFill/>
          <a:ln/>
        </p:spPr>
        <p:txBody>
          <a:bodyPr wrap="square" lIns="0" tIns="0" rIns="0" bIns="0" rtlCol="0" anchor="ctr"/>
          <a:lstStyle/>
          <a:p>
            <a:pPr algn="r" indent="0" marL="0">
              <a:buNone/>
            </a:pPr>
            <a:r>
              <a:rPr lang="en-US" sz="1000" b="1" dirty="0">
                <a:solidFill>
                  <a:srgbClr val="D9822B"/>
                </a:solidFill>
                <a:latin typeface="Calibri" pitchFamily="34" charset="0"/>
                <a:ea typeface="Calibri" pitchFamily="34" charset="-122"/>
                <a:cs typeface="Calibri" pitchFamily="34" charset="-120"/>
              </a:rPr>
              <a:t>Speaker 3 · MNEs from Advanced Economies</a:t>
            </a:r>
            <a:endParaRPr lang="en-US" sz="1000" dirty="0"/>
          </a:p>
        </p:txBody>
      </p:sp>
      <p:sp>
        <p:nvSpPr>
          <p:cNvPr id="4" name="Text 2"/>
          <p:cNvSpPr/>
          <p:nvPr/>
        </p:nvSpPr>
        <p:spPr>
          <a:xfrm>
            <a:off x="411480" y="292608"/>
            <a:ext cx="8321040" cy="548640"/>
          </a:xfrm>
          <a:prstGeom prst="rect">
            <a:avLst/>
          </a:prstGeom>
          <a:noFill/>
          <a:ln/>
        </p:spPr>
        <p:txBody>
          <a:bodyPr wrap="square" lIns="0" tIns="0" rIns="0" bIns="0" rtlCol="0" anchor="ctr"/>
          <a:lstStyle/>
          <a:p>
            <a:pPr indent="0" marL="0">
              <a:buNone/>
            </a:pPr>
            <a:r>
              <a:rPr lang="en-US" sz="2500" b="1" dirty="0">
                <a:solidFill>
                  <a:srgbClr val="1A1F36"/>
                </a:solidFill>
                <a:latin typeface="Calibri" pitchFamily="34" charset="0"/>
                <a:ea typeface="Calibri" pitchFamily="34" charset="-122"/>
                <a:cs typeface="Calibri" pitchFamily="34" charset="-120"/>
              </a:rPr>
              <a:t>Unilever: British advantages, local partners</a:t>
            </a:r>
            <a:endParaRPr lang="en-US" sz="2500" dirty="0"/>
          </a:p>
        </p:txBody>
      </p:sp>
      <p:sp>
        <p:nvSpPr>
          <p:cNvPr id="5" name="Text 3"/>
          <p:cNvSpPr/>
          <p:nvPr/>
        </p:nvSpPr>
        <p:spPr>
          <a:xfrm>
            <a:off x="411480" y="822960"/>
            <a:ext cx="8321040" cy="292608"/>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Brands and R&amp;D from home; shared ownership abroad</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8321040" cy="914400"/>
        </p:xfrm>
        <a:graphic>
          <a:graphicData uri="http://schemas.openxmlformats.org/drawingml/2006/table">
            <a:tbl>
              <a:tblPr/>
              <a:tblGrid>
                <a:gridCol w="914400"/>
                <a:gridCol w="3429000"/>
                <a:gridCol w="397764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Date</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D982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happened</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D982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Impact on Unilever</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D9822B"/>
                    </a:solidFill>
                  </a:tcPr>
                </a:tc>
              </a:tr>
              <a:tr h="0">
                <a:tc>
                  <a:txBody>
                    <a:bodyPr/>
                    <a:lstStyle/>
                    <a:p>
                      <a:pPr indent="0" marL="0">
                        <a:buNone/>
                      </a:pPr>
                      <a:r>
                        <a:rPr lang="en-US" sz="1050" b="1" dirty="0">
                          <a:solidFill>
                            <a:srgbClr val="D9822B"/>
                          </a:solidFill>
                          <a:latin typeface="Calibri" pitchFamily="34" charset="0"/>
                          <a:ea typeface="Calibri" pitchFamily="34" charset="-122"/>
                          <a:cs typeface="Calibri" pitchFamily="34" charset="-120"/>
                        </a:rPr>
                        <a:t>2020–2024</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R&amp;D spending grows from €800m to €987m a year</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Technology and brands: ownership advantages from an advanced economy</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D9822B"/>
                          </a:solidFill>
                          <a:latin typeface="Calibri" pitchFamily="34" charset="0"/>
                          <a:ea typeface="Calibri" pitchFamily="34" charset="-122"/>
                          <a:cs typeface="Calibri" pitchFamily="34" charset="-120"/>
                        </a:rPr>
                        <a:t>Mar 2024</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Productivity programme: about 7,500 office jobs to go</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Target €800m savings in 3 years; €200m saved and 4,300 jobs gone by Dec 2024; €850m restructuring costs in 2024</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D9822B"/>
                          </a:solidFill>
                          <a:latin typeface="Calibri" pitchFamily="34" charset="0"/>
                          <a:ea typeface="Calibri" pitchFamily="34" charset="-122"/>
                          <a:cs typeface="Calibri" pitchFamily="34" charset="-120"/>
                        </a:rPr>
                        <a:t>Oct 2024</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Russian business sold, after staying since Mar 2022</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Protected assets for 2½ years, but clashed with home and host politics</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D9822B"/>
                          </a:solidFill>
                          <a:latin typeface="Calibri" pitchFamily="34" charset="0"/>
                          <a:ea typeface="Calibri" pitchFamily="34" charset="-122"/>
                          <a:cs typeface="Calibri" pitchFamily="34" charset="-120"/>
                        </a:rPr>
                        <a:t>Dec 2024</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Local listed subsidiaries: India 61.9%, Indonesia 85%, Nigeria 76%</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Local investors share profits; lowers political risk</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D9822B"/>
                          </a:solidFill>
                          <a:latin typeface="Calibri" pitchFamily="34" charset="0"/>
                          <a:ea typeface="Calibri" pitchFamily="34" charset="-122"/>
                          <a:cs typeface="Calibri" pitchFamily="34" charset="-120"/>
                        </a:rPr>
                        <a:t>Apr 2025</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Hindustan Unilever buys 90.5% of Minimalist (Rs 2,670 crore; announced Jan 2025)</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Moves Beauty &amp; Wellbeing in India towards faster-growing spaces</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D9822B"/>
                          </a:solidFill>
                          <a:latin typeface="Calibri" pitchFamily="34" charset="0"/>
                          <a:ea typeface="Calibri" pitchFamily="34" charset="-122"/>
                          <a:cs typeface="Calibri" pitchFamily="34" charset="-120"/>
                        </a:rPr>
                        <a:t>Dec 2025</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30 Power Brands make 78% of turnover</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1A1F36"/>
                          </a:solidFill>
                          <a:latin typeface="Calibri" pitchFamily="34" charset="0"/>
                          <a:ea typeface="Calibri" pitchFamily="34" charset="-122"/>
                          <a:cs typeface="Calibri" pitchFamily="34" charset="-120"/>
                        </a:rPr>
                        <a:t>Global brands are the core of its advantage</a:t>
                      </a:r>
                      <a:endParaRPr lang="en-US" sz="10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4224528"/>
            <a:ext cx="8321040" cy="457200"/>
          </a:xfrm>
          <a:prstGeom prst="roundRect">
            <a:avLst>
              <a:gd name="adj" fmla="val 12000"/>
            </a:avLst>
          </a:prstGeom>
          <a:solidFill>
            <a:srgbClr val="F3F4F8"/>
          </a:solidFill>
          <a:ln w="12700">
            <a:solidFill>
              <a:srgbClr val="D9822B"/>
            </a:solidFill>
            <a:prstDash val="solid"/>
          </a:ln>
        </p:spPr>
      </p:sp>
      <p:sp>
        <p:nvSpPr>
          <p:cNvPr id="8" name="Text 5"/>
          <p:cNvSpPr/>
          <p:nvPr/>
        </p:nvSpPr>
        <p:spPr>
          <a:xfrm>
            <a:off x="548640" y="4224528"/>
            <a:ext cx="8046720" cy="457200"/>
          </a:xfrm>
          <a:prstGeom prst="rect">
            <a:avLst/>
          </a:prstGeom>
          <a:noFill/>
          <a:ln/>
        </p:spPr>
        <p:txBody>
          <a:bodyPr wrap="square" lIns="0" tIns="0" rIns="0" bIns="0" rtlCol="0" anchor="ctr"/>
          <a:lstStyle/>
          <a:p>
            <a:pPr indent="0" marL="0">
              <a:buNone/>
            </a:pPr>
            <a:r>
              <a:rPr lang="en-US" sz="1150" b="1" dirty="0">
                <a:solidFill>
                  <a:srgbClr val="D9822B"/>
                </a:solidFill>
                <a:latin typeface="Calibri" pitchFamily="34" charset="0"/>
                <a:ea typeface="Calibri" pitchFamily="34" charset="-122"/>
                <a:cs typeface="Calibri" pitchFamily="34" charset="-120"/>
              </a:rPr>
              <a:t>So what?  </a:t>
            </a:r>
            <a:pPr indent="0" marL="0">
              <a:buNone/>
            </a:pPr>
            <a:r>
              <a:rPr lang="en-US" sz="1150" dirty="0">
                <a:solidFill>
                  <a:srgbClr val="1A1F36"/>
                </a:solidFill>
                <a:latin typeface="Calibri" pitchFamily="34" charset="0"/>
                <a:ea typeface="Calibri" pitchFamily="34" charset="-122"/>
                <a:cs typeface="Calibri" pitchFamily="34" charset="-120"/>
              </a:rPr>
              <a:t>Unilever's advantages come from home, but it must balance profit with host-country jobs and politics.</a:t>
            </a:r>
            <a:endParaRPr lang="en-US" sz="1150" dirty="0"/>
          </a:p>
        </p:txBody>
      </p:sp>
      <p:sp>
        <p:nvSpPr>
          <p:cNvPr id="9" name="Text 6"/>
          <p:cNvSpPr/>
          <p:nvPr/>
        </p:nvSpPr>
        <p:spPr>
          <a:xfrm>
            <a:off x="411480" y="4736592"/>
            <a:ext cx="8321040" cy="274320"/>
          </a:xfrm>
          <a:prstGeom prst="rect">
            <a:avLst/>
          </a:prstGeom>
          <a:noFill/>
          <a:ln/>
        </p:spPr>
        <p:txBody>
          <a:bodyPr wrap="square" lIns="0" tIns="0" rIns="0" bIns="0" rtlCol="0" anchor="b"/>
          <a:lstStyle/>
          <a:p>
            <a:pPr indent="0" marL="0">
              <a:buNone/>
            </a:pPr>
            <a:r>
              <a:rPr lang="en-US" sz="800" dirty="0">
                <a:solidFill>
                  <a:srgbClr val="6B7280"/>
                </a:solidFill>
                <a:latin typeface="Calibri" pitchFamily="34" charset="0"/>
                <a:ea typeface="Calibri" pitchFamily="34" charset="-122"/>
                <a:cs typeface="Calibri" pitchFamily="34" charset="-120"/>
              </a:rPr>
              <a:t>Sources: Unilever PLC (2021; 2025a; 2025b; 2026a; 2026b); Entrackr (2025).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C3AED"/>
          </a:solidFill>
          <a:ln/>
        </p:spPr>
      </p:sp>
      <p:sp>
        <p:nvSpPr>
          <p:cNvPr id="3" name="Text 1"/>
          <p:cNvSpPr/>
          <p:nvPr/>
        </p:nvSpPr>
        <p:spPr>
          <a:xfrm>
            <a:off x="4480560" y="109728"/>
            <a:ext cx="4389120" cy="219456"/>
          </a:xfrm>
          <a:prstGeom prst="rect">
            <a:avLst/>
          </a:prstGeom>
          <a:noFill/>
          <a:ln/>
        </p:spPr>
        <p:txBody>
          <a:bodyPr wrap="square" lIns="0" tIns="0" rIns="0" bIns="0" rtlCol="0" anchor="ctr"/>
          <a:lstStyle/>
          <a:p>
            <a:pPr algn="r" indent="0" marL="0">
              <a:buNone/>
            </a:pPr>
            <a:r>
              <a:rPr lang="en-US" sz="1000" b="1" dirty="0">
                <a:solidFill>
                  <a:srgbClr val="7C3AED"/>
                </a:solidFill>
                <a:latin typeface="Calibri" pitchFamily="34" charset="0"/>
                <a:ea typeface="Calibri" pitchFamily="34" charset="-122"/>
                <a:cs typeface="Calibri" pitchFamily="34" charset="-120"/>
              </a:rPr>
              <a:t>Speaker 4 · FDI</a:t>
            </a:r>
            <a:endParaRPr lang="en-US" sz="1000" dirty="0"/>
          </a:p>
        </p:txBody>
      </p:sp>
      <p:sp>
        <p:nvSpPr>
          <p:cNvPr id="4" name="Text 2"/>
          <p:cNvSpPr/>
          <p:nvPr/>
        </p:nvSpPr>
        <p:spPr>
          <a:xfrm>
            <a:off x="411480" y="292608"/>
            <a:ext cx="8321040" cy="548640"/>
          </a:xfrm>
          <a:prstGeom prst="rect">
            <a:avLst/>
          </a:prstGeom>
          <a:noFill/>
          <a:ln/>
        </p:spPr>
        <p:txBody>
          <a:bodyPr wrap="square" lIns="0" tIns="0" rIns="0" bIns="0" rtlCol="0" anchor="ctr"/>
          <a:lstStyle/>
          <a:p>
            <a:pPr indent="0" marL="0">
              <a:buNone/>
            </a:pPr>
            <a:r>
              <a:rPr lang="en-US" sz="2500" b="1" dirty="0">
                <a:solidFill>
                  <a:srgbClr val="1A1F36"/>
                </a:solidFill>
                <a:latin typeface="Calibri" pitchFamily="34" charset="0"/>
                <a:ea typeface="Calibri" pitchFamily="34" charset="-122"/>
                <a:cs typeface="Calibri" pitchFamily="34" charset="-120"/>
              </a:rPr>
              <a:t>FDI: why and how firms invest abroad</a:t>
            </a:r>
            <a:endParaRPr lang="en-US" sz="2500" dirty="0"/>
          </a:p>
        </p:txBody>
      </p:sp>
      <p:sp>
        <p:nvSpPr>
          <p:cNvPr id="5" name="Text 3"/>
          <p:cNvSpPr/>
          <p:nvPr/>
        </p:nvSpPr>
        <p:spPr>
          <a:xfrm>
            <a:off x="411480" y="822960"/>
            <a:ext cx="8321040" cy="292608"/>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Lecture 3 · Focus country: United States</a:t>
            </a:r>
            <a:endParaRPr lang="en-US" sz="1300" dirty="0"/>
          </a:p>
        </p:txBody>
      </p:sp>
      <p:sp>
        <p:nvSpPr>
          <p:cNvPr id="6" name="Shape 4"/>
          <p:cNvSpPr/>
          <p:nvPr/>
        </p:nvSpPr>
        <p:spPr>
          <a:xfrm>
            <a:off x="411480" y="1234440"/>
            <a:ext cx="8321040" cy="713232"/>
          </a:xfrm>
          <a:prstGeom prst="roundRect">
            <a:avLst>
              <a:gd name="adj" fmla="val 10256"/>
            </a:avLst>
          </a:prstGeom>
          <a:solidFill>
            <a:srgbClr val="7C3AED"/>
          </a:solidFill>
          <a:ln/>
        </p:spPr>
      </p:sp>
      <p:sp>
        <p:nvSpPr>
          <p:cNvPr id="7" name="Text 5"/>
          <p:cNvSpPr/>
          <p:nvPr/>
        </p:nvSpPr>
        <p:spPr>
          <a:xfrm>
            <a:off x="594360" y="1234440"/>
            <a:ext cx="7955280" cy="7132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FDI: a company owns and controls a business in another country, by building it (greenfield) or buying it (M&amp;A).</a:t>
            </a:r>
            <a:endParaRPr lang="en-US" sz="1400" dirty="0"/>
          </a:p>
        </p:txBody>
      </p:sp>
      <p:sp>
        <p:nvSpPr>
          <p:cNvPr id="8" name="Shape 6"/>
          <p:cNvSpPr/>
          <p:nvPr/>
        </p:nvSpPr>
        <p:spPr>
          <a:xfrm>
            <a:off x="411480" y="2103120"/>
            <a:ext cx="2651760" cy="2514600"/>
          </a:xfrm>
          <a:prstGeom prst="roundRect">
            <a:avLst>
              <a:gd name="adj" fmla="val 2909"/>
            </a:avLst>
          </a:prstGeom>
          <a:solidFill>
            <a:srgbClr val="F3F4F8"/>
          </a:solidFill>
          <a:ln/>
        </p:spPr>
      </p:sp>
      <p:sp>
        <p:nvSpPr>
          <p:cNvPr id="9" name="Text 7"/>
          <p:cNvSpPr/>
          <p:nvPr/>
        </p:nvSpPr>
        <p:spPr>
          <a:xfrm>
            <a:off x="548640" y="2194560"/>
            <a:ext cx="2377440" cy="365760"/>
          </a:xfrm>
          <a:prstGeom prst="rect">
            <a:avLst/>
          </a:prstGeom>
          <a:noFill/>
          <a:ln/>
        </p:spPr>
        <p:txBody>
          <a:bodyPr wrap="square" lIns="0" tIns="0" rIns="0" bIns="0" rtlCol="0" anchor="ctr"/>
          <a:lstStyle/>
          <a:p>
            <a:pPr indent="0" marL="0">
              <a:buNone/>
            </a:pPr>
            <a:r>
              <a:rPr lang="en-US" sz="1350" b="1" dirty="0">
                <a:solidFill>
                  <a:srgbClr val="7C3AED"/>
                </a:solidFill>
                <a:latin typeface="Calibri" pitchFamily="34" charset="0"/>
                <a:ea typeface="Calibri" pitchFamily="34" charset="-122"/>
                <a:cs typeface="Calibri" pitchFamily="34" charset="-120"/>
              </a:rPr>
              <a:t>OLI model (Dunning)</a:t>
            </a:r>
            <a:endParaRPr lang="en-US" sz="1350" dirty="0"/>
          </a:p>
        </p:txBody>
      </p:sp>
      <p:sp>
        <p:nvSpPr>
          <p:cNvPr id="10" name="Text 8"/>
          <p:cNvSpPr/>
          <p:nvPr/>
        </p:nvSpPr>
        <p:spPr>
          <a:xfrm>
            <a:off x="548640" y="2606040"/>
            <a:ext cx="2377440" cy="19202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O – Ownership: brands, technology, money</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L – Location: big market, low costs</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I – Internalisation: own it, do not license it</a:t>
            </a:r>
            <a:endParaRPr lang="en-US" sz="1150" dirty="0"/>
          </a:p>
        </p:txBody>
      </p:sp>
      <p:sp>
        <p:nvSpPr>
          <p:cNvPr id="11" name="Shape 9"/>
          <p:cNvSpPr/>
          <p:nvPr/>
        </p:nvSpPr>
        <p:spPr>
          <a:xfrm>
            <a:off x="3246120" y="2103120"/>
            <a:ext cx="2651760" cy="2514600"/>
          </a:xfrm>
          <a:prstGeom prst="roundRect">
            <a:avLst>
              <a:gd name="adj" fmla="val 2909"/>
            </a:avLst>
          </a:prstGeom>
          <a:solidFill>
            <a:srgbClr val="F3F4F8"/>
          </a:solidFill>
          <a:ln/>
        </p:spPr>
      </p:sp>
      <p:sp>
        <p:nvSpPr>
          <p:cNvPr id="12" name="Text 10"/>
          <p:cNvSpPr/>
          <p:nvPr/>
        </p:nvSpPr>
        <p:spPr>
          <a:xfrm>
            <a:off x="3383280" y="2194560"/>
            <a:ext cx="2377440" cy="365760"/>
          </a:xfrm>
          <a:prstGeom prst="rect">
            <a:avLst/>
          </a:prstGeom>
          <a:noFill/>
          <a:ln/>
        </p:spPr>
        <p:txBody>
          <a:bodyPr wrap="square" lIns="0" tIns="0" rIns="0" bIns="0" rtlCol="0" anchor="ctr"/>
          <a:lstStyle/>
          <a:p>
            <a:pPr indent="0" marL="0">
              <a:buNone/>
            </a:pPr>
            <a:r>
              <a:rPr lang="en-US" sz="1350" b="1" dirty="0">
                <a:solidFill>
                  <a:srgbClr val="7C3AED"/>
                </a:solidFill>
                <a:latin typeface="Calibri" pitchFamily="34" charset="0"/>
                <a:ea typeface="Calibri" pitchFamily="34" charset="-122"/>
                <a:cs typeface="Calibri" pitchFamily="34" charset="-120"/>
              </a:rPr>
              <a:t>Four motives</a:t>
            </a:r>
            <a:endParaRPr lang="en-US" sz="1350" dirty="0"/>
          </a:p>
        </p:txBody>
      </p:sp>
      <p:sp>
        <p:nvSpPr>
          <p:cNvPr id="13" name="Text 11"/>
          <p:cNvSpPr/>
          <p:nvPr/>
        </p:nvSpPr>
        <p:spPr>
          <a:xfrm>
            <a:off x="3383280" y="2606040"/>
            <a:ext cx="2377440" cy="19202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Market-seeking</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Resource-seeking</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Efficiency-seeking</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Strategic asset-seeking</a:t>
            </a:r>
            <a:endParaRPr lang="en-US" sz="1150" dirty="0"/>
          </a:p>
        </p:txBody>
      </p:sp>
      <p:sp>
        <p:nvSpPr>
          <p:cNvPr id="14" name="Shape 12"/>
          <p:cNvSpPr/>
          <p:nvPr/>
        </p:nvSpPr>
        <p:spPr>
          <a:xfrm>
            <a:off x="6080760" y="2103120"/>
            <a:ext cx="2651760" cy="2514600"/>
          </a:xfrm>
          <a:prstGeom prst="roundRect">
            <a:avLst>
              <a:gd name="adj" fmla="val 2909"/>
            </a:avLst>
          </a:prstGeom>
          <a:solidFill>
            <a:srgbClr val="F3F4F8"/>
          </a:solidFill>
          <a:ln/>
        </p:spPr>
      </p:sp>
      <p:sp>
        <p:nvSpPr>
          <p:cNvPr id="15" name="Text 13"/>
          <p:cNvSpPr/>
          <p:nvPr/>
        </p:nvSpPr>
        <p:spPr>
          <a:xfrm>
            <a:off x="6217920" y="2194560"/>
            <a:ext cx="2377440" cy="365760"/>
          </a:xfrm>
          <a:prstGeom prst="rect">
            <a:avLst/>
          </a:prstGeom>
          <a:noFill/>
          <a:ln/>
        </p:spPr>
        <p:txBody>
          <a:bodyPr wrap="square" lIns="0" tIns="0" rIns="0" bIns="0" rtlCol="0" anchor="ctr"/>
          <a:lstStyle/>
          <a:p>
            <a:pPr indent="0" marL="0">
              <a:buNone/>
            </a:pPr>
            <a:r>
              <a:rPr lang="en-US" sz="1350" b="1" dirty="0">
                <a:solidFill>
                  <a:srgbClr val="7C3AED"/>
                </a:solidFill>
                <a:latin typeface="Calibri" pitchFamily="34" charset="0"/>
                <a:ea typeface="Calibri" pitchFamily="34" charset="-122"/>
                <a:cs typeface="Calibri" pitchFamily="34" charset="-120"/>
              </a:rPr>
              <a:t>Two modes</a:t>
            </a:r>
            <a:endParaRPr lang="en-US" sz="1350" dirty="0"/>
          </a:p>
        </p:txBody>
      </p:sp>
      <p:sp>
        <p:nvSpPr>
          <p:cNvPr id="16" name="Text 14"/>
          <p:cNvSpPr/>
          <p:nvPr/>
        </p:nvSpPr>
        <p:spPr>
          <a:xfrm>
            <a:off x="6217920" y="2606040"/>
            <a:ext cx="2377440" cy="19202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Greenfield: build new; slower, full control</a:t>
            </a:r>
            <a:endParaRPr lang="en-US" sz="1150" dirty="0"/>
          </a:p>
          <a:p>
            <a:pPr marL="342900" indent="-342900">
              <a:spcAft>
                <a:spcPts val="400"/>
              </a:spcAft>
              <a:buSzPct val="100000"/>
              <a:buChar char="•"/>
            </a:pPr>
            <a:r>
              <a:rPr lang="en-US" sz="1150" dirty="0">
                <a:solidFill>
                  <a:srgbClr val="1A1F36"/>
                </a:solidFill>
                <a:latin typeface="Calibri" pitchFamily="34" charset="0"/>
                <a:ea typeface="Calibri" pitchFamily="34" charset="-122"/>
                <a:cs typeface="Calibri" pitchFamily="34" charset="-120"/>
              </a:rPr>
              <a:t>M&amp;A: buy; faster, but expensive and hard to integrate</a:t>
            </a:r>
            <a:endParaRPr lang="en-US" sz="1150" dirty="0"/>
          </a:p>
        </p:txBody>
      </p:sp>
      <p:sp>
        <p:nvSpPr>
          <p:cNvPr id="17" name="Text 15"/>
          <p:cNvSpPr/>
          <p:nvPr/>
        </p:nvSpPr>
        <p:spPr>
          <a:xfrm>
            <a:off x="411480" y="4736592"/>
            <a:ext cx="8321040" cy="274320"/>
          </a:xfrm>
          <a:prstGeom prst="rect">
            <a:avLst/>
          </a:prstGeom>
          <a:noFill/>
          <a:ln/>
        </p:spPr>
        <p:txBody>
          <a:bodyPr wrap="square" lIns="0" tIns="0" rIns="0" bIns="0" rtlCol="0" anchor="b"/>
          <a:lstStyle/>
          <a:p>
            <a:pPr indent="0" marL="0">
              <a:buNone/>
            </a:pPr>
            <a:r>
              <a:rPr lang="en-US" sz="800" dirty="0">
                <a:solidFill>
                  <a:srgbClr val="6B7280"/>
                </a:solidFill>
                <a:latin typeface="Calibri" pitchFamily="34" charset="0"/>
                <a:ea typeface="Calibri" pitchFamily="34" charset="-122"/>
                <a:cs typeface="Calibri" pitchFamily="34" charset="-120"/>
              </a:rPr>
              <a:t>Sources: Dunning (1988); University of Greenwich (2026d).</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C3AED"/>
          </a:solidFill>
          <a:ln/>
        </p:spPr>
      </p:sp>
      <p:sp>
        <p:nvSpPr>
          <p:cNvPr id="3" name="Text 1"/>
          <p:cNvSpPr/>
          <p:nvPr/>
        </p:nvSpPr>
        <p:spPr>
          <a:xfrm>
            <a:off x="4480560" y="109728"/>
            <a:ext cx="4389120" cy="219456"/>
          </a:xfrm>
          <a:prstGeom prst="rect">
            <a:avLst/>
          </a:prstGeom>
          <a:noFill/>
          <a:ln/>
        </p:spPr>
        <p:txBody>
          <a:bodyPr wrap="square" lIns="0" tIns="0" rIns="0" bIns="0" rtlCol="0" anchor="ctr"/>
          <a:lstStyle/>
          <a:p>
            <a:pPr algn="r" indent="0" marL="0">
              <a:buNone/>
            </a:pPr>
            <a:r>
              <a:rPr lang="en-US" sz="1000" b="1" dirty="0">
                <a:solidFill>
                  <a:srgbClr val="7C3AED"/>
                </a:solidFill>
                <a:latin typeface="Calibri" pitchFamily="34" charset="0"/>
                <a:ea typeface="Calibri" pitchFamily="34" charset="-122"/>
                <a:cs typeface="Calibri" pitchFamily="34" charset="-120"/>
              </a:rPr>
              <a:t>Speaker 4 · FDI</a:t>
            </a:r>
            <a:endParaRPr lang="en-US" sz="1000" dirty="0"/>
          </a:p>
        </p:txBody>
      </p:sp>
      <p:sp>
        <p:nvSpPr>
          <p:cNvPr id="4" name="Text 2"/>
          <p:cNvSpPr/>
          <p:nvPr/>
        </p:nvSpPr>
        <p:spPr>
          <a:xfrm>
            <a:off x="411480" y="292608"/>
            <a:ext cx="8321040" cy="548640"/>
          </a:xfrm>
          <a:prstGeom prst="rect">
            <a:avLst/>
          </a:prstGeom>
          <a:noFill/>
          <a:ln/>
        </p:spPr>
        <p:txBody>
          <a:bodyPr wrap="square" lIns="0" tIns="0" rIns="0" bIns="0" rtlCol="0" anchor="ctr"/>
          <a:lstStyle/>
          <a:p>
            <a:pPr indent="0" marL="0">
              <a:buNone/>
            </a:pPr>
            <a:r>
              <a:rPr lang="en-US" sz="2500" b="1" dirty="0">
                <a:solidFill>
                  <a:srgbClr val="1A1F36"/>
                </a:solidFill>
                <a:latin typeface="Calibri" pitchFamily="34" charset="0"/>
                <a:ea typeface="Calibri" pitchFamily="34" charset="-122"/>
                <a:cs typeface="Calibri" pitchFamily="34" charset="-120"/>
              </a:rPr>
              <a:t>Why the United States? Unilever and OLI</a:t>
            </a:r>
            <a:endParaRPr lang="en-US" sz="2500" dirty="0"/>
          </a:p>
        </p:txBody>
      </p:sp>
      <p:sp>
        <p:nvSpPr>
          <p:cNvPr id="5" name="Text 3"/>
          <p:cNvSpPr/>
          <p:nvPr/>
        </p:nvSpPr>
        <p:spPr>
          <a:xfrm>
            <a:off x="411480" y="822960"/>
            <a:ext cx="8321040" cy="292608"/>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The US: world's largest FDI host ($279bn in 2024) and Unilever's biggest market</a:t>
            </a:r>
            <a:endParaRPr lang="en-US" sz="1300" dirty="0"/>
          </a:p>
        </p:txBody>
      </p:sp>
      <p:graphicFrame>
        <p:nvGraphicFramePr>
          <p:cNvPr id="6" name="Chart 0" descr=""/>
          <p:cNvGraphicFramePr/>
          <p:nvPr/>
        </p:nvGraphicFramePr>
        <p:xfrm>
          <a:off x="411480" y="1188720"/>
          <a:ext cx="4480560" cy="32461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11480" y="4407408"/>
            <a:ext cx="4480560" cy="274320"/>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*2025 excludes Ice Cream (demerged Dec 2025); 2024 on the same basis: €10.4bn. About 1/5 of group turnover.</a:t>
            </a:r>
            <a:endParaRPr lang="en-US" sz="850" dirty="0"/>
          </a:p>
        </p:txBody>
      </p:sp>
      <p:sp>
        <p:nvSpPr>
          <p:cNvPr id="8" name="Shape 5"/>
          <p:cNvSpPr/>
          <p:nvPr/>
        </p:nvSpPr>
        <p:spPr>
          <a:xfrm>
            <a:off x="5120640" y="1188720"/>
            <a:ext cx="3611880" cy="987552"/>
          </a:xfrm>
          <a:prstGeom prst="roundRect">
            <a:avLst>
              <a:gd name="adj" fmla="val 7407"/>
            </a:avLst>
          </a:prstGeom>
          <a:solidFill>
            <a:srgbClr val="F3F4F8"/>
          </a:solidFill>
          <a:ln/>
        </p:spPr>
      </p:sp>
      <p:sp>
        <p:nvSpPr>
          <p:cNvPr id="9" name="Text 6"/>
          <p:cNvSpPr/>
          <p:nvPr/>
        </p:nvSpPr>
        <p:spPr>
          <a:xfrm>
            <a:off x="5257800" y="1188720"/>
            <a:ext cx="3383280" cy="987552"/>
          </a:xfrm>
          <a:prstGeom prst="rect">
            <a:avLst/>
          </a:prstGeom>
          <a:noFill/>
          <a:ln/>
        </p:spPr>
        <p:txBody>
          <a:bodyPr wrap="square" lIns="0" tIns="0" rIns="0" bIns="0" rtlCol="0" anchor="ctr"/>
          <a:lstStyle/>
          <a:p>
            <a:pPr indent="0" marL="0">
              <a:buNone/>
            </a:pPr>
            <a:r>
              <a:rPr lang="en-US" sz="1350" b="1" dirty="0">
                <a:solidFill>
                  <a:srgbClr val="7C3AED"/>
                </a:solidFill>
                <a:latin typeface="Calibri" pitchFamily="34" charset="0"/>
                <a:ea typeface="Calibri" pitchFamily="34" charset="-122"/>
                <a:cs typeface="Calibri" pitchFamily="34" charset="-120"/>
              </a:rPr>
              <a:t>O · Ownership</a:t>
            </a:r>
            <a:endParaRPr lang="en-US" sz="1350" dirty="0"/>
          </a:p>
          <a:p>
            <a:pPr indent="0" marL="0">
              <a:buNone/>
            </a:pPr>
            <a:r>
              <a:rPr lang="en-US" sz="1150" dirty="0">
                <a:solidFill>
                  <a:srgbClr val="1A1F36"/>
                </a:solidFill>
                <a:latin typeface="Calibri" pitchFamily="34" charset="0"/>
                <a:ea typeface="Calibri" pitchFamily="34" charset="-122"/>
                <a:cs typeface="Calibri" pitchFamily="34" charset="-120"/>
              </a:rPr>
              <a:t>Global brands, money and worldwide distribution</a:t>
            </a:r>
            <a:endParaRPr lang="en-US" sz="1350" dirty="0"/>
          </a:p>
        </p:txBody>
      </p:sp>
      <p:sp>
        <p:nvSpPr>
          <p:cNvPr id="10" name="Shape 7"/>
          <p:cNvSpPr/>
          <p:nvPr/>
        </p:nvSpPr>
        <p:spPr>
          <a:xfrm>
            <a:off x="5120640" y="2304288"/>
            <a:ext cx="3611880" cy="987552"/>
          </a:xfrm>
          <a:prstGeom prst="roundRect">
            <a:avLst>
              <a:gd name="adj" fmla="val 7407"/>
            </a:avLst>
          </a:prstGeom>
          <a:solidFill>
            <a:srgbClr val="F3F4F8"/>
          </a:solidFill>
          <a:ln/>
        </p:spPr>
      </p:sp>
      <p:sp>
        <p:nvSpPr>
          <p:cNvPr id="11" name="Text 8"/>
          <p:cNvSpPr/>
          <p:nvPr/>
        </p:nvSpPr>
        <p:spPr>
          <a:xfrm>
            <a:off x="5257800" y="2304288"/>
            <a:ext cx="3383280" cy="987552"/>
          </a:xfrm>
          <a:prstGeom prst="rect">
            <a:avLst/>
          </a:prstGeom>
          <a:noFill/>
          <a:ln/>
        </p:spPr>
        <p:txBody>
          <a:bodyPr wrap="square" lIns="0" tIns="0" rIns="0" bIns="0" rtlCol="0" anchor="ctr"/>
          <a:lstStyle/>
          <a:p>
            <a:pPr indent="0" marL="0">
              <a:buNone/>
            </a:pPr>
            <a:r>
              <a:rPr lang="en-US" sz="1350" b="1" dirty="0">
                <a:solidFill>
                  <a:srgbClr val="7C3AED"/>
                </a:solidFill>
                <a:latin typeface="Calibri" pitchFamily="34" charset="0"/>
                <a:ea typeface="Calibri" pitchFamily="34" charset="-122"/>
                <a:cs typeface="Calibri" pitchFamily="34" charset="-120"/>
              </a:rPr>
              <a:t>L · Location</a:t>
            </a:r>
            <a:endParaRPr lang="en-US" sz="1350" dirty="0"/>
          </a:p>
          <a:p>
            <a:pPr indent="0" marL="0">
              <a:buNone/>
            </a:pPr>
            <a:r>
              <a:rPr lang="en-US" sz="1150" dirty="0">
                <a:solidFill>
                  <a:srgbClr val="1A1F36"/>
                </a:solidFill>
                <a:latin typeface="Calibri" pitchFamily="34" charset="0"/>
                <a:ea typeface="Calibri" pitchFamily="34" charset="-122"/>
                <a:cs typeface="Calibri" pitchFamily="34" charset="-120"/>
              </a:rPr>
              <a:t>Biggest market; many premium and online shoppers</a:t>
            </a:r>
            <a:endParaRPr lang="en-US" sz="1350" dirty="0"/>
          </a:p>
        </p:txBody>
      </p:sp>
      <p:sp>
        <p:nvSpPr>
          <p:cNvPr id="12" name="Shape 9"/>
          <p:cNvSpPr/>
          <p:nvPr/>
        </p:nvSpPr>
        <p:spPr>
          <a:xfrm>
            <a:off x="5120640" y="3419856"/>
            <a:ext cx="3611880" cy="987552"/>
          </a:xfrm>
          <a:prstGeom prst="roundRect">
            <a:avLst>
              <a:gd name="adj" fmla="val 7407"/>
            </a:avLst>
          </a:prstGeom>
          <a:solidFill>
            <a:srgbClr val="F3F4F8"/>
          </a:solidFill>
          <a:ln/>
        </p:spPr>
      </p:sp>
      <p:sp>
        <p:nvSpPr>
          <p:cNvPr id="13" name="Text 10"/>
          <p:cNvSpPr/>
          <p:nvPr/>
        </p:nvSpPr>
        <p:spPr>
          <a:xfrm>
            <a:off x="5257800" y="3419856"/>
            <a:ext cx="3383280" cy="987552"/>
          </a:xfrm>
          <a:prstGeom prst="rect">
            <a:avLst/>
          </a:prstGeom>
          <a:noFill/>
          <a:ln/>
        </p:spPr>
        <p:txBody>
          <a:bodyPr wrap="square" lIns="0" tIns="0" rIns="0" bIns="0" rtlCol="0" anchor="ctr"/>
          <a:lstStyle/>
          <a:p>
            <a:pPr indent="0" marL="0">
              <a:buNone/>
            </a:pPr>
            <a:r>
              <a:rPr lang="en-US" sz="1350" b="1" dirty="0">
                <a:solidFill>
                  <a:srgbClr val="7C3AED"/>
                </a:solidFill>
                <a:latin typeface="Calibri" pitchFamily="34" charset="0"/>
                <a:ea typeface="Calibri" pitchFamily="34" charset="-122"/>
                <a:cs typeface="Calibri" pitchFamily="34" charset="-120"/>
              </a:rPr>
              <a:t>I · Internalisation</a:t>
            </a:r>
            <a:endParaRPr lang="en-US" sz="1350" dirty="0"/>
          </a:p>
          <a:p>
            <a:pPr indent="0" marL="0">
              <a:buNone/>
            </a:pPr>
            <a:r>
              <a:rPr lang="en-US" sz="1150" dirty="0">
                <a:solidFill>
                  <a:srgbClr val="1A1F36"/>
                </a:solidFill>
                <a:latin typeface="Calibri" pitchFamily="34" charset="0"/>
                <a:ea typeface="Calibri" pitchFamily="34" charset="-122"/>
                <a:cs typeface="Calibri" pitchFamily="34" charset="-120"/>
              </a:rPr>
              <a:t>Owns the brands to control them and take them abroad (Nutrafol → Canada, 2023)</a:t>
            </a:r>
            <a:endParaRPr lang="en-US" sz="1350" dirty="0"/>
          </a:p>
        </p:txBody>
      </p:sp>
      <p:sp>
        <p:nvSpPr>
          <p:cNvPr id="14" name="Text 11"/>
          <p:cNvSpPr/>
          <p:nvPr/>
        </p:nvSpPr>
        <p:spPr>
          <a:xfrm>
            <a:off x="411480" y="4736592"/>
            <a:ext cx="8321040" cy="274320"/>
          </a:xfrm>
          <a:prstGeom prst="rect">
            <a:avLst/>
          </a:prstGeom>
          <a:noFill/>
          <a:ln/>
        </p:spPr>
        <p:txBody>
          <a:bodyPr wrap="square" lIns="0" tIns="0" rIns="0" bIns="0" rtlCol="0" anchor="b"/>
          <a:lstStyle/>
          <a:p>
            <a:pPr indent="0" marL="0">
              <a:buNone/>
            </a:pPr>
            <a:r>
              <a:rPr lang="en-US" sz="800" dirty="0">
                <a:solidFill>
                  <a:srgbClr val="6B7280"/>
                </a:solidFill>
                <a:latin typeface="Calibri" pitchFamily="34" charset="0"/>
                <a:ea typeface="Calibri" pitchFamily="34" charset="-122"/>
                <a:cs typeface="Calibri" pitchFamily="34" charset="-120"/>
              </a:rPr>
              <a:t>Sources: Unilever PLC (2022; 2023a; 2024; 2025a; 2026a); UNCTAD (2025).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C3AED"/>
          </a:solidFill>
          <a:ln/>
        </p:spPr>
      </p:sp>
      <p:sp>
        <p:nvSpPr>
          <p:cNvPr id="3" name="Text 1"/>
          <p:cNvSpPr/>
          <p:nvPr/>
        </p:nvSpPr>
        <p:spPr>
          <a:xfrm>
            <a:off x="4480560" y="109728"/>
            <a:ext cx="4389120" cy="219456"/>
          </a:xfrm>
          <a:prstGeom prst="rect">
            <a:avLst/>
          </a:prstGeom>
          <a:noFill/>
          <a:ln/>
        </p:spPr>
        <p:txBody>
          <a:bodyPr wrap="square" lIns="0" tIns="0" rIns="0" bIns="0" rtlCol="0" anchor="ctr"/>
          <a:lstStyle/>
          <a:p>
            <a:pPr algn="r" indent="0" marL="0">
              <a:buNone/>
            </a:pPr>
            <a:r>
              <a:rPr lang="en-US" sz="1000" b="1" dirty="0">
                <a:solidFill>
                  <a:srgbClr val="7C3AED"/>
                </a:solidFill>
                <a:latin typeface="Calibri" pitchFamily="34" charset="0"/>
                <a:ea typeface="Calibri" pitchFamily="34" charset="-122"/>
                <a:cs typeface="Calibri" pitchFamily="34" charset="-120"/>
              </a:rPr>
              <a:t>Speaker 4 · FDI</a:t>
            </a:r>
            <a:endParaRPr lang="en-US" sz="1000" dirty="0"/>
          </a:p>
        </p:txBody>
      </p:sp>
      <p:sp>
        <p:nvSpPr>
          <p:cNvPr id="4" name="Text 2"/>
          <p:cNvSpPr/>
          <p:nvPr/>
        </p:nvSpPr>
        <p:spPr>
          <a:xfrm>
            <a:off x="411480" y="292608"/>
            <a:ext cx="8321040" cy="548640"/>
          </a:xfrm>
          <a:prstGeom prst="rect">
            <a:avLst/>
          </a:prstGeom>
          <a:noFill/>
          <a:ln/>
        </p:spPr>
        <p:txBody>
          <a:bodyPr wrap="square" lIns="0" tIns="0" rIns="0" bIns="0" rtlCol="0" anchor="ctr"/>
          <a:lstStyle/>
          <a:p>
            <a:pPr indent="0" marL="0">
              <a:buNone/>
            </a:pPr>
            <a:r>
              <a:rPr lang="en-US" sz="2500" b="1" dirty="0">
                <a:solidFill>
                  <a:srgbClr val="1A1F36"/>
                </a:solidFill>
                <a:latin typeface="Calibri" pitchFamily="34" charset="0"/>
                <a:ea typeface="Calibri" pitchFamily="34" charset="-122"/>
                <a:cs typeface="Calibri" pitchFamily="34" charset="-120"/>
              </a:rPr>
              <a:t>Unilever in the US: what each deal brought</a:t>
            </a:r>
            <a:endParaRPr lang="en-US" sz="2500" dirty="0"/>
          </a:p>
        </p:txBody>
      </p:sp>
      <p:sp>
        <p:nvSpPr>
          <p:cNvPr id="5" name="Text 3"/>
          <p:cNvSpPr/>
          <p:nvPr/>
        </p:nvSpPr>
        <p:spPr>
          <a:xfrm>
            <a:off x="411480" y="822960"/>
            <a:ext cx="8321040" cy="292608"/>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Mainly M&amp;A = strategic asset-seeking: brands, customers, online skills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8321040" cy="914400"/>
        </p:xfrm>
        <a:graphic>
          <a:graphicData uri="http://schemas.openxmlformats.org/drawingml/2006/table">
            <a:tbl>
              <a:tblPr/>
              <a:tblGrid>
                <a:gridCol w="914400"/>
                <a:gridCol w="3429000"/>
                <a:gridCol w="397764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Date</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7C3AE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happened</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7C3AE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Benefit for Unilever</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7C3AED"/>
                    </a:solidFill>
                  </a:tcPr>
                </a:tc>
              </a:tr>
              <a:tr h="0">
                <a:tc>
                  <a:txBody>
                    <a:bodyPr/>
                    <a:lstStyle/>
                    <a:p>
                      <a:pPr indent="0" marL="0">
                        <a:buNone/>
                      </a:pPr>
                      <a:r>
                        <a:rPr lang="en-US" sz="1000" b="1" dirty="0">
                          <a:solidFill>
                            <a:srgbClr val="7C3AED"/>
                          </a:solidFill>
                          <a:latin typeface="Calibri" pitchFamily="34" charset="0"/>
                          <a:ea typeface="Calibri" pitchFamily="34" charset="-122"/>
                          <a:cs typeface="Calibri" pitchFamily="34" charset="-120"/>
                        </a:rPr>
                        <a:t>Aug 2021</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A1F36"/>
                          </a:solidFill>
                          <a:latin typeface="Calibri" pitchFamily="34" charset="0"/>
                          <a:ea typeface="Calibri" pitchFamily="34" charset="-122"/>
                          <a:cs typeface="Calibri" pitchFamily="34" charset="-120"/>
                        </a:rPr>
                        <a:t>Paula's Choice (skincare, sells online), 100%, €1.83bn</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A1F36"/>
                          </a:solidFill>
                          <a:latin typeface="Calibri" pitchFamily="34" charset="0"/>
                          <a:ea typeface="Calibri" pitchFamily="34" charset="-122"/>
                          <a:cs typeface="Calibri" pitchFamily="34" charset="-120"/>
                        </a:rPr>
                        <a:t>Direct-to-consumer e-commerce skills; Prestige Beauty grew double-digit in 2022</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7C3AED"/>
                          </a:solidFill>
                          <a:latin typeface="Calibri" pitchFamily="34" charset="0"/>
                          <a:ea typeface="Calibri" pitchFamily="34" charset="-122"/>
                          <a:cs typeface="Calibri" pitchFamily="34" charset="-120"/>
                        </a:rPr>
                        <a:t>Jul 2022</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A1F36"/>
                          </a:solidFill>
                          <a:latin typeface="Calibri" pitchFamily="34" charset="0"/>
                          <a:ea typeface="Calibri" pitchFamily="34" charset="-122"/>
                          <a:cs typeface="Calibri" pitchFamily="34" charset="-120"/>
                        </a:rPr>
                        <a:t>Nutrafol (hair wellness): stake raised to 80% for €811m</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A1F36"/>
                          </a:solidFill>
                          <a:latin typeface="Calibri" pitchFamily="34" charset="0"/>
                          <a:ea typeface="Calibri" pitchFamily="34" charset="-122"/>
                          <a:cs typeface="Calibri" pitchFamily="34" charset="-120"/>
                        </a:rPr>
                        <a:t>First launch outside the US (Canada, 2023); led double-digit Wellbeing growth in 2025</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7C3AED"/>
                          </a:solidFill>
                          <a:latin typeface="Calibri" pitchFamily="34" charset="0"/>
                          <a:ea typeface="Calibri" pitchFamily="34" charset="-122"/>
                          <a:cs typeface="Calibri" pitchFamily="34" charset="-120"/>
                        </a:rPr>
                        <a:t>Feb 2024</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A1F36"/>
                          </a:solidFill>
                          <a:latin typeface="Calibri" pitchFamily="34" charset="0"/>
                          <a:ea typeface="Calibri" pitchFamily="34" charset="-122"/>
                          <a:cs typeface="Calibri" pitchFamily="34" charset="-120"/>
                        </a:rPr>
                        <a:t>K18 (premium hair care), 91.88%</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A1F36"/>
                          </a:solidFill>
                          <a:latin typeface="Calibri" pitchFamily="34" charset="0"/>
                          <a:ea typeface="Calibri" pitchFamily="34" charset="-122"/>
                          <a:cs typeface="Calibri" pitchFamily="34" charset="-120"/>
                        </a:rPr>
                        <a:t>Grew double-digit in 2024</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7C3AED"/>
                          </a:solidFill>
                          <a:latin typeface="Calibri" pitchFamily="34" charset="0"/>
                          <a:ea typeface="Calibri" pitchFamily="34" charset="-122"/>
                          <a:cs typeface="Calibri" pitchFamily="34" charset="-120"/>
                        </a:rPr>
                        <a:t>Sep 2025</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A1F36"/>
                          </a:solidFill>
                          <a:latin typeface="Calibri" pitchFamily="34" charset="0"/>
                          <a:ea typeface="Calibri" pitchFamily="34" charset="-122"/>
                          <a:cs typeface="Calibri" pitchFamily="34" charset="-120"/>
                        </a:rPr>
                        <a:t>Dr. Squatch (men's care), 98.7%, €1.24bn</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A1F36"/>
                          </a:solidFill>
                          <a:latin typeface="Calibri" pitchFamily="34" charset="0"/>
                          <a:ea typeface="Calibri" pitchFamily="34" charset="-122"/>
                          <a:cs typeface="Calibri" pitchFamily="34" charset="-120"/>
                        </a:rPr>
                        <a:t>Moves Unilever into "premium and high-growth spaces"</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7C3AED"/>
                          </a:solidFill>
                          <a:latin typeface="Calibri" pitchFamily="34" charset="0"/>
                          <a:ea typeface="Calibri" pitchFamily="34" charset="-122"/>
                          <a:cs typeface="Calibri" pitchFamily="34" charset="-120"/>
                        </a:rPr>
                        <a:t>Dec 2024</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A1F36"/>
                          </a:solidFill>
                          <a:latin typeface="Calibri" pitchFamily="34" charset="0"/>
                          <a:ea typeface="Calibri" pitchFamily="34" charset="-122"/>
                          <a:cs typeface="Calibri" pitchFamily="34" charset="-120"/>
                        </a:rPr>
                        <a:t>Year-end: Prestige &amp; Wellbeing ~30% of Beauty &amp; Wellbeing turnover</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A1F36"/>
                          </a:solidFill>
                          <a:latin typeface="Calibri" pitchFamily="34" charset="0"/>
                          <a:ea typeface="Calibri" pitchFamily="34" charset="-122"/>
                          <a:cs typeface="Calibri" pitchFamily="34" charset="-120"/>
                        </a:rPr>
                        <a:t>In the US, 70% of Beauty &amp; Wellbeing sales now from these premium brands</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7C3AED"/>
                          </a:solidFill>
                          <a:latin typeface="Calibri" pitchFamily="34" charset="0"/>
                          <a:ea typeface="Calibri" pitchFamily="34" charset="-122"/>
                          <a:cs typeface="Calibri" pitchFamily="34" charset="-120"/>
                        </a:rPr>
                        <a:t>Dec 2025</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A1F36"/>
                          </a:solidFill>
                          <a:latin typeface="Calibri" pitchFamily="34" charset="0"/>
                          <a:ea typeface="Calibri" pitchFamily="34" charset="-122"/>
                          <a:cs typeface="Calibri" pitchFamily="34" charset="-120"/>
                        </a:rPr>
                        <a:t>Year-end: North America underlying sales growth 5.3%</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A1F36"/>
                          </a:solidFill>
                          <a:latin typeface="Calibri" pitchFamily="34" charset="0"/>
                          <a:ea typeface="Calibri" pitchFamily="34" charset="-122"/>
                          <a:cs typeface="Calibri" pitchFamily="34" charset="-120"/>
                        </a:rPr>
                        <a:t>US non-current assets €12.9bn (2020) → €19.7bn (2024); market share largely recovered</a:t>
                      </a:r>
                      <a:endParaRPr lang="en-US" sz="100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4224528"/>
            <a:ext cx="8321040" cy="457200"/>
          </a:xfrm>
          <a:prstGeom prst="roundRect">
            <a:avLst>
              <a:gd name="adj" fmla="val 12000"/>
            </a:avLst>
          </a:prstGeom>
          <a:solidFill>
            <a:srgbClr val="F3F4F8"/>
          </a:solidFill>
          <a:ln w="12700">
            <a:solidFill>
              <a:srgbClr val="7C3AED"/>
            </a:solidFill>
            <a:prstDash val="solid"/>
          </a:ln>
        </p:spPr>
      </p:sp>
      <p:sp>
        <p:nvSpPr>
          <p:cNvPr id="8" name="Text 5"/>
          <p:cNvSpPr/>
          <p:nvPr/>
        </p:nvSpPr>
        <p:spPr>
          <a:xfrm>
            <a:off x="548640" y="4224528"/>
            <a:ext cx="8046720" cy="457200"/>
          </a:xfrm>
          <a:prstGeom prst="rect">
            <a:avLst/>
          </a:prstGeom>
          <a:noFill/>
          <a:ln/>
        </p:spPr>
        <p:txBody>
          <a:bodyPr wrap="square" lIns="0" tIns="0" rIns="0" bIns="0" rtlCol="0" anchor="ctr"/>
          <a:lstStyle/>
          <a:p>
            <a:pPr indent="0" marL="0">
              <a:buNone/>
            </a:pPr>
            <a:r>
              <a:rPr lang="en-US" sz="1150" b="1" dirty="0">
                <a:solidFill>
                  <a:srgbClr val="7C3AED"/>
                </a:solidFill>
                <a:latin typeface="Calibri" pitchFamily="34" charset="0"/>
                <a:ea typeface="Calibri" pitchFamily="34" charset="-122"/>
                <a:cs typeface="Calibri" pitchFamily="34" charset="-120"/>
              </a:rPr>
              <a:t>So what?  </a:t>
            </a:r>
            <a:pPr indent="0" marL="0">
              <a:buNone/>
            </a:pPr>
            <a:r>
              <a:rPr lang="en-US" sz="1150" dirty="0">
                <a:solidFill>
                  <a:srgbClr val="1A1F36"/>
                </a:solidFill>
                <a:latin typeface="Calibri" pitchFamily="34" charset="0"/>
                <a:ea typeface="Calibri" pitchFamily="34" charset="-122"/>
                <a:cs typeface="Calibri" pitchFamily="34" charset="-120"/>
              </a:rPr>
              <a:t>Buying US premium brands gave Unilever growth, online skills and a stronger base in its biggest market. Risk: US premium beauty slowed in 2024.</a:t>
            </a:r>
            <a:endParaRPr lang="en-US" sz="1150" dirty="0"/>
          </a:p>
        </p:txBody>
      </p:sp>
      <p:sp>
        <p:nvSpPr>
          <p:cNvPr id="9" name="Text 6"/>
          <p:cNvSpPr/>
          <p:nvPr/>
        </p:nvSpPr>
        <p:spPr>
          <a:xfrm>
            <a:off x="411480" y="4736592"/>
            <a:ext cx="8321040" cy="274320"/>
          </a:xfrm>
          <a:prstGeom prst="rect">
            <a:avLst/>
          </a:prstGeom>
          <a:noFill/>
          <a:ln/>
        </p:spPr>
        <p:txBody>
          <a:bodyPr wrap="square" lIns="0" tIns="0" rIns="0" bIns="0" rtlCol="0" anchor="b"/>
          <a:lstStyle/>
          <a:p>
            <a:pPr indent="0" marL="0">
              <a:buNone/>
            </a:pPr>
            <a:r>
              <a:rPr lang="en-US" sz="800" dirty="0">
                <a:solidFill>
                  <a:srgbClr val="6B7280"/>
                </a:solidFill>
                <a:latin typeface="Calibri" pitchFamily="34" charset="0"/>
                <a:ea typeface="Calibri" pitchFamily="34" charset="-122"/>
                <a:cs typeface="Calibri" pitchFamily="34" charset="-120"/>
              </a:rPr>
              <a:t>Sources: Unilever PLC (2022; 2023b; 2024; 2025a; 2026a; 2026b).</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11480" y="292608"/>
            <a:ext cx="8321040" cy="548640"/>
          </a:xfrm>
          <a:prstGeom prst="rect">
            <a:avLst/>
          </a:prstGeom>
          <a:noFill/>
          <a:ln/>
        </p:spPr>
        <p:txBody>
          <a:bodyPr wrap="square" lIns="0" tIns="0" rIns="0" bIns="0" rtlCol="0" anchor="ctr"/>
          <a:lstStyle/>
          <a:p>
            <a:pPr indent="0" marL="0">
              <a:buNone/>
            </a:pPr>
            <a:r>
              <a:rPr lang="en-US" sz="2500" b="1" dirty="0">
                <a:solidFill>
                  <a:srgbClr val="1A1F36"/>
                </a:solidFill>
                <a:latin typeface="Calibri" pitchFamily="34" charset="0"/>
                <a:ea typeface="Calibri" pitchFamily="34" charset="-122"/>
                <a:cs typeface="Calibri" pitchFamily="34" charset="-120"/>
              </a:rPr>
              <a:t>Conclusion: smaller, but more focused</a:t>
            </a:r>
            <a:endParaRPr lang="en-US" sz="2500" dirty="0"/>
          </a:p>
        </p:txBody>
      </p:sp>
      <p:sp>
        <p:nvSpPr>
          <p:cNvPr id="3" name="Text 1"/>
          <p:cNvSpPr/>
          <p:nvPr/>
        </p:nvSpPr>
        <p:spPr>
          <a:xfrm>
            <a:off x="411480" y="822960"/>
            <a:ext cx="8321040" cy="292608"/>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What our four theories tell us about Unilever, 2020–2025</a:t>
            </a:r>
            <a:endParaRPr lang="en-US" sz="1300" dirty="0"/>
          </a:p>
        </p:txBody>
      </p:sp>
      <p:sp>
        <p:nvSpPr>
          <p:cNvPr id="4" name="Shape 2"/>
          <p:cNvSpPr/>
          <p:nvPr/>
        </p:nvSpPr>
        <p:spPr>
          <a:xfrm>
            <a:off x="411480" y="1234440"/>
            <a:ext cx="2194560" cy="658368"/>
          </a:xfrm>
          <a:prstGeom prst="roundRect">
            <a:avLst>
              <a:gd name="adj" fmla="val 11111"/>
            </a:avLst>
          </a:prstGeom>
          <a:solidFill>
            <a:srgbClr val="1F36C7"/>
          </a:solidFill>
          <a:ln/>
        </p:spPr>
      </p:sp>
      <p:sp>
        <p:nvSpPr>
          <p:cNvPr id="5" name="Text 3"/>
          <p:cNvSpPr/>
          <p:nvPr/>
        </p:nvSpPr>
        <p:spPr>
          <a:xfrm>
            <a:off x="502920" y="1234440"/>
            <a:ext cx="2011680" cy="65836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Globalisation</a:t>
            </a:r>
            <a:endParaRPr lang="en-US" sz="1250" dirty="0"/>
          </a:p>
        </p:txBody>
      </p:sp>
      <p:sp>
        <p:nvSpPr>
          <p:cNvPr id="6" name="Text 4"/>
          <p:cNvSpPr/>
          <p:nvPr/>
        </p:nvSpPr>
        <p:spPr>
          <a:xfrm>
            <a:off x="2788920" y="1234440"/>
            <a:ext cx="5943600" cy="658368"/>
          </a:xfrm>
          <a:prstGeom prst="rect">
            <a:avLst/>
          </a:prstGeom>
          <a:noFill/>
          <a:ln/>
        </p:spPr>
        <p:txBody>
          <a:bodyPr wrap="square" lIns="0" tIns="0" rIns="0" bIns="0" rtlCol="0" anchor="ctr"/>
          <a:lstStyle/>
          <a:p>
            <a:pPr indent="0" marL="0">
              <a:buNone/>
            </a:pPr>
            <a:r>
              <a:rPr lang="en-US" sz="1200" dirty="0">
                <a:solidFill>
                  <a:srgbClr val="1A1F36"/>
                </a:solidFill>
                <a:latin typeface="Calibri" pitchFamily="34" charset="0"/>
                <a:ea typeface="Calibri" pitchFamily="34" charset="-122"/>
                <a:cs typeface="Calibri" pitchFamily="34" charset="-120"/>
              </a:rPr>
              <a:t>Global brands and emerging markets (59% of turnover) drive growth, but COVID-19, inflation and Russia show the risks.</a:t>
            </a:r>
            <a:endParaRPr lang="en-US" sz="1200" dirty="0"/>
          </a:p>
        </p:txBody>
      </p:sp>
      <p:sp>
        <p:nvSpPr>
          <p:cNvPr id="7" name="Shape 5"/>
          <p:cNvSpPr/>
          <p:nvPr/>
        </p:nvSpPr>
        <p:spPr>
          <a:xfrm>
            <a:off x="411480" y="2011680"/>
            <a:ext cx="2194560" cy="658368"/>
          </a:xfrm>
          <a:prstGeom prst="roundRect">
            <a:avLst>
              <a:gd name="adj" fmla="val 11111"/>
            </a:avLst>
          </a:prstGeom>
          <a:solidFill>
            <a:srgbClr val="0F8A6B"/>
          </a:solidFill>
          <a:ln/>
        </p:spPr>
      </p:sp>
      <p:sp>
        <p:nvSpPr>
          <p:cNvPr id="8" name="Text 6"/>
          <p:cNvSpPr/>
          <p:nvPr/>
        </p:nvSpPr>
        <p:spPr>
          <a:xfrm>
            <a:off x="502920" y="2011680"/>
            <a:ext cx="2011680" cy="65836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Regional Integration</a:t>
            </a:r>
            <a:endParaRPr lang="en-US" sz="1250" dirty="0"/>
          </a:p>
        </p:txBody>
      </p:sp>
      <p:sp>
        <p:nvSpPr>
          <p:cNvPr id="9" name="Text 7"/>
          <p:cNvSpPr/>
          <p:nvPr/>
        </p:nvSpPr>
        <p:spPr>
          <a:xfrm>
            <a:off x="2788920" y="2011680"/>
            <a:ext cx="5943600" cy="658368"/>
          </a:xfrm>
          <a:prstGeom prst="rect">
            <a:avLst/>
          </a:prstGeom>
          <a:noFill/>
          <a:ln/>
        </p:spPr>
        <p:txBody>
          <a:bodyPr wrap="square" lIns="0" tIns="0" rIns="0" bIns="0" rtlCol="0" anchor="ctr"/>
          <a:lstStyle/>
          <a:p>
            <a:pPr indent="0" marL="0">
              <a:buNone/>
            </a:pPr>
            <a:r>
              <a:rPr lang="en-US" sz="1200" dirty="0">
                <a:solidFill>
                  <a:srgbClr val="1A1F36"/>
                </a:solidFill>
                <a:latin typeface="Calibri" pitchFamily="34" charset="0"/>
                <a:ea typeface="Calibri" pitchFamily="34" charset="-122"/>
                <a:cs typeface="Calibri" pitchFamily="34" charset="-120"/>
              </a:rPr>
              <a:t>Mexico + USMCA: a low-cost, tariff-free base to supply the US, Unilever's biggest market.</a:t>
            </a:r>
            <a:endParaRPr lang="en-US" sz="1200" dirty="0"/>
          </a:p>
        </p:txBody>
      </p:sp>
      <p:sp>
        <p:nvSpPr>
          <p:cNvPr id="10" name="Shape 8"/>
          <p:cNvSpPr/>
          <p:nvPr/>
        </p:nvSpPr>
        <p:spPr>
          <a:xfrm>
            <a:off x="411480" y="2788920"/>
            <a:ext cx="2194560" cy="658368"/>
          </a:xfrm>
          <a:prstGeom prst="roundRect">
            <a:avLst>
              <a:gd name="adj" fmla="val 11111"/>
            </a:avLst>
          </a:prstGeom>
          <a:solidFill>
            <a:srgbClr val="D9822B"/>
          </a:solidFill>
          <a:ln/>
        </p:spPr>
      </p:sp>
      <p:sp>
        <p:nvSpPr>
          <p:cNvPr id="11" name="Text 9"/>
          <p:cNvSpPr/>
          <p:nvPr/>
        </p:nvSpPr>
        <p:spPr>
          <a:xfrm>
            <a:off x="502920" y="2788920"/>
            <a:ext cx="2011680" cy="65836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MNEs from Advanced Economies</a:t>
            </a:r>
            <a:endParaRPr lang="en-US" sz="1250" dirty="0"/>
          </a:p>
        </p:txBody>
      </p:sp>
      <p:sp>
        <p:nvSpPr>
          <p:cNvPr id="12" name="Text 10"/>
          <p:cNvSpPr/>
          <p:nvPr/>
        </p:nvSpPr>
        <p:spPr>
          <a:xfrm>
            <a:off x="2788920" y="2788920"/>
            <a:ext cx="5943600" cy="658368"/>
          </a:xfrm>
          <a:prstGeom prst="rect">
            <a:avLst/>
          </a:prstGeom>
          <a:noFill/>
          <a:ln/>
        </p:spPr>
        <p:txBody>
          <a:bodyPr wrap="square" lIns="0" tIns="0" rIns="0" bIns="0" rtlCol="0" anchor="ctr"/>
          <a:lstStyle/>
          <a:p>
            <a:pPr indent="0" marL="0">
              <a:buNone/>
            </a:pPr>
            <a:r>
              <a:rPr lang="en-US" sz="1200" dirty="0">
                <a:solidFill>
                  <a:srgbClr val="1A1F36"/>
                </a:solidFill>
                <a:latin typeface="Calibri" pitchFamily="34" charset="0"/>
                <a:ea typeface="Calibri" pitchFamily="34" charset="-122"/>
                <a:cs typeface="Calibri" pitchFamily="34" charset="-120"/>
              </a:rPr>
              <a:t>Brands and R&amp;D are its advantages; local listings share profits, but job cuts and Russia show goal conflicts.</a:t>
            </a:r>
            <a:endParaRPr lang="en-US" sz="1200" dirty="0"/>
          </a:p>
        </p:txBody>
      </p:sp>
      <p:sp>
        <p:nvSpPr>
          <p:cNvPr id="13" name="Shape 11"/>
          <p:cNvSpPr/>
          <p:nvPr/>
        </p:nvSpPr>
        <p:spPr>
          <a:xfrm>
            <a:off x="411480" y="3566160"/>
            <a:ext cx="2194560" cy="658368"/>
          </a:xfrm>
          <a:prstGeom prst="roundRect">
            <a:avLst>
              <a:gd name="adj" fmla="val 11111"/>
            </a:avLst>
          </a:prstGeom>
          <a:solidFill>
            <a:srgbClr val="7C3AED"/>
          </a:solidFill>
          <a:ln/>
        </p:spPr>
      </p:sp>
      <p:sp>
        <p:nvSpPr>
          <p:cNvPr id="14" name="Text 12"/>
          <p:cNvSpPr/>
          <p:nvPr/>
        </p:nvSpPr>
        <p:spPr>
          <a:xfrm>
            <a:off x="502920" y="3566160"/>
            <a:ext cx="2011680" cy="65836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FDI</a:t>
            </a:r>
            <a:endParaRPr lang="en-US" sz="1250" dirty="0"/>
          </a:p>
        </p:txBody>
      </p:sp>
      <p:sp>
        <p:nvSpPr>
          <p:cNvPr id="15" name="Text 13"/>
          <p:cNvSpPr/>
          <p:nvPr/>
        </p:nvSpPr>
        <p:spPr>
          <a:xfrm>
            <a:off x="2788920" y="3566160"/>
            <a:ext cx="5943600" cy="658368"/>
          </a:xfrm>
          <a:prstGeom prst="rect">
            <a:avLst/>
          </a:prstGeom>
          <a:noFill/>
          <a:ln/>
        </p:spPr>
        <p:txBody>
          <a:bodyPr wrap="square" lIns="0" tIns="0" rIns="0" bIns="0" rtlCol="0" anchor="ctr"/>
          <a:lstStyle/>
          <a:p>
            <a:pPr indent="0" marL="0">
              <a:buNone/>
            </a:pPr>
            <a:r>
              <a:rPr lang="en-US" sz="1200" dirty="0">
                <a:solidFill>
                  <a:srgbClr val="1A1F36"/>
                </a:solidFill>
                <a:latin typeface="Calibri" pitchFamily="34" charset="0"/>
                <a:ea typeface="Calibri" pitchFamily="34" charset="-122"/>
                <a:cs typeface="Calibri" pitchFamily="34" charset="-120"/>
              </a:rPr>
              <a:t>US FDI (mainly M&amp;A) bought premium brands and online skills, and grew Unilever in its biggest market.</a:t>
            </a:r>
            <a:endParaRPr lang="en-US" sz="1200" dirty="0"/>
          </a:p>
        </p:txBody>
      </p:sp>
      <p:sp>
        <p:nvSpPr>
          <p:cNvPr id="16" name="Text 14"/>
          <p:cNvSpPr/>
          <p:nvPr/>
        </p:nvSpPr>
        <p:spPr>
          <a:xfrm>
            <a:off x="411480" y="4434840"/>
            <a:ext cx="8321040" cy="365760"/>
          </a:xfrm>
          <a:prstGeom prst="rect">
            <a:avLst/>
          </a:prstGeom>
          <a:noFill/>
          <a:ln/>
        </p:spPr>
        <p:txBody>
          <a:bodyPr wrap="square" lIns="0" tIns="0" rIns="0" bIns="0" rtlCol="0" anchor="ctr"/>
          <a:lstStyle/>
          <a:p>
            <a:pPr indent="0" marL="0">
              <a:buNone/>
            </a:pPr>
            <a:r>
              <a:rPr lang="en-US" sz="1200" b="1" i="1" dirty="0">
                <a:solidFill>
                  <a:srgbClr val="1A1F36"/>
                </a:solidFill>
                <a:latin typeface="Calibri" pitchFamily="34" charset="0"/>
                <a:ea typeface="Calibri" pitchFamily="34" charset="-122"/>
                <a:cs typeface="Calibri" pitchFamily="34" charset="-120"/>
              </a:rPr>
              <a:t>From 2020 to 2025, Unilever became smaller, but more focused on beauty, personal care and fast-growing markets.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F36"/>
        </a:solidFill>
      </p:bgPr>
    </p:bg>
    <p:spTree>
      <p:nvGrpSpPr>
        <p:cNvPr id="1" name=""/>
        <p:cNvGrpSpPr/>
        <p:nvPr/>
      </p:nvGrpSpPr>
      <p:grpSpPr>
        <a:xfrm>
          <a:off x="0" y="0"/>
          <a:ext cx="0" cy="0"/>
          <a:chOff x="0" y="0"/>
          <a:chExt cx="0" cy="0"/>
        </a:xfrm>
      </p:grpSpPr>
      <p:sp>
        <p:nvSpPr>
          <p:cNvPr id="2" name="Text 0"/>
          <p:cNvSpPr/>
          <p:nvPr/>
        </p:nvSpPr>
        <p:spPr>
          <a:xfrm>
            <a:off x="548640" y="1554480"/>
            <a:ext cx="8046720"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p:nvPr/>
        </p:nvSpPr>
        <p:spPr>
          <a:xfrm>
            <a:off x="548640" y="2377440"/>
            <a:ext cx="8046720" cy="548640"/>
          </a:xfrm>
          <a:prstGeom prst="rect">
            <a:avLst/>
          </a:prstGeom>
          <a:noFill/>
          <a:ln/>
        </p:spPr>
        <p:txBody>
          <a:bodyPr wrap="square" lIns="0" tIns="0" rIns="0" bIns="0" rtlCol="0" anchor="ctr"/>
          <a:lstStyle/>
          <a:p>
            <a:pPr algn="ctr" indent="0" marL="0">
              <a:buNone/>
            </a:pPr>
            <a:r>
              <a:rPr lang="en-US" sz="2200" dirty="0">
                <a:solidFill>
                  <a:srgbClr val="A5B4FC"/>
                </a:solidFill>
                <a:latin typeface="Calibri" pitchFamily="34" charset="0"/>
                <a:ea typeface="Calibri" pitchFamily="34" charset="-122"/>
                <a:cs typeface="Calibri" pitchFamily="34" charset="-120"/>
              </a:rPr>
              <a:t>Questions are welcome</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11480" y="292608"/>
            <a:ext cx="8321040" cy="548640"/>
          </a:xfrm>
          <a:prstGeom prst="rect">
            <a:avLst/>
          </a:prstGeom>
          <a:noFill/>
          <a:ln/>
        </p:spPr>
        <p:txBody>
          <a:bodyPr wrap="square" lIns="0" tIns="0" rIns="0" bIns="0" rtlCol="0" anchor="ctr"/>
          <a:lstStyle/>
          <a:p>
            <a:pPr indent="0" marL="0">
              <a:buNone/>
            </a:pPr>
            <a:r>
              <a:rPr lang="en-US" sz="2500" b="1" dirty="0">
                <a:solidFill>
                  <a:srgbClr val="1A1F36"/>
                </a:solidFill>
                <a:latin typeface="Calibri" pitchFamily="34" charset="0"/>
                <a:ea typeface="Calibri" pitchFamily="34" charset="-122"/>
                <a:cs typeface="Calibri" pitchFamily="34" charset="-120"/>
              </a:rPr>
              <a:t>References</a:t>
            </a:r>
            <a:endParaRPr lang="en-US" sz="2500" dirty="0"/>
          </a:p>
        </p:txBody>
      </p:sp>
      <p:sp>
        <p:nvSpPr>
          <p:cNvPr id="3" name="Text 1"/>
          <p:cNvSpPr/>
          <p:nvPr/>
        </p:nvSpPr>
        <p:spPr>
          <a:xfrm>
            <a:off x="411480" y="914400"/>
            <a:ext cx="4069080" cy="4069080"/>
          </a:xfrm>
          <a:prstGeom prst="rect">
            <a:avLst/>
          </a:prstGeom>
          <a:noFill/>
          <a:ln/>
        </p:spPr>
        <p:txBody>
          <a:bodyPr wrap="square" lIns="0" tIns="0" rIns="0" bIns="0" rtlCol="0" anchor="t"/>
          <a:lstStyle/>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Bloomberg Línea (2025) 'Unilever anuncia a Sheinbaum inversión por MXN$30.000 millones en México', 2 May. Available at: https://www.bloomberglinea.com/latinoamerica/mexico/unilever-anuncia-a-sheinbaum-inversion-por-mxn30000-millones-en-mexico/ (Accessed: 31 October 2026).</a:t>
            </a:r>
            <a:endParaRPr lang="en-US" sz="750" dirty="0"/>
          </a:p>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Dunning, J.H. (1988) 'The eclectic paradigm of international production: a restatement and some possible extensions', Journal of International Business Studies, 19(1), pp. 1–31.</a:t>
            </a:r>
            <a:endParaRPr lang="en-US" sz="750" dirty="0"/>
          </a:p>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Entrackr (2025) 'HUL acquires 90.5% stake in Minimalist at Rs 2,955 Cr valuation'. Available at: https://entrackr.com/news/hul-acquires-905-stake-in-minimalist-at-rs-2955-cr-valuation-8644087 (Accessed: 31 October 2026).</a:t>
            </a:r>
            <a:endParaRPr lang="en-US" sz="750" dirty="0"/>
          </a:p>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Fortune (2025) 'Trump delays Canada, Mexico tariffs for goods under USMCA', 6 March. Available at: https://fortune.com/2025/03/06/trump-delays-canada-mexico-tariffs-for-goods-under-usmca (Accessed: 31 October 2026).</a:t>
            </a:r>
            <a:endParaRPr lang="en-US" sz="750" dirty="0"/>
          </a:p>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Levitt, T. (1983) 'The globalization of markets', Harvard Business Review, 61(3), pp. 92–102.</a:t>
            </a:r>
            <a:endParaRPr lang="en-US" sz="750" dirty="0"/>
          </a:p>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MND Staff (2025) 'Household and beauty products giant Unilever to invest US $800M in Nuevo León', Mexico News Daily, 9 April. Available at: https://mexiconewsdaily.com/business/unilever-invest-in-nuevo-leon (Accessed: 31 October 2026).</a:t>
            </a:r>
            <a:endParaRPr lang="en-US" sz="750" dirty="0"/>
          </a:p>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UNCTAD (2025) World Investment Report 2025. Geneva: United Nations. Available at: https://unctad.org/system/files/official-document/wir2025_en.pdf (Accessed: 31 October 2026).</a:t>
            </a:r>
            <a:endParaRPr lang="en-US" sz="750" dirty="0"/>
          </a:p>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Unilever PLC (2021) Annual Report on Form 20-F 2020. Available at: https://www.sec.gov/Archives/edgar/data/217410/000119312521075770/d14846d20f.htm (Accessed: 31 October 2026).</a:t>
            </a:r>
            <a:endParaRPr lang="en-US" sz="750" dirty="0"/>
          </a:p>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Unilever PLC (2022) Annual Report on Form 20-F 2021. Available at: https://www.sec.gov/Archives/edgar/data/217410/000021741022000009/ul-20211231.htm (Accessed: 31 October 2026).</a:t>
            </a:r>
            <a:endParaRPr lang="en-US" sz="750" dirty="0"/>
          </a:p>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Unilever PLC (2023a) Annual Report on Form 20-F 2022. Available at: https://www.sec.gov/Archives/edgar/data/217410/000021741023000016/ul-20221231.htm (Accessed: 31 October 2026).</a:t>
            </a:r>
            <a:endParaRPr lang="en-US" sz="750" dirty="0"/>
          </a:p>
        </p:txBody>
      </p:sp>
      <p:sp>
        <p:nvSpPr>
          <p:cNvPr id="4" name="Text 2"/>
          <p:cNvSpPr/>
          <p:nvPr/>
        </p:nvSpPr>
        <p:spPr>
          <a:xfrm>
            <a:off x="4663440" y="914400"/>
            <a:ext cx="4069080" cy="4069080"/>
          </a:xfrm>
          <a:prstGeom prst="rect">
            <a:avLst/>
          </a:prstGeom>
          <a:noFill/>
          <a:ln/>
        </p:spPr>
        <p:txBody>
          <a:bodyPr wrap="square" lIns="0" tIns="0" rIns="0" bIns="0" rtlCol="0" anchor="t"/>
          <a:lstStyle/>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Unilever PLC (2023b) Full Year 2022 Results. Available at: https://data.fca.org.uk/artefacts/NSM/RNS/4669599.html (Accessed: 31 October 2026).</a:t>
            </a:r>
            <a:endParaRPr lang="en-US" sz="750" dirty="0"/>
          </a:p>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Unilever PLC (2024) Annual Report on Form 20-F 2023. Available at: https://www.sec.gov/Archives/edgar/data/217410/000021741024000017/ul-20231231.htm (Accessed: 31 October 2026).</a:t>
            </a:r>
            <a:endParaRPr lang="en-US" sz="750" dirty="0"/>
          </a:p>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Unilever PLC (2025a) Annual Report on Form 20-F 2024. Available at: https://www.sec.gov/Archives/edgar/data/217410/000021741025000015/ul-20241231.htm (Accessed: 31 October 2026).</a:t>
            </a:r>
            <a:endParaRPr lang="en-US" sz="750" dirty="0"/>
          </a:p>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Unilever PLC (2025b) Full Year 2024 Results. Available at: https://data.fca.org.uk/artefacts/NSM/RNS/5536689.html (Accessed: 31 October 2026).</a:t>
            </a:r>
            <a:endParaRPr lang="en-US" sz="750" dirty="0"/>
          </a:p>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Unilever PLC (2026a) Annual Report on Form 20-F 2025. Available at: https://www.sec.gov/Archives/edgar/data/217410/000021741026000007/ul-20251231.htm (Accessed: 31 October 2026).</a:t>
            </a:r>
            <a:endParaRPr lang="en-US" sz="750" dirty="0"/>
          </a:p>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Unilever PLC (2026b) Full Year 2025 Results. Available at: https://data.fca.org.uk/artefacts/NSM/RNS/b82e96e8-7680-4ddf-8c41-f0bb2a051dd5.html (Accessed: 31 October 2026).</a:t>
            </a:r>
            <a:endParaRPr lang="en-US" sz="750" dirty="0"/>
          </a:p>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University of Greenwich (2026a–d) BUSI 1763 Dynamics of Global Business, Lectures 1–4 [Lecture slides]. Available at: Moodle.</a:t>
            </a:r>
            <a:endParaRPr lang="en-US" sz="750" dirty="0"/>
          </a:p>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US Census Bureau (2024) Top Trading Partners – December 2023. Available at: https://www.census.gov/foreign-trade/statistics/highlights/top/top2312yr.html (Accessed: 31 October 2026).</a:t>
            </a:r>
            <a:endParaRPr lang="en-US" sz="750" dirty="0"/>
          </a:p>
          <a:p>
            <a:pPr indent="0" marL="0">
              <a:spcAft>
                <a:spcPts val="300"/>
              </a:spcAft>
              <a:buNone/>
            </a:pPr>
            <a:r>
              <a:rPr lang="en-US" sz="750" dirty="0">
                <a:solidFill>
                  <a:srgbClr val="1A1F36"/>
                </a:solidFill>
                <a:latin typeface="Calibri" pitchFamily="34" charset="0"/>
                <a:ea typeface="Calibri" pitchFamily="34" charset="-122"/>
                <a:cs typeface="Calibri" pitchFamily="34" charset="-120"/>
              </a:rPr>
              <a:t>USTR (n.d.) United States-Mexico-Canada Agreement. Available at: https://ustr.gov/trade-agreements/free-trade-agreements/united-states-mexico-canada-agreement (Accessed: 31 October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2026-10-31T02:58:35Z</dcterms:created>
  <dcterms:modified xsi:type="dcterms:W3CDTF">2026-10-31T02:58:35Z</dcterms:modified>
</cp:coreProperties>
</file>