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F36"/>
                </a:solidFill>
                <a:latin typeface="Arial"/>
              </a:defRPr>
            </a:pPr>
            <a:r>
              <a:rPr sz="1200" b="0" i="0" u="none" strike="noStrike">
                <a:solidFill>
                  <a:srgbClr val="1A1F36"/>
                </a:solidFill>
                <a:latin typeface="Arial"/>
              </a:rPr>
              <a:t>Turnover, € billion</a:t>
            </a:r>
          </a:p>
        </c:rich>
      </c:tx>
      <c:layout/>
      <c:overlay val="0"/>
    </c:title>
    <c:autoTitleDeleted val="0"/>
    <c:plotArea>
      <c:layout/>
      <c:barChart>
        <c:barDir val="col"/>
        <c:grouping val="clustered"/>
        <c:varyColors val="0"/>
        <c:ser>
          <c:idx val="0"/>
          <c:order val="0"/>
          <c:tx>
            <c:strRef>
              <c:f>Sheet1!$B$1</c:f>
              <c:strCache>
                <c:ptCount val="1"/>
                <c:pt idx="0">
                  <c:v>Turnover (€bn)</c:v>
                </c:pt>
              </c:strCache>
            </c:strRef>
          </c:tx>
          <c:spPr>
            <a:solidFill>
              <a:srgbClr val="1F36C7"/>
            </a:solidFill>
            <a:effectLst/>
          </c:spPr>
          <c:invertIfNegative val="0"/>
          <c:dLbls>
            <c:numFmt formatCode="0.0" sourceLinked="0"/>
            <c:txPr>
              <a:bodyPr/>
              <a:lstStyle/>
              <a:p>
                <a:pPr>
                  <a:defRPr b="0" i="0" strike="noStrike" sz="1000" u="none">
                    <a:solidFill>
                      <a:srgbClr val="1A1F36"/>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2020</c:v>
                  </c:pt>
                  <c:pt idx="1">
                    <c:v>2021</c:v>
                  </c:pt>
                  <c:pt idx="2">
                    <c:v>2022</c:v>
                  </c:pt>
                  <c:pt idx="3">
                    <c:v>2023</c:v>
                  </c:pt>
                  <c:pt idx="4">
                    <c:v>2024</c:v>
                  </c:pt>
                  <c:pt idx="5">
                    <c:v>2025*</c:v>
                  </c:pt>
                </c:lvl>
              </c:multiLvlStrCache>
            </c:multiLvlStrRef>
          </c:cat>
          <c:val>
            <c:numRef>
              <c:f>Sheet1!$B$2:$B$7</c:f>
              <c:numCache>
                <c:formatCode>General</c:formatCode>
                <c:ptCount val="6"/>
                <c:pt idx="0">
                  <c:v>50.7</c:v>
                </c:pt>
                <c:pt idx="1">
                  <c:v>52.4</c:v>
                </c:pt>
                <c:pt idx="2">
                  <c:v>60.1</c:v>
                </c:pt>
                <c:pt idx="3">
                  <c:v>59.6</c:v>
                </c:pt>
                <c:pt idx="4">
                  <c:v>60.8</c:v>
                </c:pt>
                <c:pt idx="5">
                  <c:v>50.5</c:v>
                </c:pt>
              </c:numCache>
            </c:numRef>
          </c:val>
        </c:ser>
        <c:dLbls>
          <c:numFmt formatCode="0.0" sourceLinked="0"/>
          <c:txPr>
            <a:bodyPr/>
            <a:lstStyle/>
            <a:p>
              <a:pPr>
                <a:defRPr b="0" i="0" strike="noStrike" sz="1000" u="none">
                  <a:solidFill>
                    <a:srgbClr val="1A1F3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F3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A1F36"/>
                </a:solidFill>
                <a:latin typeface="Arial"/>
              </a:defRPr>
            </a:pPr>
            <a:r>
              <a:rPr sz="1200" b="0" i="0" u="none" strike="noStrike">
                <a:solidFill>
                  <a:srgbClr val="1A1F36"/>
                </a:solidFill>
                <a:latin typeface="Arial"/>
              </a:rPr>
              <a:t>Unilever turnover in the US, € billion</a:t>
            </a:r>
          </a:p>
        </c:rich>
      </c:tx>
      <c:layout/>
      <c:overlay val="0"/>
    </c:title>
    <c:autoTitleDeleted val="0"/>
    <c:plotArea>
      <c:layout/>
      <c:barChart>
        <c:barDir val="col"/>
        <c:grouping val="clustered"/>
        <c:varyColors val="0"/>
        <c:ser>
          <c:idx val="0"/>
          <c:order val="0"/>
          <c:tx>
            <c:strRef>
              <c:f>Sheet1!$B$1</c:f>
              <c:strCache>
                <c:ptCount val="1"/>
                <c:pt idx="0">
                  <c:v>US turnover (€bn)</c:v>
                </c:pt>
              </c:strCache>
            </c:strRef>
          </c:tx>
          <c:spPr>
            <a:solidFill>
              <a:srgbClr val="7C3AED"/>
            </a:solidFill>
            <a:effectLst/>
          </c:spPr>
          <c:invertIfNegative val="0"/>
          <c:dLbls>
            <c:numFmt formatCode="0.0" sourceLinked="0"/>
            <c:txPr>
              <a:bodyPr/>
              <a:lstStyle/>
              <a:p>
                <a:pPr>
                  <a:defRPr b="0" i="0" strike="noStrike" sz="1000" u="none">
                    <a:solidFill>
                      <a:srgbClr val="1A1F36"/>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2020</c:v>
                  </c:pt>
                  <c:pt idx="1">
                    <c:v>2021</c:v>
                  </c:pt>
                  <c:pt idx="2">
                    <c:v>2022</c:v>
                  </c:pt>
                  <c:pt idx="3">
                    <c:v>2023</c:v>
                  </c:pt>
                  <c:pt idx="4">
                    <c:v>2024</c:v>
                  </c:pt>
                  <c:pt idx="5">
                    <c:v>2025*</c:v>
                  </c:pt>
                </c:lvl>
              </c:multiLvlStrCache>
            </c:multiLvlStrRef>
          </c:cat>
          <c:val>
            <c:numRef>
              <c:f>Sheet1!$B$2:$B$7</c:f>
              <c:numCache>
                <c:formatCode>General</c:formatCode>
                <c:ptCount val="6"/>
                <c:pt idx="0">
                  <c:v>9.4</c:v>
                </c:pt>
                <c:pt idx="1">
                  <c:v>9.9</c:v>
                </c:pt>
                <c:pt idx="2">
                  <c:v>12.1</c:v>
                </c:pt>
                <c:pt idx="3">
                  <c:v>12.3</c:v>
                </c:pt>
                <c:pt idx="4">
                  <c:v>12.5</c:v>
                </c:pt>
                <c:pt idx="5">
                  <c:v>10.5</c:v>
                </c:pt>
              </c:numCache>
            </c:numRef>
          </c:val>
        </c:ser>
        <c:dLbls>
          <c:numFmt formatCode="0.0" sourceLinked="0"/>
          <c:txPr>
            <a:bodyPr/>
            <a:lstStyle/>
            <a:p>
              <a:pPr>
                <a:defRPr b="0" i="0" strike="noStrike" sz="1000" u="none">
                  <a:solidFill>
                    <a:srgbClr val="1A1F3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F36"/>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Our company is Unilever, and we look at the years 2020 to 2025. Our mind map has four branches: globalisation, regional integration, MNEs from advanced economies, and FDI. I will start with globalisation.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shows the mind map: four branches, one per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Background slide. Speaker 1 can mention: turnover 50.5 billion euros in 2025, 59 percent from emerging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Levitt says that a global company treats the world as one market and sells the same things in the same way. There are five drivers of globalisation: political, technology, market, cost and competition. Globalisation has two sides: the globalisation of markets, and the globalisation of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markets. By December 2024, Unilever sold in about 190 countries, and 3.4 billion people used its products every day. In the year to December 2025, its turnover was 50.5 billion euros, and 59 percent came from emerging markets. Asia Pacific and Africa is now its biggest region, with 44 percent. Europe, its home region, is only 19 percent. Second, production. By December 2023, Unilever had more than 280 factories, so it gets economies of scale. This is the cost driver. In the year to December 2025, its 30 Power Brands, such as Dove, made 78 percent of turnover. So it sells the same brands across the world, as Levitt said. But these years also show the risks. From March 2020, COVID-19 disrupted supply chains, and in the year to December 2020, the extra costs cut the margin by about 0.9 percentage points. From January to December 2022, inflation was high. Unilever raised prices by 11.3 percent, and volumes fell by 2.1 percent. In March 2022, after the war in Ukraine started, Unilever stopped trade and capital flows with Russia, and in October 2024 it sold its Russian business. And in March 2025, the US put new tariffs on Mexico and Canada, so trade barriers are rising again. My conclusion: Unilever is still very global, but globalisation is less smooth now, and Unilever must manage more risk. One way it does this is through regions. My teammate will explain this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My theory is regional integration, and my country is Mexico. Countries can integrate at five levels: free trade area, customs union, common market, economic union and political union. Each level goes deeper. Integration can create trade, because tariffs between members fall. But it can also divert trade, from a cheaper country outside to a member country. Mexico is in USMCA, the trade agreement with the US and Canada. It replaced NAFTA in July 2020. USMCA is a free trade area, the first level. Goods that meet its rules of origin can cross the borders with no tariffs. In the year to December 2023, Mexico became the United States' largest trading partner, with almost 800 billion dollars of goods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Unilever in Mexico. In May 2025, Unilever said Mexico is one of its ten largest markets, with more than 7,000 employees. In February 2023, Unilever announced a new beauty and personal care factory in Nuevo León, near the US border, for 400 million dollars. In April 2025, it doubled the investment to 800 million dollars, and said the plant is mainly for exports to the US and Canada. So what are the benefits for Unilever? First, market access. Products that meet USMCA rules can enter the US with no tariffs, and the US is Unilever's biggest market, with 10.5 billion euros of turnover in the year to December 2025. Second, protection from tariffs. In March 2025, the US put a 25 percent tariff on Mexico, but goods that qualify under USMCA were exempted. One month later, Unilever doubled its investment. Third, lower costs and speed. Making products next to the US is cheaper and faster than shipping them from far away. This is trade creation inside North America. But there are limits. From January to December 2024, only about half of US imports from Mexico qualified for USMCA, and US trade policy can change quickly. Unilever has not said publicly that USMCA is the reason for its investment, so this is our own analysis. My conclusion: through USMCA, Mexico gives Unilever a low-cost base with tariff-free access to its biggest market. But the benefit depends on the rules of origin and on US politics. Next, my teammate will explain Unilever as an MNE from an advanced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My theory is MNEs from advanced economies. An MNE wants high returns, more sales and lower costs. The host country wants jobs, technology, control of its economy and a clean environment. When these goals clash, the host may change its rules to take more value. This is creeping expropriation.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Unilever is a British MNE. Its advantages come from an advanced economy: strong brands, money and research. In the year to December 2025, its 30 Power Brands made 78 percent of turnover, and in 2024 it spent nearly 1 billion euros on research and development. Host countries also gain. In December 2024, Unilever owned 61.9 percent of Hindustan Unilever, which is listed in India, so Indian investors share the profits. But there are also conflicts. First, jobs. In March 2024, Unilever announced it would cut about 7,500 office jobs. By December 2024, 4,300 jobs had gone. This helps profits, but it goes against the host country's goal of employment. Second, politics. Unilever stayed in Russia from March 2022 until October 2024, when it finally sold the business. This shows that the MNE's goal of protecting its assets can clash with politics.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CSR, corporate social responsibility. Host countries want a clean environment and fair wages, so CSR is an MNE's licence to operate. Unilever's CSR framework is the Unilever Compass. It was introduced in March 2021, after the Sustainable Living Plan ended in December 2020. What did it achieve? In June 2020, it made a long-term promise to reach net zero emissions, and in May 2021, 99.6 percent of shareholders voted for its climate plan. By December 2025, emissions from its own operations were 77 percent lower than in 2015. But there is a critical side. In January 2022, the fund manager Terry Smith said Unilever had lost the plot by defining a purpose for Hellmann's mayonnaise. In April 2024, Unilever lowered its plastic target. It had planned to halve virgin plastic by 2025, but by December 2025 it had cut it by only 29 percent. So CSR keeps Unilever's licence to operate and investor support, but missed targets bring accusations of greenwashing. Looking ahead, the key question is whether Unilever can keep its climate promises, after it lowered its plastic target. My conclusion: Unilever's advantages come from being an advanced-economy MNE. On CSR, it has done well on climate but gone backwards on plastics, so it must balance profit, jobs, politics and sustainability. Next, our last speaker will explain Unilever's FDI in the United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My topic is FDI. FDI means foreign direct investment. My country is the United States. FDI means a company owns a business in another country. There are two ways. A company can build a new business. This is called greenfield. Or it can buy a company. This is called M&amp;A. Dunning's OLI model tells us why companies do FDI. O is ownership. The company has something special, like strong brands. L is location. The country has something good, like a big market. I is internalisation. The company wants to own the business, not just sell a licence. There are four reasons for FDI: to find markets, to find resources, to cut costs, and to buy strategic assets.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United States? First, the US gets the most FDI in the world. In all of 2024, it got 279 billion dollars. Second, the US is Unilever's biggest market. Unilever's sales in the US went up from 9.4 billion euros in 2020 to 12.5 billion euros in 2024. Now, OLI. O: Unilever has famous brands, money and a big sales network. L: the US is a big market. Many people buy premium products and shop online. I: Unilever buys and owns the brands. So it controls the brands and their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US, Unilever mostly buys companies. So its FDI is mainly M&amp;A. Its reason is to buy strategic assets: brands, customers and online skills. In August 2021, Unilever bought Paula's Choice for 1.8 billion euros. It is a skincare brand. It sells online. In all of 2022, Unilever's premium beauty sales grew by more than 10 percent. In February 2024, Unilever bought K18, a hair care brand. In September 2025, Unilever bought Dr. Squatch for 1.2 billion euros. It sells personal care products for men. What are the good things for Unilever? First, faster growth. By December 2024, 70 percent of its US beauty and wellbeing sales came from these premium brands. Second, good results. In all of 2025, sales in North America grew by 5.3 percent. But there is a risk. In 2024, the US premium beauty market slowed down. Paula's Choice slowed down too. My conclusion: Unilever's FDI in the US fits the OLI model. By buying American brands, Unilever got growth, online skills and a stronger place in its biggest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Unilever is a global company. It uses trade deals like USMCA. It uses its British strengths. And it grows by FDI in the US. Thank you for listening. Now we are happy to answer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F36"/>
        </a:solidFill>
      </p:bgPr>
    </p:bg>
    <p:spTree>
      <p:nvGrpSpPr>
        <p:cNvPr id="1" name=""/>
        <p:cNvGrpSpPr/>
        <p:nvPr/>
      </p:nvGrpSpPr>
      <p:grpSpPr>
        <a:xfrm>
          <a:off x="0" y="0"/>
          <a:ext cx="0" cy="0"/>
          <a:chOff x="0" y="0"/>
          <a:chExt cx="0" cy="0"/>
        </a:xfrm>
      </p:grpSpPr>
      <p:sp>
        <p:nvSpPr>
          <p:cNvPr id="2" name="Text 0"/>
          <p:cNvSpPr/>
          <p:nvPr/>
        </p:nvSpPr>
        <p:spPr>
          <a:xfrm>
            <a:off x="548640" y="1097280"/>
            <a:ext cx="8046720" cy="73152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Unilever in the Global Economy</a:t>
            </a:r>
            <a:endParaRPr lang="en-US" sz="3400" dirty="0"/>
          </a:p>
        </p:txBody>
      </p:sp>
      <p:sp>
        <p:nvSpPr>
          <p:cNvPr id="3" name="Text 1"/>
          <p:cNvSpPr/>
          <p:nvPr/>
        </p:nvSpPr>
        <p:spPr>
          <a:xfrm>
            <a:off x="548640" y="1920240"/>
            <a:ext cx="8046720" cy="548640"/>
          </a:xfrm>
          <a:prstGeom prst="rect">
            <a:avLst/>
          </a:prstGeom>
          <a:noFill/>
          <a:ln/>
        </p:spPr>
        <p:txBody>
          <a:bodyPr wrap="square" lIns="0" tIns="0" rIns="0" bIns="0" rtlCol="0" anchor="ctr"/>
          <a:lstStyle/>
          <a:p>
            <a:pPr indent="0" marL="0">
              <a:buNone/>
            </a:pPr>
            <a:r>
              <a:rPr lang="en-US" sz="2600" dirty="0">
                <a:solidFill>
                  <a:srgbClr val="A5B4FC"/>
                </a:solidFill>
                <a:latin typeface="Calibri" pitchFamily="34" charset="0"/>
                <a:ea typeface="Calibri" pitchFamily="34" charset="-122"/>
                <a:cs typeface="Calibri" pitchFamily="34" charset="-120"/>
              </a:rPr>
              <a:t>2020–2025</a:t>
            </a:r>
            <a:endParaRPr lang="en-US" sz="2600" dirty="0"/>
          </a:p>
        </p:txBody>
      </p:sp>
      <p:sp>
        <p:nvSpPr>
          <p:cNvPr id="4" name="Shape 2"/>
          <p:cNvSpPr/>
          <p:nvPr/>
        </p:nvSpPr>
        <p:spPr>
          <a:xfrm>
            <a:off x="548640" y="2926080"/>
            <a:ext cx="1874520" cy="822960"/>
          </a:xfrm>
          <a:prstGeom prst="roundRect">
            <a:avLst>
              <a:gd name="adj" fmla="val 8889"/>
            </a:avLst>
          </a:prstGeom>
          <a:solidFill>
            <a:srgbClr val="1F36C7"/>
          </a:solidFill>
          <a:ln/>
        </p:spPr>
      </p:sp>
      <p:sp>
        <p:nvSpPr>
          <p:cNvPr id="5" name="Text 3"/>
          <p:cNvSpPr/>
          <p:nvPr/>
        </p:nvSpPr>
        <p:spPr>
          <a:xfrm>
            <a:off x="64008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1</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Globalisation</a:t>
            </a:r>
            <a:endParaRPr lang="en-US" sz="1000" dirty="0"/>
          </a:p>
        </p:txBody>
      </p:sp>
      <p:sp>
        <p:nvSpPr>
          <p:cNvPr id="6" name="Shape 4"/>
          <p:cNvSpPr/>
          <p:nvPr/>
        </p:nvSpPr>
        <p:spPr>
          <a:xfrm>
            <a:off x="2560320" y="2926080"/>
            <a:ext cx="1874520" cy="822960"/>
          </a:xfrm>
          <a:prstGeom prst="roundRect">
            <a:avLst>
              <a:gd name="adj" fmla="val 8889"/>
            </a:avLst>
          </a:prstGeom>
          <a:solidFill>
            <a:srgbClr val="0F8A6B"/>
          </a:solidFill>
          <a:ln/>
        </p:spPr>
      </p:sp>
      <p:sp>
        <p:nvSpPr>
          <p:cNvPr id="7" name="Text 5"/>
          <p:cNvSpPr/>
          <p:nvPr/>
        </p:nvSpPr>
        <p:spPr>
          <a:xfrm>
            <a:off x="265176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2</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Regional Integration</a:t>
            </a:r>
            <a:endParaRPr lang="en-US" sz="1000" dirty="0"/>
          </a:p>
        </p:txBody>
      </p:sp>
      <p:sp>
        <p:nvSpPr>
          <p:cNvPr id="8" name="Shape 6"/>
          <p:cNvSpPr/>
          <p:nvPr/>
        </p:nvSpPr>
        <p:spPr>
          <a:xfrm>
            <a:off x="4572000" y="2926080"/>
            <a:ext cx="1874520" cy="822960"/>
          </a:xfrm>
          <a:prstGeom prst="roundRect">
            <a:avLst>
              <a:gd name="adj" fmla="val 8889"/>
            </a:avLst>
          </a:prstGeom>
          <a:solidFill>
            <a:srgbClr val="D9822B"/>
          </a:solidFill>
          <a:ln/>
        </p:spPr>
      </p:sp>
      <p:sp>
        <p:nvSpPr>
          <p:cNvPr id="9" name="Text 7"/>
          <p:cNvSpPr/>
          <p:nvPr/>
        </p:nvSpPr>
        <p:spPr>
          <a:xfrm>
            <a:off x="466344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3</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MNEs from Advanced Economies + CSR</a:t>
            </a:r>
            <a:endParaRPr lang="en-US" sz="1000" dirty="0"/>
          </a:p>
        </p:txBody>
      </p:sp>
      <p:sp>
        <p:nvSpPr>
          <p:cNvPr id="10" name="Shape 8"/>
          <p:cNvSpPr/>
          <p:nvPr/>
        </p:nvSpPr>
        <p:spPr>
          <a:xfrm>
            <a:off x="6583680" y="2926080"/>
            <a:ext cx="1874520" cy="822960"/>
          </a:xfrm>
          <a:prstGeom prst="roundRect">
            <a:avLst>
              <a:gd name="adj" fmla="val 8889"/>
            </a:avLst>
          </a:prstGeom>
          <a:solidFill>
            <a:srgbClr val="7C3AED"/>
          </a:solidFill>
          <a:ln/>
        </p:spPr>
      </p:sp>
      <p:sp>
        <p:nvSpPr>
          <p:cNvPr id="11" name="Text 9"/>
          <p:cNvSpPr/>
          <p:nvPr/>
        </p:nvSpPr>
        <p:spPr>
          <a:xfrm>
            <a:off x="6675120" y="2926080"/>
            <a:ext cx="1691640" cy="82296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Speaker 4</a:t>
            </a:r>
            <a:endParaRPr lang="en-US" sz="1000" dirty="0"/>
          </a:p>
          <a:p>
            <a:pPr indent="0" marL="0">
              <a:buNone/>
            </a:pPr>
            <a:r>
              <a:rPr lang="en-US" sz="1300" b="1" dirty="0">
                <a:solidFill>
                  <a:srgbClr val="FFFFFF"/>
                </a:solidFill>
                <a:latin typeface="Calibri" pitchFamily="34" charset="0"/>
                <a:ea typeface="Calibri" pitchFamily="34" charset="-122"/>
                <a:cs typeface="Calibri" pitchFamily="34" charset="-120"/>
              </a:rPr>
              <a:t>FDI</a:t>
            </a:r>
            <a:endParaRPr lang="en-US" sz="1000" dirty="0"/>
          </a:p>
        </p:txBody>
      </p:sp>
      <p:sp>
        <p:nvSpPr>
          <p:cNvPr id="12" name="Text 10"/>
          <p:cNvSpPr/>
          <p:nvPr/>
        </p:nvSpPr>
        <p:spPr>
          <a:xfrm>
            <a:off x="548640" y="4206240"/>
            <a:ext cx="8046720" cy="320040"/>
          </a:xfrm>
          <a:prstGeom prst="rect">
            <a:avLst/>
          </a:prstGeom>
          <a:noFill/>
          <a:ln/>
        </p:spPr>
        <p:txBody>
          <a:bodyPr wrap="square" lIns="0" tIns="0" rIns="0" bIns="0" rtlCol="0" anchor="ctr"/>
          <a:lstStyle/>
          <a:p>
            <a:pPr indent="0" marL="0">
              <a:buNone/>
            </a:pPr>
            <a:r>
              <a:rPr lang="en-US" sz="1200" dirty="0">
                <a:solidFill>
                  <a:srgbClr val="D1D5DB"/>
                </a:solidFill>
                <a:latin typeface="Calibri" pitchFamily="34" charset="0"/>
                <a:ea typeface="Calibri" pitchFamily="34" charset="-122"/>
                <a:cs typeface="Calibri" pitchFamily="34" charset="-120"/>
              </a:rPr>
              <a:t>BUSI 1763 Dynamics of Global Business · Group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Our mind map</a:t>
            </a:r>
            <a:endParaRPr lang="en-US" sz="2500" dirty="0"/>
          </a:p>
        </p:txBody>
      </p:sp>
      <p:sp>
        <p:nvSpPr>
          <p:cNvPr id="3" name="Text 1"/>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Four branches, one company, one period: 2020–2025</a:t>
            </a:r>
            <a:endParaRPr lang="en-US" sz="1300" dirty="0"/>
          </a:p>
        </p:txBody>
      </p:sp>
      <p:pic>
        <p:nvPicPr>
          <p:cNvPr id="4" name="Image 0" descr="mindmap.png">    </p:cNvPr>
          <p:cNvPicPr>
            <a:picLocks noChangeAspect="1"/>
          </p:cNvPicPr>
          <p:nvPr/>
        </p:nvPicPr>
        <p:blipFill>
          <a:blip r:embed="rId1"/>
          <a:stretch>
            <a:fillRect/>
          </a:stretch>
        </p:blipFill>
        <p:spPr>
          <a:xfrm>
            <a:off x="1853215" y="1188720"/>
            <a:ext cx="5437570" cy="38404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at a glance, 2020–2025</a:t>
            </a:r>
            <a:endParaRPr lang="en-US" sz="2500" dirty="0"/>
          </a:p>
        </p:txBody>
      </p:sp>
      <p:sp>
        <p:nvSpPr>
          <p:cNvPr id="3" name="Text 1"/>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UK-based consumer goods MNE: beauty, personal care, home care, food</a:t>
            </a:r>
            <a:endParaRPr lang="en-US" sz="1300" dirty="0"/>
          </a:p>
        </p:txBody>
      </p:sp>
      <p:graphicFrame>
        <p:nvGraphicFramePr>
          <p:cNvPr id="4" name="Chart 0" descr=""/>
          <p:cNvGraphicFramePr/>
          <p:nvPr/>
        </p:nvGraphicFramePr>
        <p:xfrm>
          <a:off x="411480" y="1188720"/>
          <a:ext cx="475488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411480" y="4526280"/>
            <a:ext cx="4754880" cy="22860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*2025 excludes Ice Cream (demerged December 2025); 2024 on the same basis: €52.5bn.</a:t>
            </a:r>
            <a:endParaRPr lang="en-US" sz="850" dirty="0"/>
          </a:p>
        </p:txBody>
      </p:sp>
      <p:sp>
        <p:nvSpPr>
          <p:cNvPr id="6" name="Shape 3"/>
          <p:cNvSpPr/>
          <p:nvPr/>
        </p:nvSpPr>
        <p:spPr>
          <a:xfrm>
            <a:off x="5440680" y="1188720"/>
            <a:ext cx="3291840" cy="749808"/>
          </a:xfrm>
          <a:prstGeom prst="roundRect">
            <a:avLst>
              <a:gd name="adj" fmla="val 9756"/>
            </a:avLst>
          </a:prstGeom>
          <a:solidFill>
            <a:srgbClr val="F3F4F8"/>
          </a:solidFill>
          <a:ln/>
        </p:spPr>
      </p:sp>
      <p:sp>
        <p:nvSpPr>
          <p:cNvPr id="7" name="Text 4"/>
          <p:cNvSpPr/>
          <p:nvPr/>
        </p:nvSpPr>
        <p:spPr>
          <a:xfrm>
            <a:off x="5577840" y="118872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59%</a:t>
            </a:r>
            <a:endParaRPr lang="en-US" sz="2100" dirty="0"/>
          </a:p>
        </p:txBody>
      </p:sp>
      <p:sp>
        <p:nvSpPr>
          <p:cNvPr id="8" name="Text 5"/>
          <p:cNvSpPr/>
          <p:nvPr/>
        </p:nvSpPr>
        <p:spPr>
          <a:xfrm>
            <a:off x="6812280" y="118872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of turnover from emerging markets (Jan–Dec 2025)</a:t>
            </a:r>
            <a:endParaRPr lang="en-US" sz="1050" dirty="0"/>
          </a:p>
        </p:txBody>
      </p:sp>
      <p:sp>
        <p:nvSpPr>
          <p:cNvPr id="9" name="Shape 6"/>
          <p:cNvSpPr/>
          <p:nvPr/>
        </p:nvSpPr>
        <p:spPr>
          <a:xfrm>
            <a:off x="5440680" y="2057400"/>
            <a:ext cx="3291840" cy="749808"/>
          </a:xfrm>
          <a:prstGeom prst="roundRect">
            <a:avLst>
              <a:gd name="adj" fmla="val 9756"/>
            </a:avLst>
          </a:prstGeom>
          <a:solidFill>
            <a:srgbClr val="F3F4F8"/>
          </a:solidFill>
          <a:ln/>
        </p:spPr>
      </p:sp>
      <p:sp>
        <p:nvSpPr>
          <p:cNvPr id="10" name="Text 7"/>
          <p:cNvSpPr/>
          <p:nvPr/>
        </p:nvSpPr>
        <p:spPr>
          <a:xfrm>
            <a:off x="5577840" y="205740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~190</a:t>
            </a:r>
            <a:endParaRPr lang="en-US" sz="2100" dirty="0"/>
          </a:p>
        </p:txBody>
      </p:sp>
      <p:sp>
        <p:nvSpPr>
          <p:cNvPr id="11" name="Text 8"/>
          <p:cNvSpPr/>
          <p:nvPr/>
        </p:nvSpPr>
        <p:spPr>
          <a:xfrm>
            <a:off x="6812280" y="205740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countries where its brands are sold (Dec 2024)</a:t>
            </a:r>
            <a:endParaRPr lang="en-US" sz="1050" dirty="0"/>
          </a:p>
        </p:txBody>
      </p:sp>
      <p:sp>
        <p:nvSpPr>
          <p:cNvPr id="12" name="Shape 9"/>
          <p:cNvSpPr/>
          <p:nvPr/>
        </p:nvSpPr>
        <p:spPr>
          <a:xfrm>
            <a:off x="5440680" y="2926080"/>
            <a:ext cx="3291840" cy="749808"/>
          </a:xfrm>
          <a:prstGeom prst="roundRect">
            <a:avLst>
              <a:gd name="adj" fmla="val 9756"/>
            </a:avLst>
          </a:prstGeom>
          <a:solidFill>
            <a:srgbClr val="F3F4F8"/>
          </a:solidFill>
          <a:ln/>
        </p:spPr>
      </p:sp>
      <p:sp>
        <p:nvSpPr>
          <p:cNvPr id="13" name="Text 10"/>
          <p:cNvSpPr/>
          <p:nvPr/>
        </p:nvSpPr>
        <p:spPr>
          <a:xfrm>
            <a:off x="5577840" y="292608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3.4bn</a:t>
            </a:r>
            <a:endParaRPr lang="en-US" sz="2100" dirty="0"/>
          </a:p>
        </p:txBody>
      </p:sp>
      <p:sp>
        <p:nvSpPr>
          <p:cNvPr id="14" name="Text 11"/>
          <p:cNvSpPr/>
          <p:nvPr/>
        </p:nvSpPr>
        <p:spPr>
          <a:xfrm>
            <a:off x="6812280" y="292608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people use its products every day (Dec 2024)</a:t>
            </a:r>
            <a:endParaRPr lang="en-US" sz="1050" dirty="0"/>
          </a:p>
        </p:txBody>
      </p:sp>
      <p:sp>
        <p:nvSpPr>
          <p:cNvPr id="15" name="Shape 12"/>
          <p:cNvSpPr/>
          <p:nvPr/>
        </p:nvSpPr>
        <p:spPr>
          <a:xfrm>
            <a:off x="5440680" y="3794760"/>
            <a:ext cx="3291840" cy="749808"/>
          </a:xfrm>
          <a:prstGeom prst="roundRect">
            <a:avLst>
              <a:gd name="adj" fmla="val 9756"/>
            </a:avLst>
          </a:prstGeom>
          <a:solidFill>
            <a:srgbClr val="F3F4F8"/>
          </a:solidFill>
          <a:ln/>
        </p:spPr>
      </p:sp>
      <p:sp>
        <p:nvSpPr>
          <p:cNvPr id="16" name="Text 13"/>
          <p:cNvSpPr/>
          <p:nvPr/>
        </p:nvSpPr>
        <p:spPr>
          <a:xfrm>
            <a:off x="5577840" y="3794760"/>
            <a:ext cx="1234440" cy="749808"/>
          </a:xfrm>
          <a:prstGeom prst="rect">
            <a:avLst/>
          </a:prstGeom>
          <a:noFill/>
          <a:ln/>
        </p:spPr>
        <p:txBody>
          <a:bodyPr wrap="square" lIns="0" tIns="0" rIns="0" bIns="0" rtlCol="0" anchor="ctr"/>
          <a:lstStyle/>
          <a:p>
            <a:pPr indent="0" marL="0">
              <a:buNone/>
            </a:pPr>
            <a:r>
              <a:rPr lang="en-US" sz="2100" b="1" dirty="0">
                <a:solidFill>
                  <a:srgbClr val="1F36C7"/>
                </a:solidFill>
                <a:latin typeface="Calibri" pitchFamily="34" charset="0"/>
                <a:ea typeface="Calibri" pitchFamily="34" charset="-122"/>
                <a:cs typeface="Calibri" pitchFamily="34" charset="-120"/>
              </a:rPr>
              <a:t>118k</a:t>
            </a:r>
            <a:endParaRPr lang="en-US" sz="2100" dirty="0"/>
          </a:p>
        </p:txBody>
      </p:sp>
      <p:sp>
        <p:nvSpPr>
          <p:cNvPr id="17" name="Text 14"/>
          <p:cNvSpPr/>
          <p:nvPr/>
        </p:nvSpPr>
        <p:spPr>
          <a:xfrm>
            <a:off x="6812280" y="3794760"/>
            <a:ext cx="1828800" cy="749808"/>
          </a:xfrm>
          <a:prstGeom prst="rect">
            <a:avLst/>
          </a:prstGeom>
          <a:noFill/>
          <a:ln/>
        </p:spPr>
        <p:txBody>
          <a:bodyPr wrap="square" lIns="0" tIns="0" rIns="0" bIns="0" rtlCol="0" anchor="ctr"/>
          <a:lstStyle/>
          <a:p>
            <a:pPr indent="0" marL="0">
              <a:buNone/>
            </a:pPr>
            <a:r>
              <a:rPr lang="en-US" sz="1050" dirty="0">
                <a:solidFill>
                  <a:srgbClr val="1A1F36"/>
                </a:solidFill>
                <a:latin typeface="Calibri" pitchFamily="34" charset="0"/>
                <a:ea typeface="Calibri" pitchFamily="34" charset="-122"/>
                <a:cs typeface="Calibri" pitchFamily="34" charset="-120"/>
              </a:rPr>
              <a:t>average employees in 2025 (150k in 2020)</a:t>
            </a:r>
            <a:endParaRPr lang="en-US" sz="1050" dirty="0"/>
          </a:p>
        </p:txBody>
      </p:sp>
      <p:sp>
        <p:nvSpPr>
          <p:cNvPr id="18"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(2021a; 2026a; 2026b).</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F36C7"/>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1F36C7"/>
                </a:solidFill>
                <a:latin typeface="Calibri" pitchFamily="34" charset="0"/>
                <a:ea typeface="Calibri" pitchFamily="34" charset="-122"/>
                <a:cs typeface="Calibri" pitchFamily="34" charset="-120"/>
              </a:rPr>
              <a:t>Speaker 1 · Globalisation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Globalisation: one world market?</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Levitt (1983) and the five drivers (Lecture 1)</a:t>
            </a:r>
            <a:endParaRPr lang="en-US" sz="1300" dirty="0"/>
          </a:p>
        </p:txBody>
      </p:sp>
      <p:sp>
        <p:nvSpPr>
          <p:cNvPr id="6" name="Shape 4"/>
          <p:cNvSpPr/>
          <p:nvPr/>
        </p:nvSpPr>
        <p:spPr>
          <a:xfrm>
            <a:off x="411480" y="1234440"/>
            <a:ext cx="8321040" cy="713232"/>
          </a:xfrm>
          <a:prstGeom prst="roundRect">
            <a:avLst>
              <a:gd name="adj" fmla="val 10256"/>
            </a:avLst>
          </a:prstGeom>
          <a:solidFill>
            <a:srgbClr val="1F36C7"/>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global company treats the world as one market and sells the same things in the same way (Levitt, 1983).</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1F36C7"/>
                </a:solidFill>
                <a:latin typeface="Calibri" pitchFamily="34" charset="0"/>
                <a:ea typeface="Calibri" pitchFamily="34" charset="-122"/>
                <a:cs typeface="Calibri" pitchFamily="34" charset="-120"/>
              </a:rPr>
              <a:t>Five drivers</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Political: lower trade barriers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Technology: digital, AI</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Market: global customers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Cost: economies of scale</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Competition: global rivals</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1F36C7"/>
                </a:solidFill>
                <a:latin typeface="Calibri" pitchFamily="34" charset="0"/>
                <a:ea typeface="Calibri" pitchFamily="34" charset="-122"/>
                <a:cs typeface="Calibri" pitchFamily="34" charset="-120"/>
              </a:rPr>
              <a:t>Two areas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Globalisation of markets: new customers, smoother income</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Globalisation of production: make where it is best and cheapest</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1F36C7"/>
                </a:solidFill>
                <a:latin typeface="Calibri" pitchFamily="34" charset="0"/>
                <a:ea typeface="Calibri" pitchFamily="34" charset="-122"/>
                <a:cs typeface="Calibri" pitchFamily="34" charset="-120"/>
              </a:rPr>
              <a:t>The tension</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Standardise: global brands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Localise: local tastes and prices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Risks: shocks travel fast</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Levitt (1983); University of Greenwich (2026a).</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F36C7"/>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1F36C7"/>
                </a:solidFill>
                <a:latin typeface="Calibri" pitchFamily="34" charset="0"/>
                <a:ea typeface="Calibri" pitchFamily="34" charset="-122"/>
                <a:cs typeface="Calibri" pitchFamily="34" charset="-120"/>
              </a:rPr>
              <a:t>Speaker 1 · Globalisation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global growth, global shocks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Same brands everywhere, but more risk in 2020–2025</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F36C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happened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F36C7"/>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Impact on Unilever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F36C7"/>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Mar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COVID-19 lockdowns; supply chain change programmes paused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Extra supply-chain costs cut underlying operating margin by ~0.9 points in Jan–Dec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Mar 2022</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War in Ukraine: imports, exports and capital flows with Russia stopped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Russia = 1.4% of turnover, ~3,000 staff, 4 factories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Jan–Dec 2022</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High inflation: net material inflation €4.3bn</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Prices +11.3%, volumes −2.1%; underlying sales growth 9.0%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Oct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Sale of the Russian business to Arnest Group completed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Unilever left a market for political reasons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Mar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US puts 25% tariffs on Mexico and Canada (USMCA goods exempted)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Trade barriers are rising again</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F36C7"/>
                          </a:solidFill>
                          <a:latin typeface="Calibri" pitchFamily="34" charset="0"/>
                          <a:ea typeface="Calibri" pitchFamily="34" charset="-122"/>
                          <a:cs typeface="Calibri" pitchFamily="34" charset="-120"/>
                        </a:rPr>
                        <a:t>Dec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Jan–Dec 2025: Asia Pacific Africa 44%, Americas 37%, Europe 19% of turnover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59% from emerging markets: growth now depends on them</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1F36C7"/>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1F36C7"/>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Global brands and emerging markets drive growth, but shocks now travel fast.</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(2021a; 2023b; 2025a; 2026b); Fortune (2025).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F8A6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0F8A6B"/>
                </a:solidFill>
                <a:latin typeface="Calibri" pitchFamily="34" charset="0"/>
                <a:ea typeface="Calibri" pitchFamily="34" charset="-122"/>
                <a:cs typeface="Calibri" pitchFamily="34" charset="-120"/>
              </a:rPr>
              <a:t>Speaker 2 · Regional Integration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Regional integration: Mexico and USMCA</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Lecture 2 · Focus country: Mexico</a:t>
            </a:r>
            <a:endParaRPr lang="en-US" sz="1300" dirty="0"/>
          </a:p>
        </p:txBody>
      </p:sp>
      <p:sp>
        <p:nvSpPr>
          <p:cNvPr id="6" name="Shape 4"/>
          <p:cNvSpPr/>
          <p:nvPr/>
        </p:nvSpPr>
        <p:spPr>
          <a:xfrm>
            <a:off x="411480" y="1234440"/>
            <a:ext cx="8321040" cy="713232"/>
          </a:xfrm>
          <a:prstGeom prst="roundRect">
            <a:avLst>
              <a:gd name="adj" fmla="val 10256"/>
            </a:avLst>
          </a:prstGeom>
          <a:solidFill>
            <a:srgbClr val="0F8A6B"/>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Countries in a region remove barriers between them, step by step. USMCA is level 1: a free trade area.</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0F8A6B"/>
                </a:solidFill>
                <a:latin typeface="Calibri" pitchFamily="34" charset="0"/>
                <a:ea typeface="Calibri" pitchFamily="34" charset="-122"/>
                <a:cs typeface="Calibri" pitchFamily="34" charset="-120"/>
              </a:rPr>
              <a:t>Five levels</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Free trade area ← USMCA</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Customs union</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Common market</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Economic union</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Political union</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0F8A6B"/>
                </a:solidFill>
                <a:latin typeface="Calibri" pitchFamily="34" charset="0"/>
                <a:ea typeface="Calibri" pitchFamily="34" charset="-122"/>
                <a:cs typeface="Calibri" pitchFamily="34" charset="-120"/>
              </a:rPr>
              <a:t>Effects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Trade creation: more trade between members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Trade diversion: from a cheaper outside country to a member</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0F8A6B"/>
                </a:solidFill>
                <a:latin typeface="Calibri" pitchFamily="34" charset="0"/>
                <a:ea typeface="Calibri" pitchFamily="34" charset="-122"/>
                <a:cs typeface="Calibri" pitchFamily="34" charset="-120"/>
              </a:rPr>
              <a:t>USMCA in brief</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US, Mexico and Canada; replaced NAFTA in Jul 2020</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Zero tariffs if rules of origin are met</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Mexico = US's No. 1 trading partner (Jan–Dec 2023, $799bn goods trade)</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University of Greenwich (2026b); USTR (n.d.); US Census Bureau (2024).</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F8A6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0F8A6B"/>
                </a:solidFill>
                <a:latin typeface="Calibri" pitchFamily="34" charset="0"/>
                <a:ea typeface="Calibri" pitchFamily="34" charset="-122"/>
                <a:cs typeface="Calibri" pitchFamily="34" charset="-120"/>
              </a:rPr>
              <a:t>Speaker 2 · Regional Integration</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Mexico: Unilever's door to North America</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May 2025: Unilever calls Mexico one of its 10 largest markets (7,000+ employees)</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8A6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happened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8A6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Benefit for Unilever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F8A6B"/>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Jul 2020</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USMCA enters into force (replaces NAFTA)</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Qualifying goods made in Mexico enter the US and Canada with no tariffs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Feb 2023</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New beauty &amp; personal care plant in Nuevo León (near the US border) announced: $400m</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Low-cost production next to the US market</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Mar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US 25% tariff on Mexico (4 Mar); USMCA-qualifying goods exempted (6 Mar)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Meeting USMCA rules of origin protects Unilever from tariffs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F8A6B"/>
                          </a:solidFill>
                          <a:latin typeface="Calibri" pitchFamily="34" charset="0"/>
                          <a:ea typeface="Calibri" pitchFamily="34" charset="-122"/>
                          <a:cs typeface="Calibri" pitchFamily="34" charset="-120"/>
                        </a:rPr>
                        <a:t>Apr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Plant investment doubled to $800m; Unilever says it is mainly for exports to the US and Canada</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Supplies the US, Unilever's biggest market (€10.5bn turnover, Jan–Dec 2025); plant still being built</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0F8A6B"/>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0F8A6B"/>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USMCA makes Mexico a low-cost, tariff-free base for the US. Limit: only ~half of US imports from Mexico qualified in Jan–Dec 2024.</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USTR (n.d.); MND Staff (2025); Fortune (2025); Bloomberg Línea (2025); Unilever PLC (2026a).</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D9822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D9822B"/>
                </a:solidFill>
                <a:latin typeface="Calibri" pitchFamily="34" charset="0"/>
                <a:ea typeface="Calibri" pitchFamily="34" charset="-122"/>
                <a:cs typeface="Calibri" pitchFamily="34" charset="-120"/>
              </a:rPr>
              <a:t>Speaker 3 · MNEs from Advanced Economies + CSR</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MNEs from advanced economies + CSR</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Lecture 4: MNE goals vs host-country goals</a:t>
            </a:r>
            <a:endParaRPr lang="en-US" sz="1300" dirty="0"/>
          </a:p>
        </p:txBody>
      </p:sp>
      <p:sp>
        <p:nvSpPr>
          <p:cNvPr id="6" name="Shape 4"/>
          <p:cNvSpPr/>
          <p:nvPr/>
        </p:nvSpPr>
        <p:spPr>
          <a:xfrm>
            <a:off x="411480" y="1234440"/>
            <a:ext cx="8321040" cy="713232"/>
          </a:xfrm>
          <a:prstGeom prst="roundRect">
            <a:avLst>
              <a:gd name="adj" fmla="val 10256"/>
            </a:avLst>
          </a:prstGeom>
          <a:solidFill>
            <a:srgbClr val="D9822B"/>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An advanced-economy MNE goes abroad to use advantages it already has. Its goals and the host country's goals can clash.</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D9822B"/>
                </a:solidFill>
                <a:latin typeface="Calibri" pitchFamily="34" charset="0"/>
                <a:ea typeface="Calibri" pitchFamily="34" charset="-122"/>
                <a:cs typeface="Calibri" pitchFamily="34" charset="-120"/>
              </a:rPr>
              <a:t>MNE goals</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High returns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More sales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Lower costs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Share risk</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Better technology</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D9822B"/>
                </a:solidFill>
                <a:latin typeface="Calibri" pitchFamily="34" charset="0"/>
                <a:ea typeface="Calibri" pitchFamily="34" charset="-122"/>
                <a:cs typeface="Calibri" pitchFamily="34" charset="-120"/>
              </a:rPr>
              <a:t>Host-country goals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Jobs and growth</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Technology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Control of the economy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A fair share of profits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Clean environment</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D9822B"/>
                </a:solidFill>
                <a:latin typeface="Calibri" pitchFamily="34" charset="0"/>
                <a:ea typeface="Calibri" pitchFamily="34" charset="-122"/>
                <a:cs typeface="Calibri" pitchFamily="34" charset="-120"/>
              </a:rPr>
              <a:t>When they clash</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Creeping expropriation: new taxes and rules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Profits leaving the country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CSR = the MNE's "licence to operate"</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University of Greenwich (2026c).</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D9822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D9822B"/>
                </a:solidFill>
                <a:latin typeface="Calibri" pitchFamily="34" charset="0"/>
                <a:ea typeface="Calibri" pitchFamily="34" charset="-122"/>
                <a:cs typeface="Calibri" pitchFamily="34" charset="-120"/>
              </a:rPr>
              <a:t>Speaker 3 · MNEs from Advanced Economies + CSR</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British advantages, local partners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Brands and R&amp;D from home; shared ownership abroad</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What happened</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Impact on Unilever</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Jan–Dec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R&amp;D spending: €987m</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Technology and brands: ownership advantages from an advanced economy</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Mar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Productivity programme: about 7,500 office jobs to go</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4,300 jobs gone by Dec 2024: profit vs host-country employment</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Oct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Russian business sold, after staying since Mar 2022</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Protected assets, but clashed with home and host politics</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Dec 2024</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Local listed subsidiaries: India 61.9%, Indonesia 85%, Nigeria 76%</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Local investors share profits; lowers political risk</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D9822B"/>
                          </a:solidFill>
                          <a:latin typeface="Calibri" pitchFamily="34" charset="0"/>
                          <a:ea typeface="Calibri" pitchFamily="34" charset="-122"/>
                          <a:cs typeface="Calibri" pitchFamily="34" charset="-120"/>
                        </a:rPr>
                        <a:t>Dec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30 Power Brands make 78% of turnover (Jan–Dec 2025)</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50" dirty="0">
                          <a:solidFill>
                            <a:srgbClr val="1A1F36"/>
                          </a:solidFill>
                          <a:latin typeface="Calibri" pitchFamily="34" charset="0"/>
                          <a:ea typeface="Calibri" pitchFamily="34" charset="-122"/>
                          <a:cs typeface="Calibri" pitchFamily="34" charset="-120"/>
                        </a:rPr>
                        <a:t>Global brands are the core of its advantage</a:t>
                      </a:r>
                      <a:endParaRPr lang="en-US" sz="105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D9822B"/>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D9822B"/>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Unilever's advantages come from home, but it must balance profit with host-country jobs and politics.</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(2025a; 2025b; 2026a; 2026b).</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D9822B"/>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D9822B"/>
                </a:solidFill>
                <a:latin typeface="Calibri" pitchFamily="34" charset="0"/>
                <a:ea typeface="Calibri" pitchFamily="34" charset="-122"/>
                <a:cs typeface="Calibri" pitchFamily="34" charset="-120"/>
              </a:rPr>
              <a:t>Speaker 3 · MNEs from Advanced Economies + CSR</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Sustainability &amp; CSR: progress and setbacks</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CSR framework: the Unilever Compass (from Mar 2021)</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happened</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it means for Unilever</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D9822B"/>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Jun 2020</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Makes a long-term promise to reach net zero emissions; €1bn Climate &amp; Nature Fund</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Long-term climate goal for the whole value chain</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May 2021</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Shareholders approve its Climate Transition Action Plan (99.59%)</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Strong investor support</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Jan 2022</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Fund manager Terry Smith: Unilever has "lost the plot" over purpose</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Criticism: purpose vs profit</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Dec 2023</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UK CMA investigates its green claims; case closed Nov 2024 after Unilever changed some claims</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Greenwashing risk to its brands</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Apr 2024</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Plastic target lowered (it had planned to halve virgin plastic by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Setback: only −29% by Dec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D9822B"/>
                          </a:solidFill>
                          <a:latin typeface="Calibri" pitchFamily="34" charset="0"/>
                          <a:ea typeface="Calibri" pitchFamily="34" charset="-122"/>
                          <a:cs typeface="Calibri" pitchFamily="34" charset="-120"/>
                        </a:rPr>
                        <a:t>Dec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Own-operation emissions −77% vs 2015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Progress on climate</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D9822B"/>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D9822B"/>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CSR keeps Unilever's licence to operate, but missed targets bring greenwashing claims. Key question: can it keep its climate promises?</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(2021a; 2021b; 2025a; 2026a); FoodNavigator (2022); Grocery Gazette (2024).</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7C3AED"/>
                </a:solidFill>
                <a:latin typeface="Calibri" pitchFamily="34" charset="0"/>
                <a:ea typeface="Calibri" pitchFamily="34" charset="-122"/>
                <a:cs typeface="Calibri" pitchFamily="34" charset="-120"/>
              </a:rPr>
              <a:t>Speaker 4 · FDI</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FDI: why and how firms invest abroad</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Lecture 3 · Focus country: United States</a:t>
            </a:r>
            <a:endParaRPr lang="en-US" sz="1300" dirty="0"/>
          </a:p>
        </p:txBody>
      </p:sp>
      <p:sp>
        <p:nvSpPr>
          <p:cNvPr id="6" name="Shape 4"/>
          <p:cNvSpPr/>
          <p:nvPr/>
        </p:nvSpPr>
        <p:spPr>
          <a:xfrm>
            <a:off x="411480" y="1234440"/>
            <a:ext cx="8321040" cy="713232"/>
          </a:xfrm>
          <a:prstGeom prst="roundRect">
            <a:avLst>
              <a:gd name="adj" fmla="val 10256"/>
            </a:avLst>
          </a:prstGeom>
          <a:solidFill>
            <a:srgbClr val="7C3AED"/>
          </a:solidFill>
          <a:ln/>
        </p:spPr>
      </p:sp>
      <p:sp>
        <p:nvSpPr>
          <p:cNvPr id="7" name="Text 5"/>
          <p:cNvSpPr/>
          <p:nvPr/>
        </p:nvSpPr>
        <p:spPr>
          <a:xfrm>
            <a:off x="594360" y="1234440"/>
            <a:ext cx="7955280" cy="7132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FDI: a company owns and controls a business in another country, by building it (greenfield) or buying it (M&amp;A).</a:t>
            </a:r>
            <a:endParaRPr lang="en-US" sz="1400" dirty="0"/>
          </a:p>
        </p:txBody>
      </p:sp>
      <p:sp>
        <p:nvSpPr>
          <p:cNvPr id="8" name="Shape 6"/>
          <p:cNvSpPr/>
          <p:nvPr/>
        </p:nvSpPr>
        <p:spPr>
          <a:xfrm>
            <a:off x="411480" y="2103120"/>
            <a:ext cx="2651760" cy="2514600"/>
          </a:xfrm>
          <a:prstGeom prst="roundRect">
            <a:avLst>
              <a:gd name="adj" fmla="val 2909"/>
            </a:avLst>
          </a:prstGeom>
          <a:solidFill>
            <a:srgbClr val="F3F4F8"/>
          </a:solidFill>
          <a:ln/>
        </p:spPr>
      </p:sp>
      <p:sp>
        <p:nvSpPr>
          <p:cNvPr id="9" name="Text 7"/>
          <p:cNvSpPr/>
          <p:nvPr/>
        </p:nvSpPr>
        <p:spPr>
          <a:xfrm>
            <a:off x="548640" y="2194560"/>
            <a:ext cx="2377440" cy="36576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OLI model (Dunning)</a:t>
            </a:r>
            <a:endParaRPr lang="en-US" sz="1350" dirty="0"/>
          </a:p>
        </p:txBody>
      </p:sp>
      <p:sp>
        <p:nvSpPr>
          <p:cNvPr id="10" name="Text 8"/>
          <p:cNvSpPr/>
          <p:nvPr/>
        </p:nvSpPr>
        <p:spPr>
          <a:xfrm>
            <a:off x="54864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O – Ownership: brands, technology, money</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L – Location: big market, low costs</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I – Internalisation: own it, do not license it</a:t>
            </a:r>
            <a:endParaRPr lang="en-US" sz="1150" dirty="0"/>
          </a:p>
        </p:txBody>
      </p:sp>
      <p:sp>
        <p:nvSpPr>
          <p:cNvPr id="11" name="Shape 9"/>
          <p:cNvSpPr/>
          <p:nvPr/>
        </p:nvSpPr>
        <p:spPr>
          <a:xfrm>
            <a:off x="3246120" y="2103120"/>
            <a:ext cx="2651760" cy="2514600"/>
          </a:xfrm>
          <a:prstGeom prst="roundRect">
            <a:avLst>
              <a:gd name="adj" fmla="val 2909"/>
            </a:avLst>
          </a:prstGeom>
          <a:solidFill>
            <a:srgbClr val="F3F4F8"/>
          </a:solidFill>
          <a:ln/>
        </p:spPr>
      </p:sp>
      <p:sp>
        <p:nvSpPr>
          <p:cNvPr id="12" name="Text 10"/>
          <p:cNvSpPr/>
          <p:nvPr/>
        </p:nvSpPr>
        <p:spPr>
          <a:xfrm>
            <a:off x="3383280" y="2194560"/>
            <a:ext cx="2377440" cy="36576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Four motives</a:t>
            </a:r>
            <a:endParaRPr lang="en-US" sz="1350" dirty="0"/>
          </a:p>
        </p:txBody>
      </p:sp>
      <p:sp>
        <p:nvSpPr>
          <p:cNvPr id="13" name="Text 11"/>
          <p:cNvSpPr/>
          <p:nvPr/>
        </p:nvSpPr>
        <p:spPr>
          <a:xfrm>
            <a:off x="338328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Market-seeking</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Resource-seeking</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Efficiency-seeking</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Strategic asset-seeking</a:t>
            </a:r>
            <a:endParaRPr lang="en-US" sz="1150" dirty="0"/>
          </a:p>
        </p:txBody>
      </p:sp>
      <p:sp>
        <p:nvSpPr>
          <p:cNvPr id="14" name="Shape 12"/>
          <p:cNvSpPr/>
          <p:nvPr/>
        </p:nvSpPr>
        <p:spPr>
          <a:xfrm>
            <a:off x="6080760" y="2103120"/>
            <a:ext cx="2651760" cy="2514600"/>
          </a:xfrm>
          <a:prstGeom prst="roundRect">
            <a:avLst>
              <a:gd name="adj" fmla="val 2909"/>
            </a:avLst>
          </a:prstGeom>
          <a:solidFill>
            <a:srgbClr val="F3F4F8"/>
          </a:solidFill>
          <a:ln/>
        </p:spPr>
      </p:sp>
      <p:sp>
        <p:nvSpPr>
          <p:cNvPr id="15" name="Text 13"/>
          <p:cNvSpPr/>
          <p:nvPr/>
        </p:nvSpPr>
        <p:spPr>
          <a:xfrm>
            <a:off x="6217920" y="2194560"/>
            <a:ext cx="2377440" cy="36576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Two modes</a:t>
            </a:r>
            <a:endParaRPr lang="en-US" sz="1350" dirty="0"/>
          </a:p>
        </p:txBody>
      </p:sp>
      <p:sp>
        <p:nvSpPr>
          <p:cNvPr id="16" name="Text 14"/>
          <p:cNvSpPr/>
          <p:nvPr/>
        </p:nvSpPr>
        <p:spPr>
          <a:xfrm>
            <a:off x="6217920" y="2606040"/>
            <a:ext cx="2377440" cy="19202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Greenfield: build new; slower, full control</a:t>
            </a:r>
            <a:endParaRPr lang="en-US" sz="1150" dirty="0"/>
          </a:p>
          <a:p>
            <a:pPr marL="342900" indent="-342900">
              <a:spcAft>
                <a:spcPts val="400"/>
              </a:spcAft>
              <a:buSzPct val="100000"/>
              <a:buChar char="•"/>
            </a:pPr>
            <a:r>
              <a:rPr lang="en-US" sz="1150" dirty="0">
                <a:solidFill>
                  <a:srgbClr val="1A1F36"/>
                </a:solidFill>
                <a:latin typeface="Calibri" pitchFamily="34" charset="0"/>
                <a:ea typeface="Calibri" pitchFamily="34" charset="-122"/>
                <a:cs typeface="Calibri" pitchFamily="34" charset="-120"/>
              </a:rPr>
              <a:t>M&amp;A: buy; faster, but expensive and hard to integrate</a:t>
            </a:r>
            <a:endParaRPr lang="en-US" sz="1150" dirty="0"/>
          </a:p>
        </p:txBody>
      </p:sp>
      <p:sp>
        <p:nvSpPr>
          <p:cNvPr id="17" name="Text 15"/>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Dunning (1988); University of Greenwich (2026d).</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7C3AED"/>
                </a:solidFill>
                <a:latin typeface="Calibri" pitchFamily="34" charset="0"/>
                <a:ea typeface="Calibri" pitchFamily="34" charset="-122"/>
                <a:cs typeface="Calibri" pitchFamily="34" charset="-120"/>
              </a:rPr>
              <a:t>Speaker 4 · FDI</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Why the United States? Unilever and OLI</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The US: world's largest FDI host ($279bn in Jan–Dec 2024) and Unilever's biggest market</a:t>
            </a:r>
            <a:endParaRPr lang="en-US" sz="1300" dirty="0"/>
          </a:p>
        </p:txBody>
      </p:sp>
      <p:graphicFrame>
        <p:nvGraphicFramePr>
          <p:cNvPr id="6" name="Chart 0" descr=""/>
          <p:cNvGraphicFramePr/>
          <p:nvPr/>
        </p:nvGraphicFramePr>
        <p:xfrm>
          <a:off x="411480" y="1188720"/>
          <a:ext cx="448056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411480" y="4407408"/>
            <a:ext cx="4480560" cy="27432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*2025 excludes Ice Cream (demerged Dec 2025); 2024 on the same basis: €10.4bn. Each bar = Jan–Dec.</a:t>
            </a:r>
            <a:endParaRPr lang="en-US" sz="850" dirty="0"/>
          </a:p>
        </p:txBody>
      </p:sp>
      <p:sp>
        <p:nvSpPr>
          <p:cNvPr id="8" name="Shape 5"/>
          <p:cNvSpPr/>
          <p:nvPr/>
        </p:nvSpPr>
        <p:spPr>
          <a:xfrm>
            <a:off x="5120640" y="1188720"/>
            <a:ext cx="3611880" cy="987552"/>
          </a:xfrm>
          <a:prstGeom prst="roundRect">
            <a:avLst>
              <a:gd name="adj" fmla="val 7407"/>
            </a:avLst>
          </a:prstGeom>
          <a:solidFill>
            <a:srgbClr val="F3F4F8"/>
          </a:solidFill>
          <a:ln/>
        </p:spPr>
      </p:sp>
      <p:sp>
        <p:nvSpPr>
          <p:cNvPr id="9" name="Text 6"/>
          <p:cNvSpPr/>
          <p:nvPr/>
        </p:nvSpPr>
        <p:spPr>
          <a:xfrm>
            <a:off x="5257800" y="1188720"/>
            <a:ext cx="3383280" cy="987552"/>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O · Ownership</a:t>
            </a:r>
            <a:endParaRPr lang="en-US" sz="1350" dirty="0"/>
          </a:p>
          <a:p>
            <a:pPr indent="0" marL="0">
              <a:buNone/>
            </a:pPr>
            <a:r>
              <a:rPr lang="en-US" sz="1150" dirty="0">
                <a:solidFill>
                  <a:srgbClr val="1A1F36"/>
                </a:solidFill>
                <a:latin typeface="Calibri" pitchFamily="34" charset="0"/>
                <a:ea typeface="Calibri" pitchFamily="34" charset="-122"/>
                <a:cs typeface="Calibri" pitchFamily="34" charset="-120"/>
              </a:rPr>
              <a:t>Global brands, money and worldwide distribution</a:t>
            </a:r>
            <a:endParaRPr lang="en-US" sz="1350" dirty="0"/>
          </a:p>
        </p:txBody>
      </p:sp>
      <p:sp>
        <p:nvSpPr>
          <p:cNvPr id="10" name="Shape 7"/>
          <p:cNvSpPr/>
          <p:nvPr/>
        </p:nvSpPr>
        <p:spPr>
          <a:xfrm>
            <a:off x="5120640" y="2304288"/>
            <a:ext cx="3611880" cy="987552"/>
          </a:xfrm>
          <a:prstGeom prst="roundRect">
            <a:avLst>
              <a:gd name="adj" fmla="val 7407"/>
            </a:avLst>
          </a:prstGeom>
          <a:solidFill>
            <a:srgbClr val="F3F4F8"/>
          </a:solidFill>
          <a:ln/>
        </p:spPr>
      </p:sp>
      <p:sp>
        <p:nvSpPr>
          <p:cNvPr id="11" name="Text 8"/>
          <p:cNvSpPr/>
          <p:nvPr/>
        </p:nvSpPr>
        <p:spPr>
          <a:xfrm>
            <a:off x="5257800" y="2304288"/>
            <a:ext cx="3383280" cy="987552"/>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L · Location</a:t>
            </a:r>
            <a:endParaRPr lang="en-US" sz="1350" dirty="0"/>
          </a:p>
          <a:p>
            <a:pPr indent="0" marL="0">
              <a:buNone/>
            </a:pPr>
            <a:r>
              <a:rPr lang="en-US" sz="1150" dirty="0">
                <a:solidFill>
                  <a:srgbClr val="1A1F36"/>
                </a:solidFill>
                <a:latin typeface="Calibri" pitchFamily="34" charset="0"/>
                <a:ea typeface="Calibri" pitchFamily="34" charset="-122"/>
                <a:cs typeface="Calibri" pitchFamily="34" charset="-120"/>
              </a:rPr>
              <a:t>Biggest market; many premium and online shoppers</a:t>
            </a:r>
            <a:endParaRPr lang="en-US" sz="1350" dirty="0"/>
          </a:p>
        </p:txBody>
      </p:sp>
      <p:sp>
        <p:nvSpPr>
          <p:cNvPr id="12" name="Shape 9"/>
          <p:cNvSpPr/>
          <p:nvPr/>
        </p:nvSpPr>
        <p:spPr>
          <a:xfrm>
            <a:off x="5120640" y="3419856"/>
            <a:ext cx="3611880" cy="987552"/>
          </a:xfrm>
          <a:prstGeom prst="roundRect">
            <a:avLst>
              <a:gd name="adj" fmla="val 7407"/>
            </a:avLst>
          </a:prstGeom>
          <a:solidFill>
            <a:srgbClr val="F3F4F8"/>
          </a:solidFill>
          <a:ln/>
        </p:spPr>
      </p:sp>
      <p:sp>
        <p:nvSpPr>
          <p:cNvPr id="13" name="Text 10"/>
          <p:cNvSpPr/>
          <p:nvPr/>
        </p:nvSpPr>
        <p:spPr>
          <a:xfrm>
            <a:off x="5257800" y="3419856"/>
            <a:ext cx="3383280" cy="987552"/>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I · Internalisation</a:t>
            </a:r>
            <a:endParaRPr lang="en-US" sz="1350" dirty="0"/>
          </a:p>
          <a:p>
            <a:pPr indent="0" marL="0">
              <a:buNone/>
            </a:pPr>
            <a:r>
              <a:rPr lang="en-US" sz="1150" dirty="0">
                <a:solidFill>
                  <a:srgbClr val="1A1F36"/>
                </a:solidFill>
                <a:latin typeface="Calibri" pitchFamily="34" charset="0"/>
                <a:ea typeface="Calibri" pitchFamily="34" charset="-122"/>
                <a:cs typeface="Calibri" pitchFamily="34" charset="-120"/>
              </a:rPr>
              <a:t>Buys and owns the brands, so it controls them and their customers</a:t>
            </a:r>
            <a:endParaRPr lang="en-US" sz="1350" dirty="0"/>
          </a:p>
        </p:txBody>
      </p:sp>
      <p:sp>
        <p:nvSpPr>
          <p:cNvPr id="14" name="Text 11"/>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(2022; 2023a; 2024; 2025a; 2026a); UNCTAD (2025).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7C3AED"/>
          </a:solidFill>
          <a:ln/>
        </p:spPr>
      </p:sp>
      <p:sp>
        <p:nvSpPr>
          <p:cNvPr id="3" name="Text 1"/>
          <p:cNvSpPr/>
          <p:nvPr/>
        </p:nvSpPr>
        <p:spPr>
          <a:xfrm>
            <a:off x="4480560" y="109728"/>
            <a:ext cx="4389120" cy="219456"/>
          </a:xfrm>
          <a:prstGeom prst="rect">
            <a:avLst/>
          </a:prstGeom>
          <a:noFill/>
          <a:ln/>
        </p:spPr>
        <p:txBody>
          <a:bodyPr wrap="square" lIns="0" tIns="0" rIns="0" bIns="0" rtlCol="0" anchor="ctr"/>
          <a:lstStyle/>
          <a:p>
            <a:pPr algn="r" indent="0" marL="0">
              <a:buNone/>
            </a:pPr>
            <a:r>
              <a:rPr lang="en-US" sz="1000" b="1" dirty="0">
                <a:solidFill>
                  <a:srgbClr val="7C3AED"/>
                </a:solidFill>
                <a:latin typeface="Calibri" pitchFamily="34" charset="0"/>
                <a:ea typeface="Calibri" pitchFamily="34" charset="-122"/>
                <a:cs typeface="Calibri" pitchFamily="34" charset="-120"/>
              </a:rPr>
              <a:t>Speaker 4 · FDI</a:t>
            </a:r>
            <a:endParaRPr lang="en-US" sz="1000" dirty="0"/>
          </a:p>
        </p:txBody>
      </p:sp>
      <p:sp>
        <p:nvSpPr>
          <p:cNvPr id="4" name="Text 2"/>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Unilever in the US: what each deal brought</a:t>
            </a:r>
            <a:endParaRPr lang="en-US" sz="2500" dirty="0"/>
          </a:p>
        </p:txBody>
      </p:sp>
      <p:sp>
        <p:nvSpPr>
          <p:cNvPr id="5" name="Text 3"/>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Mainly M&amp;A = strategic asset-seeking: brands, customers, online skills</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914400"/>
                <a:gridCol w="3429000"/>
                <a:gridCol w="3977640"/>
              </a:tblGrid>
              <a:tr h="0">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Date</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What happened</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Benefit for Unilever</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7C3AED"/>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Aug 2021</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Paula's Choice (skincare, sells online), 100%, €1.83bn</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Online sales skills; premium (Prestige) beauty grew by more than 10% in Jan–Dec 2022</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Jul 2022</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Nutrafol (hair wellness): stake raised to 80% for €811m</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Helped Wellbeing grow by more than 10% in Jan–Dec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Feb 2024</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K18 (premium hair care), 91.88%</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Grew by more than 10% in Jan–Dec 2024</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Sep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Dr. Squatch (men's personal care), 98.7%, €1.24bn</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Moves Unilever into "premium and high-growth spaces"</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Dec 2024</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70% of US Beauty &amp; Wellbeing sales now from Prestige and Wellbeing brands</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Faster growth from premium brands</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0">
                <a:tc>
                  <a:txBody>
                    <a:bodyPr/>
                    <a:lstStyle/>
                    <a:p>
                      <a:pPr indent="0" marL="0">
                        <a:buNone/>
                      </a:pPr>
                      <a:r>
                        <a:rPr lang="en-US" sz="1000" b="1" dirty="0">
                          <a:solidFill>
                            <a:srgbClr val="7C3AED"/>
                          </a:solidFill>
                          <a:latin typeface="Calibri" pitchFamily="34" charset="0"/>
                          <a:ea typeface="Calibri" pitchFamily="34" charset="-122"/>
                          <a:cs typeface="Calibri" pitchFamily="34" charset="-120"/>
                        </a:rPr>
                        <a:t>Dec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North America underlying sales growth 5.3% (Jan–Dec 2025)</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000" dirty="0">
                          <a:solidFill>
                            <a:srgbClr val="1A1F36"/>
                          </a:solidFill>
                          <a:latin typeface="Calibri" pitchFamily="34" charset="0"/>
                          <a:ea typeface="Calibri" pitchFamily="34" charset="-122"/>
                          <a:cs typeface="Calibri" pitchFamily="34" charset="-120"/>
                        </a:rPr>
                        <a:t>Good results in its biggest market</a:t>
                      </a:r>
                      <a:endParaRPr lang="en-US" sz="1000" dirty="0">
                        <a:latin typeface="Calibri" charset="0"/>
                        <a:ea typeface="Calibri" charset="0"/>
                        <a:cs typeface="Calibri" charset="0"/>
                      </a:endParaRPr>
                    </a:p>
                  </a:txBody>
                  <a:tcPr marL="63500" marR="63500" marT="38100" marB="38100"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7" name="Shape 4"/>
          <p:cNvSpPr/>
          <p:nvPr/>
        </p:nvSpPr>
        <p:spPr>
          <a:xfrm>
            <a:off x="411480" y="4224528"/>
            <a:ext cx="8321040" cy="457200"/>
          </a:xfrm>
          <a:prstGeom prst="roundRect">
            <a:avLst>
              <a:gd name="adj" fmla="val 12000"/>
            </a:avLst>
          </a:prstGeom>
          <a:solidFill>
            <a:srgbClr val="F3F4F8"/>
          </a:solidFill>
          <a:ln w="12700">
            <a:solidFill>
              <a:srgbClr val="7C3AED"/>
            </a:solidFill>
            <a:prstDash val="solid"/>
          </a:ln>
        </p:spPr>
      </p:sp>
      <p:sp>
        <p:nvSpPr>
          <p:cNvPr id="8" name="Text 5"/>
          <p:cNvSpPr/>
          <p:nvPr/>
        </p:nvSpPr>
        <p:spPr>
          <a:xfrm>
            <a:off x="548640" y="4224528"/>
            <a:ext cx="8046720" cy="457200"/>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So what?  </a:t>
            </a:r>
            <a:pPr indent="0" marL="0">
              <a:buNone/>
            </a:pPr>
            <a:r>
              <a:rPr lang="en-US" sz="1150" dirty="0">
                <a:solidFill>
                  <a:srgbClr val="1A1F36"/>
                </a:solidFill>
                <a:latin typeface="Calibri" pitchFamily="34" charset="0"/>
                <a:ea typeface="Calibri" pitchFamily="34" charset="-122"/>
                <a:cs typeface="Calibri" pitchFamily="34" charset="-120"/>
              </a:rPr>
              <a:t>Buying US premium brands gave Unilever growth, online skills and a stronger base in its biggest market. Risk: US premium beauty slowed in 2024.</a:t>
            </a:r>
            <a:endParaRPr lang="en-US" sz="1150" dirty="0"/>
          </a:p>
        </p:txBody>
      </p:sp>
      <p:sp>
        <p:nvSpPr>
          <p:cNvPr id="9" name="Text 6"/>
          <p:cNvSpPr/>
          <p:nvPr/>
        </p:nvSpPr>
        <p:spPr>
          <a:xfrm>
            <a:off x="411480" y="4736592"/>
            <a:ext cx="8321040" cy="274320"/>
          </a:xfrm>
          <a:prstGeom prst="rect">
            <a:avLst/>
          </a:prstGeom>
          <a:noFill/>
          <a:ln/>
        </p:spPr>
        <p:txBody>
          <a:bodyPr wrap="square" lIns="0" tIns="0" rIns="0" bIns="0" rtlCol="0" anchor="b"/>
          <a:lstStyle/>
          <a:p>
            <a:pPr indent="0" marL="0">
              <a:buNone/>
            </a:pPr>
            <a:r>
              <a:rPr lang="en-US" sz="800" dirty="0">
                <a:solidFill>
                  <a:srgbClr val="6B7280"/>
                </a:solidFill>
                <a:latin typeface="Calibri" pitchFamily="34" charset="0"/>
                <a:ea typeface="Calibri" pitchFamily="34" charset="-122"/>
                <a:cs typeface="Calibri" pitchFamily="34" charset="-120"/>
              </a:rPr>
              <a:t>Sources: Unilever PLC (2022; 2023b; 2024; 2025a; 2026a; 2026b).</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Conclusion: smaller, but more focused</a:t>
            </a:r>
            <a:endParaRPr lang="en-US" sz="2500" dirty="0"/>
          </a:p>
        </p:txBody>
      </p:sp>
      <p:sp>
        <p:nvSpPr>
          <p:cNvPr id="3" name="Text 1"/>
          <p:cNvSpPr/>
          <p:nvPr/>
        </p:nvSpPr>
        <p:spPr>
          <a:xfrm>
            <a:off x="411480" y="822960"/>
            <a:ext cx="8321040" cy="292608"/>
          </a:xfrm>
          <a:prstGeom prst="rect">
            <a:avLst/>
          </a:prstGeom>
          <a:noFill/>
          <a:ln/>
        </p:spPr>
        <p:txBody>
          <a:bodyPr wrap="square" lIns="0" tIns="0" rIns="0" bIns="0" rtlCol="0" anchor="ctr"/>
          <a:lstStyle/>
          <a:p>
            <a:pPr indent="0" marL="0">
              <a:buNone/>
            </a:pPr>
            <a:r>
              <a:rPr lang="en-US" sz="1300" i="1" dirty="0">
                <a:solidFill>
                  <a:srgbClr val="6B7280"/>
                </a:solidFill>
                <a:latin typeface="Calibri" pitchFamily="34" charset="0"/>
                <a:ea typeface="Calibri" pitchFamily="34" charset="-122"/>
                <a:cs typeface="Calibri" pitchFamily="34" charset="-120"/>
              </a:rPr>
              <a:t>What our four theories tell us about Unilever, 2020–2025</a:t>
            </a:r>
            <a:endParaRPr lang="en-US" sz="1300" dirty="0"/>
          </a:p>
        </p:txBody>
      </p:sp>
      <p:sp>
        <p:nvSpPr>
          <p:cNvPr id="4" name="Shape 2"/>
          <p:cNvSpPr/>
          <p:nvPr/>
        </p:nvSpPr>
        <p:spPr>
          <a:xfrm>
            <a:off x="411480" y="1234440"/>
            <a:ext cx="2194560" cy="658368"/>
          </a:xfrm>
          <a:prstGeom prst="roundRect">
            <a:avLst>
              <a:gd name="adj" fmla="val 11111"/>
            </a:avLst>
          </a:prstGeom>
          <a:solidFill>
            <a:srgbClr val="1F36C7"/>
          </a:solidFill>
          <a:ln/>
        </p:spPr>
      </p:sp>
      <p:sp>
        <p:nvSpPr>
          <p:cNvPr id="5" name="Text 3"/>
          <p:cNvSpPr/>
          <p:nvPr/>
        </p:nvSpPr>
        <p:spPr>
          <a:xfrm>
            <a:off x="502920" y="123444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Globalisation</a:t>
            </a:r>
            <a:endParaRPr lang="en-US" sz="1250" dirty="0"/>
          </a:p>
        </p:txBody>
      </p:sp>
      <p:sp>
        <p:nvSpPr>
          <p:cNvPr id="6" name="Text 4"/>
          <p:cNvSpPr/>
          <p:nvPr/>
        </p:nvSpPr>
        <p:spPr>
          <a:xfrm>
            <a:off x="2788920" y="123444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Global brands and emerging markets (59% of turnover) drive growth, but COVID-19, inflation and Russia show the risks.</a:t>
            </a:r>
            <a:endParaRPr lang="en-US" sz="1200" dirty="0"/>
          </a:p>
        </p:txBody>
      </p:sp>
      <p:sp>
        <p:nvSpPr>
          <p:cNvPr id="7" name="Shape 5"/>
          <p:cNvSpPr/>
          <p:nvPr/>
        </p:nvSpPr>
        <p:spPr>
          <a:xfrm>
            <a:off x="411480" y="2011680"/>
            <a:ext cx="2194560" cy="658368"/>
          </a:xfrm>
          <a:prstGeom prst="roundRect">
            <a:avLst>
              <a:gd name="adj" fmla="val 11111"/>
            </a:avLst>
          </a:prstGeom>
          <a:solidFill>
            <a:srgbClr val="0F8A6B"/>
          </a:solidFill>
          <a:ln/>
        </p:spPr>
      </p:sp>
      <p:sp>
        <p:nvSpPr>
          <p:cNvPr id="8" name="Text 6"/>
          <p:cNvSpPr/>
          <p:nvPr/>
        </p:nvSpPr>
        <p:spPr>
          <a:xfrm>
            <a:off x="502920" y="201168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Regional Integration</a:t>
            </a:r>
            <a:endParaRPr lang="en-US" sz="1250" dirty="0"/>
          </a:p>
        </p:txBody>
      </p:sp>
      <p:sp>
        <p:nvSpPr>
          <p:cNvPr id="9" name="Text 7"/>
          <p:cNvSpPr/>
          <p:nvPr/>
        </p:nvSpPr>
        <p:spPr>
          <a:xfrm>
            <a:off x="2788920" y="201168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Mexico + USMCA: a low-cost, tariff-free base to supply the US, Unilever's biggest market.</a:t>
            </a:r>
            <a:endParaRPr lang="en-US" sz="1200" dirty="0"/>
          </a:p>
        </p:txBody>
      </p:sp>
      <p:sp>
        <p:nvSpPr>
          <p:cNvPr id="10" name="Shape 8"/>
          <p:cNvSpPr/>
          <p:nvPr/>
        </p:nvSpPr>
        <p:spPr>
          <a:xfrm>
            <a:off x="411480" y="2788920"/>
            <a:ext cx="2194560" cy="658368"/>
          </a:xfrm>
          <a:prstGeom prst="roundRect">
            <a:avLst>
              <a:gd name="adj" fmla="val 11111"/>
            </a:avLst>
          </a:prstGeom>
          <a:solidFill>
            <a:srgbClr val="D9822B"/>
          </a:solidFill>
          <a:ln/>
        </p:spPr>
      </p:sp>
      <p:sp>
        <p:nvSpPr>
          <p:cNvPr id="11" name="Text 9"/>
          <p:cNvSpPr/>
          <p:nvPr/>
        </p:nvSpPr>
        <p:spPr>
          <a:xfrm>
            <a:off x="502920" y="278892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MNEs from Advanced Economies + CSR</a:t>
            </a:r>
            <a:endParaRPr lang="en-US" sz="1250" dirty="0"/>
          </a:p>
        </p:txBody>
      </p:sp>
      <p:sp>
        <p:nvSpPr>
          <p:cNvPr id="12" name="Text 10"/>
          <p:cNvSpPr/>
          <p:nvPr/>
        </p:nvSpPr>
        <p:spPr>
          <a:xfrm>
            <a:off x="2788920" y="278892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Brands and R&amp;D are its advantages; on CSR, progress on climate but setbacks on plastics; conflicts over jobs and Russia.</a:t>
            </a:r>
            <a:endParaRPr lang="en-US" sz="1200" dirty="0"/>
          </a:p>
        </p:txBody>
      </p:sp>
      <p:sp>
        <p:nvSpPr>
          <p:cNvPr id="13" name="Shape 11"/>
          <p:cNvSpPr/>
          <p:nvPr/>
        </p:nvSpPr>
        <p:spPr>
          <a:xfrm>
            <a:off x="411480" y="3566160"/>
            <a:ext cx="2194560" cy="658368"/>
          </a:xfrm>
          <a:prstGeom prst="roundRect">
            <a:avLst>
              <a:gd name="adj" fmla="val 11111"/>
            </a:avLst>
          </a:prstGeom>
          <a:solidFill>
            <a:srgbClr val="7C3AED"/>
          </a:solidFill>
          <a:ln/>
        </p:spPr>
      </p:sp>
      <p:sp>
        <p:nvSpPr>
          <p:cNvPr id="14" name="Text 12"/>
          <p:cNvSpPr/>
          <p:nvPr/>
        </p:nvSpPr>
        <p:spPr>
          <a:xfrm>
            <a:off x="502920" y="3566160"/>
            <a:ext cx="2011680" cy="658368"/>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FDI</a:t>
            </a:r>
            <a:endParaRPr lang="en-US" sz="1250" dirty="0"/>
          </a:p>
        </p:txBody>
      </p:sp>
      <p:sp>
        <p:nvSpPr>
          <p:cNvPr id="15" name="Text 13"/>
          <p:cNvSpPr/>
          <p:nvPr/>
        </p:nvSpPr>
        <p:spPr>
          <a:xfrm>
            <a:off x="2788920" y="3566160"/>
            <a:ext cx="5943600" cy="658368"/>
          </a:xfrm>
          <a:prstGeom prst="rect">
            <a:avLst/>
          </a:prstGeom>
          <a:noFill/>
          <a:ln/>
        </p:spPr>
        <p:txBody>
          <a:bodyPr wrap="square" lIns="0" tIns="0" rIns="0" bIns="0" rtlCol="0" anchor="ctr"/>
          <a:lstStyle/>
          <a:p>
            <a:pPr indent="0" marL="0">
              <a:buNone/>
            </a:pPr>
            <a:r>
              <a:rPr lang="en-US" sz="1200" dirty="0">
                <a:solidFill>
                  <a:srgbClr val="1A1F36"/>
                </a:solidFill>
                <a:latin typeface="Calibri" pitchFamily="34" charset="0"/>
                <a:ea typeface="Calibri" pitchFamily="34" charset="-122"/>
                <a:cs typeface="Calibri" pitchFamily="34" charset="-120"/>
              </a:rPr>
              <a:t>US FDI (mainly M&amp;A) bought premium brands and online skills, and grew Unilever in its biggest market.</a:t>
            </a:r>
            <a:endParaRPr lang="en-US" sz="1200" dirty="0"/>
          </a:p>
        </p:txBody>
      </p:sp>
      <p:sp>
        <p:nvSpPr>
          <p:cNvPr id="16" name="Text 14"/>
          <p:cNvSpPr/>
          <p:nvPr/>
        </p:nvSpPr>
        <p:spPr>
          <a:xfrm>
            <a:off x="411480" y="4434840"/>
            <a:ext cx="8321040" cy="365760"/>
          </a:xfrm>
          <a:prstGeom prst="rect">
            <a:avLst/>
          </a:prstGeom>
          <a:noFill/>
          <a:ln/>
        </p:spPr>
        <p:txBody>
          <a:bodyPr wrap="square" lIns="0" tIns="0" rIns="0" bIns="0" rtlCol="0" anchor="ctr"/>
          <a:lstStyle/>
          <a:p>
            <a:pPr indent="0" marL="0">
              <a:buNone/>
            </a:pPr>
            <a:r>
              <a:rPr lang="en-US" sz="1200" b="1" i="1" dirty="0">
                <a:solidFill>
                  <a:srgbClr val="1A1F36"/>
                </a:solidFill>
                <a:latin typeface="Calibri" pitchFamily="34" charset="0"/>
                <a:ea typeface="Calibri" pitchFamily="34" charset="-122"/>
                <a:cs typeface="Calibri" pitchFamily="34" charset="-120"/>
              </a:rPr>
              <a:t>From 2020 to 2025, Unilever became smaller, but more focused on beauty, personal care and fast-growing markets.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F36"/>
        </a:solidFill>
      </p:bgPr>
    </p:bg>
    <p:spTree>
      <p:nvGrpSpPr>
        <p:cNvPr id="1" name=""/>
        <p:cNvGrpSpPr/>
        <p:nvPr/>
      </p:nvGrpSpPr>
      <p:grpSpPr>
        <a:xfrm>
          <a:off x="0" y="0"/>
          <a:ext cx="0" cy="0"/>
          <a:chOff x="0" y="0"/>
          <a:chExt cx="0" cy="0"/>
        </a:xfrm>
      </p:grpSpPr>
      <p:sp>
        <p:nvSpPr>
          <p:cNvPr id="2" name="Text 0"/>
          <p:cNvSpPr/>
          <p:nvPr/>
        </p:nvSpPr>
        <p:spPr>
          <a:xfrm>
            <a:off x="548640" y="1554480"/>
            <a:ext cx="804672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Thank you</a:t>
            </a:r>
            <a:endParaRPr lang="en-US" sz="4000" dirty="0"/>
          </a:p>
        </p:txBody>
      </p:sp>
      <p:sp>
        <p:nvSpPr>
          <p:cNvPr id="3" name="Text 1"/>
          <p:cNvSpPr/>
          <p:nvPr/>
        </p:nvSpPr>
        <p:spPr>
          <a:xfrm>
            <a:off x="548640" y="2377440"/>
            <a:ext cx="8046720" cy="548640"/>
          </a:xfrm>
          <a:prstGeom prst="rect">
            <a:avLst/>
          </a:prstGeom>
          <a:noFill/>
          <a:ln/>
        </p:spPr>
        <p:txBody>
          <a:bodyPr wrap="square" lIns="0" tIns="0" rIns="0" bIns="0" rtlCol="0" anchor="ctr"/>
          <a:lstStyle/>
          <a:p>
            <a:pPr algn="ctr" indent="0" marL="0">
              <a:buNone/>
            </a:pPr>
            <a:r>
              <a:rPr lang="en-US" sz="2200" dirty="0">
                <a:solidFill>
                  <a:srgbClr val="A5B4FC"/>
                </a:solidFill>
                <a:latin typeface="Calibri" pitchFamily="34" charset="0"/>
                <a:ea typeface="Calibri" pitchFamily="34" charset="-122"/>
                <a:cs typeface="Calibri" pitchFamily="34" charset="-120"/>
              </a:rPr>
              <a:t>Questions are welcome</a:t>
            </a:r>
            <a:endParaRPr lang="en-US" sz="2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11480" y="292608"/>
            <a:ext cx="8321040" cy="548640"/>
          </a:xfrm>
          <a:prstGeom prst="rect">
            <a:avLst/>
          </a:prstGeom>
          <a:noFill/>
          <a:ln/>
        </p:spPr>
        <p:txBody>
          <a:bodyPr wrap="square" lIns="0" tIns="0" rIns="0" bIns="0" rtlCol="0" anchor="ctr"/>
          <a:lstStyle/>
          <a:p>
            <a:pPr indent="0" marL="0">
              <a:buNone/>
            </a:pPr>
            <a:r>
              <a:rPr lang="en-US" sz="2500" b="1" dirty="0">
                <a:solidFill>
                  <a:srgbClr val="1A1F36"/>
                </a:solidFill>
                <a:latin typeface="Calibri" pitchFamily="34" charset="0"/>
                <a:ea typeface="Calibri" pitchFamily="34" charset="-122"/>
                <a:cs typeface="Calibri" pitchFamily="34" charset="-120"/>
              </a:rPr>
              <a:t>References</a:t>
            </a:r>
            <a:endParaRPr lang="en-US" sz="2500" dirty="0"/>
          </a:p>
        </p:txBody>
      </p:sp>
      <p:sp>
        <p:nvSpPr>
          <p:cNvPr id="3" name="Text 1"/>
          <p:cNvSpPr/>
          <p:nvPr/>
        </p:nvSpPr>
        <p:spPr>
          <a:xfrm>
            <a:off x="411480" y="914400"/>
            <a:ext cx="4069080" cy="4069080"/>
          </a:xfrm>
          <a:prstGeom prst="rect">
            <a:avLst/>
          </a:prstGeom>
          <a:noFill/>
          <a:ln/>
        </p:spPr>
        <p:txBody>
          <a:bodyPr wrap="square" lIns="0" tIns="0" rIns="0" bIns="0" rtlCol="0" anchor="t"/>
          <a:lstStyle/>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Bloomberg Línea (2025) 'Unilever anuncia a Sheinbaum inversión por MXN$30.000 millones en México', 2 May. Available at: https://www.bloomberglinea.com/latinoamerica/mexico/unilever-anuncia-a-sheinbaum-inversion-por-mxn30000-millones-en-mexico/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Dunning, J.H. (1988) 'The eclectic paradigm of international production: a restatement and some possible extensions', Journal of International Business Studies, 19(1), pp. 1–31.</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FoodNavigator (2022) 'Dispose with purpose? Unilever has "lost the plot" by fixating on sustainability claims, says influential UK fund manager', 12 January. Available at: https://www.foodnavigator.com/Article/2022/01/12/Dispose-with-purpose-Unilever-has-lost-the-plot-by-fixating-on-sustainability-claims-influential-UK-fund-manager/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Fortune (2025) 'Trump delays Canada, Mexico tariffs for goods under USMCA', 6 March. Available at: https://fortune.com/2025/03/06/trump-delays-canada-mexico-tariffs-for-goods-under-usmca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Grocery Gazette (2024) 'CMA drops Unilever green claim investigation', 7 November. Available at: https://www.grocerygazette.co.uk/2024/11/07/cma-drops-unilever-green-claim/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Levitt, T. (1983) 'The globalization of markets', Harvard Business Review, 61(3), pp. 92–102.</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MND Staff (2025) 'Household and beauty products giant Unilever to invest US $800M in Nuevo León', Mexico News Daily, 9 April. Available at: https://mexiconewsdaily.com/business/unilever-invest-in-nuevo-leon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UNCTAD (2025) World Investment Report 2025. Geneva: United Nations. Available at: https://unctad.org/system/files/official-document/wir2025_en.pdf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(2021a) Annual Report on Form 20-F 2020. Available at: https://www.sec.gov/Archives/edgar/data/217410/000119312521075770/d14846d20f.htm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(2021b) Result of AGM [Form 6-K], May. Available at: https://www.sec.gov/Archives/edgar/data/217410/000165495421005145/a6813x.htm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(2022) Annual Report on Form 20-F 2021. Available at: https://www.sec.gov/Archives/edgar/data/217410/000021741022000009/ul-20211231.htm (Accessed: 31 October 2026).</a:t>
            </a:r>
            <a:endParaRPr lang="en-US" sz="700" dirty="0"/>
          </a:p>
        </p:txBody>
      </p:sp>
      <p:sp>
        <p:nvSpPr>
          <p:cNvPr id="4" name="Text 2"/>
          <p:cNvSpPr/>
          <p:nvPr/>
        </p:nvSpPr>
        <p:spPr>
          <a:xfrm>
            <a:off x="4663440" y="914400"/>
            <a:ext cx="4069080" cy="4069080"/>
          </a:xfrm>
          <a:prstGeom prst="rect">
            <a:avLst/>
          </a:prstGeom>
          <a:noFill/>
          <a:ln/>
        </p:spPr>
        <p:txBody>
          <a:bodyPr wrap="square" lIns="0" tIns="0" rIns="0" bIns="0" rtlCol="0" anchor="t"/>
          <a:lstStyle/>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(2023a) Annual Report on Form 20-F 2022. Available at: https://www.sec.gov/Archives/edgar/data/217410/000021741023000016/ul-20221231.htm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(2023b) Full Year 2022 Results. Available at: https://data.fca.org.uk/artefacts/NSM/RNS/4669599.html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(2024) Annual Report on Form 20-F 2023. Available at: https://www.sec.gov/Archives/edgar/data/217410/000021741024000017/ul-20231231.htm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(2025a) Annual Report on Form 20-F 2024. Available at: https://www.sec.gov/Archives/edgar/data/217410/000021741025000015/ul-20241231.htm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(2025b) Full Year 2024 Results. Available at: https://data.fca.org.uk/artefacts/NSM/RNS/5536689.html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(2026a) Annual Report on Form 20-F 2025. Available at: https://www.sec.gov/Archives/edgar/data/217410/000021741026000007/ul-20251231.htm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Unilever PLC (2026b) Full Year 2025 Results. Available at: https://data.fca.org.uk/artefacts/NSM/RNS/b82e96e8-7680-4ddf-8c41-f0bb2a051dd5.html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University of Greenwich (2026a–d) BUSI 1763 Dynamics of Global Business, Lectures 1–4 [Lecture slides]. Available at: Moodle.</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US Census Bureau (2024) Top Trading Partners – December 2023. Available at: https://www.census.gov/foreign-trade/statistics/highlights/top/top2312yr.html (Accessed: 31 October 2026).</a:t>
            </a:r>
            <a:endParaRPr lang="en-US" sz="700" dirty="0"/>
          </a:p>
          <a:p>
            <a:pPr indent="0" marL="0">
              <a:spcAft>
                <a:spcPts val="200"/>
              </a:spcAft>
              <a:buNone/>
            </a:pPr>
            <a:r>
              <a:rPr lang="en-US" sz="700" dirty="0">
                <a:solidFill>
                  <a:srgbClr val="1A1F36"/>
                </a:solidFill>
                <a:latin typeface="Calibri" pitchFamily="34" charset="0"/>
                <a:ea typeface="Calibri" pitchFamily="34" charset="-122"/>
                <a:cs typeface="Calibri" pitchFamily="34" charset="-120"/>
              </a:rPr>
              <a:t>USTR (n.d.) United States-Mexico-Canada Agreement. Available at: https://ustr.gov/trade-agreements/free-trade-agreements/united-states-mexico-canada-agreement (Accessed: 31 October 2026).</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2026-10-31T09:42:18Z</dcterms:created>
  <dcterms:modified xsi:type="dcterms:W3CDTF">2026-10-31T09:42:18Z</dcterms:modified>
</cp:coreProperties>
</file>