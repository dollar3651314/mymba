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&amp;A" id="{ea081a5e-a997-2ef7-d8f4-9196f73f8247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（中文版备注）并购 = 收购或合并；Unilever 本身是 1929 年合并成立的。先“买”：Bestfoods 增加和超市谈判的筹码；Ben &amp; Jerry's 独立运营；Dollar Shave Club 学网上直销，但没有协同。转折：2017 年差点被 Kraft Heinz 收购，2022 年买 GSK 被股东否决。2023 年起开始“卖”：DSC、冰淇淋、食品。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为什么卖食品：增长慢；分拆释放价值、避免综合企业折价；现金去买美妆品牌。用理论看：横向并购；协同约每年 3 亿美元；风险是人员整合、监管、2027 年才完成。结论：总体成功，但没有协同的收购失败了。跨国并购也是 FDI 的一种方式。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Unilever 的并购：从“买”到“卖”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前二十年靠收购做大，近几年转向聚焦核心</a:t>
            </a:r>
            <a:endParaRPr lang="en-US" sz="1300" dirty="0"/>
          </a:p>
        </p:txBody>
      </p:sp>
      <p:sp>
        <p:nvSpPr>
          <p:cNvPr id="4" name="born"/>
          <p:cNvSpPr/>
          <p:nvPr/>
        </p:nvSpPr>
        <p:spPr>
          <a:xfrm>
            <a:off x="457200" y="1188720"/>
            <a:ext cx="8229600" cy="347472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1929 · 本身就是一次合并：英国 Lever Brothers + 荷兰 Margarine Unie</a:t>
            </a:r>
            <a:endParaRPr lang="en-US" sz="1200" dirty="0"/>
          </a:p>
        </p:txBody>
      </p:sp>
      <p:sp>
        <p:nvSpPr>
          <p:cNvPr id="6" name="phase0"/>
          <p:cNvSpPr/>
          <p:nvPr/>
        </p:nvSpPr>
        <p:spPr>
          <a:xfrm>
            <a:off x="457200" y="1691640"/>
            <a:ext cx="260604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1691640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买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做大规模、进入新市场</a:t>
            </a:r>
            <a:endParaRPr lang="en-US" sz="1500" dirty="0"/>
          </a:p>
        </p:txBody>
      </p:sp>
      <p:sp>
        <p:nvSpPr>
          <p:cNvPr id="8" name="yr00"/>
          <p:cNvSpPr/>
          <p:nvPr/>
        </p:nvSpPr>
        <p:spPr>
          <a:xfrm>
            <a:off x="457200" y="2414016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2000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377440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Bestfoods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243 亿美元 · Knorr、Hellmann's</a:t>
            </a:r>
            <a:endParaRPr lang="en-US" sz="1250" dirty="0"/>
          </a:p>
        </p:txBody>
      </p:sp>
      <p:sp>
        <p:nvSpPr>
          <p:cNvPr id="11" name="yr01"/>
          <p:cNvSpPr/>
          <p:nvPr/>
        </p:nvSpPr>
        <p:spPr>
          <a:xfrm>
            <a:off x="457200" y="312724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2000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090672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Ben &amp; Jerry's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3.26 亿美元 · 独立运营，保留董事会</a:t>
            </a:r>
            <a:endParaRPr lang="en-US" sz="1250" dirty="0"/>
          </a:p>
        </p:txBody>
      </p:sp>
      <p:sp>
        <p:nvSpPr>
          <p:cNvPr id="14" name="yr02"/>
          <p:cNvSpPr/>
          <p:nvPr/>
        </p:nvSpPr>
        <p:spPr>
          <a:xfrm>
            <a:off x="457200" y="384048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3840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2016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803904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Dollar Shave Club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约 10 亿美元 · 网上直销</a:t>
            </a:r>
            <a:endParaRPr lang="en-US" sz="1250" dirty="0"/>
          </a:p>
        </p:txBody>
      </p:sp>
      <p:sp>
        <p:nvSpPr>
          <p:cNvPr id="17" name="phase1"/>
          <p:cNvSpPr/>
          <p:nvPr/>
        </p:nvSpPr>
        <p:spPr>
          <a:xfrm>
            <a:off x="3268980" y="1691640"/>
            <a:ext cx="2606040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78708" y="1691640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转折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来自收购方和投资者的压力</a:t>
            </a:r>
            <a:endParaRPr lang="en-US" sz="1500" dirty="0"/>
          </a:p>
        </p:txBody>
      </p:sp>
      <p:sp>
        <p:nvSpPr>
          <p:cNvPr id="19" name="yr10"/>
          <p:cNvSpPr/>
          <p:nvPr/>
        </p:nvSpPr>
        <p:spPr>
          <a:xfrm>
            <a:off x="3268980" y="2414016"/>
            <a:ext cx="475488" cy="47548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68980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2017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817620" y="2377440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Kraft Heinz 收购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1,430 亿美元报价被拒，随后撤回</a:t>
            </a:r>
            <a:endParaRPr lang="en-US" sz="1250" dirty="0"/>
          </a:p>
        </p:txBody>
      </p:sp>
      <p:sp>
        <p:nvSpPr>
          <p:cNvPr id="22" name="yr11"/>
          <p:cNvSpPr/>
          <p:nvPr/>
        </p:nvSpPr>
        <p:spPr>
          <a:xfrm>
            <a:off x="3268980" y="3127248"/>
            <a:ext cx="475488" cy="47548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68980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2022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817620" y="3090672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GSK 消费者健康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500 亿英镑出价，股东反对后放弃</a:t>
            </a:r>
            <a:endParaRPr lang="en-US" sz="1250" dirty="0"/>
          </a:p>
        </p:txBody>
      </p:sp>
      <p:sp>
        <p:nvSpPr>
          <p:cNvPr id="25" name="phase2"/>
          <p:cNvSpPr/>
          <p:nvPr/>
        </p:nvSpPr>
        <p:spPr>
          <a:xfrm>
            <a:off x="6080760" y="1691640"/>
            <a:ext cx="260604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90488" y="1691640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卖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简化业务、聚焦核心</a:t>
            </a:r>
            <a:endParaRPr lang="en-US" sz="1500" dirty="0"/>
          </a:p>
        </p:txBody>
      </p:sp>
      <p:sp>
        <p:nvSpPr>
          <p:cNvPr id="27" name="yr20"/>
          <p:cNvSpPr/>
          <p:nvPr/>
        </p:nvSpPr>
        <p:spPr>
          <a:xfrm>
            <a:off x="6080760" y="2414016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080760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2023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29400" y="2377440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Dollar Shave Club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卖出多数股权</a:t>
            </a:r>
            <a:endParaRPr lang="en-US" sz="1250" dirty="0"/>
          </a:p>
        </p:txBody>
      </p:sp>
      <p:sp>
        <p:nvSpPr>
          <p:cNvPr id="30" name="yr21"/>
          <p:cNvSpPr/>
          <p:nvPr/>
        </p:nvSpPr>
        <p:spPr>
          <a:xfrm>
            <a:off x="6080760" y="3127248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080760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2025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629400" y="3090672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冰淇淋 → Magnum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分拆并独立上市</a:t>
            </a:r>
            <a:endParaRPr lang="en-US" sz="1250" dirty="0"/>
          </a:p>
        </p:txBody>
      </p:sp>
      <p:sp>
        <p:nvSpPr>
          <p:cNvPr id="33" name="yr22"/>
          <p:cNvSpPr/>
          <p:nvPr/>
        </p:nvSpPr>
        <p:spPr>
          <a:xfrm>
            <a:off x="6080760" y="3840480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080760" y="3840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2026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629400" y="3803904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食品 → McCormick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448 亿美元，已宣布，预计 2027 年完成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来源：CNN (2000)；UPI (2000)；Fortune (2016)；NBC News (2017)；CHEManager (2022)；Retail Dive (2023)；MarketScreener (2025)；NJBIZ (2026)。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用并购理论看 McCormick 交易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Unilever 卖出食品业务，集中做美妆和个人护理</a:t>
            </a:r>
            <a:endParaRPr lang="en-US" sz="1300" dirty="0"/>
          </a:p>
        </p:txBody>
      </p:sp>
      <p:sp>
        <p:nvSpPr>
          <p:cNvPr id="4" name="why"/>
          <p:cNvSpPr/>
          <p:nvPr/>
        </p:nvSpPr>
        <p:spPr>
          <a:xfrm>
            <a:off x="457200" y="1234440"/>
            <a:ext cx="301752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Unilever 为什么卖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55648"/>
            <a:ext cx="26974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2025 年食品增长 2.5%，美妆和个护 4.3–4.7%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分拆释放价值，避免综合企业折价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拿到 157 亿美元现金，收购美妆个护品牌</a:t>
            </a:r>
            <a:endParaRPr lang="en-US" sz="1200" dirty="0"/>
          </a:p>
        </p:txBody>
      </p:sp>
      <p:sp>
        <p:nvSpPr>
          <p:cNvPr id="7" name="card0"/>
          <p:cNvSpPr/>
          <p:nvPr/>
        </p:nvSpPr>
        <p:spPr>
          <a:xfrm>
            <a:off x="3703320" y="1234440"/>
            <a:ext cx="4983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0" y="12344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类型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709160" y="1234440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横向并购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1234440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两家都做调味品、酱料</a:t>
            </a:r>
            <a:endParaRPr lang="en-US" sz="1100" dirty="0"/>
          </a:p>
        </p:txBody>
      </p:sp>
      <p:sp>
        <p:nvSpPr>
          <p:cNvPr id="11" name="card1"/>
          <p:cNvSpPr/>
          <p:nvPr/>
        </p:nvSpPr>
        <p:spPr>
          <a:xfrm>
            <a:off x="3703320" y="2148840"/>
            <a:ext cx="4983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21488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协同效应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2148840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约 3 亿美元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148840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预计每年节省的成本</a:t>
            </a:r>
            <a:endParaRPr lang="en-US" sz="1100" dirty="0"/>
          </a:p>
        </p:txBody>
      </p:sp>
      <p:sp>
        <p:nvSpPr>
          <p:cNvPr id="15" name="card2"/>
          <p:cNvSpPr/>
          <p:nvPr/>
        </p:nvSpPr>
        <p:spPr>
          <a:xfrm>
            <a:off x="3703320" y="3063240"/>
            <a:ext cx="4983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0480" y="30632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风险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709160" y="3063240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3 个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063240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人员整合 · 监管审批 · 2027 年中才完成</a:t>
            </a:r>
            <a:endParaRPr lang="en-US" sz="1100" dirty="0"/>
          </a:p>
        </p:txBody>
      </p:sp>
      <p:sp>
        <p:nvSpPr>
          <p:cNvPr id="19" name="concl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69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总体成功：并购让 Unilever 成为全球巨头；但没有协同效应的收购（如 Dollar Shave Club）失败了。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来源：Advisor Perspectives (2026)；NJBIZ (2026)；CNN (2026)。交易 2026 年 3 月 31 日宣布，尚待监管批准。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nilever MA">
  <a:themeElements>
    <a:clrScheme name="Unilever MA">
      <a:dk1>
        <a:srgbClr val="1A1F36"/>
      </a:dk1>
      <a:lt1>
        <a:srgbClr val="FFFFFF"/>
      </a:lt1>
      <a:dk2>
        <a:srgbClr val="1F36C7"/>
      </a:dk2>
      <a:lt2>
        <a:srgbClr val="EEF1FB"/>
      </a:lt2>
      <a:accent1>
        <a:srgbClr val="1F36C7"/>
      </a:accent1>
      <a:accent2>
        <a:srgbClr val="0F8A6B"/>
      </a:accent2>
      <a:accent3>
        <a:srgbClr val="D9822B"/>
      </a:accent3>
      <a:accent4>
        <a:srgbClr val="6B7280"/>
      </a:accent4>
      <a:accent5>
        <a:srgbClr val="A5B4FC"/>
      </a:accent5>
      <a:accent6>
        <a:srgbClr val="F59E0B"/>
      </a:accent6>
      <a:hlink>
        <a:srgbClr val="1F36C7"/>
      </a:hlink>
      <a:folHlink>
        <a:srgbClr val="6B7280"/>
      </a:folHlink>
    </a:clrScheme>
    <a:fontScheme name="Unilever MA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2026-10-21T09:21:19Z</dcterms:created>
  <dcterms:modified xsi:type="dcterms:W3CDTF">2026-10-21T09:21:19Z</dcterms:modified>
</cp:coreProperties>
</file>