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&amp;A" id="{97fbdfca-ad98-7b43-dfec-2b91e69d2cc3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（中文版备注）并购 = 收购或合并。六种类型、四种整合方式，目标是协同效应，但 70–90% 失败，主要败在整合。跨国并购也是 FDI 的一种。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（中文版备注）并购 = 收购或合并；Unilever 本身是 1929 年合并成立的。先“买”：Bestfoods 增加和超市谈判的筹码；Ben &amp; Jerry's 独立运营；Dollar Shave Club 学网上直销，但没有协同。转折：2017 年差点被 Kraft Heinz 收购，2022 年买 GSK 被股东否决。2023 年起开始“卖”：DSC、冰淇淋、食品。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为什么卖食品：增长慢；分拆释放价值、避免综合企业折价；现金去买美妆品牌。用理论看：横向并购；协同约每年 3 亿美元；风险是人员整合、监管、2027 年才完成。结论：总体成功，但没有协同的收购失败了。跨国并购也是 FDI 的一种方式。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for the M&amp;A section, Harvard style. Merge into the group reference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什么是并购（M&amp;A）？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第 3 讲的核心概念，后面用来分析 Unilever</a:t>
            </a:r>
            <a:endParaRPr lang="en-US" sz="1300" dirty="0"/>
          </a:p>
        </p:txBody>
      </p:sp>
      <p:sp>
        <p:nvSpPr>
          <p:cNvPr id="4" name="def0"/>
          <p:cNvSpPr/>
          <p:nvPr/>
        </p:nvSpPr>
        <p:spPr>
          <a:xfrm>
            <a:off x="457200" y="123444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收购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一家公司买下另一家</a:t>
            </a:r>
            <a:endParaRPr lang="en-US" sz="1500" dirty="0"/>
          </a:p>
        </p:txBody>
      </p:sp>
      <p:sp>
        <p:nvSpPr>
          <p:cNvPr id="6" name="def1"/>
          <p:cNvSpPr/>
          <p:nvPr/>
        </p:nvSpPr>
        <p:spPr>
          <a:xfrm>
            <a:off x="457200" y="219456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合并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规模相近的两家合成一家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六种类型</a:t>
            </a:r>
            <a:endParaRPr lang="en-US" sz="1300" dirty="0"/>
          </a:p>
        </p:txBody>
      </p:sp>
      <p:sp>
        <p:nvSpPr>
          <p:cNvPr id="9" name="type0"/>
          <p:cNvSpPr/>
          <p:nvPr/>
        </p:nvSpPr>
        <p:spPr>
          <a:xfrm>
            <a:off x="3154680" y="15727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1572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横向</a:t>
            </a:r>
            <a:endParaRPr lang="en-US" sz="1050" dirty="0"/>
          </a:p>
        </p:txBody>
      </p:sp>
      <p:sp>
        <p:nvSpPr>
          <p:cNvPr id="11" name="type1"/>
          <p:cNvSpPr/>
          <p:nvPr/>
        </p:nvSpPr>
        <p:spPr>
          <a:xfrm>
            <a:off x="4526280" y="15727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572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纵向</a:t>
            </a:r>
            <a:endParaRPr lang="en-US" sz="1050" dirty="0"/>
          </a:p>
        </p:txBody>
      </p:sp>
      <p:sp>
        <p:nvSpPr>
          <p:cNvPr id="13" name="type2"/>
          <p:cNvSpPr/>
          <p:nvPr/>
        </p:nvSpPr>
        <p:spPr>
          <a:xfrm>
            <a:off x="3154680" y="20299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0299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同源</a:t>
            </a:r>
            <a:endParaRPr lang="en-US" sz="1050" dirty="0"/>
          </a:p>
        </p:txBody>
      </p:sp>
      <p:sp>
        <p:nvSpPr>
          <p:cNvPr id="15" name="type3"/>
          <p:cNvSpPr/>
          <p:nvPr/>
        </p:nvSpPr>
        <p:spPr>
          <a:xfrm>
            <a:off x="4526280" y="20299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0299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市场扩展</a:t>
            </a:r>
            <a:endParaRPr lang="en-US" sz="1050" dirty="0"/>
          </a:p>
        </p:txBody>
      </p:sp>
      <p:sp>
        <p:nvSpPr>
          <p:cNvPr id="17" name="type4"/>
          <p:cNvSpPr/>
          <p:nvPr/>
        </p:nvSpPr>
        <p:spPr>
          <a:xfrm>
            <a:off x="3154680" y="24871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5468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产品扩展</a:t>
            </a:r>
            <a:endParaRPr lang="en-US" sz="1050" dirty="0"/>
          </a:p>
        </p:txBody>
      </p:sp>
      <p:sp>
        <p:nvSpPr>
          <p:cNvPr id="19" name="type5"/>
          <p:cNvSpPr/>
          <p:nvPr/>
        </p:nvSpPr>
        <p:spPr>
          <a:xfrm>
            <a:off x="4526280" y="24871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混合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四种整合方式</a:t>
            </a:r>
            <a:endParaRPr lang="en-US" sz="1300" dirty="0"/>
          </a:p>
        </p:txBody>
      </p:sp>
      <p:sp>
        <p:nvSpPr>
          <p:cNvPr id="22" name="intdot0"/>
          <p:cNvSpPr/>
          <p:nvPr/>
        </p:nvSpPr>
        <p:spPr>
          <a:xfrm>
            <a:off x="6080760" y="163677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15727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独立运营</a:t>
            </a:r>
            <a:endParaRPr lang="en-US" sz="1200" dirty="0"/>
          </a:p>
        </p:txBody>
      </p:sp>
      <p:sp>
        <p:nvSpPr>
          <p:cNvPr id="24" name="intdot1"/>
          <p:cNvSpPr/>
          <p:nvPr/>
        </p:nvSpPr>
        <p:spPr>
          <a:xfrm>
            <a:off x="6080760" y="1984248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1920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定向整合</a:t>
            </a:r>
            <a:endParaRPr lang="en-US" sz="1200" dirty="0"/>
          </a:p>
        </p:txBody>
      </p:sp>
      <p:sp>
        <p:nvSpPr>
          <p:cNvPr id="26" name="intdot2"/>
          <p:cNvSpPr/>
          <p:nvPr/>
        </p:nvSpPr>
        <p:spPr>
          <a:xfrm>
            <a:off x="6080760" y="233172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22677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完全整合</a:t>
            </a:r>
            <a:endParaRPr lang="en-US" sz="1200" dirty="0"/>
          </a:p>
        </p:txBody>
      </p:sp>
      <p:sp>
        <p:nvSpPr>
          <p:cNvPr id="28" name="intdot3"/>
          <p:cNvSpPr/>
          <p:nvPr/>
        </p:nvSpPr>
        <p:spPr>
          <a:xfrm>
            <a:off x="6080760" y="267919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2615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职能整合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3017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协同效应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 + 1 &gt; 2</a:t>
            </a:r>
            <a:endParaRPr lang="en-US" sz="1300" dirty="0"/>
          </a:p>
        </p:txBody>
      </p:sp>
      <p:sp>
        <p:nvSpPr>
          <p:cNvPr id="31" name="stat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3520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70–90%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2240280" y="35204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的并购会失败，主要原因是整合难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跨国并购是 FDI 的一种方式（另一种是自己新建，greenfield）。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来源：University of Greenwich (2026); Christensen et al. (2011)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Unilever 的并购：从“买”到“卖”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前二十年靠收购做大，近几年转向聚焦核心</a:t>
            </a:r>
            <a:endParaRPr lang="en-US" sz="1300" dirty="0"/>
          </a:p>
        </p:txBody>
      </p:sp>
      <p:sp>
        <p:nvSpPr>
          <p:cNvPr id="4" name="born"/>
          <p:cNvSpPr/>
          <p:nvPr/>
        </p:nvSpPr>
        <p:spPr>
          <a:xfrm>
            <a:off x="457200" y="1188720"/>
            <a:ext cx="822960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1929 · 本身就是一次合并：英国 Lever Brothers + 荷兰 Margarine Unie</a:t>
            </a:r>
            <a:endParaRPr lang="en-US" sz="1200" dirty="0"/>
          </a:p>
        </p:txBody>
      </p:sp>
      <p:sp>
        <p:nvSpPr>
          <p:cNvPr id="6" name="phase0"/>
          <p:cNvSpPr/>
          <p:nvPr/>
        </p:nvSpPr>
        <p:spPr>
          <a:xfrm>
            <a:off x="457200" y="1691640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6916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买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做大规模、进入新市场</a:t>
            </a:r>
            <a:endParaRPr lang="en-US" sz="1500" dirty="0"/>
          </a:p>
        </p:txBody>
      </p:sp>
      <p:sp>
        <p:nvSpPr>
          <p:cNvPr id="8" name="yr00"/>
          <p:cNvSpPr/>
          <p:nvPr/>
        </p:nvSpPr>
        <p:spPr>
          <a:xfrm>
            <a:off x="457200" y="241401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774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Bestfoods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243 亿美元 · Knorr、Hellmann's</a:t>
            </a:r>
            <a:endParaRPr lang="en-US" sz="1250" dirty="0"/>
          </a:p>
        </p:txBody>
      </p:sp>
      <p:sp>
        <p:nvSpPr>
          <p:cNvPr id="11" name="yr01"/>
          <p:cNvSpPr/>
          <p:nvPr/>
        </p:nvSpPr>
        <p:spPr>
          <a:xfrm>
            <a:off x="457200" y="312724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0906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Ben &amp; Jerry's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3.26 亿美元 · 独立运营，保留董事会</a:t>
            </a:r>
            <a:endParaRPr lang="en-US" sz="1250" dirty="0"/>
          </a:p>
        </p:txBody>
      </p:sp>
      <p:sp>
        <p:nvSpPr>
          <p:cNvPr id="14" name="yr02"/>
          <p:cNvSpPr/>
          <p:nvPr/>
        </p:nvSpPr>
        <p:spPr>
          <a:xfrm>
            <a:off x="457200" y="38404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80390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Dollar Shave Club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约 10 亿美元 · 网上直销</a:t>
            </a:r>
            <a:endParaRPr lang="en-US" sz="1250" dirty="0"/>
          </a:p>
        </p:txBody>
      </p:sp>
      <p:sp>
        <p:nvSpPr>
          <p:cNvPr id="17" name="phase1"/>
          <p:cNvSpPr/>
          <p:nvPr/>
        </p:nvSpPr>
        <p:spPr>
          <a:xfrm>
            <a:off x="3268980" y="1691640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78708" y="16916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转折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来自收购方和投资者的压力</a:t>
            </a:r>
            <a:endParaRPr lang="en-US" sz="1500" dirty="0"/>
          </a:p>
        </p:txBody>
      </p:sp>
      <p:sp>
        <p:nvSpPr>
          <p:cNvPr id="19" name="yr10"/>
          <p:cNvSpPr/>
          <p:nvPr/>
        </p:nvSpPr>
        <p:spPr>
          <a:xfrm>
            <a:off x="3268980" y="2414016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6898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17620" y="23774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Kraft Heinz 收购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1,430 亿美元报价被拒，随后撤回</a:t>
            </a:r>
            <a:endParaRPr lang="en-US" sz="1250" dirty="0"/>
          </a:p>
        </p:txBody>
      </p:sp>
      <p:sp>
        <p:nvSpPr>
          <p:cNvPr id="22" name="yr11"/>
          <p:cNvSpPr/>
          <p:nvPr/>
        </p:nvSpPr>
        <p:spPr>
          <a:xfrm>
            <a:off x="3268980" y="3127248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6898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817620" y="30906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GSK 消费者健康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500 亿英镑出价，股东反对后放弃</a:t>
            </a:r>
            <a:endParaRPr lang="en-US" sz="1250" dirty="0"/>
          </a:p>
        </p:txBody>
      </p:sp>
      <p:sp>
        <p:nvSpPr>
          <p:cNvPr id="25" name="phase2"/>
          <p:cNvSpPr/>
          <p:nvPr/>
        </p:nvSpPr>
        <p:spPr>
          <a:xfrm>
            <a:off x="6080760" y="1691640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90488" y="169164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卖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简化业务、聚焦核心</a:t>
            </a:r>
            <a:endParaRPr lang="en-US" sz="1500" dirty="0"/>
          </a:p>
        </p:txBody>
      </p:sp>
      <p:sp>
        <p:nvSpPr>
          <p:cNvPr id="27" name="yr20"/>
          <p:cNvSpPr/>
          <p:nvPr/>
        </p:nvSpPr>
        <p:spPr>
          <a:xfrm>
            <a:off x="6080760" y="241401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8076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237744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Dollar Shave Club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卖出多数股权</a:t>
            </a:r>
            <a:endParaRPr lang="en-US" sz="1250" dirty="0"/>
          </a:p>
        </p:txBody>
      </p:sp>
      <p:sp>
        <p:nvSpPr>
          <p:cNvPr id="30" name="yr21"/>
          <p:cNvSpPr/>
          <p:nvPr/>
        </p:nvSpPr>
        <p:spPr>
          <a:xfrm>
            <a:off x="6080760" y="3127248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8076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30906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冰淇淋 → Magnum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分拆并独立上市</a:t>
            </a:r>
            <a:endParaRPr lang="en-US" sz="1250" dirty="0"/>
          </a:p>
        </p:txBody>
      </p:sp>
      <p:sp>
        <p:nvSpPr>
          <p:cNvPr id="33" name="yr22"/>
          <p:cNvSpPr/>
          <p:nvPr/>
        </p:nvSpPr>
        <p:spPr>
          <a:xfrm>
            <a:off x="6080760" y="384048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8076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380390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食品 → McCormick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448 亿美元，已宣布，预计 2027 年完成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来源：Encyclopedia.com (n.d.); CNNfn (2000); UPI (2000); Primack (2016); Associated Press (2017); Williams (2022); James (2023); Reuters (2025); Redmond (2026)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用并购理论看 McCormick 交易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Unilever 卖出食品业务，集中做美妆和个人护理</a:t>
            </a:r>
            <a:endParaRPr lang="en-US" sz="1300" dirty="0"/>
          </a:p>
        </p:txBody>
      </p:sp>
      <p:sp>
        <p:nvSpPr>
          <p:cNvPr id="4" name="why"/>
          <p:cNvSpPr/>
          <p:nvPr/>
        </p:nvSpPr>
        <p:spPr>
          <a:xfrm>
            <a:off x="457200" y="1234440"/>
            <a:ext cx="301752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Unilever 为什么卖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2697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2025 年食品增长 2.5%，美妆和个护 4.3–4.7%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分拆释放价值，避免综合企业折价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拿到 157 亿美元现金，收购美妆个护品牌</a:t>
            </a:r>
            <a:endParaRPr lang="en-US" sz="1200" dirty="0"/>
          </a:p>
        </p:txBody>
      </p:sp>
      <p:sp>
        <p:nvSpPr>
          <p:cNvPr id="7" name="card0"/>
          <p:cNvSpPr/>
          <p:nvPr/>
        </p:nvSpPr>
        <p:spPr>
          <a:xfrm>
            <a:off x="3703320" y="1234440"/>
            <a:ext cx="4983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2344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类型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2344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横向并购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2344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两家都做调味品、酱料</a:t>
            </a:r>
            <a:endParaRPr lang="en-US" sz="1100" dirty="0"/>
          </a:p>
        </p:txBody>
      </p:sp>
      <p:sp>
        <p:nvSpPr>
          <p:cNvPr id="11" name="card1"/>
          <p:cNvSpPr/>
          <p:nvPr/>
        </p:nvSpPr>
        <p:spPr>
          <a:xfrm>
            <a:off x="3703320" y="2148840"/>
            <a:ext cx="4983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21488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协同效应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1488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约 3 亿美元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1488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预计每年节省的成本</a:t>
            </a:r>
            <a:endParaRPr lang="en-US" sz="1100" dirty="0"/>
          </a:p>
        </p:txBody>
      </p:sp>
      <p:sp>
        <p:nvSpPr>
          <p:cNvPr id="15" name="card2"/>
          <p:cNvSpPr/>
          <p:nvPr/>
        </p:nvSpPr>
        <p:spPr>
          <a:xfrm>
            <a:off x="3703320" y="3063240"/>
            <a:ext cx="4983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30632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风险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0632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3 个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0632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人员整合 · 监管审批 · 2027 年中才完成</a:t>
            </a:r>
            <a:endParaRPr lang="en-US" sz="1100" dirty="0"/>
          </a:p>
        </p:txBody>
      </p:sp>
      <p:sp>
        <p:nvSpPr>
          <p:cNvPr id="19" name="concl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总体成功：并购让 Unilever 成为全球巨头；但没有协同效应的收购（如 Dollar Shave Club）失败了。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来源：Barber (2026); Valinsky (2026); Redmond (2026)。交易 2026 年 3 月 31 日宣布，尚待监管批准。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参考文献（Harvard）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4023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Associated Press (2017) 'Kraft Heinz withdraws $143 billion bid to buy Unilever', NBC News, 19 February. Available at: https://www.nbcnews.com/news/us-news/kraft-heinz-withdraws-143-billion-bid-buy-unilever-n723041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Barber, L. (2026) 'Unilever confirms food spin-off sale talks as beauty portfolio takes centre stage', Cosmetics Business, 20 March. Available at: https://cosmeticsbusiness.com/unilever-confirms-food-sale-talks-beauty-focus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Christensen, C.M., Alton, R., Rising, C. and Waldeck, A. (2011) 'The new M&amp;A playbook', Harvard Business Review, 89(3), pp. 48–57.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CNNfn (2000) 'Unilever wins Bestfoods', CNNMoney, 6 June. Available at: https://money.cnn.com/2000/06/06/deals/bestfoods/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Encyclopedia.com (n.d.) 'Unilever', International Directory of Company Histories. Available at: https://www.encyclopedia.com/books/politics-and-business-magazines/unilever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James, D. (2023) 'Unilever to sell Dollar Shave Club', Retail Dive, 26 October. Available at: https://www.retaildive.com/news/unilever-sells-razor-subscription-brand-dollar-shave-club/697913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Primack, D. (2016) 'Unilever buys Dollar Shave Club for $1 billion', Fortune, 19 July. Available at: https://fortune.com/2016/07/19/unilever-buys-dollar-shave-club-for-1-billion (Accessed: 21 October 2026).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14400"/>
            <a:ext cx="4023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Redmond, K. (2026) 'McCormick to acquire Unilever's food business in $44.8B deal', NJBIZ, 1 April. Available at: https://njbiz.com/mccormick-unilever-food-business-44-8b-deal/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Reuters (2025) 'Magnum Ice Cream valued at $9.1 billion in Amsterdam listing', MarketScreener, 8 December. Available at: https://www.marketscreener.com/news/unilever-completes-ice-cream-demerger-with-magnum-set-to-list-ce7d51dddc8df620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University of Greenwich (2026) 'Lecture 3: Diversification – M&amp;A and/or FDI?' [Lecture slides]. BUSI 1763 Dynamics of Global Business. Available at: Moodle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UPI (2000) 'Unilever buys Ben &amp; Jerry's', United Press International, 12 April. Available at: https://www.upi.com/Archives/2000/04/12/Unilever-buys-Ben-Jerrys/2054955512000/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Valinsky, J. (2026) 'McCormick is merging with Unilever's food business', CNN, 31 March. Available at: https://kvia.com/news/business-technology/cnn-business-consumer/2026/03/31/mccormick-is-merging-with-unilevers-food-business/ (Accessed: 21 October 2026).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Williams, D. (2022) 'Unilever under pressure after GSK consumer bid flop', CHEManager, 25 January. Available at: https://www.chemanager-online.com/en/news/unilever-under-pressure-after-gsk-consumer-bid-flop (Accessed: 21 October 2026).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lever MA">
  <a:themeElements>
    <a:clrScheme name="Unilever MA">
      <a:dk1>
        <a:srgbClr val="1A1F36"/>
      </a:dk1>
      <a:lt1>
        <a:srgbClr val="FFFFFF"/>
      </a:lt1>
      <a:dk2>
        <a:srgbClr val="1F36C7"/>
      </a:dk2>
      <a:lt2>
        <a:srgbClr val="EEF1FB"/>
      </a:lt2>
      <a:accent1>
        <a:srgbClr val="1F36C7"/>
      </a:accent1>
      <a:accent2>
        <a:srgbClr val="0F8A6B"/>
      </a:accent2>
      <a:accent3>
        <a:srgbClr val="D9822B"/>
      </a:accent3>
      <a:accent4>
        <a:srgbClr val="6B7280"/>
      </a:accent4>
      <a:accent5>
        <a:srgbClr val="A5B4FC"/>
      </a:accent5>
      <a:accent6>
        <a:srgbClr val="F59E0B"/>
      </a:accent6>
      <a:hlink>
        <a:srgbClr val="1F36C7"/>
      </a:hlink>
      <a:folHlink>
        <a:srgbClr val="6B7280"/>
      </a:folHlink>
    </a:clrScheme>
    <a:fontScheme name="Unilever MA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2026-10-21T09:27:16Z</dcterms:created>
  <dcterms:modified xsi:type="dcterms:W3CDTF">2026-10-21T09:27:16Z</dcterms:modified>
</cp:coreProperties>
</file>