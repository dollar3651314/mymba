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17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in the Global Economy, 2020–2025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0" y="1234440"/>
            <a:ext cx="1381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 1763 · Group Mind Map · Completed events, Jan 2020 – Dec 2025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81360" y="5852160"/>
            <a:ext cx="4256532" cy="5120640"/>
          </a:xfrm>
          <a:prstGeom prst="line">
            <a:avLst/>
          </a:prstGeom>
          <a:noFill/>
          <a:ln w="114300">
            <a:solidFill>
              <a:srgbClr val="1F3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523744"/>
            <a:ext cx="182880" cy="3328416"/>
          </a:xfrm>
          <a:prstGeom prst="line">
            <a:avLst/>
          </a:prstGeom>
          <a:noFill/>
          <a:ln w="50800">
            <a:solidFill>
              <a:srgbClr val="1F3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15084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F3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5084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Levitt: one world market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global brands everywhere (e.g. Dove)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4187952"/>
            <a:ext cx="182880" cy="1664208"/>
          </a:xfrm>
          <a:prstGeom prst="line">
            <a:avLst/>
          </a:prstGeom>
          <a:noFill/>
          <a:ln w="50800">
            <a:solidFill>
              <a:srgbClr val="1F36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9292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F3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7929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drivers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· technology · market · cost · competition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680960" y="5852160"/>
            <a:ext cx="182880" cy="9144"/>
          </a:xfrm>
          <a:prstGeom prst="line">
            <a:avLst/>
          </a:prstGeom>
          <a:noFill/>
          <a:ln w="50800">
            <a:solidFill>
              <a:srgbClr val="1F36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143500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F3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4350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Globalisation of markets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 ~190 countries; growth from emerging markets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 flipV="1">
            <a:off x="7680960" y="5852160"/>
            <a:ext cx="182880" cy="1664208"/>
          </a:xfrm>
          <a:prstGeom prst="line">
            <a:avLst/>
          </a:prstGeom>
          <a:noFill/>
          <a:ln w="50800">
            <a:solidFill>
              <a:srgbClr val="1F36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6807708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F3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807708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Globalisation of production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factory network → economies of scale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 flipV="1">
            <a:off x="7680960" y="5852160"/>
            <a:ext cx="182880" cy="3328416"/>
          </a:xfrm>
          <a:prstGeom prst="line">
            <a:avLst/>
          </a:prstGeom>
          <a:noFill/>
          <a:ln w="50800">
            <a:solidFill>
              <a:srgbClr val="1F36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8471916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F3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8471916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globalisation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(Mar 2020) · war in Ukraine (Mar 2022)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7863840" y="4983480"/>
            <a:ext cx="6035040" cy="1737360"/>
          </a:xfrm>
          <a:prstGeom prst="roundRect">
            <a:avLst>
              <a:gd name="adj" fmla="val 18421"/>
            </a:avLst>
          </a:prstGeom>
          <a:solidFill>
            <a:srgbClr val="1F36C7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4983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Globalisation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 · Unilever worldwide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 flipV="1">
            <a:off x="15137892" y="5852160"/>
            <a:ext cx="4256532" cy="5120640"/>
          </a:xfrm>
          <a:prstGeom prst="line">
            <a:avLst/>
          </a:prstGeom>
          <a:noFill/>
          <a:ln w="114300">
            <a:solidFill>
              <a:srgbClr val="0F8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2411944" y="2523744"/>
            <a:ext cx="182880" cy="3328416"/>
          </a:xfrm>
          <a:prstGeom prst="line">
            <a:avLst/>
          </a:prstGeom>
          <a:noFill/>
          <a:ln w="50800">
            <a:solidFill>
              <a:srgbClr val="0F8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594824" y="1815084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0F8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23424" y="1815084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 of integration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 → customs union → common market → union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 flipV="1">
            <a:off x="22411944" y="4187952"/>
            <a:ext cx="182880" cy="1664208"/>
          </a:xfrm>
          <a:prstGeom prst="line">
            <a:avLst/>
          </a:prstGeom>
          <a:noFill/>
          <a:ln w="50800">
            <a:solidFill>
              <a:srgbClr val="0F8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94824" y="3479292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0F8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23424" y="347929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= free trade area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Mexico · Canada; replaced NAFTA (Jul 2020)</a:t>
            </a:r>
            <a:endParaRPr lang="en-US" sz="2500" dirty="0"/>
          </a:p>
        </p:txBody>
      </p:sp>
      <p:sp>
        <p:nvSpPr>
          <p:cNvPr id="29" name="Shape 27"/>
          <p:cNvSpPr/>
          <p:nvPr/>
        </p:nvSpPr>
        <p:spPr>
          <a:xfrm>
            <a:off x="22411944" y="5852160"/>
            <a:ext cx="182880" cy="9144"/>
          </a:xfrm>
          <a:prstGeom prst="line">
            <a:avLst/>
          </a:prstGeom>
          <a:noFill/>
          <a:ln w="50800">
            <a:solidFill>
              <a:srgbClr val="0F8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94824" y="5143500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0F8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23424" y="514350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origin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goods cross the borders tariff-free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22411944" y="5852160"/>
            <a:ext cx="182880" cy="1664208"/>
          </a:xfrm>
          <a:prstGeom prst="line">
            <a:avLst/>
          </a:prstGeom>
          <a:noFill/>
          <a:ln w="50800">
            <a:solidFill>
              <a:srgbClr val="0F8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94824" y="6807708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0F8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23424" y="6807708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creation vs diversion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plant raised to $800m (Apr 2025), aimed at US exports</a:t>
            </a:r>
            <a:endParaRPr lang="en-US" sz="2500" dirty="0"/>
          </a:p>
        </p:txBody>
      </p:sp>
      <p:sp>
        <p:nvSpPr>
          <p:cNvPr id="35" name="Shape 33"/>
          <p:cNvSpPr/>
          <p:nvPr/>
        </p:nvSpPr>
        <p:spPr>
          <a:xfrm>
            <a:off x="22411944" y="5852160"/>
            <a:ext cx="182880" cy="3328416"/>
          </a:xfrm>
          <a:prstGeom prst="line">
            <a:avLst/>
          </a:prstGeom>
          <a:noFill/>
          <a:ln w="50800">
            <a:solidFill>
              <a:srgbClr val="0F8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94824" y="8471916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0F8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23424" y="8471916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limit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tariff-free access to the US · new US tariffs (Mar 2025)</a:t>
            </a:r>
            <a:endParaRPr lang="en-US" sz="2500" dirty="0"/>
          </a:p>
        </p:txBody>
      </p:sp>
      <p:sp>
        <p:nvSpPr>
          <p:cNvPr id="38" name="Shape 36"/>
          <p:cNvSpPr/>
          <p:nvPr/>
        </p:nvSpPr>
        <p:spPr>
          <a:xfrm>
            <a:off x="16376904" y="4983480"/>
            <a:ext cx="6035040" cy="1737360"/>
          </a:xfrm>
          <a:prstGeom prst="roundRect">
            <a:avLst>
              <a:gd name="adj" fmla="val 18421"/>
            </a:avLst>
          </a:prstGeom>
          <a:solidFill>
            <a:srgbClr val="0F8A6B"/>
          </a:solidFill>
          <a:ln/>
        </p:spPr>
      </p:sp>
      <p:sp>
        <p:nvSpPr>
          <p:cNvPr id="39" name="Text 37"/>
          <p:cNvSpPr/>
          <p:nvPr/>
        </p:nvSpPr>
        <p:spPr>
          <a:xfrm>
            <a:off x="16376904" y="4983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Integration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 · Mexico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 flipV="1">
            <a:off x="10881360" y="10972800"/>
            <a:ext cx="4256532" cy="5120640"/>
          </a:xfrm>
          <a:prstGeom prst="line">
            <a:avLst/>
          </a:prstGeom>
          <a:noFill/>
          <a:ln w="114300">
            <a:solidFill>
              <a:srgbClr val="D982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2765024"/>
            <a:ext cx="182880" cy="3328416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12056364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D982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12056364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 goals vs host-country goals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sales, costs vs jobs, technology, control</a:t>
            </a:r>
            <a:endParaRPr lang="en-US" sz="2500" dirty="0"/>
          </a:p>
        </p:txBody>
      </p:sp>
      <p:sp>
        <p:nvSpPr>
          <p:cNvPr id="44" name="Shape 42"/>
          <p:cNvSpPr/>
          <p:nvPr/>
        </p:nvSpPr>
        <p:spPr>
          <a:xfrm>
            <a:off x="7680960" y="14429232"/>
            <a:ext cx="182880" cy="1664208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13720572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D982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1372057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advantages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brands, R&amp;D and capital from the UK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7680960" y="16093440"/>
            <a:ext cx="182880" cy="9144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5384780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D982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1538478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host countries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listings: India, Indonesia, Nigeria</a:t>
            </a:r>
            <a:endParaRPr lang="en-US" sz="2500" dirty="0"/>
          </a:p>
        </p:txBody>
      </p:sp>
      <p:sp>
        <p:nvSpPr>
          <p:cNvPr id="50" name="Shape 48"/>
          <p:cNvSpPr/>
          <p:nvPr/>
        </p:nvSpPr>
        <p:spPr>
          <a:xfrm flipV="1">
            <a:off x="7680960" y="16093440"/>
            <a:ext cx="182880" cy="1664208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17048988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D982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17048988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conflicts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cuts (Mar 2024) · Russia (Mar 2022 – Oct 2024)</a:t>
            </a:r>
            <a:endParaRPr lang="en-US" sz="2500" dirty="0"/>
          </a:p>
        </p:txBody>
      </p:sp>
      <p:sp>
        <p:nvSpPr>
          <p:cNvPr id="53" name="Shape 51"/>
          <p:cNvSpPr/>
          <p:nvPr/>
        </p:nvSpPr>
        <p:spPr>
          <a:xfrm flipV="1">
            <a:off x="7680960" y="16093440"/>
            <a:ext cx="182880" cy="3328416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18713196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D982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18713196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Creeping vs outright expropriation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host rules, taxes, ownership demands</a:t>
            </a:r>
            <a:endParaRPr lang="en-US" sz="2500" dirty="0"/>
          </a:p>
        </p:txBody>
      </p:sp>
      <p:sp>
        <p:nvSpPr>
          <p:cNvPr id="56" name="Shape 54"/>
          <p:cNvSpPr/>
          <p:nvPr/>
        </p:nvSpPr>
        <p:spPr>
          <a:xfrm>
            <a:off x="7863840" y="15224760"/>
            <a:ext cx="6035040" cy="1737360"/>
          </a:xfrm>
          <a:prstGeom prst="roundRect">
            <a:avLst>
              <a:gd name="adj" fmla="val 18421"/>
            </a:avLst>
          </a:prstGeom>
          <a:solidFill>
            <a:srgbClr val="D9822B"/>
          </a:solidFill>
          <a:ln/>
        </p:spPr>
      </p:sp>
      <p:sp>
        <p:nvSpPr>
          <p:cNvPr id="57" name="Text 55"/>
          <p:cNvSpPr/>
          <p:nvPr/>
        </p:nvSpPr>
        <p:spPr>
          <a:xfrm>
            <a:off x="7863840" y="15224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MNEs from Advanced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Economies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 · UK MNE</a:t>
            </a:r>
            <a:endParaRPr lang="en-US" sz="3400" dirty="0"/>
          </a:p>
        </p:txBody>
      </p:sp>
      <p:sp>
        <p:nvSpPr>
          <p:cNvPr id="58" name="Shape 56"/>
          <p:cNvSpPr/>
          <p:nvPr/>
        </p:nvSpPr>
        <p:spPr>
          <a:xfrm>
            <a:off x="15137892" y="10972800"/>
            <a:ext cx="4256532" cy="5120640"/>
          </a:xfrm>
          <a:prstGeom prst="line">
            <a:avLst/>
          </a:prstGeom>
          <a:noFill/>
          <a:ln w="11430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22411944" y="12765024"/>
            <a:ext cx="182880" cy="3328416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594824" y="12056364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23424" y="12056364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 model (Dunning)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· Location · Internalisation</a:t>
            </a:r>
            <a:endParaRPr lang="en-US" sz="2500" dirty="0"/>
          </a:p>
        </p:txBody>
      </p:sp>
      <p:sp>
        <p:nvSpPr>
          <p:cNvPr id="62" name="Shape 60"/>
          <p:cNvSpPr/>
          <p:nvPr/>
        </p:nvSpPr>
        <p:spPr>
          <a:xfrm flipV="1">
            <a:off x="22411944" y="14429232"/>
            <a:ext cx="182880" cy="1664208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594824" y="13720572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23424" y="1372057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motives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resource · efficiency · strategic asset</a:t>
            </a:r>
            <a:endParaRPr lang="en-US" sz="2500" dirty="0"/>
          </a:p>
        </p:txBody>
      </p:sp>
      <p:sp>
        <p:nvSpPr>
          <p:cNvPr id="65" name="Shape 63"/>
          <p:cNvSpPr/>
          <p:nvPr/>
        </p:nvSpPr>
        <p:spPr>
          <a:xfrm>
            <a:off x="22411944" y="16093440"/>
            <a:ext cx="182880" cy="9144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594824" y="15384780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23424" y="1538478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vs M&amp;A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in the US = mainly M&amp;A</a:t>
            </a:r>
            <a:endParaRPr lang="en-US" sz="2500" dirty="0"/>
          </a:p>
        </p:txBody>
      </p:sp>
      <p:sp>
        <p:nvSpPr>
          <p:cNvPr id="68" name="Shape 66"/>
          <p:cNvSpPr/>
          <p:nvPr/>
        </p:nvSpPr>
        <p:spPr>
          <a:xfrm>
            <a:off x="22411944" y="16093440"/>
            <a:ext cx="182880" cy="1664208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594824" y="17048988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23424" y="17048988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asset-seeking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Paula's Choice (Aug 2021) · Nutrafol (Jul 2022)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K18 (Feb 2024) · Dr. Squatch (Sep 2025)</a:t>
            </a:r>
            <a:endParaRPr lang="en-US" sz="2500" dirty="0"/>
          </a:p>
        </p:txBody>
      </p:sp>
      <p:sp>
        <p:nvSpPr>
          <p:cNvPr id="71" name="Shape 69"/>
          <p:cNvSpPr/>
          <p:nvPr/>
        </p:nvSpPr>
        <p:spPr>
          <a:xfrm>
            <a:off x="22411944" y="16093440"/>
            <a:ext cx="182880" cy="3328416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594824" y="18713196"/>
            <a:ext cx="722376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23424" y="18713196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for Unilever</a:t>
            </a:r>
            <a:endParaRPr lang="en-US" sz="25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brands, online skills, growth in the US</a:t>
            </a:r>
            <a:endParaRPr lang="en-US" sz="2500" dirty="0"/>
          </a:p>
        </p:txBody>
      </p:sp>
      <p:sp>
        <p:nvSpPr>
          <p:cNvPr id="74" name="Shape 72"/>
          <p:cNvSpPr/>
          <p:nvPr/>
        </p:nvSpPr>
        <p:spPr>
          <a:xfrm>
            <a:off x="16376904" y="15224760"/>
            <a:ext cx="6035040" cy="1737360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75" name="Text 73"/>
          <p:cNvSpPr/>
          <p:nvPr/>
        </p:nvSpPr>
        <p:spPr>
          <a:xfrm>
            <a:off x="16376904" y="15224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</a:t>
            </a:r>
            <a:endParaRPr lang="en-US" sz="34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 · United States</a:t>
            </a:r>
            <a:endParaRPr lang="en-US" sz="3400" dirty="0"/>
          </a:p>
        </p:txBody>
      </p:sp>
      <p:sp>
        <p:nvSpPr>
          <p:cNvPr id="76" name="Shape 74"/>
          <p:cNvSpPr/>
          <p:nvPr/>
        </p:nvSpPr>
        <p:spPr>
          <a:xfrm>
            <a:off x="11663172" y="9189720"/>
            <a:ext cx="6949440" cy="3566160"/>
          </a:xfrm>
          <a:prstGeom prst="ellipse">
            <a:avLst/>
          </a:prstGeom>
          <a:solidFill>
            <a:srgbClr val="1A1F36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663172" y="918972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</a:t>
            </a:r>
            <a:endParaRPr lang="en-US" sz="54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 consumer goods MNE</a:t>
            </a:r>
            <a:endParaRPr lang="en-US" sz="54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theories · 2020–2025</a:t>
            </a:r>
            <a:endParaRPr lang="en-US" sz="5400" dirty="0"/>
          </a:p>
        </p:txBody>
      </p:sp>
      <p:sp>
        <p:nvSpPr>
          <p:cNvPr id="78" name="Text 76"/>
          <p:cNvSpPr/>
          <p:nvPr/>
        </p:nvSpPr>
        <p:spPr>
          <a:xfrm>
            <a:off x="548640" y="20702016"/>
            <a:ext cx="2917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Unilever PLC Annual Reports on Form 20-F 2020–2025; UNCTAD World Investment Report 2025; US Census Bureau; USTR; full Harvard references on our presentation slides.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2026-10-31T03:17:21Z</dcterms:created>
  <dcterms:modified xsi:type="dcterms:W3CDTF">2026-10-31T03:17:21Z</dcterms:modified>
</cp:coreProperties>
</file>