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21387816"/>
  <p:notesSz cx="21387816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29178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Unilever in the Global Economy, 2020–2025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29178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 1763 Dynamics of Global Business · Group Mind Map · Data: 2020–2025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0881360" y="5852160"/>
            <a:ext cx="4256532" cy="5120640"/>
          </a:xfrm>
          <a:prstGeom prst="line">
            <a:avLst/>
          </a:prstGeom>
          <a:noFill/>
          <a:ln w="114300">
            <a:solidFill>
              <a:srgbClr val="1F36C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06640" y="2340864"/>
            <a:ext cx="457200" cy="3511296"/>
          </a:xfrm>
          <a:prstGeom prst="line">
            <a:avLst/>
          </a:prstGeom>
          <a:noFill/>
          <a:ln w="50800">
            <a:solidFill>
              <a:srgbClr val="1F36C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9344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1F36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609344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Levitt: one world market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drivers · markets + production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7406640" y="4096512"/>
            <a:ext cx="457200" cy="1755648"/>
          </a:xfrm>
          <a:prstGeom prst="line">
            <a:avLst/>
          </a:prstGeom>
          <a:noFill/>
          <a:ln w="50800">
            <a:solidFill>
              <a:srgbClr val="1F36C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364992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1F36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3364992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~190 countries · 3.4bn people use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products every day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 flipV="1">
            <a:off x="7406640" y="5852160"/>
            <a:ext cx="457200" cy="9144"/>
          </a:xfrm>
          <a:prstGeom prst="line">
            <a:avLst/>
          </a:prstGeom>
          <a:noFill/>
          <a:ln w="50800">
            <a:solidFill>
              <a:srgbClr val="1F36C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5120640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1F36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120640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turnover from emerging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markets (2025) · Europe only 19%</a:t>
            </a:r>
            <a:endParaRPr lang="en-US" sz="2300" dirty="0"/>
          </a:p>
        </p:txBody>
      </p:sp>
      <p:sp>
        <p:nvSpPr>
          <p:cNvPr id="14" name="Shape 12"/>
          <p:cNvSpPr/>
          <p:nvPr/>
        </p:nvSpPr>
        <p:spPr>
          <a:xfrm flipV="1">
            <a:off x="7406640" y="5852160"/>
            <a:ext cx="457200" cy="1755648"/>
          </a:xfrm>
          <a:prstGeom prst="line">
            <a:avLst/>
          </a:prstGeom>
          <a:noFill/>
          <a:ln w="50800">
            <a:solidFill>
              <a:srgbClr val="1F36C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6876288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1F36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6876288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Power Brands = 78% of turnover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280+ factories (2023)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 flipV="1">
            <a:off x="7406640" y="5852160"/>
            <a:ext cx="457200" cy="3511296"/>
          </a:xfrm>
          <a:prstGeom prst="line">
            <a:avLst/>
          </a:prstGeom>
          <a:noFill/>
          <a:ln w="50800">
            <a:solidFill>
              <a:srgbClr val="1F36C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8631936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1F36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8631936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Risks: COVID (Mar 2020) · inflation 2022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(prices +11.3%) · Russia exit (Oct 2024)</a:t>
            </a:r>
            <a:endParaRPr lang="en-US" sz="2300" dirty="0"/>
          </a:p>
        </p:txBody>
      </p:sp>
      <p:sp>
        <p:nvSpPr>
          <p:cNvPr id="20" name="Shape 18"/>
          <p:cNvSpPr/>
          <p:nvPr/>
        </p:nvSpPr>
        <p:spPr>
          <a:xfrm>
            <a:off x="7863840" y="4983480"/>
            <a:ext cx="6035040" cy="1737360"/>
          </a:xfrm>
          <a:prstGeom prst="roundRect">
            <a:avLst>
              <a:gd name="adj" fmla="val 18421"/>
            </a:avLst>
          </a:prstGeom>
          <a:solidFill>
            <a:srgbClr val="1F36C7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0" y="498348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Globalisation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1</a:t>
            </a:r>
            <a:endParaRPr lang="en-US" sz="3400" dirty="0"/>
          </a:p>
        </p:txBody>
      </p:sp>
      <p:sp>
        <p:nvSpPr>
          <p:cNvPr id="22" name="Shape 20"/>
          <p:cNvSpPr/>
          <p:nvPr/>
        </p:nvSpPr>
        <p:spPr>
          <a:xfrm flipV="1">
            <a:off x="15137892" y="5852160"/>
            <a:ext cx="4256532" cy="5120640"/>
          </a:xfrm>
          <a:prstGeom prst="line">
            <a:avLst/>
          </a:prstGeom>
          <a:noFill/>
          <a:ln w="114300">
            <a:solidFill>
              <a:srgbClr val="0F8A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2411944" y="2340864"/>
            <a:ext cx="457200" cy="3511296"/>
          </a:xfrm>
          <a:prstGeom prst="line">
            <a:avLst/>
          </a:prstGeom>
          <a:noFill/>
          <a:ln w="50800">
            <a:solidFill>
              <a:srgbClr val="0F8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9144" y="1609344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0F8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3097744" y="1609344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levels: FTA → customs union →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market → economic union</a:t>
            </a:r>
            <a:endParaRPr lang="en-US" sz="2300" dirty="0"/>
          </a:p>
        </p:txBody>
      </p:sp>
      <p:sp>
        <p:nvSpPr>
          <p:cNvPr id="26" name="Shape 24"/>
          <p:cNvSpPr/>
          <p:nvPr/>
        </p:nvSpPr>
        <p:spPr>
          <a:xfrm flipV="1">
            <a:off x="22411944" y="4096512"/>
            <a:ext cx="457200" cy="1755648"/>
          </a:xfrm>
          <a:prstGeom prst="line">
            <a:avLst/>
          </a:prstGeom>
          <a:noFill/>
          <a:ln w="50800">
            <a:solidFill>
              <a:srgbClr val="0F8A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869144" y="3364992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0F8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097744" y="3364992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creation vs trade diversion</a:t>
            </a:r>
            <a:endParaRPr lang="en-US" sz="2300" dirty="0"/>
          </a:p>
        </p:txBody>
      </p:sp>
      <p:sp>
        <p:nvSpPr>
          <p:cNvPr id="29" name="Shape 27"/>
          <p:cNvSpPr/>
          <p:nvPr/>
        </p:nvSpPr>
        <p:spPr>
          <a:xfrm>
            <a:off x="22411944" y="5852160"/>
            <a:ext cx="457200" cy="9144"/>
          </a:xfrm>
          <a:prstGeom prst="line">
            <a:avLst/>
          </a:prstGeom>
          <a:noFill/>
          <a:ln w="50800">
            <a:solidFill>
              <a:srgbClr val="0F8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869144" y="5120640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0F8A6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3097744" y="5120640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2020: one UK parent company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(UNCTAD: $81bn cross-border merger)</a:t>
            </a:r>
            <a:endParaRPr lang="en-US" sz="2300" dirty="0"/>
          </a:p>
        </p:txBody>
      </p:sp>
      <p:sp>
        <p:nvSpPr>
          <p:cNvPr id="32" name="Shape 30"/>
          <p:cNvSpPr/>
          <p:nvPr/>
        </p:nvSpPr>
        <p:spPr>
          <a:xfrm>
            <a:off x="22411944" y="5852160"/>
            <a:ext cx="457200" cy="1755648"/>
          </a:xfrm>
          <a:prstGeom prst="line">
            <a:avLst/>
          </a:prstGeom>
          <a:noFill/>
          <a:ln w="50800">
            <a:solidFill>
              <a:srgbClr val="0F8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69144" y="6876288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0F8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097744" y="6876288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USMCA (Jul 2020) → Mexico plant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$800m (Apr 2025), exports to US &amp; Canada</a:t>
            </a:r>
            <a:endParaRPr lang="en-US" sz="2300" dirty="0"/>
          </a:p>
        </p:txBody>
      </p:sp>
      <p:sp>
        <p:nvSpPr>
          <p:cNvPr id="35" name="Shape 33"/>
          <p:cNvSpPr/>
          <p:nvPr/>
        </p:nvSpPr>
        <p:spPr>
          <a:xfrm>
            <a:off x="22411944" y="5852160"/>
            <a:ext cx="457200" cy="3511296"/>
          </a:xfrm>
          <a:prstGeom prst="line">
            <a:avLst/>
          </a:prstGeom>
          <a:noFill/>
          <a:ln w="50800">
            <a:solidFill>
              <a:srgbClr val="0F8A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869144" y="8631936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0F8A6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3097744" y="8631936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RCEP (Jan 2022): Unilever Indonesia 85%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AfCFTA (Jan 2021): Unilever Nigeria 76%</a:t>
            </a:r>
            <a:endParaRPr lang="en-US" sz="2300" dirty="0"/>
          </a:p>
        </p:txBody>
      </p:sp>
      <p:sp>
        <p:nvSpPr>
          <p:cNvPr id="38" name="Shape 36"/>
          <p:cNvSpPr/>
          <p:nvPr/>
        </p:nvSpPr>
        <p:spPr>
          <a:xfrm>
            <a:off x="16376904" y="4983480"/>
            <a:ext cx="6035040" cy="1737360"/>
          </a:xfrm>
          <a:prstGeom prst="roundRect">
            <a:avLst>
              <a:gd name="adj" fmla="val 18421"/>
            </a:avLst>
          </a:prstGeom>
          <a:solidFill>
            <a:srgbClr val="0F8A6B"/>
          </a:solidFill>
          <a:ln/>
        </p:spPr>
      </p:sp>
      <p:sp>
        <p:nvSpPr>
          <p:cNvPr id="39" name="Text 37"/>
          <p:cNvSpPr/>
          <p:nvPr/>
        </p:nvSpPr>
        <p:spPr>
          <a:xfrm>
            <a:off x="16376904" y="498348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Integration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2</a:t>
            </a:r>
            <a:endParaRPr lang="en-US" sz="3400" dirty="0"/>
          </a:p>
        </p:txBody>
      </p:sp>
      <p:sp>
        <p:nvSpPr>
          <p:cNvPr id="40" name="Shape 38"/>
          <p:cNvSpPr/>
          <p:nvPr/>
        </p:nvSpPr>
        <p:spPr>
          <a:xfrm flipV="1">
            <a:off x="10881360" y="10972800"/>
            <a:ext cx="4256532" cy="5120640"/>
          </a:xfrm>
          <a:prstGeom prst="line">
            <a:avLst/>
          </a:prstGeom>
          <a:noFill/>
          <a:ln w="114300">
            <a:solidFill>
              <a:srgbClr val="D982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406640" y="12582144"/>
            <a:ext cx="457200" cy="3511296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7200" y="11850624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D9822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5800" y="11850624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MNE goals vs 7 host-country goals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creeping expropriation</a:t>
            </a:r>
            <a:endParaRPr lang="en-US" sz="2300" dirty="0"/>
          </a:p>
        </p:txBody>
      </p:sp>
      <p:sp>
        <p:nvSpPr>
          <p:cNvPr id="44" name="Shape 42"/>
          <p:cNvSpPr/>
          <p:nvPr/>
        </p:nvSpPr>
        <p:spPr>
          <a:xfrm>
            <a:off x="7406640" y="14337792"/>
            <a:ext cx="457200" cy="1755648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7200" y="13606272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D9822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5800" y="13606272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advantages: brands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 €0.8–1.0bn a year</a:t>
            </a:r>
            <a:endParaRPr lang="en-US" sz="2300" dirty="0"/>
          </a:p>
        </p:txBody>
      </p:sp>
      <p:sp>
        <p:nvSpPr>
          <p:cNvPr id="47" name="Shape 45"/>
          <p:cNvSpPr/>
          <p:nvPr/>
        </p:nvSpPr>
        <p:spPr>
          <a:xfrm>
            <a:off x="7406640" y="16093440"/>
            <a:ext cx="457200" cy="9144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7200" y="15361920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D9822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5800" y="15361920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India: Hindustan Unilever 61.9%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buys Minimalist (Apr 2025)</a:t>
            </a:r>
            <a:endParaRPr lang="en-US" sz="2300" dirty="0"/>
          </a:p>
        </p:txBody>
      </p:sp>
      <p:sp>
        <p:nvSpPr>
          <p:cNvPr id="50" name="Shape 48"/>
          <p:cNvSpPr/>
          <p:nvPr/>
        </p:nvSpPr>
        <p:spPr>
          <a:xfrm flipV="1">
            <a:off x="7406640" y="16093440"/>
            <a:ext cx="457200" cy="1755648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7200" y="17117568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D9822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5800" y="17117568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Conflict: 7,500 job cuts (Mar 2024)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4,300 gone by Dec 2024</a:t>
            </a:r>
            <a:endParaRPr lang="en-US" sz="2300" dirty="0"/>
          </a:p>
        </p:txBody>
      </p:sp>
      <p:sp>
        <p:nvSpPr>
          <p:cNvPr id="53" name="Shape 51"/>
          <p:cNvSpPr/>
          <p:nvPr/>
        </p:nvSpPr>
        <p:spPr>
          <a:xfrm flipV="1">
            <a:off x="7406640" y="16093440"/>
            <a:ext cx="457200" cy="3511296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7200" y="18873216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D9822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5800" y="18873216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Russia: stayed from Mar 2022,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the business Oct 2024</a:t>
            </a:r>
            <a:endParaRPr lang="en-US" sz="2300" dirty="0"/>
          </a:p>
        </p:txBody>
      </p:sp>
      <p:sp>
        <p:nvSpPr>
          <p:cNvPr id="56" name="Shape 54"/>
          <p:cNvSpPr/>
          <p:nvPr/>
        </p:nvSpPr>
        <p:spPr>
          <a:xfrm>
            <a:off x="7863840" y="15224760"/>
            <a:ext cx="6035040" cy="1737360"/>
          </a:xfrm>
          <a:prstGeom prst="roundRect">
            <a:avLst>
              <a:gd name="adj" fmla="val 18421"/>
            </a:avLst>
          </a:prstGeom>
          <a:solidFill>
            <a:srgbClr val="D9822B"/>
          </a:solidFill>
          <a:ln/>
        </p:spPr>
      </p:sp>
      <p:sp>
        <p:nvSpPr>
          <p:cNvPr id="57" name="Text 55"/>
          <p:cNvSpPr/>
          <p:nvPr/>
        </p:nvSpPr>
        <p:spPr>
          <a:xfrm>
            <a:off x="7863840" y="152247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MNEs from Advanced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Economies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3</a:t>
            </a:r>
            <a:endParaRPr lang="en-US" sz="3400" dirty="0"/>
          </a:p>
        </p:txBody>
      </p:sp>
      <p:sp>
        <p:nvSpPr>
          <p:cNvPr id="58" name="Shape 56"/>
          <p:cNvSpPr/>
          <p:nvPr/>
        </p:nvSpPr>
        <p:spPr>
          <a:xfrm>
            <a:off x="15137892" y="10972800"/>
            <a:ext cx="4256532" cy="5120640"/>
          </a:xfrm>
          <a:prstGeom prst="line">
            <a:avLst/>
          </a:prstGeom>
          <a:noFill/>
          <a:ln w="114300">
            <a:solidFill>
              <a:srgbClr val="7C3AE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22411944" y="12582144"/>
            <a:ext cx="457200" cy="3511296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2869144" y="11850624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3097744" y="11850624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 model + 4 motives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vs M&amp;A</a:t>
            </a:r>
            <a:endParaRPr lang="en-US" sz="2300" dirty="0"/>
          </a:p>
        </p:txBody>
      </p:sp>
      <p:sp>
        <p:nvSpPr>
          <p:cNvPr id="62" name="Shape 60"/>
          <p:cNvSpPr/>
          <p:nvPr/>
        </p:nvSpPr>
        <p:spPr>
          <a:xfrm flipV="1">
            <a:off x="22411944" y="14337792"/>
            <a:ext cx="457200" cy="1755648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2869144" y="13606272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3097744" y="13606272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Greenfield: China €100m (Jun 2020)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Mexico $800m (Apr 2025), 850 jobs</a:t>
            </a:r>
            <a:endParaRPr lang="en-US" sz="2300" dirty="0"/>
          </a:p>
        </p:txBody>
      </p:sp>
      <p:sp>
        <p:nvSpPr>
          <p:cNvPr id="65" name="Shape 63"/>
          <p:cNvSpPr/>
          <p:nvPr/>
        </p:nvSpPr>
        <p:spPr>
          <a:xfrm>
            <a:off x="22411944" y="16093440"/>
            <a:ext cx="457200" cy="9144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2869144" y="15361920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3097744" y="15361920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M&amp;A: Paula's Choice €1.8bn (Aug 2021)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Squatch €1.2bn (Sep 2025)</a:t>
            </a:r>
            <a:endParaRPr lang="en-US" sz="2300" dirty="0"/>
          </a:p>
        </p:txBody>
      </p:sp>
      <p:sp>
        <p:nvSpPr>
          <p:cNvPr id="68" name="Shape 66"/>
          <p:cNvSpPr/>
          <p:nvPr/>
        </p:nvSpPr>
        <p:spPr>
          <a:xfrm>
            <a:off x="22411944" y="16093440"/>
            <a:ext cx="457200" cy="1755648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2869144" y="17117568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3097744" y="17117568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Sell: tea €4.6bn, gain €2.3bn (Jul 2022)</a:t>
            </a:r>
            <a:endParaRPr lang="en-US" sz="2300" dirty="0"/>
          </a:p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Magnum demerger, gain €3.4bn (Dec 2025)</a:t>
            </a:r>
            <a:endParaRPr lang="en-US" sz="2300" dirty="0"/>
          </a:p>
        </p:txBody>
      </p:sp>
      <p:sp>
        <p:nvSpPr>
          <p:cNvPr id="71" name="Shape 69"/>
          <p:cNvSpPr/>
          <p:nvPr/>
        </p:nvSpPr>
        <p:spPr>
          <a:xfrm>
            <a:off x="22411944" y="16093440"/>
            <a:ext cx="457200" cy="3511296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2869144" y="18873216"/>
            <a:ext cx="6949440" cy="146304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3097744" y="18873216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FDI: $1tn (2020) → $1.6tn (2025)</a:t>
            </a:r>
            <a:endParaRPr lang="en-US" sz="2300" dirty="0"/>
          </a:p>
        </p:txBody>
      </p:sp>
      <p:sp>
        <p:nvSpPr>
          <p:cNvPr id="74" name="Shape 72"/>
          <p:cNvSpPr/>
          <p:nvPr/>
        </p:nvSpPr>
        <p:spPr>
          <a:xfrm>
            <a:off x="16376904" y="15224760"/>
            <a:ext cx="6035040" cy="1737360"/>
          </a:xfrm>
          <a:prstGeom prst="roundRect">
            <a:avLst>
              <a:gd name="adj" fmla="val 18421"/>
            </a:avLst>
          </a:prstGeom>
          <a:solidFill>
            <a:srgbClr val="7C3AED"/>
          </a:solidFill>
          <a:ln/>
        </p:spPr>
      </p:sp>
      <p:sp>
        <p:nvSpPr>
          <p:cNvPr id="75" name="Text 73"/>
          <p:cNvSpPr/>
          <p:nvPr/>
        </p:nvSpPr>
        <p:spPr>
          <a:xfrm>
            <a:off x="16376904" y="152247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FDI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4</a:t>
            </a:r>
            <a:endParaRPr lang="en-US" sz="3400" dirty="0"/>
          </a:p>
        </p:txBody>
      </p:sp>
      <p:sp>
        <p:nvSpPr>
          <p:cNvPr id="76" name="Shape 74"/>
          <p:cNvSpPr/>
          <p:nvPr/>
        </p:nvSpPr>
        <p:spPr>
          <a:xfrm>
            <a:off x="11663172" y="9189720"/>
            <a:ext cx="6949440" cy="3566160"/>
          </a:xfrm>
          <a:prstGeom prst="ellipse">
            <a:avLst/>
          </a:prstGeom>
          <a:solidFill>
            <a:srgbClr val="1A1F36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1663172" y="9189720"/>
            <a:ext cx="69494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UNILEVER</a:t>
            </a:r>
            <a:endParaRPr lang="en-US" sz="54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UK-based consumer goods MNE</a:t>
            </a:r>
            <a:endParaRPr lang="en-US" sz="54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 €50.5bn (2025)</a:t>
            </a:r>
            <a:endParaRPr lang="en-US" sz="5400" dirty="0"/>
          </a:p>
        </p:txBody>
      </p:sp>
      <p:sp>
        <p:nvSpPr>
          <p:cNvPr id="78" name="Text 76"/>
          <p:cNvSpPr/>
          <p:nvPr/>
        </p:nvSpPr>
        <p:spPr>
          <a:xfrm>
            <a:off x="548640" y="20702016"/>
            <a:ext cx="29178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Unilever PLC Annual Reports on Form 20-F 2020–2025; UNCTAD World Investment Reports 2021 and 2026; full Harvard references on our presentation slides.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2026-10-31T02:43:15Z</dcterms:created>
  <dcterms:modified xsi:type="dcterms:W3CDTF">2026-10-31T02:43:15Z</dcterms:modified>
</cp:coreProperties>
</file>