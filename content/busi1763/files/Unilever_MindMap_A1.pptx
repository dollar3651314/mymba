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0275784" cy="21387816"/>
  <p:notesSz cx="21387816" cy="30275784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29178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Unilever in the Global Economy, 2020–2025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291785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 1763 Dynamics of Global Business · Group Mind Map · Data: 2020–2025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10881360" y="5852160"/>
            <a:ext cx="4256532" cy="5120640"/>
          </a:xfrm>
          <a:prstGeom prst="line">
            <a:avLst/>
          </a:prstGeom>
          <a:noFill/>
          <a:ln w="114300">
            <a:solidFill>
              <a:srgbClr val="1F36C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06640" y="2340864"/>
            <a:ext cx="457200" cy="3511296"/>
          </a:xfrm>
          <a:prstGeom prst="line">
            <a:avLst/>
          </a:prstGeom>
          <a:noFill/>
          <a:ln w="50800">
            <a:solidFill>
              <a:srgbClr val="1F36C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609344"/>
            <a:ext cx="6949440" cy="1463040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38100">
            <a:solidFill>
              <a:srgbClr val="1F36C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609344"/>
            <a:ext cx="6492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Levitt: one world market</a:t>
            </a:r>
            <a:endParaRPr lang="en-US" sz="2300" dirty="0"/>
          </a:p>
          <a:p>
            <a:pPr algn="l" indent="0" marL="0">
              <a:buNone/>
            </a:pPr>
            <a:r>
              <a:rPr lang="en-US" sz="2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drivers · markets + production</a:t>
            </a:r>
            <a:endParaRPr lang="en-US" sz="2300" dirty="0"/>
          </a:p>
        </p:txBody>
      </p:sp>
      <p:sp>
        <p:nvSpPr>
          <p:cNvPr id="8" name="Shape 6"/>
          <p:cNvSpPr/>
          <p:nvPr/>
        </p:nvSpPr>
        <p:spPr>
          <a:xfrm>
            <a:off x="7406640" y="4096512"/>
            <a:ext cx="457200" cy="1755648"/>
          </a:xfrm>
          <a:prstGeom prst="line">
            <a:avLst/>
          </a:prstGeom>
          <a:noFill/>
          <a:ln w="50800">
            <a:solidFill>
              <a:srgbClr val="1F36C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3364992"/>
            <a:ext cx="6949440" cy="1463040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38100">
            <a:solidFill>
              <a:srgbClr val="1F36C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3364992"/>
            <a:ext cx="6492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~190 countries · 3.4bn people use</a:t>
            </a:r>
            <a:endParaRPr lang="en-US" sz="2300" dirty="0"/>
          </a:p>
          <a:p>
            <a:pPr algn="l" indent="0" marL="0">
              <a:buNone/>
            </a:pPr>
            <a:r>
              <a:rPr lang="en-US" sz="2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products every day</a:t>
            </a:r>
            <a:endParaRPr lang="en-US" sz="2300" dirty="0"/>
          </a:p>
        </p:txBody>
      </p:sp>
      <p:sp>
        <p:nvSpPr>
          <p:cNvPr id="11" name="Shape 9"/>
          <p:cNvSpPr/>
          <p:nvPr/>
        </p:nvSpPr>
        <p:spPr>
          <a:xfrm flipV="1">
            <a:off x="7406640" y="5852160"/>
            <a:ext cx="457200" cy="9144"/>
          </a:xfrm>
          <a:prstGeom prst="line">
            <a:avLst/>
          </a:prstGeom>
          <a:noFill/>
          <a:ln w="50800">
            <a:solidFill>
              <a:srgbClr val="1F36C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5120640"/>
            <a:ext cx="6949440" cy="1463040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38100">
            <a:solidFill>
              <a:srgbClr val="1F36C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5120640"/>
            <a:ext cx="6492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59% of turnover from emerging</a:t>
            </a:r>
            <a:endParaRPr lang="en-US" sz="2300" dirty="0"/>
          </a:p>
          <a:p>
            <a:pPr algn="l" indent="0" marL="0">
              <a:buNone/>
            </a:pPr>
            <a:r>
              <a:rPr lang="en-US" sz="2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markets (2025) · Europe only 19%</a:t>
            </a:r>
            <a:endParaRPr lang="en-US" sz="2300" dirty="0"/>
          </a:p>
        </p:txBody>
      </p:sp>
      <p:sp>
        <p:nvSpPr>
          <p:cNvPr id="14" name="Shape 12"/>
          <p:cNvSpPr/>
          <p:nvPr/>
        </p:nvSpPr>
        <p:spPr>
          <a:xfrm flipV="1">
            <a:off x="7406640" y="5852160"/>
            <a:ext cx="457200" cy="1755648"/>
          </a:xfrm>
          <a:prstGeom prst="line">
            <a:avLst/>
          </a:prstGeom>
          <a:noFill/>
          <a:ln w="50800">
            <a:solidFill>
              <a:srgbClr val="1F36C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6876288"/>
            <a:ext cx="6949440" cy="1463040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38100">
            <a:solidFill>
              <a:srgbClr val="1F36C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6876288"/>
            <a:ext cx="6492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Power Brands = 78% of turnover</a:t>
            </a:r>
            <a:endParaRPr lang="en-US" sz="2300" dirty="0"/>
          </a:p>
          <a:p>
            <a:pPr algn="l" indent="0" marL="0">
              <a:buNone/>
            </a:pPr>
            <a:r>
              <a:rPr lang="en-US" sz="2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280+ factories (2023)</a:t>
            </a:r>
            <a:endParaRPr lang="en-US" sz="2300" dirty="0"/>
          </a:p>
        </p:txBody>
      </p:sp>
      <p:sp>
        <p:nvSpPr>
          <p:cNvPr id="17" name="Shape 15"/>
          <p:cNvSpPr/>
          <p:nvPr/>
        </p:nvSpPr>
        <p:spPr>
          <a:xfrm flipV="1">
            <a:off x="7406640" y="5852160"/>
            <a:ext cx="457200" cy="3511296"/>
          </a:xfrm>
          <a:prstGeom prst="line">
            <a:avLst/>
          </a:prstGeom>
          <a:noFill/>
          <a:ln w="50800">
            <a:solidFill>
              <a:srgbClr val="1F36C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8631936"/>
            <a:ext cx="6949440" cy="1463040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38100">
            <a:solidFill>
              <a:srgbClr val="1F36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8631936"/>
            <a:ext cx="6492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Risks: COVID (Mar 2020) · inflation 2022</a:t>
            </a:r>
            <a:endParaRPr lang="en-US" sz="2300" dirty="0"/>
          </a:p>
          <a:p>
            <a:pPr algn="l" indent="0" marL="0">
              <a:buNone/>
            </a:pPr>
            <a:r>
              <a:rPr lang="en-US" sz="2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(prices +11.3%) · Russia exit (Oct 2024)</a:t>
            </a:r>
            <a:endParaRPr lang="en-US" sz="2300" dirty="0"/>
          </a:p>
        </p:txBody>
      </p:sp>
      <p:sp>
        <p:nvSpPr>
          <p:cNvPr id="20" name="Shape 18"/>
          <p:cNvSpPr/>
          <p:nvPr/>
        </p:nvSpPr>
        <p:spPr>
          <a:xfrm>
            <a:off x="7863840" y="4983480"/>
            <a:ext cx="6035040" cy="1737360"/>
          </a:xfrm>
          <a:prstGeom prst="roundRect">
            <a:avLst>
              <a:gd name="adj" fmla="val 18421"/>
            </a:avLst>
          </a:prstGeom>
          <a:solidFill>
            <a:srgbClr val="1F36C7"/>
          </a:solidFill>
          <a:ln/>
        </p:spPr>
      </p:sp>
      <p:sp>
        <p:nvSpPr>
          <p:cNvPr id="21" name="Text 19"/>
          <p:cNvSpPr/>
          <p:nvPr/>
        </p:nvSpPr>
        <p:spPr>
          <a:xfrm>
            <a:off x="7863840" y="498348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Globalisation</a:t>
            </a:r>
            <a:endParaRPr lang="en-US" sz="34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Speaker 1 · Unilever worldwide</a:t>
            </a:r>
            <a:endParaRPr lang="en-US" sz="3400" dirty="0"/>
          </a:p>
        </p:txBody>
      </p:sp>
      <p:sp>
        <p:nvSpPr>
          <p:cNvPr id="22" name="Shape 20"/>
          <p:cNvSpPr/>
          <p:nvPr/>
        </p:nvSpPr>
        <p:spPr>
          <a:xfrm flipV="1">
            <a:off x="15137892" y="5852160"/>
            <a:ext cx="4256532" cy="5120640"/>
          </a:xfrm>
          <a:prstGeom prst="line">
            <a:avLst/>
          </a:prstGeom>
          <a:noFill/>
          <a:ln w="114300">
            <a:solidFill>
              <a:srgbClr val="0F8A6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22411944" y="2340864"/>
            <a:ext cx="457200" cy="3511296"/>
          </a:xfrm>
          <a:prstGeom prst="line">
            <a:avLst/>
          </a:prstGeom>
          <a:noFill/>
          <a:ln w="50800">
            <a:solidFill>
              <a:srgbClr val="0F8A6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869144" y="1609344"/>
            <a:ext cx="6949440" cy="1463040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38100">
            <a:solidFill>
              <a:srgbClr val="0F8A6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3097744" y="1609344"/>
            <a:ext cx="6492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levels · USMCA = free trade area</a:t>
            </a:r>
            <a:endParaRPr lang="en-US" sz="2300" dirty="0"/>
          </a:p>
          <a:p>
            <a:pPr algn="l" indent="0" marL="0">
              <a:buNone/>
            </a:pPr>
            <a:r>
              <a:rPr lang="en-US" sz="2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(Jul 2020, replaced NAFTA)</a:t>
            </a:r>
            <a:endParaRPr lang="en-US" sz="2300" dirty="0"/>
          </a:p>
        </p:txBody>
      </p:sp>
      <p:sp>
        <p:nvSpPr>
          <p:cNvPr id="26" name="Shape 24"/>
          <p:cNvSpPr/>
          <p:nvPr/>
        </p:nvSpPr>
        <p:spPr>
          <a:xfrm flipV="1">
            <a:off x="22411944" y="4096512"/>
            <a:ext cx="457200" cy="1755648"/>
          </a:xfrm>
          <a:prstGeom prst="line">
            <a:avLst/>
          </a:prstGeom>
          <a:noFill/>
          <a:ln w="50800">
            <a:solidFill>
              <a:srgbClr val="0F8A6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869144" y="3364992"/>
            <a:ext cx="6949440" cy="1463040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38100">
            <a:solidFill>
              <a:srgbClr val="0F8A6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3097744" y="3364992"/>
            <a:ext cx="6492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Mexico = US's No. 1 trading partner</a:t>
            </a:r>
            <a:endParaRPr lang="en-US" sz="2300" dirty="0"/>
          </a:p>
          <a:p>
            <a:pPr algn="l" indent="0" marL="0">
              <a:buNone/>
            </a:pPr>
            <a:r>
              <a:rPr lang="en-US" sz="2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(2023, $799bn goods trade)</a:t>
            </a:r>
            <a:endParaRPr lang="en-US" sz="2300" dirty="0"/>
          </a:p>
        </p:txBody>
      </p:sp>
      <p:sp>
        <p:nvSpPr>
          <p:cNvPr id="29" name="Shape 27"/>
          <p:cNvSpPr/>
          <p:nvPr/>
        </p:nvSpPr>
        <p:spPr>
          <a:xfrm>
            <a:off x="22411944" y="5852160"/>
            <a:ext cx="457200" cy="9144"/>
          </a:xfrm>
          <a:prstGeom prst="line">
            <a:avLst/>
          </a:prstGeom>
          <a:noFill/>
          <a:ln w="50800">
            <a:solidFill>
              <a:srgbClr val="0F8A6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2869144" y="5120640"/>
            <a:ext cx="6949440" cy="1463040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38100">
            <a:solidFill>
              <a:srgbClr val="0F8A6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3097744" y="5120640"/>
            <a:ext cx="6492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León plant: $400m (Feb 2023)</a:t>
            </a:r>
            <a:endParaRPr lang="en-US" sz="2300" dirty="0"/>
          </a:p>
          <a:p>
            <a:pPr algn="l" indent="0" marL="0">
              <a:buNone/>
            </a:pPr>
            <a:r>
              <a:rPr lang="en-US" sz="2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$800m (Apr 2025), 850 jobs</a:t>
            </a:r>
            <a:endParaRPr lang="en-US" sz="2300" dirty="0"/>
          </a:p>
        </p:txBody>
      </p:sp>
      <p:sp>
        <p:nvSpPr>
          <p:cNvPr id="32" name="Shape 30"/>
          <p:cNvSpPr/>
          <p:nvPr/>
        </p:nvSpPr>
        <p:spPr>
          <a:xfrm>
            <a:off x="22411944" y="5852160"/>
            <a:ext cx="457200" cy="1755648"/>
          </a:xfrm>
          <a:prstGeom prst="line">
            <a:avLst/>
          </a:prstGeom>
          <a:noFill/>
          <a:ln w="50800">
            <a:solidFill>
              <a:srgbClr val="0F8A6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869144" y="6876288"/>
            <a:ext cx="6949440" cy="1463040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38100">
            <a:solidFill>
              <a:srgbClr val="0F8A6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097744" y="6876288"/>
            <a:ext cx="6492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 2025: US 25% tariff on Mexico,</a:t>
            </a:r>
            <a:endParaRPr lang="en-US" sz="2300" dirty="0"/>
          </a:p>
          <a:p>
            <a:pPr algn="l" indent="0" marL="0">
              <a:buNone/>
            </a:pPr>
            <a:r>
              <a:rPr lang="en-US" sz="2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USMCA goods exempt</a:t>
            </a:r>
            <a:endParaRPr lang="en-US" sz="2300" dirty="0"/>
          </a:p>
        </p:txBody>
      </p:sp>
      <p:sp>
        <p:nvSpPr>
          <p:cNvPr id="35" name="Shape 33"/>
          <p:cNvSpPr/>
          <p:nvPr/>
        </p:nvSpPr>
        <p:spPr>
          <a:xfrm>
            <a:off x="22411944" y="5852160"/>
            <a:ext cx="457200" cy="3511296"/>
          </a:xfrm>
          <a:prstGeom prst="line">
            <a:avLst/>
          </a:prstGeom>
          <a:noFill/>
          <a:ln w="50800">
            <a:solidFill>
              <a:srgbClr val="0F8A6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869144" y="8631936"/>
            <a:ext cx="6949440" cy="1463040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38100">
            <a:solidFill>
              <a:srgbClr val="0F8A6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3097744" y="8631936"/>
            <a:ext cx="6492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Benefit: tariff-free access to the US,</a:t>
            </a:r>
            <a:endParaRPr lang="en-US" sz="2300" dirty="0"/>
          </a:p>
          <a:p>
            <a:pPr algn="l" indent="0" marL="0">
              <a:buNone/>
            </a:pPr>
            <a:r>
              <a:rPr lang="en-US" sz="2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Unilever's biggest market</a:t>
            </a:r>
            <a:endParaRPr lang="en-US" sz="2300" dirty="0"/>
          </a:p>
        </p:txBody>
      </p:sp>
      <p:sp>
        <p:nvSpPr>
          <p:cNvPr id="38" name="Shape 36"/>
          <p:cNvSpPr/>
          <p:nvPr/>
        </p:nvSpPr>
        <p:spPr>
          <a:xfrm>
            <a:off x="16376904" y="4983480"/>
            <a:ext cx="6035040" cy="1737360"/>
          </a:xfrm>
          <a:prstGeom prst="roundRect">
            <a:avLst>
              <a:gd name="adj" fmla="val 18421"/>
            </a:avLst>
          </a:prstGeom>
          <a:solidFill>
            <a:srgbClr val="0F8A6B"/>
          </a:solidFill>
          <a:ln/>
        </p:spPr>
      </p:sp>
      <p:sp>
        <p:nvSpPr>
          <p:cNvPr id="39" name="Text 37"/>
          <p:cNvSpPr/>
          <p:nvPr/>
        </p:nvSpPr>
        <p:spPr>
          <a:xfrm>
            <a:off x="16376904" y="498348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Integration</a:t>
            </a:r>
            <a:endParaRPr lang="en-US" sz="34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Speaker 2 · Mexico</a:t>
            </a:r>
            <a:endParaRPr lang="en-US" sz="3400" dirty="0"/>
          </a:p>
        </p:txBody>
      </p:sp>
      <p:sp>
        <p:nvSpPr>
          <p:cNvPr id="40" name="Shape 38"/>
          <p:cNvSpPr/>
          <p:nvPr/>
        </p:nvSpPr>
        <p:spPr>
          <a:xfrm flipV="1">
            <a:off x="10881360" y="10972800"/>
            <a:ext cx="4256532" cy="5120640"/>
          </a:xfrm>
          <a:prstGeom prst="line">
            <a:avLst/>
          </a:prstGeom>
          <a:noFill/>
          <a:ln w="114300">
            <a:solidFill>
              <a:srgbClr val="D9822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406640" y="12582144"/>
            <a:ext cx="457200" cy="3511296"/>
          </a:xfrm>
          <a:prstGeom prst="line">
            <a:avLst/>
          </a:prstGeom>
          <a:noFill/>
          <a:ln w="50800">
            <a:solidFill>
              <a:srgbClr val="D9822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57200" y="11850624"/>
            <a:ext cx="6949440" cy="1463040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38100">
            <a:solidFill>
              <a:srgbClr val="D9822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85800" y="11850624"/>
            <a:ext cx="6492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MNE goals vs 7 host-country goals</a:t>
            </a:r>
            <a:endParaRPr lang="en-US" sz="2300" dirty="0"/>
          </a:p>
          <a:p>
            <a:pPr algn="l" indent="0" marL="0">
              <a:buNone/>
            </a:pPr>
            <a:r>
              <a:rPr lang="en-US" sz="2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creeping expropriation</a:t>
            </a:r>
            <a:endParaRPr lang="en-US" sz="2300" dirty="0"/>
          </a:p>
        </p:txBody>
      </p:sp>
      <p:sp>
        <p:nvSpPr>
          <p:cNvPr id="44" name="Shape 42"/>
          <p:cNvSpPr/>
          <p:nvPr/>
        </p:nvSpPr>
        <p:spPr>
          <a:xfrm>
            <a:off x="7406640" y="14337792"/>
            <a:ext cx="457200" cy="1755648"/>
          </a:xfrm>
          <a:prstGeom prst="line">
            <a:avLst/>
          </a:prstGeom>
          <a:noFill/>
          <a:ln w="50800">
            <a:solidFill>
              <a:srgbClr val="D9822B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57200" y="13606272"/>
            <a:ext cx="6949440" cy="1463040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38100">
            <a:solidFill>
              <a:srgbClr val="D9822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5800" y="13606272"/>
            <a:ext cx="6492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 advantages: brands</a:t>
            </a:r>
            <a:endParaRPr lang="en-US" sz="2300" dirty="0"/>
          </a:p>
          <a:p>
            <a:pPr algn="l" indent="0" marL="0">
              <a:buNone/>
            </a:pPr>
            <a:r>
              <a:rPr lang="en-US" sz="2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R&amp;D €0.8–1.0bn a year</a:t>
            </a:r>
            <a:endParaRPr lang="en-US" sz="2300" dirty="0"/>
          </a:p>
        </p:txBody>
      </p:sp>
      <p:sp>
        <p:nvSpPr>
          <p:cNvPr id="47" name="Shape 45"/>
          <p:cNvSpPr/>
          <p:nvPr/>
        </p:nvSpPr>
        <p:spPr>
          <a:xfrm>
            <a:off x="7406640" y="16093440"/>
            <a:ext cx="457200" cy="9144"/>
          </a:xfrm>
          <a:prstGeom prst="line">
            <a:avLst/>
          </a:prstGeom>
          <a:noFill/>
          <a:ln w="50800">
            <a:solidFill>
              <a:srgbClr val="D9822B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57200" y="15361920"/>
            <a:ext cx="6949440" cy="1463040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38100">
            <a:solidFill>
              <a:srgbClr val="D9822B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5800" y="15361920"/>
            <a:ext cx="6492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India: Hindustan Unilever 61.9%</a:t>
            </a:r>
            <a:endParaRPr lang="en-US" sz="2300" dirty="0"/>
          </a:p>
          <a:p>
            <a:pPr algn="l" indent="0" marL="0">
              <a:buNone/>
            </a:pPr>
            <a:r>
              <a:rPr lang="en-US" sz="2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buys Minimalist (Apr 2025)</a:t>
            </a:r>
            <a:endParaRPr lang="en-US" sz="2300" dirty="0"/>
          </a:p>
        </p:txBody>
      </p:sp>
      <p:sp>
        <p:nvSpPr>
          <p:cNvPr id="50" name="Shape 48"/>
          <p:cNvSpPr/>
          <p:nvPr/>
        </p:nvSpPr>
        <p:spPr>
          <a:xfrm flipV="1">
            <a:off x="7406640" y="16093440"/>
            <a:ext cx="457200" cy="1755648"/>
          </a:xfrm>
          <a:prstGeom prst="line">
            <a:avLst/>
          </a:prstGeom>
          <a:noFill/>
          <a:ln w="50800">
            <a:solidFill>
              <a:srgbClr val="D9822B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57200" y="17117568"/>
            <a:ext cx="6949440" cy="1463040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38100">
            <a:solidFill>
              <a:srgbClr val="D9822B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5800" y="17117568"/>
            <a:ext cx="6492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Conflict: 7,500 job cuts (Mar 2024)</a:t>
            </a:r>
            <a:endParaRPr lang="en-US" sz="2300" dirty="0"/>
          </a:p>
          <a:p>
            <a:pPr algn="l" indent="0" marL="0">
              <a:buNone/>
            </a:pPr>
            <a:r>
              <a:rPr lang="en-US" sz="2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4,300 gone by Dec 2024</a:t>
            </a:r>
            <a:endParaRPr lang="en-US" sz="2300" dirty="0"/>
          </a:p>
        </p:txBody>
      </p:sp>
      <p:sp>
        <p:nvSpPr>
          <p:cNvPr id="53" name="Shape 51"/>
          <p:cNvSpPr/>
          <p:nvPr/>
        </p:nvSpPr>
        <p:spPr>
          <a:xfrm flipV="1">
            <a:off x="7406640" y="16093440"/>
            <a:ext cx="457200" cy="3511296"/>
          </a:xfrm>
          <a:prstGeom prst="line">
            <a:avLst/>
          </a:prstGeom>
          <a:noFill/>
          <a:ln w="50800">
            <a:solidFill>
              <a:srgbClr val="D9822B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57200" y="18873216"/>
            <a:ext cx="6949440" cy="1463040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38100">
            <a:solidFill>
              <a:srgbClr val="D9822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5800" y="18873216"/>
            <a:ext cx="6492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Russia: stayed from Mar 2022,</a:t>
            </a:r>
            <a:endParaRPr lang="en-US" sz="2300" dirty="0"/>
          </a:p>
          <a:p>
            <a:pPr algn="l" indent="0" marL="0">
              <a:buNone/>
            </a:pPr>
            <a:r>
              <a:rPr lang="en-US" sz="2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the business Oct 2024</a:t>
            </a:r>
            <a:endParaRPr lang="en-US" sz="2300" dirty="0"/>
          </a:p>
        </p:txBody>
      </p:sp>
      <p:sp>
        <p:nvSpPr>
          <p:cNvPr id="56" name="Shape 54"/>
          <p:cNvSpPr/>
          <p:nvPr/>
        </p:nvSpPr>
        <p:spPr>
          <a:xfrm>
            <a:off x="7863840" y="15224760"/>
            <a:ext cx="6035040" cy="1737360"/>
          </a:xfrm>
          <a:prstGeom prst="roundRect">
            <a:avLst>
              <a:gd name="adj" fmla="val 18421"/>
            </a:avLst>
          </a:prstGeom>
          <a:solidFill>
            <a:srgbClr val="D9822B"/>
          </a:solidFill>
          <a:ln/>
        </p:spPr>
      </p:sp>
      <p:sp>
        <p:nvSpPr>
          <p:cNvPr id="57" name="Text 55"/>
          <p:cNvSpPr/>
          <p:nvPr/>
        </p:nvSpPr>
        <p:spPr>
          <a:xfrm>
            <a:off x="7863840" y="1522476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MNEs from Advanced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Economies</a:t>
            </a:r>
            <a:endParaRPr lang="en-US" sz="34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Speaker 3 · UK MNE</a:t>
            </a:r>
            <a:endParaRPr lang="en-US" sz="3400" dirty="0"/>
          </a:p>
        </p:txBody>
      </p:sp>
      <p:sp>
        <p:nvSpPr>
          <p:cNvPr id="58" name="Shape 56"/>
          <p:cNvSpPr/>
          <p:nvPr/>
        </p:nvSpPr>
        <p:spPr>
          <a:xfrm>
            <a:off x="15137892" y="10972800"/>
            <a:ext cx="4256532" cy="5120640"/>
          </a:xfrm>
          <a:prstGeom prst="line">
            <a:avLst/>
          </a:prstGeom>
          <a:noFill/>
          <a:ln w="114300">
            <a:solidFill>
              <a:srgbClr val="7C3AED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22411944" y="12582144"/>
            <a:ext cx="457200" cy="3511296"/>
          </a:xfrm>
          <a:prstGeom prst="line">
            <a:avLst/>
          </a:prstGeom>
          <a:noFill/>
          <a:ln w="50800">
            <a:solidFill>
              <a:srgbClr val="7C3AED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22869144" y="11850624"/>
            <a:ext cx="6949440" cy="1463040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38100">
            <a:solidFill>
              <a:srgbClr val="7C3AE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3097744" y="11850624"/>
            <a:ext cx="6492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 + 4 motives · US = largest FDI</a:t>
            </a:r>
            <a:endParaRPr lang="en-US" sz="2300" dirty="0"/>
          </a:p>
          <a:p>
            <a:pPr algn="l" indent="0" marL="0">
              <a:buNone/>
            </a:pPr>
            <a:r>
              <a:rPr lang="en-US" sz="2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($279bn, 2024)</a:t>
            </a:r>
            <a:endParaRPr lang="en-US" sz="2300" dirty="0"/>
          </a:p>
        </p:txBody>
      </p:sp>
      <p:sp>
        <p:nvSpPr>
          <p:cNvPr id="62" name="Shape 60"/>
          <p:cNvSpPr/>
          <p:nvPr/>
        </p:nvSpPr>
        <p:spPr>
          <a:xfrm flipV="1">
            <a:off x="22411944" y="14337792"/>
            <a:ext cx="457200" cy="1755648"/>
          </a:xfrm>
          <a:prstGeom prst="line">
            <a:avLst/>
          </a:prstGeom>
          <a:noFill/>
          <a:ln w="50800">
            <a:solidFill>
              <a:srgbClr val="7C3AED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22869144" y="13606272"/>
            <a:ext cx="6949440" cy="1463040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38100">
            <a:solidFill>
              <a:srgbClr val="7C3AED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23097744" y="13606272"/>
            <a:ext cx="6492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turnover €9.4bn (2020) → €12.5bn</a:t>
            </a:r>
            <a:endParaRPr lang="en-US" sz="2300" dirty="0"/>
          </a:p>
          <a:p>
            <a:pPr algn="l" indent="0" marL="0">
              <a:buNone/>
            </a:pPr>
            <a:r>
              <a:rPr lang="en-US" sz="2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(2024), about 1/5 of the group</a:t>
            </a:r>
            <a:endParaRPr lang="en-US" sz="2300" dirty="0"/>
          </a:p>
        </p:txBody>
      </p:sp>
      <p:sp>
        <p:nvSpPr>
          <p:cNvPr id="65" name="Shape 63"/>
          <p:cNvSpPr/>
          <p:nvPr/>
        </p:nvSpPr>
        <p:spPr>
          <a:xfrm>
            <a:off x="22411944" y="16093440"/>
            <a:ext cx="457200" cy="9144"/>
          </a:xfrm>
          <a:prstGeom prst="line">
            <a:avLst/>
          </a:prstGeom>
          <a:noFill/>
          <a:ln w="50800">
            <a:solidFill>
              <a:srgbClr val="7C3AED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22869144" y="15361920"/>
            <a:ext cx="6949440" cy="1463040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38100">
            <a:solidFill>
              <a:srgbClr val="7C3AED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23097744" y="15361920"/>
            <a:ext cx="6492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M&amp;A: Paula's Choice €1.8bn (Aug 2021)</a:t>
            </a:r>
            <a:endParaRPr lang="en-US" sz="2300" dirty="0"/>
          </a:p>
          <a:p>
            <a:pPr algn="l" indent="0" marL="0">
              <a:buNone/>
            </a:pPr>
            <a:r>
              <a:rPr lang="en-US" sz="2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Nutrafol → 80% (Jul 2022)</a:t>
            </a:r>
            <a:endParaRPr lang="en-US" sz="2300" dirty="0"/>
          </a:p>
        </p:txBody>
      </p:sp>
      <p:sp>
        <p:nvSpPr>
          <p:cNvPr id="68" name="Shape 66"/>
          <p:cNvSpPr/>
          <p:nvPr/>
        </p:nvSpPr>
        <p:spPr>
          <a:xfrm>
            <a:off x="22411944" y="16093440"/>
            <a:ext cx="457200" cy="1755648"/>
          </a:xfrm>
          <a:prstGeom prst="line">
            <a:avLst/>
          </a:prstGeom>
          <a:noFill/>
          <a:ln w="50800">
            <a:solidFill>
              <a:srgbClr val="7C3AED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22869144" y="17117568"/>
            <a:ext cx="6949440" cy="1463040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38100">
            <a:solidFill>
              <a:srgbClr val="7C3AED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23097744" y="17117568"/>
            <a:ext cx="6492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K18 (Feb 2024)</a:t>
            </a:r>
            <a:endParaRPr lang="en-US" sz="2300" dirty="0"/>
          </a:p>
          <a:p>
            <a:pPr algn="l" indent="0" marL="0">
              <a:buNone/>
            </a:pPr>
            <a:r>
              <a:rPr lang="en-US" sz="2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Squatch €1.2bn (Sep 2025)</a:t>
            </a:r>
            <a:endParaRPr lang="en-US" sz="2300" dirty="0"/>
          </a:p>
        </p:txBody>
      </p:sp>
      <p:sp>
        <p:nvSpPr>
          <p:cNvPr id="71" name="Shape 69"/>
          <p:cNvSpPr/>
          <p:nvPr/>
        </p:nvSpPr>
        <p:spPr>
          <a:xfrm>
            <a:off x="22411944" y="16093440"/>
            <a:ext cx="457200" cy="3511296"/>
          </a:xfrm>
          <a:prstGeom prst="line">
            <a:avLst/>
          </a:prstGeom>
          <a:noFill/>
          <a:ln w="50800">
            <a:solidFill>
              <a:srgbClr val="7C3AED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22869144" y="18873216"/>
            <a:ext cx="6949440" cy="1463040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38100">
            <a:solidFill>
              <a:srgbClr val="7C3AED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23097744" y="18873216"/>
            <a:ext cx="6492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Benefit: 70% of US Beauty &amp; Wellbeing</a:t>
            </a:r>
            <a:endParaRPr lang="en-US" sz="2300" dirty="0"/>
          </a:p>
          <a:p>
            <a:pPr algn="l" indent="0" marL="0">
              <a:buNone/>
            </a:pPr>
            <a:r>
              <a:rPr lang="en-US" sz="2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from premium brands (2024)</a:t>
            </a:r>
            <a:endParaRPr lang="en-US" sz="2300" dirty="0"/>
          </a:p>
        </p:txBody>
      </p:sp>
      <p:sp>
        <p:nvSpPr>
          <p:cNvPr id="74" name="Shape 72"/>
          <p:cNvSpPr/>
          <p:nvPr/>
        </p:nvSpPr>
        <p:spPr>
          <a:xfrm>
            <a:off x="16376904" y="15224760"/>
            <a:ext cx="6035040" cy="1737360"/>
          </a:xfrm>
          <a:prstGeom prst="roundRect">
            <a:avLst>
              <a:gd name="adj" fmla="val 18421"/>
            </a:avLst>
          </a:prstGeom>
          <a:solidFill>
            <a:srgbClr val="7C3AED"/>
          </a:solidFill>
          <a:ln/>
        </p:spPr>
      </p:sp>
      <p:sp>
        <p:nvSpPr>
          <p:cNvPr id="75" name="Text 73"/>
          <p:cNvSpPr/>
          <p:nvPr/>
        </p:nvSpPr>
        <p:spPr>
          <a:xfrm>
            <a:off x="16376904" y="1522476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FDI</a:t>
            </a:r>
            <a:endParaRPr lang="en-US" sz="34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Speaker 4 · United States</a:t>
            </a:r>
            <a:endParaRPr lang="en-US" sz="3400" dirty="0"/>
          </a:p>
        </p:txBody>
      </p:sp>
      <p:sp>
        <p:nvSpPr>
          <p:cNvPr id="76" name="Shape 74"/>
          <p:cNvSpPr/>
          <p:nvPr/>
        </p:nvSpPr>
        <p:spPr>
          <a:xfrm>
            <a:off x="11663172" y="9189720"/>
            <a:ext cx="6949440" cy="3566160"/>
          </a:xfrm>
          <a:prstGeom prst="ellipse">
            <a:avLst/>
          </a:prstGeom>
          <a:solidFill>
            <a:srgbClr val="1A1F36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1663172" y="9189720"/>
            <a:ext cx="69494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UNILEVER</a:t>
            </a:r>
            <a:endParaRPr lang="en-US" sz="54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UK-based consumer goods MNE</a:t>
            </a:r>
            <a:endParaRPr lang="en-US" sz="54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Turnover €50.5bn (2025)</a:t>
            </a:r>
            <a:endParaRPr lang="en-US" sz="5400" dirty="0"/>
          </a:p>
        </p:txBody>
      </p:sp>
      <p:sp>
        <p:nvSpPr>
          <p:cNvPr id="78" name="Text 76"/>
          <p:cNvSpPr/>
          <p:nvPr/>
        </p:nvSpPr>
        <p:spPr>
          <a:xfrm>
            <a:off x="548640" y="20702016"/>
            <a:ext cx="29178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Unilever PLC Annual Reports on Form 20-F 2020–2025; UNCTAD World Investment Report 2025; US Census Bureau; USTR; full Harvard references on our presentation slides.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2026-10-31T02:58:33Z</dcterms:created>
  <dcterms:modified xsi:type="dcterms:W3CDTF">2026-10-31T02:58:33Z</dcterms:modified>
</cp:coreProperties>
</file>