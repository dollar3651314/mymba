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21387816"/>
  <p:notesSz cx="21387816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29178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Unilever in the Global Economy, 2020–2025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229600" y="1234440"/>
            <a:ext cx="1381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 1763 · Group Mind Map · Completed events, Jan 2020 – Dec 2025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0881360" y="5852160"/>
            <a:ext cx="4256532" cy="5120640"/>
          </a:xfrm>
          <a:prstGeom prst="line">
            <a:avLst/>
          </a:prstGeom>
          <a:noFill/>
          <a:ln w="114300">
            <a:solidFill>
              <a:srgbClr val="1F36C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0" y="2834640"/>
            <a:ext cx="182880" cy="3017520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7170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17170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3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Levitt: one world market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global brands everywhere (e.g. Dove)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7680960" y="4343400"/>
            <a:ext cx="182880" cy="1508760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68046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68046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3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drivers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political · technology · market · cost · competition</a:t>
            </a:r>
            <a:endParaRPr lang="en-US" sz="2500" dirty="0"/>
          </a:p>
        </p:txBody>
      </p:sp>
      <p:sp>
        <p:nvSpPr>
          <p:cNvPr id="11" name="Shape 9"/>
          <p:cNvSpPr/>
          <p:nvPr/>
        </p:nvSpPr>
        <p:spPr>
          <a:xfrm>
            <a:off x="7680960" y="5852160"/>
            <a:ext cx="182880" cy="9144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518922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18922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3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Globalisation of markets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sells in ~190 countries; growth from emerging markets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 flipV="1">
            <a:off x="7680960" y="5852160"/>
            <a:ext cx="182880" cy="1508760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669798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669798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3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Globalisation of production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factory network → economies of scale</a:t>
            </a:r>
            <a:endParaRPr lang="en-US" sz="2500" dirty="0"/>
          </a:p>
        </p:txBody>
      </p:sp>
      <p:sp>
        <p:nvSpPr>
          <p:cNvPr id="17" name="Shape 15"/>
          <p:cNvSpPr/>
          <p:nvPr/>
        </p:nvSpPr>
        <p:spPr>
          <a:xfrm flipV="1">
            <a:off x="7680960" y="5852160"/>
            <a:ext cx="182880" cy="3017520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820674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820674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3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of globalisation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 (Mar 2020) · war in Ukraine (Mar 2022)</a:t>
            </a:r>
            <a:endParaRPr lang="en-US" sz="2500" dirty="0"/>
          </a:p>
        </p:txBody>
      </p:sp>
      <p:sp>
        <p:nvSpPr>
          <p:cNvPr id="20" name="Shape 18"/>
          <p:cNvSpPr/>
          <p:nvPr/>
        </p:nvSpPr>
        <p:spPr>
          <a:xfrm>
            <a:off x="7863840" y="4983480"/>
            <a:ext cx="6035040" cy="1737360"/>
          </a:xfrm>
          <a:prstGeom prst="roundRect">
            <a:avLst>
              <a:gd name="adj" fmla="val 18421"/>
            </a:avLst>
          </a:prstGeom>
          <a:solidFill>
            <a:srgbClr val="1F36C7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0" y="49834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Globalisation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1 · Unilever worldwide</a:t>
            </a:r>
            <a:endParaRPr lang="en-US" sz="3400" dirty="0"/>
          </a:p>
        </p:txBody>
      </p:sp>
      <p:sp>
        <p:nvSpPr>
          <p:cNvPr id="22" name="Shape 20"/>
          <p:cNvSpPr/>
          <p:nvPr/>
        </p:nvSpPr>
        <p:spPr>
          <a:xfrm flipV="1">
            <a:off x="15137892" y="5852160"/>
            <a:ext cx="4256532" cy="5120640"/>
          </a:xfrm>
          <a:prstGeom prst="line">
            <a:avLst/>
          </a:prstGeom>
          <a:noFill/>
          <a:ln w="114300">
            <a:solidFill>
              <a:srgbClr val="0F8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2411944" y="2834640"/>
            <a:ext cx="182880" cy="3017520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594824" y="217170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23424" y="217170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levels of integration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FTA → customs union → common market → union</a:t>
            </a:r>
            <a:endParaRPr lang="en-US" sz="2500" dirty="0"/>
          </a:p>
        </p:txBody>
      </p:sp>
      <p:sp>
        <p:nvSpPr>
          <p:cNvPr id="26" name="Shape 24"/>
          <p:cNvSpPr/>
          <p:nvPr/>
        </p:nvSpPr>
        <p:spPr>
          <a:xfrm flipV="1">
            <a:off x="22411944" y="4343400"/>
            <a:ext cx="182880" cy="1508760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594824" y="368046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23424" y="368046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USMCA = free trade area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· Mexico · Canada; replaced NAFTA (Jul 2020)</a:t>
            </a:r>
            <a:endParaRPr lang="en-US" sz="2500" dirty="0"/>
          </a:p>
        </p:txBody>
      </p:sp>
      <p:sp>
        <p:nvSpPr>
          <p:cNvPr id="29" name="Shape 27"/>
          <p:cNvSpPr/>
          <p:nvPr/>
        </p:nvSpPr>
        <p:spPr>
          <a:xfrm flipV="1">
            <a:off x="22411944" y="5852160"/>
            <a:ext cx="182880" cy="9144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594824" y="518922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23424" y="518922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origin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qualifying goods cross the borders tariff-free</a:t>
            </a:r>
            <a:endParaRPr lang="en-US" sz="2500" dirty="0"/>
          </a:p>
        </p:txBody>
      </p:sp>
      <p:sp>
        <p:nvSpPr>
          <p:cNvPr id="32" name="Shape 30"/>
          <p:cNvSpPr/>
          <p:nvPr/>
        </p:nvSpPr>
        <p:spPr>
          <a:xfrm>
            <a:off x="22411944" y="5852160"/>
            <a:ext cx="182880" cy="1508760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94824" y="669798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823424" y="669798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creation vs diversion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Mexico plant raised to $800m (Apr 2025), aimed at US exports</a:t>
            </a:r>
            <a:endParaRPr lang="en-US" sz="2500" dirty="0"/>
          </a:p>
        </p:txBody>
      </p:sp>
      <p:sp>
        <p:nvSpPr>
          <p:cNvPr id="35" name="Shape 33"/>
          <p:cNvSpPr/>
          <p:nvPr/>
        </p:nvSpPr>
        <p:spPr>
          <a:xfrm>
            <a:off x="22411944" y="5852160"/>
            <a:ext cx="182880" cy="3017520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94824" y="820674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823424" y="820674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vs limit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tariff-free access to the US · new US tariffs (Mar 2025)</a:t>
            </a:r>
            <a:endParaRPr lang="en-US" sz="2500" dirty="0"/>
          </a:p>
        </p:txBody>
      </p:sp>
      <p:sp>
        <p:nvSpPr>
          <p:cNvPr id="38" name="Shape 36"/>
          <p:cNvSpPr/>
          <p:nvPr/>
        </p:nvSpPr>
        <p:spPr>
          <a:xfrm>
            <a:off x="16376904" y="4983480"/>
            <a:ext cx="6035040" cy="1737360"/>
          </a:xfrm>
          <a:prstGeom prst="roundRect">
            <a:avLst>
              <a:gd name="adj" fmla="val 18421"/>
            </a:avLst>
          </a:prstGeom>
          <a:solidFill>
            <a:srgbClr val="0F8A6B"/>
          </a:solidFill>
          <a:ln/>
        </p:spPr>
      </p:sp>
      <p:sp>
        <p:nvSpPr>
          <p:cNvPr id="39" name="Text 37"/>
          <p:cNvSpPr/>
          <p:nvPr/>
        </p:nvSpPr>
        <p:spPr>
          <a:xfrm>
            <a:off x="16376904" y="49834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Integration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2 · Mexico</a:t>
            </a:r>
            <a:endParaRPr lang="en-US" sz="3400" dirty="0"/>
          </a:p>
        </p:txBody>
      </p:sp>
      <p:sp>
        <p:nvSpPr>
          <p:cNvPr id="40" name="Shape 38"/>
          <p:cNvSpPr/>
          <p:nvPr/>
        </p:nvSpPr>
        <p:spPr>
          <a:xfrm flipV="1">
            <a:off x="10881360" y="10972800"/>
            <a:ext cx="4256532" cy="4892040"/>
          </a:xfrm>
          <a:prstGeom prst="line">
            <a:avLst/>
          </a:prstGeom>
          <a:noFill/>
          <a:ln w="114300">
            <a:solidFill>
              <a:srgbClr val="D982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80960" y="12092940"/>
            <a:ext cx="182880" cy="3771900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1143000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" y="1143000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MNE goals vs host-country goals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returns, costs vs jobs, control, clean environment</a:t>
            </a:r>
            <a:endParaRPr lang="en-US" sz="2500" dirty="0"/>
          </a:p>
        </p:txBody>
      </p:sp>
      <p:sp>
        <p:nvSpPr>
          <p:cNvPr id="44" name="Shape 42"/>
          <p:cNvSpPr/>
          <p:nvPr/>
        </p:nvSpPr>
        <p:spPr>
          <a:xfrm>
            <a:off x="7680960" y="13601700"/>
            <a:ext cx="182880" cy="2263140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00" y="1293876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5800" y="1293876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advantages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brands and R&amp;D · hosts gain local listings (e.g. India)</a:t>
            </a:r>
            <a:endParaRPr lang="en-US" sz="2500" dirty="0"/>
          </a:p>
        </p:txBody>
      </p:sp>
      <p:sp>
        <p:nvSpPr>
          <p:cNvPr id="47" name="Shape 45"/>
          <p:cNvSpPr/>
          <p:nvPr/>
        </p:nvSpPr>
        <p:spPr>
          <a:xfrm>
            <a:off x="7680960" y="15110460"/>
            <a:ext cx="182880" cy="754380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200" y="1444752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5800" y="1444752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conflicts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cuts (Mar 2024) · Russia (Mar 2022 – Oct 2024)</a:t>
            </a:r>
            <a:endParaRPr lang="en-US" sz="2500" dirty="0"/>
          </a:p>
        </p:txBody>
      </p:sp>
      <p:sp>
        <p:nvSpPr>
          <p:cNvPr id="50" name="Shape 48"/>
          <p:cNvSpPr/>
          <p:nvPr/>
        </p:nvSpPr>
        <p:spPr>
          <a:xfrm flipV="1">
            <a:off x="7680960" y="15864840"/>
            <a:ext cx="182880" cy="754380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7200" y="1595628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5800" y="1595628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 = licence to operate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Unilever Compass (from Mar 2021)</a:t>
            </a:r>
            <a:endParaRPr lang="en-US" sz="2500" dirty="0"/>
          </a:p>
        </p:txBody>
      </p:sp>
      <p:sp>
        <p:nvSpPr>
          <p:cNvPr id="53" name="Shape 51"/>
          <p:cNvSpPr/>
          <p:nvPr/>
        </p:nvSpPr>
        <p:spPr>
          <a:xfrm flipV="1">
            <a:off x="7680960" y="15864840"/>
            <a:ext cx="182880" cy="2263140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7200" y="1746504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" y="1746504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CSR: progress vs setbacks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emissions −77% (by Dec 2025) · plastic target cut (Apr 2024) · greenwashing claims</a:t>
            </a:r>
            <a:endParaRPr lang="en-US" sz="2500" dirty="0"/>
          </a:p>
        </p:txBody>
      </p:sp>
      <p:sp>
        <p:nvSpPr>
          <p:cNvPr id="56" name="Shape 54"/>
          <p:cNvSpPr/>
          <p:nvPr/>
        </p:nvSpPr>
        <p:spPr>
          <a:xfrm flipV="1">
            <a:off x="7680960" y="15864840"/>
            <a:ext cx="182880" cy="3771900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7200" y="1897380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5800" y="1897380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view: purpose vs profit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Terry Smith: "lost the plot" (Jan 2022) · UK CMA probe (Dec 2023 – Nov 2024)</a:t>
            </a:r>
            <a:endParaRPr lang="en-US" sz="2500" dirty="0"/>
          </a:p>
        </p:txBody>
      </p:sp>
      <p:sp>
        <p:nvSpPr>
          <p:cNvPr id="59" name="Shape 57"/>
          <p:cNvSpPr/>
          <p:nvPr/>
        </p:nvSpPr>
        <p:spPr>
          <a:xfrm>
            <a:off x="7863840" y="14996160"/>
            <a:ext cx="6035040" cy="1737360"/>
          </a:xfrm>
          <a:prstGeom prst="roundRect">
            <a:avLst>
              <a:gd name="adj" fmla="val 18421"/>
            </a:avLst>
          </a:prstGeom>
          <a:solidFill>
            <a:srgbClr val="D9822B"/>
          </a:solidFill>
          <a:ln/>
        </p:spPr>
      </p:sp>
      <p:sp>
        <p:nvSpPr>
          <p:cNvPr id="60" name="Text 58"/>
          <p:cNvSpPr/>
          <p:nvPr/>
        </p:nvSpPr>
        <p:spPr>
          <a:xfrm>
            <a:off x="7863840" y="149961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MNEs from Advanced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Economies + CSR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3 · UK MNE</a:t>
            </a:r>
            <a:endParaRPr lang="en-US" sz="3400" dirty="0"/>
          </a:p>
        </p:txBody>
      </p:sp>
      <p:sp>
        <p:nvSpPr>
          <p:cNvPr id="61" name="Shape 59"/>
          <p:cNvSpPr/>
          <p:nvPr/>
        </p:nvSpPr>
        <p:spPr>
          <a:xfrm>
            <a:off x="15137892" y="10972800"/>
            <a:ext cx="4256532" cy="4892040"/>
          </a:xfrm>
          <a:prstGeom prst="line">
            <a:avLst/>
          </a:prstGeom>
          <a:noFill/>
          <a:ln w="114300">
            <a:solidFill>
              <a:srgbClr val="7C3AE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22411944" y="12847320"/>
            <a:ext cx="182880" cy="3017520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594824" y="1218438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2823424" y="1218438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 model (Dunning)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· Location · Internalisation</a:t>
            </a:r>
            <a:endParaRPr lang="en-US" sz="2500" dirty="0"/>
          </a:p>
        </p:txBody>
      </p:sp>
      <p:sp>
        <p:nvSpPr>
          <p:cNvPr id="65" name="Shape 63"/>
          <p:cNvSpPr/>
          <p:nvPr/>
        </p:nvSpPr>
        <p:spPr>
          <a:xfrm flipV="1">
            <a:off x="22411944" y="14356080"/>
            <a:ext cx="182880" cy="1508760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2594824" y="1369314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2823424" y="1369314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motives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· resource · efficiency · strategic asset</a:t>
            </a:r>
            <a:endParaRPr lang="en-US" sz="2500" dirty="0"/>
          </a:p>
        </p:txBody>
      </p:sp>
      <p:sp>
        <p:nvSpPr>
          <p:cNvPr id="68" name="Shape 66"/>
          <p:cNvSpPr/>
          <p:nvPr/>
        </p:nvSpPr>
        <p:spPr>
          <a:xfrm>
            <a:off x="22411944" y="15864840"/>
            <a:ext cx="182880" cy="9144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2594824" y="1520190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2823424" y="1520190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vs M&amp;A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Unilever in the US = mainly M&amp;A</a:t>
            </a:r>
            <a:endParaRPr lang="en-US" sz="2500" dirty="0"/>
          </a:p>
        </p:txBody>
      </p:sp>
      <p:sp>
        <p:nvSpPr>
          <p:cNvPr id="71" name="Shape 69"/>
          <p:cNvSpPr/>
          <p:nvPr/>
        </p:nvSpPr>
        <p:spPr>
          <a:xfrm>
            <a:off x="22411944" y="15864840"/>
            <a:ext cx="182880" cy="1508760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2594824" y="1671066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2823424" y="1671066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asset-seeking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Paula's Choice (Aug 2021) · Nutrafol (Jul 2022)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K18 (Feb 2024) · Dr. Squatch (Sep 2025)</a:t>
            </a:r>
            <a:endParaRPr lang="en-US" sz="2500" dirty="0"/>
          </a:p>
        </p:txBody>
      </p:sp>
      <p:sp>
        <p:nvSpPr>
          <p:cNvPr id="74" name="Shape 72"/>
          <p:cNvSpPr/>
          <p:nvPr/>
        </p:nvSpPr>
        <p:spPr>
          <a:xfrm>
            <a:off x="22411944" y="15864840"/>
            <a:ext cx="182880" cy="3017520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2594824" y="1821942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2823424" y="1821942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for Unilever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brands, online skills, growth in the US</a:t>
            </a:r>
            <a:endParaRPr lang="en-US" sz="2500" dirty="0"/>
          </a:p>
        </p:txBody>
      </p:sp>
      <p:sp>
        <p:nvSpPr>
          <p:cNvPr id="77" name="Shape 75"/>
          <p:cNvSpPr/>
          <p:nvPr/>
        </p:nvSpPr>
        <p:spPr>
          <a:xfrm>
            <a:off x="16376904" y="14996160"/>
            <a:ext cx="6035040" cy="1737360"/>
          </a:xfrm>
          <a:prstGeom prst="roundRect">
            <a:avLst>
              <a:gd name="adj" fmla="val 18421"/>
            </a:avLst>
          </a:prstGeom>
          <a:solidFill>
            <a:srgbClr val="7C3AED"/>
          </a:solidFill>
          <a:ln/>
        </p:spPr>
      </p:sp>
      <p:sp>
        <p:nvSpPr>
          <p:cNvPr id="78" name="Text 76"/>
          <p:cNvSpPr/>
          <p:nvPr/>
        </p:nvSpPr>
        <p:spPr>
          <a:xfrm>
            <a:off x="16376904" y="149961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FDI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4 · United States</a:t>
            </a:r>
            <a:endParaRPr lang="en-US" sz="3400" dirty="0"/>
          </a:p>
        </p:txBody>
      </p:sp>
      <p:sp>
        <p:nvSpPr>
          <p:cNvPr id="79" name="Shape 77"/>
          <p:cNvSpPr/>
          <p:nvPr/>
        </p:nvSpPr>
        <p:spPr>
          <a:xfrm>
            <a:off x="11663172" y="9189720"/>
            <a:ext cx="6949440" cy="3566160"/>
          </a:xfrm>
          <a:prstGeom prst="ellipse">
            <a:avLst/>
          </a:prstGeom>
          <a:solidFill>
            <a:srgbClr val="1A1F36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1663172" y="9189720"/>
            <a:ext cx="6949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UNILEVER</a:t>
            </a:r>
            <a:endParaRPr lang="en-US" sz="54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UK-based consumer goods MNE</a:t>
            </a:r>
            <a:endParaRPr lang="en-US" sz="54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theories · 2020–2025</a:t>
            </a:r>
            <a:endParaRPr lang="en-US" sz="5400" dirty="0"/>
          </a:p>
        </p:txBody>
      </p:sp>
      <p:sp>
        <p:nvSpPr>
          <p:cNvPr id="81" name="Text 79"/>
          <p:cNvSpPr/>
          <p:nvPr/>
        </p:nvSpPr>
        <p:spPr>
          <a:xfrm>
            <a:off x="548640" y="20702016"/>
            <a:ext cx="29178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Unilever PLC Annual Reports on Form 20-F 2020–2025; UNCTAD World Investment Report 2025; US Census Bureau; USTR; full Harvard references on our presentation slides.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2026-10-31T09:42:12Z</dcterms:created>
  <dcterms:modified xsi:type="dcterms:W3CDTF">2026-10-31T09:42:12Z</dcterms:modified>
</cp:coreProperties>
</file>