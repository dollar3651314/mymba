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&amp;A" id="{b76c4694-df35-e42a-3dbc-0a32dc7bca2c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M&amp;A means mergers and acquisitions. Acquisition: one company buys another. Merger: two similar companies join. Six types, four ways to integrate, the goal is synergy, but 70 to 90 percent fail, mostly at integration. Cross-border M&amp;A is also a form of FDI.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M&amp;A means acquisition or merger. Unilever itself was born from a merger in 1929. First it grew by buying: Bestfoods for more power with supermarkets, Ben &amp; Jerry's kept standalone, Dollar Shave Club to learn online selling, but with no real synergy. Then the turning point: Kraft Heinz tried to buy Unilever in 2017, and shareholders blocked the GSK deal in 2022. Since 2023 Unilever has been selling: Dollar Shave Club, ice cream, and now 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sell food? It grows slowly, a spin-off releases value and avoids the conglomerate discount, and the cash can buy beauty brands. Through M&amp;A theory: the deal is horizontal, the synergy is about 300 million dollars a year, and the risks are people integration, regulators, and a long timeline to 2027. My conclusion: overall a success, but deals without synergy failed. Cross-border M&amp;A is also one form of FDI.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for the M&amp;A section, Harvard style. Merge into the group reference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is M&amp;A?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Key ideas from Lecture 3 that we use for Unilever</a:t>
            </a:r>
            <a:endParaRPr lang="en-US" sz="1300" dirty="0"/>
          </a:p>
        </p:txBody>
      </p:sp>
      <p:sp>
        <p:nvSpPr>
          <p:cNvPr id="4" name="def0"/>
          <p:cNvSpPr/>
          <p:nvPr/>
        </p:nvSpPr>
        <p:spPr>
          <a:xfrm>
            <a:off x="457200" y="123444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Acquisition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company buys another</a:t>
            </a:r>
            <a:endParaRPr lang="en-US" sz="1500" dirty="0"/>
          </a:p>
        </p:txBody>
      </p:sp>
      <p:sp>
        <p:nvSpPr>
          <p:cNvPr id="6" name="def1"/>
          <p:cNvSpPr/>
          <p:nvPr/>
        </p:nvSpPr>
        <p:spPr>
          <a:xfrm>
            <a:off x="457200" y="219456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1945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Merger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 similar companies join into one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Six types</a:t>
            </a:r>
            <a:endParaRPr lang="en-US" sz="1300" dirty="0"/>
          </a:p>
        </p:txBody>
      </p:sp>
      <p:sp>
        <p:nvSpPr>
          <p:cNvPr id="9" name="type0"/>
          <p:cNvSpPr/>
          <p:nvPr/>
        </p:nvSpPr>
        <p:spPr>
          <a:xfrm>
            <a:off x="31546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Horizontal</a:t>
            </a:r>
            <a:endParaRPr lang="en-US" sz="1050" dirty="0"/>
          </a:p>
        </p:txBody>
      </p:sp>
      <p:sp>
        <p:nvSpPr>
          <p:cNvPr id="11" name="type1"/>
          <p:cNvSpPr/>
          <p:nvPr/>
        </p:nvSpPr>
        <p:spPr>
          <a:xfrm>
            <a:off x="45262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Vertical</a:t>
            </a:r>
            <a:endParaRPr lang="en-US" sz="1050" dirty="0"/>
          </a:p>
        </p:txBody>
      </p:sp>
      <p:sp>
        <p:nvSpPr>
          <p:cNvPr id="13" name="type2"/>
          <p:cNvSpPr/>
          <p:nvPr/>
        </p:nvSpPr>
        <p:spPr>
          <a:xfrm>
            <a:off x="31546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46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Congeneric</a:t>
            </a:r>
            <a:endParaRPr lang="en-US" sz="1050" dirty="0"/>
          </a:p>
        </p:txBody>
      </p:sp>
      <p:sp>
        <p:nvSpPr>
          <p:cNvPr id="15" name="type3"/>
          <p:cNvSpPr/>
          <p:nvPr/>
        </p:nvSpPr>
        <p:spPr>
          <a:xfrm>
            <a:off x="45262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Market-extension</a:t>
            </a:r>
            <a:endParaRPr lang="en-US" sz="1050" dirty="0"/>
          </a:p>
        </p:txBody>
      </p:sp>
      <p:sp>
        <p:nvSpPr>
          <p:cNvPr id="17" name="type4"/>
          <p:cNvSpPr/>
          <p:nvPr/>
        </p:nvSpPr>
        <p:spPr>
          <a:xfrm>
            <a:off x="31546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Product-extension</a:t>
            </a:r>
            <a:endParaRPr lang="en-US" sz="1050" dirty="0"/>
          </a:p>
        </p:txBody>
      </p:sp>
      <p:sp>
        <p:nvSpPr>
          <p:cNvPr id="19" name="type5"/>
          <p:cNvSpPr/>
          <p:nvPr/>
        </p:nvSpPr>
        <p:spPr>
          <a:xfrm>
            <a:off x="45262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Conglomerate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234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Four ways to integrate</a:t>
            </a:r>
            <a:endParaRPr lang="en-US" sz="1300" dirty="0"/>
          </a:p>
        </p:txBody>
      </p:sp>
      <p:sp>
        <p:nvSpPr>
          <p:cNvPr id="22" name="intdot0"/>
          <p:cNvSpPr/>
          <p:nvPr/>
        </p:nvSpPr>
        <p:spPr>
          <a:xfrm>
            <a:off x="6080760" y="1636776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15727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Standalone</a:t>
            </a:r>
            <a:endParaRPr lang="en-US" sz="1200" dirty="0"/>
          </a:p>
        </p:txBody>
      </p:sp>
      <p:sp>
        <p:nvSpPr>
          <p:cNvPr id="24" name="intdot1"/>
          <p:cNvSpPr/>
          <p:nvPr/>
        </p:nvSpPr>
        <p:spPr>
          <a:xfrm>
            <a:off x="6080760" y="1984248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5080" y="19202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Targeted</a:t>
            </a:r>
            <a:endParaRPr lang="en-US" sz="1200" dirty="0"/>
          </a:p>
        </p:txBody>
      </p:sp>
      <p:sp>
        <p:nvSpPr>
          <p:cNvPr id="26" name="intdot2"/>
          <p:cNvSpPr/>
          <p:nvPr/>
        </p:nvSpPr>
        <p:spPr>
          <a:xfrm>
            <a:off x="6080760" y="2331720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22677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Full</a:t>
            </a:r>
            <a:endParaRPr lang="en-US" sz="1200" dirty="0"/>
          </a:p>
        </p:txBody>
      </p:sp>
      <p:sp>
        <p:nvSpPr>
          <p:cNvPr id="28" name="intdot3"/>
          <p:cNvSpPr/>
          <p:nvPr/>
        </p:nvSpPr>
        <p:spPr>
          <a:xfrm>
            <a:off x="6080760" y="2679192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55080" y="26151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Functional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017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Synergy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 + 1 &gt; 2</a:t>
            </a:r>
            <a:endParaRPr lang="en-US" sz="1300" dirty="0"/>
          </a:p>
        </p:txBody>
      </p:sp>
      <p:sp>
        <p:nvSpPr>
          <p:cNvPr id="31" name="stat"/>
          <p:cNvSpPr/>
          <p:nvPr/>
        </p:nvSpPr>
        <p:spPr>
          <a:xfrm>
            <a:off x="457200" y="352044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70–90%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2240280" y="35204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of M&amp;A deals fail, mostly because integration is hard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Cross-border M&amp;A is one form of FDI (the other is greenfield).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Sources: University of Greenwich (2026); Christensen et al. (2011).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M&amp;A 2020–2026: buy beauty, sell food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Fewer, faster-growing businesses</a:t>
            </a:r>
            <a:endParaRPr lang="en-US" sz="1300" dirty="0"/>
          </a:p>
        </p:txBody>
      </p:sp>
      <p:sp>
        <p:nvSpPr>
          <p:cNvPr id="4" name="born"/>
          <p:cNvSpPr/>
          <p:nvPr/>
        </p:nvSpPr>
        <p:spPr>
          <a:xfrm>
            <a:off x="457200" y="1188720"/>
            <a:ext cx="8229600" cy="347472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Scope: 2020–2026 · Earlier deals: Bestfoods, Ben &amp; Jerry's (2000), Dollar Shave Club (2016)</a:t>
            </a:r>
            <a:endParaRPr lang="en-US" sz="1200" dirty="0"/>
          </a:p>
        </p:txBody>
      </p:sp>
      <p:sp>
        <p:nvSpPr>
          <p:cNvPr id="6" name="phase0"/>
          <p:cNvSpPr/>
          <p:nvPr/>
        </p:nvSpPr>
        <p:spPr>
          <a:xfrm>
            <a:off x="45720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BUY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Beauty and personal care</a:t>
            </a:r>
            <a:endParaRPr lang="en-US" sz="1500" dirty="0"/>
          </a:p>
        </p:txBody>
      </p:sp>
      <p:sp>
        <p:nvSpPr>
          <p:cNvPr id="8" name="yr00"/>
          <p:cNvSpPr/>
          <p:nvPr/>
        </p:nvSpPr>
        <p:spPr>
          <a:xfrm>
            <a:off x="457200" y="241401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Paula's Choice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€1.8bn · digital-led skincare</a:t>
            </a:r>
            <a:endParaRPr lang="en-US" sz="1250" dirty="0"/>
          </a:p>
        </p:txBody>
      </p:sp>
      <p:sp>
        <p:nvSpPr>
          <p:cNvPr id="11" name="yr01"/>
          <p:cNvSpPr/>
          <p:nvPr/>
        </p:nvSpPr>
        <p:spPr>
          <a:xfrm>
            <a:off x="457200" y="312724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Dr. Squatch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~$1.5bn (reported) · men's grooming</a:t>
            </a:r>
            <a:endParaRPr lang="en-US" sz="1250" dirty="0"/>
          </a:p>
        </p:txBody>
      </p:sp>
      <p:sp>
        <p:nvSpPr>
          <p:cNvPr id="14" name="phase1"/>
          <p:cNvSpPr/>
          <p:nvPr/>
        </p:nvSpPr>
        <p:spPr>
          <a:xfrm>
            <a:off x="326898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7870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FAILED BID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Investors push back</a:t>
            </a:r>
            <a:endParaRPr lang="en-US" sz="1500" dirty="0"/>
          </a:p>
        </p:txBody>
      </p:sp>
      <p:sp>
        <p:nvSpPr>
          <p:cNvPr id="16" name="yr10"/>
          <p:cNvSpPr/>
          <p:nvPr/>
        </p:nvSpPr>
        <p:spPr>
          <a:xfrm>
            <a:off x="3268980" y="2414016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6898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1762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GSK Consumer Health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£50bn bid dropped after investors objected</a:t>
            </a:r>
            <a:endParaRPr lang="en-US" sz="1250" dirty="0"/>
          </a:p>
        </p:txBody>
      </p:sp>
      <p:sp>
        <p:nvSpPr>
          <p:cNvPr id="19" name="phase2"/>
          <p:cNvSpPr/>
          <p:nvPr/>
        </p:nvSpPr>
        <p:spPr>
          <a:xfrm>
            <a:off x="608076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SELL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Simplify and focus on the core</a:t>
            </a:r>
            <a:endParaRPr lang="en-US" sz="1500" dirty="0"/>
          </a:p>
        </p:txBody>
      </p:sp>
      <p:sp>
        <p:nvSpPr>
          <p:cNvPr id="21" name="yr20"/>
          <p:cNvSpPr/>
          <p:nvPr/>
        </p:nvSpPr>
        <p:spPr>
          <a:xfrm>
            <a:off x="6080760" y="2414016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8076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Dollar Shave Club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majority stake sold</a:t>
            </a:r>
            <a:endParaRPr lang="en-US" sz="1250" dirty="0"/>
          </a:p>
        </p:txBody>
      </p:sp>
      <p:sp>
        <p:nvSpPr>
          <p:cNvPr id="24" name="yr21"/>
          <p:cNvSpPr/>
          <p:nvPr/>
        </p:nvSpPr>
        <p:spPr>
          <a:xfrm>
            <a:off x="6080760" y="3127248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8076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Ice cream → Magnum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demerged and listed</a:t>
            </a:r>
            <a:endParaRPr lang="en-US" sz="1250" dirty="0"/>
          </a:p>
        </p:txBody>
      </p:sp>
      <p:sp>
        <p:nvSpPr>
          <p:cNvPr id="27" name="yr22"/>
          <p:cNvSpPr/>
          <p:nvPr/>
        </p:nvSpPr>
        <p:spPr>
          <a:xfrm>
            <a:off x="6080760" y="384048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0390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Food → McCormick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$44.8bn, announced; close expected 2027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Sources: CNNfn (2000); UPI (2000); Primack (2016); Unilever PLC (2022); Williams (2022); James (2023); Jobe (2025); Reuters (2025); Redmond (2026).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McCormick deal: what M&amp;A theory says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Unilever sells its food business to focus on beauty and personal care</a:t>
            </a:r>
            <a:endParaRPr lang="en-US" sz="1300" dirty="0"/>
          </a:p>
        </p:txBody>
      </p:sp>
      <p:sp>
        <p:nvSpPr>
          <p:cNvPr id="4" name="why"/>
          <p:cNvSpPr/>
          <p:nvPr/>
        </p:nvSpPr>
        <p:spPr>
          <a:xfrm>
            <a:off x="457200" y="1234440"/>
            <a:ext cx="301752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Why Unilever sells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697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Food grew 2.5% in 2025 vs 4.3–4.7% in beauty and personal care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Spin-off releases value; avoids the conglomerate discount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$15.7bn cash to buy beauty and personal care brands</a:t>
            </a:r>
            <a:endParaRPr lang="en-US" sz="1200" dirty="0"/>
          </a:p>
        </p:txBody>
      </p:sp>
      <p:sp>
        <p:nvSpPr>
          <p:cNvPr id="7" name="card0"/>
          <p:cNvSpPr/>
          <p:nvPr/>
        </p:nvSpPr>
        <p:spPr>
          <a:xfrm>
            <a:off x="3703320" y="12344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2344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Type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2344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Horizontal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344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Both sell seasonings, sauces and condiments</a:t>
            </a:r>
            <a:endParaRPr lang="en-US" sz="1100" dirty="0"/>
          </a:p>
        </p:txBody>
      </p:sp>
      <p:sp>
        <p:nvSpPr>
          <p:cNvPr id="11" name="card1"/>
          <p:cNvSpPr/>
          <p:nvPr/>
        </p:nvSpPr>
        <p:spPr>
          <a:xfrm>
            <a:off x="3703320" y="21488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21488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Synergy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1488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~$300m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1488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expected cost savings a year</a:t>
            </a:r>
            <a:endParaRPr lang="en-US" sz="1100" dirty="0"/>
          </a:p>
        </p:txBody>
      </p:sp>
      <p:sp>
        <p:nvSpPr>
          <p:cNvPr id="15" name="card2"/>
          <p:cNvSpPr/>
          <p:nvPr/>
        </p:nvSpPr>
        <p:spPr>
          <a:xfrm>
            <a:off x="3703320" y="30632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3063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0632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3 to watch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632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Integrating people · regulator approval · not closed until mid-2027</a:t>
            </a:r>
            <a:endParaRPr lang="en-US" sz="1100" dirty="0"/>
          </a:p>
        </p:txBody>
      </p:sp>
      <p:sp>
        <p:nvSpPr>
          <p:cNvPr id="19" name="concl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Overall a success: M&amp;A helped Unilever grow and now helps it focus on beauty and personal care. But deals without synergy, like Dollar Shave Club, failed.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Sources: Barber (2026); Valinsky (2026); Redmond (2026). Deal announced 31 March 2026, subject to regulatory approval.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Barber, L. (2026) 'Unilever confirms food spin-off sale talks as beauty portfolio takes centre stage', Cosmetics Business, 20 March. Available at: https://cosmeticsbusiness.com/unilever-confirms-food-sale-talks-beauty-focus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Christensen, C.M., Alton, R., Rising, C. and Waldeck, A. (2011) 'The new M&amp;A playbook', Harvard Business Review, 89(3), pp. 48–57.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CNNfn (2000) 'Unilever wins Bestfoods', CNNMoney, 6 June. Available at: https://money.cnn.com/2000/06/06/deals/bestfoods/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James, D. (2023) 'Unilever to sell Dollar Shave Club', Retail Dive, 26 October. Available at: https://www.retaildive.com/news/unilever-sells-razor-subscription-brand-dollar-shave-club/697913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Jobe, N. (2025) 'Unilever to pay $1.5 billion for men's grooming brand Dr. Squatch', Cosmetics Business, 1 July. Available at: https://cosmeticsbusiness.com/unilever-to-pay-1-5-billion-for-men-s-grooming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Primack, D. (2016) 'Unilever buys Dollar Shave Club for $1 billion', Fortune, 19 July. Available at: https://fortune.com/2016/07/19/unilever-buys-dollar-shave-club-for-1-billion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Redmond, K. (2026) 'McCormick to acquire Unilever's food business in $44.8B deal', NJBIZ, 1 April. Available at: https://njbiz.com/mccormick-unilever-food-business-44-8b-deal/ (Accessed: 21 October 2026).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Reuters (2025) 'Magnum Ice Cream valued at $9.1 billion in Amsterdam listing', MarketScreener, 8 December. Available at: https://www.marketscreener.com/news/unilever-completes-ice-cream-demerger-with-magnum-set-to-list-ce7d51dddc8df620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Unilever PLC (2022) Annual Report on Form 20-F 2021. Available at: https://www.sec.gov/Archives/edgar/data/217410/000021741022000009/ul-20211231.htm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University of Greenwich (2026) 'Lecture 3: Diversification – M&amp;A and/or FDI?' [Lecture slides]. BUSI 1763 Dynamics of Global Business. Available at: Moodle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UPI (2000) 'Unilever buys Ben &amp; Jerry's', United Press International, 12 April. Available at: https://www.upi.com/Archives/2000/04/12/Unilever-buys-Ben-Jerrys/2054955512000/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Valinsky, J. (2026) 'McCormick is merging with Unilever's food business', CNN, 31 March. Available at: https://kvia.com/news/business-technology/cnn-business-consumer/2026/03/31/mccormick-is-merging-with-unilevers-food-business/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Williams, D. (2022) 'Unilever under pressure after GSK consumer bid flop', CHEManager, 25 January. Available at: https://www.chemanager-online.com/en/news/unilever-under-pressure-after-gsk-consumer-bid-flop (Accessed: 21 October 2026).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lever MA">
  <a:themeElements>
    <a:clrScheme name="Unilever MA">
      <a:dk1>
        <a:srgbClr val="1A1F36"/>
      </a:dk1>
      <a:lt1>
        <a:srgbClr val="FFFFFF"/>
      </a:lt1>
      <a:dk2>
        <a:srgbClr val="1F36C7"/>
      </a:dk2>
      <a:lt2>
        <a:srgbClr val="EEF1FB"/>
      </a:lt2>
      <a:accent1>
        <a:srgbClr val="1F36C7"/>
      </a:accent1>
      <a:accent2>
        <a:srgbClr val="0F8A6B"/>
      </a:accent2>
      <a:accent3>
        <a:srgbClr val="D9822B"/>
      </a:accent3>
      <a:accent4>
        <a:srgbClr val="6B7280"/>
      </a:accent4>
      <a:accent5>
        <a:srgbClr val="A5B4FC"/>
      </a:accent5>
      <a:accent6>
        <a:srgbClr val="F59E0B"/>
      </a:accent6>
      <a:hlink>
        <a:srgbClr val="1F36C7"/>
      </a:hlink>
      <a:folHlink>
        <a:srgbClr val="6B7280"/>
      </a:folHlink>
    </a:clrScheme>
    <a:fontScheme name="Unilever M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2026-10-24T04:31:55Z</dcterms:created>
  <dcterms:modified xsi:type="dcterms:W3CDTF">2026-10-24T04:31:55Z</dcterms:modified>
</cp:coreProperties>
</file>