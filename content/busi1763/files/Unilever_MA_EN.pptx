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amp;A" id="{33379b8b-6263-3d0c-3f6a-72acece91748}">
          <p14:sldIdLst>
            <p14:sldId id="256"/>
            <p14:sldId id="257"/>
            <p14:sldId id="258"/>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My part is M&amp;A, mergers and acquisitions. In an acquisition, one company buys another. In a merger, two similar companies join into one. The goal is synergy: one plus one is more than two. But 70 to 90 percent of deals fail, mostly because joining two companies is hard. Also, buying a company in another country is a kind of FDI.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M&amp;A means acquisition or merger. Unilever itself was born from a merger in 1929. First it grew by buying: Bestfoods for more power with supermarkets, Ben &amp; Jerry's kept standalone, Dollar Shave Club to learn online selling, but with no real synergy. Then the turning point: Kraft Heinz tried to buy Unilever in 2017, and shareholders blocked the GSK deal in 2022. Since 2023 Unilever has been selling: Dollar Shave Club, ice cream, and now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sell food? Food grows slowly, only 2.5 percent in 2025. A spin-off can release value, and Unilever gets 15.7 billion dollars to buy beauty brands. This deal is horizontal, because both companies sell sauces and seasonings. The synergy is about 300 million dollars a year. The risks: joining people is hard, regulators must agree, and the deal will close only in 2027. My conclusion: overall, M&amp;A is a success for Unilever. It helps Unilever grow and focus. But deals with no synergy, like Dollar Shave Club,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for the M&amp;A section, Harvard style. Merge into the group reference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4864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48640"/>
          </a:xfrm>
          <a:prstGeom prst="rect">
            <a:avLst/>
          </a:prstGeom>
          <a:noFill/>
          <a:ln/>
        </p:spPr>
        <p:txBody>
          <a:bodyPr wrap="square" lIns="0" tIns="0" rIns="0" bIns="0" rtlCol="0" anchor="t"/>
          <a:lstStyle/>
          <a:p>
            <a:pPr algn="l" indent="0" marL="0">
              <a:buNone/>
            </a:pPr>
            <a:r>
              <a:rPr lang="en-US" sz="2800" b="1" dirty="0">
                <a:solidFill>
                  <a:schemeClr val="tx2"/>
                </a:solidFill>
              </a:rPr>
              <a:t>What is M&amp;A?</a:t>
            </a:r>
            <a:endParaRPr lang="en-US" sz="2800" dirty="0"/>
          </a:p>
        </p:txBody>
      </p:sp>
      <p:sp>
        <p:nvSpPr>
          <p:cNvPr id="3" name="Text 1"/>
          <p:cNvSpPr txBox="1"/>
          <p:nvPr/>
        </p:nvSpPr>
        <p:spPr>
          <a:xfrm>
            <a:off x="457200" y="804672"/>
            <a:ext cx="8229600" cy="274320"/>
          </a:xfrm>
          <a:prstGeom prst="rect">
            <a:avLst/>
          </a:prstGeom>
          <a:noFill/>
          <a:ln/>
        </p:spPr>
        <p:txBody>
          <a:bodyPr wrap="square" lIns="0" tIns="0" rIns="0" bIns="0" rtlCol="0" anchor="ctr"/>
          <a:lstStyle/>
          <a:p>
            <a:pPr indent="0" marL="0">
              <a:buNone/>
            </a:pPr>
            <a:r>
              <a:rPr lang="en-US" sz="1300" i="1" dirty="0">
                <a:solidFill>
                  <a:schemeClr val="tx1"/>
                </a:solidFill>
              </a:rPr>
              <a:t>Key ideas from Lecture 3 that we use for Unilever</a:t>
            </a:r>
            <a:endParaRPr lang="en-US" sz="1300" dirty="0"/>
          </a:p>
        </p:txBody>
      </p:sp>
      <p:sp>
        <p:nvSpPr>
          <p:cNvPr id="4" name="def0"/>
          <p:cNvSpPr/>
          <p:nvPr/>
        </p:nvSpPr>
        <p:spPr>
          <a:xfrm>
            <a:off x="457200" y="1234440"/>
            <a:ext cx="2468880" cy="822960"/>
          </a:xfrm>
          <a:prstGeom prst="roundRect">
            <a:avLst>
              <a:gd name="adj" fmla="val 11111"/>
            </a:avLst>
          </a:prstGeom>
          <a:solidFill>
            <a:schemeClr val="bg2"/>
          </a:solidFill>
          <a:ln/>
        </p:spPr>
      </p:sp>
      <p:sp>
        <p:nvSpPr>
          <p:cNvPr id="5" name="Text 3"/>
          <p:cNvSpPr txBox="1"/>
          <p:nvPr/>
        </p:nvSpPr>
        <p:spPr>
          <a:xfrm>
            <a:off x="594360" y="1234440"/>
            <a:ext cx="2240280" cy="822960"/>
          </a:xfrm>
          <a:prstGeom prst="rect">
            <a:avLst/>
          </a:prstGeom>
          <a:noFill/>
          <a:ln/>
        </p:spPr>
        <p:txBody>
          <a:bodyPr wrap="square" lIns="0" tIns="0" rIns="0" bIns="0" rtlCol="0" anchor="ctr"/>
          <a:lstStyle/>
          <a:p>
            <a:pPr indent="0" marL="0">
              <a:buNone/>
            </a:pPr>
            <a:r>
              <a:rPr lang="en-US" sz="1500" b="1" dirty="0">
                <a:solidFill>
                  <a:schemeClr val="tx2"/>
                </a:solidFill>
              </a:rPr>
              <a:t>Acquisition</a:t>
            </a:r>
            <a:endParaRPr lang="en-US" sz="1500" dirty="0"/>
          </a:p>
          <a:p>
            <a:pPr indent="0" marL="0">
              <a:buNone/>
            </a:pPr>
            <a:r>
              <a:rPr lang="en-US" sz="1200" dirty="0">
                <a:solidFill>
                  <a:schemeClr val="tx1"/>
                </a:solidFill>
              </a:rPr>
              <a:t>One company buys another</a:t>
            </a:r>
            <a:endParaRPr lang="en-US" sz="1500" dirty="0"/>
          </a:p>
        </p:txBody>
      </p:sp>
      <p:sp>
        <p:nvSpPr>
          <p:cNvPr id="6" name="def1"/>
          <p:cNvSpPr/>
          <p:nvPr/>
        </p:nvSpPr>
        <p:spPr>
          <a:xfrm>
            <a:off x="457200" y="2194560"/>
            <a:ext cx="2468880" cy="822960"/>
          </a:xfrm>
          <a:prstGeom prst="roundRect">
            <a:avLst>
              <a:gd name="adj" fmla="val 11111"/>
            </a:avLst>
          </a:prstGeom>
          <a:solidFill>
            <a:schemeClr val="bg2"/>
          </a:solidFill>
          <a:ln/>
        </p:spPr>
      </p:sp>
      <p:sp>
        <p:nvSpPr>
          <p:cNvPr id="7" name="Text 5"/>
          <p:cNvSpPr txBox="1"/>
          <p:nvPr/>
        </p:nvSpPr>
        <p:spPr>
          <a:xfrm>
            <a:off x="594360" y="2194560"/>
            <a:ext cx="2240280" cy="822960"/>
          </a:xfrm>
          <a:prstGeom prst="rect">
            <a:avLst/>
          </a:prstGeom>
          <a:noFill/>
          <a:ln/>
        </p:spPr>
        <p:txBody>
          <a:bodyPr wrap="square" lIns="0" tIns="0" rIns="0" bIns="0" rtlCol="0" anchor="ctr"/>
          <a:lstStyle/>
          <a:p>
            <a:pPr indent="0" marL="0">
              <a:buNone/>
            </a:pPr>
            <a:r>
              <a:rPr lang="en-US" sz="1500" b="1" dirty="0">
                <a:solidFill>
                  <a:schemeClr val="tx2"/>
                </a:solidFill>
              </a:rPr>
              <a:t>Merger</a:t>
            </a:r>
            <a:endParaRPr lang="en-US" sz="1500" dirty="0"/>
          </a:p>
          <a:p>
            <a:pPr indent="0" marL="0">
              <a:buNone/>
            </a:pPr>
            <a:r>
              <a:rPr lang="en-US" sz="1200" dirty="0">
                <a:solidFill>
                  <a:schemeClr val="tx1"/>
                </a:solidFill>
              </a:rPr>
              <a:t>Two similar companies join into one</a:t>
            </a:r>
            <a:endParaRPr lang="en-US" sz="1500" dirty="0"/>
          </a:p>
        </p:txBody>
      </p:sp>
      <p:sp>
        <p:nvSpPr>
          <p:cNvPr id="8" name="Text 6"/>
          <p:cNvSpPr txBox="1"/>
          <p:nvPr/>
        </p:nvSpPr>
        <p:spPr>
          <a:xfrm>
            <a:off x="3154680" y="1234440"/>
            <a:ext cx="2743200" cy="274320"/>
          </a:xfrm>
          <a:prstGeom prst="rect">
            <a:avLst/>
          </a:prstGeom>
          <a:noFill/>
          <a:ln/>
        </p:spPr>
        <p:txBody>
          <a:bodyPr wrap="square" lIns="0" tIns="0" rIns="0" bIns="0" rtlCol="0" anchor="ctr"/>
          <a:lstStyle/>
          <a:p>
            <a:pPr indent="0" marL="0">
              <a:buNone/>
            </a:pPr>
            <a:r>
              <a:rPr lang="en-US" sz="1300" b="1" dirty="0">
                <a:solidFill>
                  <a:schemeClr val="accent1"/>
                </a:solidFill>
              </a:rPr>
              <a:t>Six types</a:t>
            </a:r>
            <a:endParaRPr lang="en-US" sz="1300" dirty="0"/>
          </a:p>
        </p:txBody>
      </p:sp>
      <p:sp>
        <p:nvSpPr>
          <p:cNvPr id="9" name="type0"/>
          <p:cNvSpPr/>
          <p:nvPr/>
        </p:nvSpPr>
        <p:spPr>
          <a:xfrm>
            <a:off x="3154680" y="1572768"/>
            <a:ext cx="1280160" cy="365760"/>
          </a:xfrm>
          <a:prstGeom prst="roundRect">
            <a:avLst>
              <a:gd name="adj" fmla="val 50000"/>
            </a:avLst>
          </a:prstGeom>
          <a:solidFill>
            <a:srgbClr val="FFFFFF"/>
          </a:solidFill>
          <a:ln w="12700">
            <a:solidFill>
              <a:schemeClr val="accent1"/>
            </a:solidFill>
            <a:prstDash val="solid"/>
          </a:ln>
        </p:spPr>
      </p:sp>
      <p:sp>
        <p:nvSpPr>
          <p:cNvPr id="10" name="Text 8"/>
          <p:cNvSpPr txBox="1"/>
          <p:nvPr/>
        </p:nvSpPr>
        <p:spPr>
          <a:xfrm>
            <a:off x="3154680" y="1572768"/>
            <a:ext cx="1280160" cy="365760"/>
          </a:xfrm>
          <a:prstGeom prst="rect">
            <a:avLst/>
          </a:prstGeom>
          <a:noFill/>
          <a:ln/>
        </p:spPr>
        <p:txBody>
          <a:bodyPr wrap="square" lIns="0" tIns="0" rIns="0" bIns="0" rtlCol="0" anchor="ctr"/>
          <a:lstStyle/>
          <a:p>
            <a:pPr algn="ctr" indent="0" marL="0">
              <a:buNone/>
            </a:pPr>
            <a:r>
              <a:rPr lang="en-US" sz="1050" dirty="0">
                <a:solidFill>
                  <a:schemeClr val="tx1"/>
                </a:solidFill>
              </a:rPr>
              <a:t>Horizontal</a:t>
            </a:r>
            <a:endParaRPr lang="en-US" sz="1050" dirty="0"/>
          </a:p>
        </p:txBody>
      </p:sp>
      <p:sp>
        <p:nvSpPr>
          <p:cNvPr id="11" name="type1"/>
          <p:cNvSpPr/>
          <p:nvPr/>
        </p:nvSpPr>
        <p:spPr>
          <a:xfrm>
            <a:off x="4526280" y="1572768"/>
            <a:ext cx="1280160" cy="365760"/>
          </a:xfrm>
          <a:prstGeom prst="roundRect">
            <a:avLst>
              <a:gd name="adj" fmla="val 50000"/>
            </a:avLst>
          </a:prstGeom>
          <a:solidFill>
            <a:srgbClr val="FFFFFF"/>
          </a:solidFill>
          <a:ln w="12700">
            <a:solidFill>
              <a:schemeClr val="accent1"/>
            </a:solidFill>
            <a:prstDash val="solid"/>
          </a:ln>
        </p:spPr>
      </p:sp>
      <p:sp>
        <p:nvSpPr>
          <p:cNvPr id="12" name="Text 10"/>
          <p:cNvSpPr txBox="1"/>
          <p:nvPr/>
        </p:nvSpPr>
        <p:spPr>
          <a:xfrm>
            <a:off x="4526280" y="1572768"/>
            <a:ext cx="1280160" cy="365760"/>
          </a:xfrm>
          <a:prstGeom prst="rect">
            <a:avLst/>
          </a:prstGeom>
          <a:noFill/>
          <a:ln/>
        </p:spPr>
        <p:txBody>
          <a:bodyPr wrap="square" lIns="0" tIns="0" rIns="0" bIns="0" rtlCol="0" anchor="ctr"/>
          <a:lstStyle/>
          <a:p>
            <a:pPr algn="ctr" indent="0" marL="0">
              <a:buNone/>
            </a:pPr>
            <a:r>
              <a:rPr lang="en-US" sz="1050" dirty="0">
                <a:solidFill>
                  <a:schemeClr val="tx1"/>
                </a:solidFill>
              </a:rPr>
              <a:t>Vertical</a:t>
            </a:r>
            <a:endParaRPr lang="en-US" sz="1050" dirty="0"/>
          </a:p>
        </p:txBody>
      </p:sp>
      <p:sp>
        <p:nvSpPr>
          <p:cNvPr id="13" name="type2"/>
          <p:cNvSpPr/>
          <p:nvPr/>
        </p:nvSpPr>
        <p:spPr>
          <a:xfrm>
            <a:off x="3154680" y="2029968"/>
            <a:ext cx="1280160" cy="365760"/>
          </a:xfrm>
          <a:prstGeom prst="roundRect">
            <a:avLst>
              <a:gd name="adj" fmla="val 50000"/>
            </a:avLst>
          </a:prstGeom>
          <a:solidFill>
            <a:srgbClr val="FFFFFF"/>
          </a:solidFill>
          <a:ln w="12700">
            <a:solidFill>
              <a:schemeClr val="accent1"/>
            </a:solidFill>
            <a:prstDash val="solid"/>
          </a:ln>
        </p:spPr>
      </p:sp>
      <p:sp>
        <p:nvSpPr>
          <p:cNvPr id="14" name="Text 12"/>
          <p:cNvSpPr txBox="1"/>
          <p:nvPr/>
        </p:nvSpPr>
        <p:spPr>
          <a:xfrm>
            <a:off x="3154680" y="2029968"/>
            <a:ext cx="1280160" cy="365760"/>
          </a:xfrm>
          <a:prstGeom prst="rect">
            <a:avLst/>
          </a:prstGeom>
          <a:noFill/>
          <a:ln/>
        </p:spPr>
        <p:txBody>
          <a:bodyPr wrap="square" lIns="0" tIns="0" rIns="0" bIns="0" rtlCol="0" anchor="ctr"/>
          <a:lstStyle/>
          <a:p>
            <a:pPr algn="ctr" indent="0" marL="0">
              <a:buNone/>
            </a:pPr>
            <a:r>
              <a:rPr lang="en-US" sz="1050" dirty="0">
                <a:solidFill>
                  <a:schemeClr val="tx1"/>
                </a:solidFill>
              </a:rPr>
              <a:t>Congeneric</a:t>
            </a:r>
            <a:endParaRPr lang="en-US" sz="1050" dirty="0"/>
          </a:p>
        </p:txBody>
      </p:sp>
      <p:sp>
        <p:nvSpPr>
          <p:cNvPr id="15" name="type3"/>
          <p:cNvSpPr/>
          <p:nvPr/>
        </p:nvSpPr>
        <p:spPr>
          <a:xfrm>
            <a:off x="4526280" y="2029968"/>
            <a:ext cx="1280160" cy="365760"/>
          </a:xfrm>
          <a:prstGeom prst="roundRect">
            <a:avLst>
              <a:gd name="adj" fmla="val 50000"/>
            </a:avLst>
          </a:prstGeom>
          <a:solidFill>
            <a:srgbClr val="FFFFFF"/>
          </a:solidFill>
          <a:ln w="12700">
            <a:solidFill>
              <a:schemeClr val="accent1"/>
            </a:solidFill>
            <a:prstDash val="solid"/>
          </a:ln>
        </p:spPr>
      </p:sp>
      <p:sp>
        <p:nvSpPr>
          <p:cNvPr id="16" name="Text 14"/>
          <p:cNvSpPr txBox="1"/>
          <p:nvPr/>
        </p:nvSpPr>
        <p:spPr>
          <a:xfrm>
            <a:off x="4526280" y="2029968"/>
            <a:ext cx="1280160" cy="365760"/>
          </a:xfrm>
          <a:prstGeom prst="rect">
            <a:avLst/>
          </a:prstGeom>
          <a:noFill/>
          <a:ln/>
        </p:spPr>
        <p:txBody>
          <a:bodyPr wrap="square" lIns="0" tIns="0" rIns="0" bIns="0" rtlCol="0" anchor="ctr"/>
          <a:lstStyle/>
          <a:p>
            <a:pPr algn="ctr" indent="0" marL="0">
              <a:buNone/>
            </a:pPr>
            <a:r>
              <a:rPr lang="en-US" sz="1050" dirty="0">
                <a:solidFill>
                  <a:schemeClr val="tx1"/>
                </a:solidFill>
              </a:rPr>
              <a:t>Market-extension</a:t>
            </a:r>
            <a:endParaRPr lang="en-US" sz="1050" dirty="0"/>
          </a:p>
        </p:txBody>
      </p:sp>
      <p:sp>
        <p:nvSpPr>
          <p:cNvPr id="17" name="type4"/>
          <p:cNvSpPr/>
          <p:nvPr/>
        </p:nvSpPr>
        <p:spPr>
          <a:xfrm>
            <a:off x="3154680" y="2487168"/>
            <a:ext cx="1280160" cy="365760"/>
          </a:xfrm>
          <a:prstGeom prst="roundRect">
            <a:avLst>
              <a:gd name="adj" fmla="val 50000"/>
            </a:avLst>
          </a:prstGeom>
          <a:solidFill>
            <a:srgbClr val="FFFFFF"/>
          </a:solidFill>
          <a:ln w="12700">
            <a:solidFill>
              <a:schemeClr val="accent1"/>
            </a:solidFill>
            <a:prstDash val="solid"/>
          </a:ln>
        </p:spPr>
      </p:sp>
      <p:sp>
        <p:nvSpPr>
          <p:cNvPr id="18" name="Text 16"/>
          <p:cNvSpPr txBox="1"/>
          <p:nvPr/>
        </p:nvSpPr>
        <p:spPr>
          <a:xfrm>
            <a:off x="3154680" y="2487168"/>
            <a:ext cx="1280160" cy="365760"/>
          </a:xfrm>
          <a:prstGeom prst="rect">
            <a:avLst/>
          </a:prstGeom>
          <a:noFill/>
          <a:ln/>
        </p:spPr>
        <p:txBody>
          <a:bodyPr wrap="square" lIns="0" tIns="0" rIns="0" bIns="0" rtlCol="0" anchor="ctr"/>
          <a:lstStyle/>
          <a:p>
            <a:pPr algn="ctr" indent="0" marL="0">
              <a:buNone/>
            </a:pPr>
            <a:r>
              <a:rPr lang="en-US" sz="1050" dirty="0">
                <a:solidFill>
                  <a:schemeClr val="tx1"/>
                </a:solidFill>
              </a:rPr>
              <a:t>Product-extension</a:t>
            </a:r>
            <a:endParaRPr lang="en-US" sz="1050" dirty="0"/>
          </a:p>
        </p:txBody>
      </p:sp>
      <p:sp>
        <p:nvSpPr>
          <p:cNvPr id="19" name="type5"/>
          <p:cNvSpPr/>
          <p:nvPr/>
        </p:nvSpPr>
        <p:spPr>
          <a:xfrm>
            <a:off x="4526280" y="2487168"/>
            <a:ext cx="1280160" cy="365760"/>
          </a:xfrm>
          <a:prstGeom prst="roundRect">
            <a:avLst>
              <a:gd name="adj" fmla="val 50000"/>
            </a:avLst>
          </a:prstGeom>
          <a:solidFill>
            <a:srgbClr val="FFFFFF"/>
          </a:solidFill>
          <a:ln w="12700">
            <a:solidFill>
              <a:schemeClr val="accent1"/>
            </a:solidFill>
            <a:prstDash val="solid"/>
          </a:ln>
        </p:spPr>
      </p:sp>
      <p:sp>
        <p:nvSpPr>
          <p:cNvPr id="20" name="Text 18"/>
          <p:cNvSpPr txBox="1"/>
          <p:nvPr/>
        </p:nvSpPr>
        <p:spPr>
          <a:xfrm>
            <a:off x="4526280" y="2487168"/>
            <a:ext cx="1280160" cy="365760"/>
          </a:xfrm>
          <a:prstGeom prst="rect">
            <a:avLst/>
          </a:prstGeom>
          <a:noFill/>
          <a:ln/>
        </p:spPr>
        <p:txBody>
          <a:bodyPr wrap="square" lIns="0" tIns="0" rIns="0" bIns="0" rtlCol="0" anchor="ctr"/>
          <a:lstStyle/>
          <a:p>
            <a:pPr algn="ctr" indent="0" marL="0">
              <a:buNone/>
            </a:pPr>
            <a:r>
              <a:rPr lang="en-US" sz="1050" dirty="0">
                <a:solidFill>
                  <a:schemeClr val="tx1"/>
                </a:solidFill>
              </a:rPr>
              <a:t>Conglomerate</a:t>
            </a:r>
            <a:endParaRPr lang="en-US" sz="1050" dirty="0"/>
          </a:p>
        </p:txBody>
      </p:sp>
      <p:sp>
        <p:nvSpPr>
          <p:cNvPr id="21" name="Text 19"/>
          <p:cNvSpPr txBox="1"/>
          <p:nvPr/>
        </p:nvSpPr>
        <p:spPr>
          <a:xfrm>
            <a:off x="6080760" y="1234440"/>
            <a:ext cx="2606040" cy="274320"/>
          </a:xfrm>
          <a:prstGeom prst="rect">
            <a:avLst/>
          </a:prstGeom>
          <a:noFill/>
          <a:ln/>
        </p:spPr>
        <p:txBody>
          <a:bodyPr wrap="square" lIns="0" tIns="0" rIns="0" bIns="0" rtlCol="0" anchor="ctr"/>
          <a:lstStyle/>
          <a:p>
            <a:pPr indent="0" marL="0">
              <a:buNone/>
            </a:pPr>
            <a:r>
              <a:rPr lang="en-US" sz="1300" b="1" dirty="0">
                <a:solidFill>
                  <a:schemeClr val="accent2"/>
                </a:solidFill>
              </a:rPr>
              <a:t>Four ways to integrate</a:t>
            </a:r>
            <a:endParaRPr lang="en-US" sz="1300" dirty="0"/>
          </a:p>
        </p:txBody>
      </p:sp>
      <p:sp>
        <p:nvSpPr>
          <p:cNvPr id="22" name="intdot0"/>
          <p:cNvSpPr/>
          <p:nvPr/>
        </p:nvSpPr>
        <p:spPr>
          <a:xfrm>
            <a:off x="6080760" y="1636776"/>
            <a:ext cx="182880" cy="182880"/>
          </a:xfrm>
          <a:prstGeom prst="ellipse">
            <a:avLst/>
          </a:prstGeom>
          <a:solidFill>
            <a:schemeClr val="accent2"/>
          </a:solidFill>
          <a:ln/>
        </p:spPr>
      </p:sp>
      <p:sp>
        <p:nvSpPr>
          <p:cNvPr id="23" name="Text 21"/>
          <p:cNvSpPr txBox="1"/>
          <p:nvPr/>
        </p:nvSpPr>
        <p:spPr>
          <a:xfrm>
            <a:off x="6355080" y="1572768"/>
            <a:ext cx="2286000" cy="310896"/>
          </a:xfrm>
          <a:prstGeom prst="rect">
            <a:avLst/>
          </a:prstGeom>
          <a:noFill/>
          <a:ln/>
        </p:spPr>
        <p:txBody>
          <a:bodyPr wrap="square" lIns="0" tIns="0" rIns="0" bIns="0" rtlCol="0" anchor="ctr"/>
          <a:lstStyle/>
          <a:p>
            <a:pPr indent="0" marL="0">
              <a:buNone/>
            </a:pPr>
            <a:r>
              <a:rPr lang="en-US" sz="1200" dirty="0">
                <a:solidFill>
                  <a:schemeClr val="tx1"/>
                </a:solidFill>
              </a:rPr>
              <a:t>Standalone</a:t>
            </a:r>
            <a:endParaRPr lang="en-US" sz="1200" dirty="0"/>
          </a:p>
        </p:txBody>
      </p:sp>
      <p:sp>
        <p:nvSpPr>
          <p:cNvPr id="24" name="intdot1"/>
          <p:cNvSpPr/>
          <p:nvPr/>
        </p:nvSpPr>
        <p:spPr>
          <a:xfrm>
            <a:off x="6080760" y="1984248"/>
            <a:ext cx="182880" cy="182880"/>
          </a:xfrm>
          <a:prstGeom prst="ellipse">
            <a:avLst/>
          </a:prstGeom>
          <a:solidFill>
            <a:schemeClr val="accent2"/>
          </a:solidFill>
          <a:ln/>
        </p:spPr>
      </p:sp>
      <p:sp>
        <p:nvSpPr>
          <p:cNvPr id="25" name="Text 23"/>
          <p:cNvSpPr txBox="1"/>
          <p:nvPr/>
        </p:nvSpPr>
        <p:spPr>
          <a:xfrm>
            <a:off x="6355080" y="1920240"/>
            <a:ext cx="2286000" cy="310896"/>
          </a:xfrm>
          <a:prstGeom prst="rect">
            <a:avLst/>
          </a:prstGeom>
          <a:noFill/>
          <a:ln/>
        </p:spPr>
        <p:txBody>
          <a:bodyPr wrap="square" lIns="0" tIns="0" rIns="0" bIns="0" rtlCol="0" anchor="ctr"/>
          <a:lstStyle/>
          <a:p>
            <a:pPr indent="0" marL="0">
              <a:buNone/>
            </a:pPr>
            <a:r>
              <a:rPr lang="en-US" sz="1200" dirty="0">
                <a:solidFill>
                  <a:schemeClr val="tx1"/>
                </a:solidFill>
              </a:rPr>
              <a:t>Targeted</a:t>
            </a:r>
            <a:endParaRPr lang="en-US" sz="1200" dirty="0"/>
          </a:p>
        </p:txBody>
      </p:sp>
      <p:sp>
        <p:nvSpPr>
          <p:cNvPr id="26" name="intdot2"/>
          <p:cNvSpPr/>
          <p:nvPr/>
        </p:nvSpPr>
        <p:spPr>
          <a:xfrm>
            <a:off x="6080760" y="2331720"/>
            <a:ext cx="182880" cy="182880"/>
          </a:xfrm>
          <a:prstGeom prst="ellipse">
            <a:avLst/>
          </a:prstGeom>
          <a:solidFill>
            <a:schemeClr val="accent2"/>
          </a:solidFill>
          <a:ln/>
        </p:spPr>
      </p:sp>
      <p:sp>
        <p:nvSpPr>
          <p:cNvPr id="27" name="Text 25"/>
          <p:cNvSpPr txBox="1"/>
          <p:nvPr/>
        </p:nvSpPr>
        <p:spPr>
          <a:xfrm>
            <a:off x="6355080" y="2267712"/>
            <a:ext cx="2286000" cy="310896"/>
          </a:xfrm>
          <a:prstGeom prst="rect">
            <a:avLst/>
          </a:prstGeom>
          <a:noFill/>
          <a:ln/>
        </p:spPr>
        <p:txBody>
          <a:bodyPr wrap="square" lIns="0" tIns="0" rIns="0" bIns="0" rtlCol="0" anchor="ctr"/>
          <a:lstStyle/>
          <a:p>
            <a:pPr indent="0" marL="0">
              <a:buNone/>
            </a:pPr>
            <a:r>
              <a:rPr lang="en-US" sz="1200" dirty="0">
                <a:solidFill>
                  <a:schemeClr val="tx1"/>
                </a:solidFill>
              </a:rPr>
              <a:t>Full</a:t>
            </a:r>
            <a:endParaRPr lang="en-US" sz="1200" dirty="0"/>
          </a:p>
        </p:txBody>
      </p:sp>
      <p:sp>
        <p:nvSpPr>
          <p:cNvPr id="28" name="intdot3"/>
          <p:cNvSpPr/>
          <p:nvPr/>
        </p:nvSpPr>
        <p:spPr>
          <a:xfrm>
            <a:off x="6080760" y="2679192"/>
            <a:ext cx="182880" cy="182880"/>
          </a:xfrm>
          <a:prstGeom prst="ellipse">
            <a:avLst/>
          </a:prstGeom>
          <a:solidFill>
            <a:schemeClr val="accent2"/>
          </a:solidFill>
          <a:ln/>
        </p:spPr>
      </p:sp>
      <p:sp>
        <p:nvSpPr>
          <p:cNvPr id="29" name="Text 27"/>
          <p:cNvSpPr txBox="1"/>
          <p:nvPr/>
        </p:nvSpPr>
        <p:spPr>
          <a:xfrm>
            <a:off x="6355080" y="2615184"/>
            <a:ext cx="2286000" cy="310896"/>
          </a:xfrm>
          <a:prstGeom prst="rect">
            <a:avLst/>
          </a:prstGeom>
          <a:noFill/>
          <a:ln/>
        </p:spPr>
        <p:txBody>
          <a:bodyPr wrap="square" lIns="0" tIns="0" rIns="0" bIns="0" rtlCol="0" anchor="ctr"/>
          <a:lstStyle/>
          <a:p>
            <a:pPr indent="0" marL="0">
              <a:buNone/>
            </a:pPr>
            <a:r>
              <a:rPr lang="en-US" sz="1200" dirty="0">
                <a:solidFill>
                  <a:schemeClr val="tx1"/>
                </a:solidFill>
              </a:rPr>
              <a:t>Functional</a:t>
            </a:r>
            <a:endParaRPr lang="en-US" sz="1200" dirty="0"/>
          </a:p>
        </p:txBody>
      </p:sp>
      <p:sp>
        <p:nvSpPr>
          <p:cNvPr id="30" name="Text 28"/>
          <p:cNvSpPr txBox="1"/>
          <p:nvPr/>
        </p:nvSpPr>
        <p:spPr>
          <a:xfrm>
            <a:off x="6080760" y="3017520"/>
            <a:ext cx="2606040" cy="320040"/>
          </a:xfrm>
          <a:prstGeom prst="rect">
            <a:avLst/>
          </a:prstGeom>
          <a:noFill/>
          <a:ln/>
        </p:spPr>
        <p:txBody>
          <a:bodyPr wrap="square" lIns="0" tIns="0" rIns="0" bIns="0" rtlCol="0" anchor="ctr"/>
          <a:lstStyle/>
          <a:p>
            <a:pPr indent="0" marL="0">
              <a:buNone/>
            </a:pPr>
            <a:r>
              <a:rPr lang="en-US" sz="1300" b="1" dirty="0">
                <a:solidFill>
                  <a:schemeClr val="accent2"/>
                </a:solidFill>
              </a:rPr>
              <a:t>Synergy  </a:t>
            </a:r>
            <a:pPr indent="0" marL="0">
              <a:buNone/>
            </a:pPr>
            <a:r>
              <a:rPr lang="en-US" sz="1300" b="1" dirty="0">
                <a:solidFill>
                  <a:schemeClr val="tx1"/>
                </a:solidFill>
              </a:rPr>
              <a:t>1 + 1 &gt; 2</a:t>
            </a:r>
            <a:endParaRPr lang="en-US" sz="1300" dirty="0"/>
          </a:p>
        </p:txBody>
      </p:sp>
      <p:sp>
        <p:nvSpPr>
          <p:cNvPr id="31" name="stat"/>
          <p:cNvSpPr/>
          <p:nvPr/>
        </p:nvSpPr>
        <p:spPr>
          <a:xfrm>
            <a:off x="457200" y="3520440"/>
            <a:ext cx="8229600" cy="685800"/>
          </a:xfrm>
          <a:prstGeom prst="roundRect">
            <a:avLst>
              <a:gd name="adj" fmla="val 13333"/>
            </a:avLst>
          </a:prstGeom>
          <a:solidFill>
            <a:schemeClr val="accent3"/>
          </a:solidFill>
          <a:ln/>
        </p:spPr>
      </p:sp>
      <p:sp>
        <p:nvSpPr>
          <p:cNvPr id="32" name="Text 30"/>
          <p:cNvSpPr txBox="1"/>
          <p:nvPr/>
        </p:nvSpPr>
        <p:spPr>
          <a:xfrm>
            <a:off x="640080" y="3520440"/>
            <a:ext cx="1554480" cy="685800"/>
          </a:xfrm>
          <a:prstGeom prst="rect">
            <a:avLst/>
          </a:prstGeom>
          <a:noFill/>
          <a:ln/>
        </p:spPr>
        <p:txBody>
          <a:bodyPr wrap="square" lIns="0" tIns="0" rIns="0" bIns="0" rtlCol="0" anchor="ctr"/>
          <a:lstStyle/>
          <a:p>
            <a:pPr indent="0" marL="0">
              <a:buNone/>
            </a:pPr>
            <a:r>
              <a:rPr lang="en-US" sz="2800" b="1" dirty="0">
                <a:solidFill>
                  <a:srgbClr val="FFFFFF"/>
                </a:solidFill>
              </a:rPr>
              <a:t>70–90%</a:t>
            </a:r>
            <a:endParaRPr lang="en-US" sz="2800" dirty="0"/>
          </a:p>
        </p:txBody>
      </p:sp>
      <p:sp>
        <p:nvSpPr>
          <p:cNvPr id="33" name="Text 31"/>
          <p:cNvSpPr txBox="1"/>
          <p:nvPr/>
        </p:nvSpPr>
        <p:spPr>
          <a:xfrm>
            <a:off x="2240280" y="3520440"/>
            <a:ext cx="6309360" cy="685800"/>
          </a:xfrm>
          <a:prstGeom prst="rect">
            <a:avLst/>
          </a:prstGeom>
          <a:noFill/>
          <a:ln/>
        </p:spPr>
        <p:txBody>
          <a:bodyPr wrap="square" lIns="0" tIns="0" rIns="0" bIns="0" rtlCol="0" anchor="ctr"/>
          <a:lstStyle/>
          <a:p>
            <a:pPr indent="0" marL="0">
              <a:buNone/>
            </a:pPr>
            <a:r>
              <a:rPr lang="en-US" sz="1400" b="1" dirty="0">
                <a:solidFill>
                  <a:srgbClr val="FFFFFF"/>
                </a:solidFill>
              </a:rPr>
              <a:t>of M&amp;A deals fail, mostly because integration is hard</a:t>
            </a:r>
            <a:endParaRPr lang="en-US" sz="1400" dirty="0"/>
          </a:p>
        </p:txBody>
      </p:sp>
      <p:sp>
        <p:nvSpPr>
          <p:cNvPr id="34" name="Text 32"/>
          <p:cNvSpPr txBox="1"/>
          <p:nvPr/>
        </p:nvSpPr>
        <p:spPr>
          <a:xfrm>
            <a:off x="457200" y="4297680"/>
            <a:ext cx="8229600" cy="320040"/>
          </a:xfrm>
          <a:prstGeom prst="rect">
            <a:avLst/>
          </a:prstGeom>
          <a:noFill/>
          <a:ln/>
        </p:spPr>
        <p:txBody>
          <a:bodyPr wrap="square" lIns="0" tIns="0" rIns="0" bIns="0" rtlCol="0" anchor="ctr"/>
          <a:lstStyle/>
          <a:p>
            <a:pPr indent="0" marL="0">
              <a:buNone/>
            </a:pPr>
            <a:r>
              <a:rPr lang="en-US" sz="1300" i="1" dirty="0">
                <a:solidFill>
                  <a:schemeClr val="tx2"/>
                </a:solidFill>
              </a:rPr>
              <a:t>Cross-border M&amp;A is one form of FDI (the other is greenfield).</a:t>
            </a:r>
            <a:endParaRPr lang="en-US" sz="1300" dirty="0"/>
          </a:p>
        </p:txBody>
      </p:sp>
      <p:sp>
        <p:nvSpPr>
          <p:cNvPr id="35" name="Text 33"/>
          <p:cNvSpPr txBox="1"/>
          <p:nvPr/>
        </p:nvSpPr>
        <p:spPr>
          <a:xfrm>
            <a:off x="457200" y="4709160"/>
            <a:ext cx="8229600" cy="274320"/>
          </a:xfrm>
          <a:prstGeom prst="rect">
            <a:avLst/>
          </a:prstGeom>
          <a:noFill/>
          <a:ln/>
        </p:spPr>
        <p:txBody>
          <a:bodyPr wrap="square" lIns="0" tIns="0" rIns="0" bIns="0" rtlCol="0" anchor="ctr"/>
          <a:lstStyle/>
          <a:p>
            <a:pPr indent="0" marL="0">
              <a:buNone/>
            </a:pPr>
            <a:r>
              <a:rPr lang="en-US" sz="850" dirty="0">
                <a:solidFill>
                  <a:schemeClr val="accent4"/>
                </a:solidFill>
              </a:rPr>
              <a:t>Sources: University of Greenwich (2026); Christensen et al. (2011).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48640"/>
          </a:xfrm>
          <a:prstGeom prst="rect">
            <a:avLst/>
          </a:prstGeom>
          <a:noFill/>
          <a:ln/>
        </p:spPr>
        <p:txBody>
          <a:bodyPr wrap="square" lIns="0" tIns="0" rIns="0" bIns="0" rtlCol="0" anchor="t"/>
          <a:lstStyle/>
          <a:p>
            <a:pPr algn="l" indent="0" marL="0">
              <a:buNone/>
            </a:pPr>
            <a:r>
              <a:rPr lang="en-US" sz="2800" b="1" dirty="0">
                <a:solidFill>
                  <a:schemeClr val="tx2"/>
                </a:solidFill>
              </a:rPr>
              <a:t>M&amp;A 2020–2026: buy beauty, sell food</a:t>
            </a:r>
            <a:endParaRPr lang="en-US" sz="2800" dirty="0"/>
          </a:p>
        </p:txBody>
      </p:sp>
      <p:sp>
        <p:nvSpPr>
          <p:cNvPr id="3" name="Text 1"/>
          <p:cNvSpPr txBox="1"/>
          <p:nvPr/>
        </p:nvSpPr>
        <p:spPr>
          <a:xfrm>
            <a:off x="457200" y="804672"/>
            <a:ext cx="8229600" cy="274320"/>
          </a:xfrm>
          <a:prstGeom prst="rect">
            <a:avLst/>
          </a:prstGeom>
          <a:noFill/>
          <a:ln/>
        </p:spPr>
        <p:txBody>
          <a:bodyPr wrap="square" lIns="0" tIns="0" rIns="0" bIns="0" rtlCol="0" anchor="ctr"/>
          <a:lstStyle/>
          <a:p>
            <a:pPr indent="0" marL="0">
              <a:buNone/>
            </a:pPr>
            <a:r>
              <a:rPr lang="en-US" sz="1300" i="1" dirty="0">
                <a:solidFill>
                  <a:schemeClr val="tx1"/>
                </a:solidFill>
              </a:rPr>
              <a:t>Fewer, faster-growing businesses</a:t>
            </a:r>
            <a:endParaRPr lang="en-US" sz="1300" dirty="0"/>
          </a:p>
        </p:txBody>
      </p:sp>
      <p:sp>
        <p:nvSpPr>
          <p:cNvPr id="4" name="born"/>
          <p:cNvSpPr/>
          <p:nvPr/>
        </p:nvSpPr>
        <p:spPr>
          <a:xfrm>
            <a:off x="457200" y="1188720"/>
            <a:ext cx="8229600" cy="347472"/>
          </a:xfrm>
          <a:prstGeom prst="roundRect">
            <a:avLst>
              <a:gd name="adj" fmla="val 21053"/>
            </a:avLst>
          </a:prstGeom>
          <a:solidFill>
            <a:schemeClr val="bg2"/>
          </a:solidFill>
          <a:ln/>
        </p:spPr>
      </p:sp>
      <p:sp>
        <p:nvSpPr>
          <p:cNvPr id="5" name="Text 3"/>
          <p:cNvSpPr txBox="1"/>
          <p:nvPr/>
        </p:nvSpPr>
        <p:spPr>
          <a:xfrm>
            <a:off x="594360" y="1188720"/>
            <a:ext cx="7955280" cy="347472"/>
          </a:xfrm>
          <a:prstGeom prst="rect">
            <a:avLst/>
          </a:prstGeom>
          <a:noFill/>
          <a:ln/>
        </p:spPr>
        <p:txBody>
          <a:bodyPr wrap="square" lIns="0" tIns="0" rIns="0" bIns="0" rtlCol="0" anchor="ctr"/>
          <a:lstStyle/>
          <a:p>
            <a:pPr indent="0" marL="0">
              <a:buNone/>
            </a:pPr>
            <a:r>
              <a:rPr lang="en-US" sz="1200" b="1" dirty="0">
                <a:solidFill>
                  <a:schemeClr val="tx1"/>
                </a:solidFill>
              </a:rPr>
              <a:t>Scope: 2020–2026 · Earlier deals: Bestfoods, Ben &amp; Jerry's (2000), Dollar Shave Club (2016)</a:t>
            </a:r>
            <a:endParaRPr lang="en-US" sz="1200" dirty="0"/>
          </a:p>
        </p:txBody>
      </p:sp>
      <p:sp>
        <p:nvSpPr>
          <p:cNvPr id="6" name="phase0"/>
          <p:cNvSpPr/>
          <p:nvPr/>
        </p:nvSpPr>
        <p:spPr>
          <a:xfrm>
            <a:off x="457200" y="1691640"/>
            <a:ext cx="2606040" cy="566928"/>
          </a:xfrm>
          <a:prstGeom prst="roundRect">
            <a:avLst>
              <a:gd name="adj" fmla="val 12903"/>
            </a:avLst>
          </a:prstGeom>
          <a:solidFill>
            <a:schemeClr val="accent1"/>
          </a:solidFill>
          <a:ln/>
        </p:spPr>
      </p:sp>
      <p:sp>
        <p:nvSpPr>
          <p:cNvPr id="7" name="Text 5"/>
          <p:cNvSpPr txBox="1"/>
          <p:nvPr/>
        </p:nvSpPr>
        <p:spPr>
          <a:xfrm>
            <a:off x="566928" y="1691640"/>
            <a:ext cx="2386584" cy="566928"/>
          </a:xfrm>
          <a:prstGeom prst="rect">
            <a:avLst/>
          </a:prstGeom>
          <a:noFill/>
          <a:ln/>
        </p:spPr>
        <p:txBody>
          <a:bodyPr wrap="square" lIns="0" tIns="0" rIns="0" bIns="0" rtlCol="0" anchor="ctr"/>
          <a:lstStyle/>
          <a:p>
            <a:pPr indent="0" marL="0">
              <a:buNone/>
            </a:pPr>
            <a:r>
              <a:rPr lang="en-US" sz="1500" b="1" dirty="0">
                <a:solidFill>
                  <a:srgbClr val="FFFFFF"/>
                </a:solidFill>
              </a:rPr>
              <a:t>BUY</a:t>
            </a:r>
            <a:endParaRPr lang="en-US" sz="1500" dirty="0"/>
          </a:p>
          <a:p>
            <a:pPr indent="0" marL="0">
              <a:buNone/>
            </a:pPr>
            <a:r>
              <a:rPr lang="en-US" sz="1050" dirty="0">
                <a:solidFill>
                  <a:srgbClr val="FFFFFF"/>
                </a:solidFill>
              </a:rPr>
              <a:t>Beauty and personal care</a:t>
            </a:r>
            <a:endParaRPr lang="en-US" sz="1500" dirty="0"/>
          </a:p>
        </p:txBody>
      </p:sp>
      <p:sp>
        <p:nvSpPr>
          <p:cNvPr id="8" name="yr00"/>
          <p:cNvSpPr/>
          <p:nvPr/>
        </p:nvSpPr>
        <p:spPr>
          <a:xfrm>
            <a:off x="457200" y="2414016"/>
            <a:ext cx="475488" cy="475488"/>
          </a:xfrm>
          <a:prstGeom prst="ellipse">
            <a:avLst/>
          </a:prstGeom>
          <a:solidFill>
            <a:schemeClr val="accent1"/>
          </a:solidFill>
          <a:ln/>
        </p:spPr>
      </p:sp>
      <p:sp>
        <p:nvSpPr>
          <p:cNvPr id="9" name="Text 7"/>
          <p:cNvSpPr txBox="1"/>
          <p:nvPr/>
        </p:nvSpPr>
        <p:spPr>
          <a:xfrm>
            <a:off x="457200" y="2414016"/>
            <a:ext cx="475488" cy="475488"/>
          </a:xfrm>
          <a:prstGeom prst="rect">
            <a:avLst/>
          </a:prstGeom>
          <a:noFill/>
          <a:ln/>
        </p:spPr>
        <p:txBody>
          <a:bodyPr wrap="square" lIns="0" tIns="0" rIns="0" bIns="0" rtlCol="0" anchor="ctr"/>
          <a:lstStyle/>
          <a:p>
            <a:pPr algn="ctr" indent="0" marL="0">
              <a:buNone/>
            </a:pPr>
            <a:r>
              <a:rPr lang="en-US" sz="1000" b="1" dirty="0">
                <a:solidFill>
                  <a:srgbClr val="FFFFFF"/>
                </a:solidFill>
              </a:rPr>
              <a:t>2021</a:t>
            </a:r>
            <a:endParaRPr lang="en-US" sz="1000" dirty="0"/>
          </a:p>
        </p:txBody>
      </p:sp>
      <p:sp>
        <p:nvSpPr>
          <p:cNvPr id="10" name="Text 8"/>
          <p:cNvSpPr txBox="1"/>
          <p:nvPr/>
        </p:nvSpPr>
        <p:spPr>
          <a:xfrm>
            <a:off x="1005840" y="2377440"/>
            <a:ext cx="2057400" cy="603504"/>
          </a:xfrm>
          <a:prstGeom prst="rect">
            <a:avLst/>
          </a:prstGeom>
          <a:noFill/>
          <a:ln/>
        </p:spPr>
        <p:txBody>
          <a:bodyPr wrap="square" lIns="0" tIns="0" rIns="0" bIns="0" rtlCol="0" anchor="t"/>
          <a:lstStyle/>
          <a:p>
            <a:pPr indent="0" marL="0">
              <a:buNone/>
            </a:pPr>
            <a:r>
              <a:rPr lang="en-US" sz="1250" b="1" dirty="0">
                <a:solidFill>
                  <a:schemeClr val="tx1"/>
                </a:solidFill>
              </a:rPr>
              <a:t>Paula's Choice</a:t>
            </a:r>
            <a:endParaRPr lang="en-US" sz="1250" dirty="0"/>
          </a:p>
          <a:p>
            <a:pPr indent="0" marL="0">
              <a:buNone/>
            </a:pPr>
            <a:r>
              <a:rPr lang="en-US" sz="1050" dirty="0">
                <a:solidFill>
                  <a:schemeClr val="accent4"/>
                </a:solidFill>
              </a:rPr>
              <a:t>€1.8bn · digital-led skincare</a:t>
            </a:r>
            <a:endParaRPr lang="en-US" sz="1250" dirty="0"/>
          </a:p>
        </p:txBody>
      </p:sp>
      <p:sp>
        <p:nvSpPr>
          <p:cNvPr id="11" name="yr01"/>
          <p:cNvSpPr/>
          <p:nvPr/>
        </p:nvSpPr>
        <p:spPr>
          <a:xfrm>
            <a:off x="457200" y="3127248"/>
            <a:ext cx="475488" cy="475488"/>
          </a:xfrm>
          <a:prstGeom prst="ellipse">
            <a:avLst/>
          </a:prstGeom>
          <a:solidFill>
            <a:schemeClr val="accent1"/>
          </a:solidFill>
          <a:ln/>
        </p:spPr>
      </p:sp>
      <p:sp>
        <p:nvSpPr>
          <p:cNvPr id="12" name="Text 10"/>
          <p:cNvSpPr txBox="1"/>
          <p:nvPr/>
        </p:nvSpPr>
        <p:spPr>
          <a:xfrm>
            <a:off x="457200" y="3127248"/>
            <a:ext cx="475488" cy="475488"/>
          </a:xfrm>
          <a:prstGeom prst="rect">
            <a:avLst/>
          </a:prstGeom>
          <a:noFill/>
          <a:ln/>
        </p:spPr>
        <p:txBody>
          <a:bodyPr wrap="square" lIns="0" tIns="0" rIns="0" bIns="0" rtlCol="0" anchor="ctr"/>
          <a:lstStyle/>
          <a:p>
            <a:pPr algn="ctr" indent="0" marL="0">
              <a:buNone/>
            </a:pPr>
            <a:r>
              <a:rPr lang="en-US" sz="1000" b="1" dirty="0">
                <a:solidFill>
                  <a:srgbClr val="FFFFFF"/>
                </a:solidFill>
              </a:rPr>
              <a:t>2025</a:t>
            </a:r>
            <a:endParaRPr lang="en-US" sz="1000" dirty="0"/>
          </a:p>
        </p:txBody>
      </p:sp>
      <p:sp>
        <p:nvSpPr>
          <p:cNvPr id="13" name="Text 11"/>
          <p:cNvSpPr txBox="1"/>
          <p:nvPr/>
        </p:nvSpPr>
        <p:spPr>
          <a:xfrm>
            <a:off x="1005840" y="3090672"/>
            <a:ext cx="2057400" cy="603504"/>
          </a:xfrm>
          <a:prstGeom prst="rect">
            <a:avLst/>
          </a:prstGeom>
          <a:noFill/>
          <a:ln/>
        </p:spPr>
        <p:txBody>
          <a:bodyPr wrap="square" lIns="0" tIns="0" rIns="0" bIns="0" rtlCol="0" anchor="t"/>
          <a:lstStyle/>
          <a:p>
            <a:pPr indent="0" marL="0">
              <a:buNone/>
            </a:pPr>
            <a:r>
              <a:rPr lang="en-US" sz="1250" b="1" dirty="0">
                <a:solidFill>
                  <a:schemeClr val="tx1"/>
                </a:solidFill>
              </a:rPr>
              <a:t>Dr. Squatch</a:t>
            </a:r>
            <a:endParaRPr lang="en-US" sz="1250" dirty="0"/>
          </a:p>
          <a:p>
            <a:pPr indent="0" marL="0">
              <a:buNone/>
            </a:pPr>
            <a:r>
              <a:rPr lang="en-US" sz="1050" dirty="0">
                <a:solidFill>
                  <a:schemeClr val="accent4"/>
                </a:solidFill>
              </a:rPr>
              <a:t>~$1.5bn (reported) · men's grooming</a:t>
            </a:r>
            <a:endParaRPr lang="en-US" sz="1250" dirty="0"/>
          </a:p>
        </p:txBody>
      </p:sp>
      <p:sp>
        <p:nvSpPr>
          <p:cNvPr id="14" name="phase1"/>
          <p:cNvSpPr/>
          <p:nvPr/>
        </p:nvSpPr>
        <p:spPr>
          <a:xfrm>
            <a:off x="3268980" y="1691640"/>
            <a:ext cx="2606040" cy="566928"/>
          </a:xfrm>
          <a:prstGeom prst="roundRect">
            <a:avLst>
              <a:gd name="adj" fmla="val 12903"/>
            </a:avLst>
          </a:prstGeom>
          <a:solidFill>
            <a:schemeClr val="accent3"/>
          </a:solidFill>
          <a:ln/>
        </p:spPr>
      </p:sp>
      <p:sp>
        <p:nvSpPr>
          <p:cNvPr id="15" name="Text 13"/>
          <p:cNvSpPr txBox="1"/>
          <p:nvPr/>
        </p:nvSpPr>
        <p:spPr>
          <a:xfrm>
            <a:off x="3378708" y="1691640"/>
            <a:ext cx="2386584" cy="566928"/>
          </a:xfrm>
          <a:prstGeom prst="rect">
            <a:avLst/>
          </a:prstGeom>
          <a:noFill/>
          <a:ln/>
        </p:spPr>
        <p:txBody>
          <a:bodyPr wrap="square" lIns="0" tIns="0" rIns="0" bIns="0" rtlCol="0" anchor="ctr"/>
          <a:lstStyle/>
          <a:p>
            <a:pPr indent="0" marL="0">
              <a:buNone/>
            </a:pPr>
            <a:r>
              <a:rPr lang="en-US" sz="1500" b="1" dirty="0">
                <a:solidFill>
                  <a:srgbClr val="FFFFFF"/>
                </a:solidFill>
              </a:rPr>
              <a:t>FAILED BID</a:t>
            </a:r>
            <a:endParaRPr lang="en-US" sz="1500" dirty="0"/>
          </a:p>
          <a:p>
            <a:pPr indent="0" marL="0">
              <a:buNone/>
            </a:pPr>
            <a:r>
              <a:rPr lang="en-US" sz="1050" dirty="0">
                <a:solidFill>
                  <a:srgbClr val="FFFFFF"/>
                </a:solidFill>
              </a:rPr>
              <a:t>Investors push back</a:t>
            </a:r>
            <a:endParaRPr lang="en-US" sz="1500" dirty="0"/>
          </a:p>
        </p:txBody>
      </p:sp>
      <p:sp>
        <p:nvSpPr>
          <p:cNvPr id="16" name="yr10"/>
          <p:cNvSpPr/>
          <p:nvPr/>
        </p:nvSpPr>
        <p:spPr>
          <a:xfrm>
            <a:off x="3268980" y="2414016"/>
            <a:ext cx="475488" cy="475488"/>
          </a:xfrm>
          <a:prstGeom prst="ellipse">
            <a:avLst/>
          </a:prstGeom>
          <a:solidFill>
            <a:schemeClr val="accent3"/>
          </a:solidFill>
          <a:ln/>
        </p:spPr>
      </p:sp>
      <p:sp>
        <p:nvSpPr>
          <p:cNvPr id="17" name="Text 15"/>
          <p:cNvSpPr txBox="1"/>
          <p:nvPr/>
        </p:nvSpPr>
        <p:spPr>
          <a:xfrm>
            <a:off x="3268980" y="2414016"/>
            <a:ext cx="475488" cy="475488"/>
          </a:xfrm>
          <a:prstGeom prst="rect">
            <a:avLst/>
          </a:prstGeom>
          <a:noFill/>
          <a:ln/>
        </p:spPr>
        <p:txBody>
          <a:bodyPr wrap="square" lIns="0" tIns="0" rIns="0" bIns="0" rtlCol="0" anchor="ctr"/>
          <a:lstStyle/>
          <a:p>
            <a:pPr algn="ctr" indent="0" marL="0">
              <a:buNone/>
            </a:pPr>
            <a:r>
              <a:rPr lang="en-US" sz="1000" b="1" dirty="0">
                <a:solidFill>
                  <a:srgbClr val="FFFFFF"/>
                </a:solidFill>
              </a:rPr>
              <a:t>2022</a:t>
            </a:r>
            <a:endParaRPr lang="en-US" sz="1000" dirty="0"/>
          </a:p>
        </p:txBody>
      </p:sp>
      <p:sp>
        <p:nvSpPr>
          <p:cNvPr id="18" name="Text 16"/>
          <p:cNvSpPr txBox="1"/>
          <p:nvPr/>
        </p:nvSpPr>
        <p:spPr>
          <a:xfrm>
            <a:off x="3817620" y="2377440"/>
            <a:ext cx="2057400" cy="603504"/>
          </a:xfrm>
          <a:prstGeom prst="rect">
            <a:avLst/>
          </a:prstGeom>
          <a:noFill/>
          <a:ln/>
        </p:spPr>
        <p:txBody>
          <a:bodyPr wrap="square" lIns="0" tIns="0" rIns="0" bIns="0" rtlCol="0" anchor="t"/>
          <a:lstStyle/>
          <a:p>
            <a:pPr indent="0" marL="0">
              <a:buNone/>
            </a:pPr>
            <a:r>
              <a:rPr lang="en-US" sz="1250" b="1" dirty="0">
                <a:solidFill>
                  <a:schemeClr val="tx1"/>
                </a:solidFill>
              </a:rPr>
              <a:t>GSK Consumer Health</a:t>
            </a:r>
            <a:endParaRPr lang="en-US" sz="1250" dirty="0"/>
          </a:p>
          <a:p>
            <a:pPr indent="0" marL="0">
              <a:buNone/>
            </a:pPr>
            <a:r>
              <a:rPr lang="en-US" sz="1050" dirty="0">
                <a:solidFill>
                  <a:schemeClr val="accent4"/>
                </a:solidFill>
              </a:rPr>
              <a:t>£50bn bid dropped after investors objected</a:t>
            </a:r>
            <a:endParaRPr lang="en-US" sz="1250" dirty="0"/>
          </a:p>
        </p:txBody>
      </p:sp>
      <p:sp>
        <p:nvSpPr>
          <p:cNvPr id="19" name="phase2"/>
          <p:cNvSpPr/>
          <p:nvPr/>
        </p:nvSpPr>
        <p:spPr>
          <a:xfrm>
            <a:off x="6080760" y="1691640"/>
            <a:ext cx="2606040" cy="566928"/>
          </a:xfrm>
          <a:prstGeom prst="roundRect">
            <a:avLst>
              <a:gd name="adj" fmla="val 12903"/>
            </a:avLst>
          </a:prstGeom>
          <a:solidFill>
            <a:schemeClr val="accent2"/>
          </a:solidFill>
          <a:ln/>
        </p:spPr>
      </p:sp>
      <p:sp>
        <p:nvSpPr>
          <p:cNvPr id="20" name="Text 18"/>
          <p:cNvSpPr txBox="1"/>
          <p:nvPr/>
        </p:nvSpPr>
        <p:spPr>
          <a:xfrm>
            <a:off x="6190488" y="1691640"/>
            <a:ext cx="2386584" cy="566928"/>
          </a:xfrm>
          <a:prstGeom prst="rect">
            <a:avLst/>
          </a:prstGeom>
          <a:noFill/>
          <a:ln/>
        </p:spPr>
        <p:txBody>
          <a:bodyPr wrap="square" lIns="0" tIns="0" rIns="0" bIns="0" rtlCol="0" anchor="ctr"/>
          <a:lstStyle/>
          <a:p>
            <a:pPr indent="0" marL="0">
              <a:buNone/>
            </a:pPr>
            <a:r>
              <a:rPr lang="en-US" sz="1500" b="1" dirty="0">
                <a:solidFill>
                  <a:srgbClr val="FFFFFF"/>
                </a:solidFill>
              </a:rPr>
              <a:t>SELL</a:t>
            </a:r>
            <a:endParaRPr lang="en-US" sz="1500" dirty="0"/>
          </a:p>
          <a:p>
            <a:pPr indent="0" marL="0">
              <a:buNone/>
            </a:pPr>
            <a:r>
              <a:rPr lang="en-US" sz="1050" dirty="0">
                <a:solidFill>
                  <a:srgbClr val="FFFFFF"/>
                </a:solidFill>
              </a:rPr>
              <a:t>Simplify and focus on the core</a:t>
            </a:r>
            <a:endParaRPr lang="en-US" sz="1500" dirty="0"/>
          </a:p>
        </p:txBody>
      </p:sp>
      <p:sp>
        <p:nvSpPr>
          <p:cNvPr id="21" name="yr20"/>
          <p:cNvSpPr/>
          <p:nvPr/>
        </p:nvSpPr>
        <p:spPr>
          <a:xfrm>
            <a:off x="6080760" y="2414016"/>
            <a:ext cx="475488" cy="475488"/>
          </a:xfrm>
          <a:prstGeom prst="ellipse">
            <a:avLst/>
          </a:prstGeom>
          <a:solidFill>
            <a:schemeClr val="accent2"/>
          </a:solidFill>
          <a:ln/>
        </p:spPr>
      </p:sp>
      <p:sp>
        <p:nvSpPr>
          <p:cNvPr id="22" name="Text 20"/>
          <p:cNvSpPr txBox="1"/>
          <p:nvPr/>
        </p:nvSpPr>
        <p:spPr>
          <a:xfrm>
            <a:off x="6080760" y="2414016"/>
            <a:ext cx="475488" cy="475488"/>
          </a:xfrm>
          <a:prstGeom prst="rect">
            <a:avLst/>
          </a:prstGeom>
          <a:noFill/>
          <a:ln/>
        </p:spPr>
        <p:txBody>
          <a:bodyPr wrap="square" lIns="0" tIns="0" rIns="0" bIns="0" rtlCol="0" anchor="ctr"/>
          <a:lstStyle/>
          <a:p>
            <a:pPr algn="ctr" indent="0" marL="0">
              <a:buNone/>
            </a:pPr>
            <a:r>
              <a:rPr lang="en-US" sz="1000" b="1" dirty="0">
                <a:solidFill>
                  <a:srgbClr val="FFFFFF"/>
                </a:solidFill>
              </a:rPr>
              <a:t>2023</a:t>
            </a:r>
            <a:endParaRPr lang="en-US" sz="1000" dirty="0"/>
          </a:p>
        </p:txBody>
      </p:sp>
      <p:sp>
        <p:nvSpPr>
          <p:cNvPr id="23" name="Text 21"/>
          <p:cNvSpPr txBox="1"/>
          <p:nvPr/>
        </p:nvSpPr>
        <p:spPr>
          <a:xfrm>
            <a:off x="6629400" y="2377440"/>
            <a:ext cx="2057400" cy="603504"/>
          </a:xfrm>
          <a:prstGeom prst="rect">
            <a:avLst/>
          </a:prstGeom>
          <a:noFill/>
          <a:ln/>
        </p:spPr>
        <p:txBody>
          <a:bodyPr wrap="square" lIns="0" tIns="0" rIns="0" bIns="0" rtlCol="0" anchor="t"/>
          <a:lstStyle/>
          <a:p>
            <a:pPr indent="0" marL="0">
              <a:buNone/>
            </a:pPr>
            <a:r>
              <a:rPr lang="en-US" sz="1250" b="1" dirty="0">
                <a:solidFill>
                  <a:schemeClr val="tx1"/>
                </a:solidFill>
              </a:rPr>
              <a:t>Dollar Shave Club</a:t>
            </a:r>
            <a:endParaRPr lang="en-US" sz="1250" dirty="0"/>
          </a:p>
          <a:p>
            <a:pPr indent="0" marL="0">
              <a:buNone/>
            </a:pPr>
            <a:r>
              <a:rPr lang="en-US" sz="1050" dirty="0">
                <a:solidFill>
                  <a:schemeClr val="accent4"/>
                </a:solidFill>
              </a:rPr>
              <a:t>majority stake sold</a:t>
            </a:r>
            <a:endParaRPr lang="en-US" sz="1250" dirty="0"/>
          </a:p>
        </p:txBody>
      </p:sp>
      <p:sp>
        <p:nvSpPr>
          <p:cNvPr id="24" name="yr21"/>
          <p:cNvSpPr/>
          <p:nvPr/>
        </p:nvSpPr>
        <p:spPr>
          <a:xfrm>
            <a:off x="6080760" y="3127248"/>
            <a:ext cx="475488" cy="475488"/>
          </a:xfrm>
          <a:prstGeom prst="ellipse">
            <a:avLst/>
          </a:prstGeom>
          <a:solidFill>
            <a:schemeClr val="accent2"/>
          </a:solidFill>
          <a:ln/>
        </p:spPr>
      </p:sp>
      <p:sp>
        <p:nvSpPr>
          <p:cNvPr id="25" name="Text 23"/>
          <p:cNvSpPr txBox="1"/>
          <p:nvPr/>
        </p:nvSpPr>
        <p:spPr>
          <a:xfrm>
            <a:off x="6080760" y="3127248"/>
            <a:ext cx="475488" cy="475488"/>
          </a:xfrm>
          <a:prstGeom prst="rect">
            <a:avLst/>
          </a:prstGeom>
          <a:noFill/>
          <a:ln/>
        </p:spPr>
        <p:txBody>
          <a:bodyPr wrap="square" lIns="0" tIns="0" rIns="0" bIns="0" rtlCol="0" anchor="ctr"/>
          <a:lstStyle/>
          <a:p>
            <a:pPr algn="ctr" indent="0" marL="0">
              <a:buNone/>
            </a:pPr>
            <a:r>
              <a:rPr lang="en-US" sz="1000" b="1" dirty="0">
                <a:solidFill>
                  <a:srgbClr val="FFFFFF"/>
                </a:solidFill>
              </a:rPr>
              <a:t>2025</a:t>
            </a:r>
            <a:endParaRPr lang="en-US" sz="1000" dirty="0"/>
          </a:p>
        </p:txBody>
      </p:sp>
      <p:sp>
        <p:nvSpPr>
          <p:cNvPr id="26" name="Text 24"/>
          <p:cNvSpPr txBox="1"/>
          <p:nvPr/>
        </p:nvSpPr>
        <p:spPr>
          <a:xfrm>
            <a:off x="6629400" y="3090672"/>
            <a:ext cx="2057400" cy="603504"/>
          </a:xfrm>
          <a:prstGeom prst="rect">
            <a:avLst/>
          </a:prstGeom>
          <a:noFill/>
          <a:ln/>
        </p:spPr>
        <p:txBody>
          <a:bodyPr wrap="square" lIns="0" tIns="0" rIns="0" bIns="0" rtlCol="0" anchor="t"/>
          <a:lstStyle/>
          <a:p>
            <a:pPr indent="0" marL="0">
              <a:buNone/>
            </a:pPr>
            <a:r>
              <a:rPr lang="en-US" sz="1250" b="1" dirty="0">
                <a:solidFill>
                  <a:schemeClr val="tx1"/>
                </a:solidFill>
              </a:rPr>
              <a:t>Ice cream → Magnum</a:t>
            </a:r>
            <a:endParaRPr lang="en-US" sz="1250" dirty="0"/>
          </a:p>
          <a:p>
            <a:pPr indent="0" marL="0">
              <a:buNone/>
            </a:pPr>
            <a:r>
              <a:rPr lang="en-US" sz="1050" dirty="0">
                <a:solidFill>
                  <a:schemeClr val="accent4"/>
                </a:solidFill>
              </a:rPr>
              <a:t>demerged and listed</a:t>
            </a:r>
            <a:endParaRPr lang="en-US" sz="1250" dirty="0"/>
          </a:p>
        </p:txBody>
      </p:sp>
      <p:sp>
        <p:nvSpPr>
          <p:cNvPr id="27" name="yr22"/>
          <p:cNvSpPr/>
          <p:nvPr/>
        </p:nvSpPr>
        <p:spPr>
          <a:xfrm>
            <a:off x="6080760" y="3840480"/>
            <a:ext cx="475488" cy="475488"/>
          </a:xfrm>
          <a:prstGeom prst="ellipse">
            <a:avLst/>
          </a:prstGeom>
          <a:solidFill>
            <a:schemeClr val="accent2"/>
          </a:solidFill>
          <a:ln/>
        </p:spPr>
      </p:sp>
      <p:sp>
        <p:nvSpPr>
          <p:cNvPr id="28" name="Text 26"/>
          <p:cNvSpPr txBox="1"/>
          <p:nvPr/>
        </p:nvSpPr>
        <p:spPr>
          <a:xfrm>
            <a:off x="6080760" y="3840480"/>
            <a:ext cx="475488" cy="475488"/>
          </a:xfrm>
          <a:prstGeom prst="rect">
            <a:avLst/>
          </a:prstGeom>
          <a:noFill/>
          <a:ln/>
        </p:spPr>
        <p:txBody>
          <a:bodyPr wrap="square" lIns="0" tIns="0" rIns="0" bIns="0" rtlCol="0" anchor="ctr"/>
          <a:lstStyle/>
          <a:p>
            <a:pPr algn="ctr" indent="0" marL="0">
              <a:buNone/>
            </a:pPr>
            <a:r>
              <a:rPr lang="en-US" sz="1000" b="1" dirty="0">
                <a:solidFill>
                  <a:srgbClr val="FFFFFF"/>
                </a:solidFill>
              </a:rPr>
              <a:t>2026</a:t>
            </a:r>
            <a:endParaRPr lang="en-US" sz="1000" dirty="0"/>
          </a:p>
        </p:txBody>
      </p:sp>
      <p:sp>
        <p:nvSpPr>
          <p:cNvPr id="29" name="Text 27"/>
          <p:cNvSpPr txBox="1"/>
          <p:nvPr/>
        </p:nvSpPr>
        <p:spPr>
          <a:xfrm>
            <a:off x="6629400" y="3803904"/>
            <a:ext cx="2057400" cy="603504"/>
          </a:xfrm>
          <a:prstGeom prst="rect">
            <a:avLst/>
          </a:prstGeom>
          <a:noFill/>
          <a:ln/>
        </p:spPr>
        <p:txBody>
          <a:bodyPr wrap="square" lIns="0" tIns="0" rIns="0" bIns="0" rtlCol="0" anchor="t"/>
          <a:lstStyle/>
          <a:p>
            <a:pPr indent="0" marL="0">
              <a:buNone/>
            </a:pPr>
            <a:r>
              <a:rPr lang="en-US" sz="1250" b="1" dirty="0">
                <a:solidFill>
                  <a:schemeClr val="tx1"/>
                </a:solidFill>
              </a:rPr>
              <a:t>Food → McCormick</a:t>
            </a:r>
            <a:endParaRPr lang="en-US" sz="1250" dirty="0"/>
          </a:p>
          <a:p>
            <a:pPr indent="0" marL="0">
              <a:buNone/>
            </a:pPr>
            <a:r>
              <a:rPr lang="en-US" sz="1050" dirty="0">
                <a:solidFill>
                  <a:schemeClr val="accent4"/>
                </a:solidFill>
              </a:rPr>
              <a:t>$44.8bn, announced; close expected 2027</a:t>
            </a:r>
            <a:endParaRPr lang="en-US" sz="1250" dirty="0"/>
          </a:p>
        </p:txBody>
      </p:sp>
      <p:sp>
        <p:nvSpPr>
          <p:cNvPr id="30" name="Text 28"/>
          <p:cNvSpPr txBox="1"/>
          <p:nvPr/>
        </p:nvSpPr>
        <p:spPr>
          <a:xfrm>
            <a:off x="457200" y="4663440"/>
            <a:ext cx="8229600" cy="320040"/>
          </a:xfrm>
          <a:prstGeom prst="rect">
            <a:avLst/>
          </a:prstGeom>
          <a:noFill/>
          <a:ln/>
        </p:spPr>
        <p:txBody>
          <a:bodyPr wrap="square" lIns="0" tIns="0" rIns="0" bIns="0" rtlCol="0" anchor="ctr"/>
          <a:lstStyle/>
          <a:p>
            <a:pPr indent="0" marL="0">
              <a:buNone/>
            </a:pPr>
            <a:r>
              <a:rPr lang="en-US" sz="800" dirty="0">
                <a:solidFill>
                  <a:schemeClr val="accent4"/>
                </a:solidFill>
              </a:rPr>
              <a:t>Sources: CNNfn (2000); UPI (2000); Primack (2016); Unilever PLC (2022); Williams (2022); James (2023); Jobe (2025); Reuters (2025); Redmond (2026).</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48640"/>
          </a:xfrm>
          <a:prstGeom prst="rect">
            <a:avLst/>
          </a:prstGeom>
          <a:noFill/>
          <a:ln/>
        </p:spPr>
        <p:txBody>
          <a:bodyPr wrap="square" lIns="0" tIns="0" rIns="0" bIns="0" rtlCol="0" anchor="t"/>
          <a:lstStyle/>
          <a:p>
            <a:pPr algn="l" indent="0" marL="0">
              <a:buNone/>
            </a:pPr>
            <a:r>
              <a:rPr lang="en-US" sz="2800" b="1" dirty="0">
                <a:solidFill>
                  <a:schemeClr val="tx2"/>
                </a:solidFill>
              </a:rPr>
              <a:t>McCormick deal: what M&amp;A theory says</a:t>
            </a:r>
            <a:endParaRPr lang="en-US" sz="2800" dirty="0"/>
          </a:p>
        </p:txBody>
      </p:sp>
      <p:sp>
        <p:nvSpPr>
          <p:cNvPr id="3" name="Text 1"/>
          <p:cNvSpPr txBox="1"/>
          <p:nvPr/>
        </p:nvSpPr>
        <p:spPr>
          <a:xfrm>
            <a:off x="457200" y="804672"/>
            <a:ext cx="8229600" cy="274320"/>
          </a:xfrm>
          <a:prstGeom prst="rect">
            <a:avLst/>
          </a:prstGeom>
          <a:noFill/>
          <a:ln/>
        </p:spPr>
        <p:txBody>
          <a:bodyPr wrap="square" lIns="0" tIns="0" rIns="0" bIns="0" rtlCol="0" anchor="ctr"/>
          <a:lstStyle/>
          <a:p>
            <a:pPr indent="0" marL="0">
              <a:buNone/>
            </a:pPr>
            <a:r>
              <a:rPr lang="en-US" sz="1300" i="1" dirty="0">
                <a:solidFill>
                  <a:schemeClr val="tx1"/>
                </a:solidFill>
              </a:rPr>
              <a:t>Unilever sells its food business to focus on beauty and personal care</a:t>
            </a:r>
            <a:endParaRPr lang="en-US" sz="1300" dirty="0"/>
          </a:p>
        </p:txBody>
      </p:sp>
      <p:sp>
        <p:nvSpPr>
          <p:cNvPr id="4" name="why"/>
          <p:cNvSpPr/>
          <p:nvPr/>
        </p:nvSpPr>
        <p:spPr>
          <a:xfrm>
            <a:off x="457200" y="1234440"/>
            <a:ext cx="3017520" cy="2697480"/>
          </a:xfrm>
          <a:prstGeom prst="roundRect">
            <a:avLst>
              <a:gd name="adj" fmla="val 3390"/>
            </a:avLst>
          </a:prstGeom>
          <a:solidFill>
            <a:schemeClr val="bg2"/>
          </a:solidFill>
          <a:ln/>
        </p:spPr>
      </p:sp>
      <p:sp>
        <p:nvSpPr>
          <p:cNvPr id="5" name="Text 3"/>
          <p:cNvSpPr txBox="1"/>
          <p:nvPr/>
        </p:nvSpPr>
        <p:spPr>
          <a:xfrm>
            <a:off x="640080" y="1371600"/>
            <a:ext cx="2651760" cy="320040"/>
          </a:xfrm>
          <a:prstGeom prst="rect">
            <a:avLst/>
          </a:prstGeom>
          <a:noFill/>
          <a:ln/>
        </p:spPr>
        <p:txBody>
          <a:bodyPr wrap="square" lIns="0" tIns="0" rIns="0" bIns="0" rtlCol="0" anchor="ctr"/>
          <a:lstStyle/>
          <a:p>
            <a:pPr indent="0" marL="0">
              <a:buNone/>
            </a:pPr>
            <a:r>
              <a:rPr lang="en-US" sz="1500" b="1" dirty="0">
                <a:solidFill>
                  <a:schemeClr val="tx2"/>
                </a:solidFill>
              </a:rPr>
              <a:t>Why Unilever sells</a:t>
            </a:r>
            <a:endParaRPr lang="en-US" sz="1500" dirty="0"/>
          </a:p>
        </p:txBody>
      </p:sp>
      <p:sp>
        <p:nvSpPr>
          <p:cNvPr id="6" name="Text 4"/>
          <p:cNvSpPr txBox="1"/>
          <p:nvPr/>
        </p:nvSpPr>
        <p:spPr>
          <a:xfrm>
            <a:off x="640080" y="1755648"/>
            <a:ext cx="2697480" cy="205740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chemeClr val="tx1"/>
                </a:solidFill>
              </a:rPr>
              <a:t>Food grew 2.5% in 2025 vs 4.3–4.7% in beauty and personal care</a:t>
            </a:r>
            <a:endParaRPr lang="en-US" sz="1200" dirty="0"/>
          </a:p>
          <a:p>
            <a:pPr marL="342900" indent="-342900">
              <a:spcAft>
                <a:spcPts val="800"/>
              </a:spcAft>
              <a:buSzPct val="100000"/>
              <a:buChar char="•"/>
            </a:pPr>
            <a:r>
              <a:rPr lang="en-US" sz="1200" dirty="0">
                <a:solidFill>
                  <a:schemeClr val="tx1"/>
                </a:solidFill>
              </a:rPr>
              <a:t>Spin-off releases value; avoids the conglomerate discount</a:t>
            </a:r>
            <a:endParaRPr lang="en-US" sz="1200" dirty="0"/>
          </a:p>
          <a:p>
            <a:pPr marL="342900" indent="-342900">
              <a:spcAft>
                <a:spcPts val="800"/>
              </a:spcAft>
              <a:buSzPct val="100000"/>
              <a:buChar char="•"/>
            </a:pPr>
            <a:r>
              <a:rPr lang="en-US" sz="1200" dirty="0">
                <a:solidFill>
                  <a:schemeClr val="tx1"/>
                </a:solidFill>
              </a:rPr>
              <a:t>$15.7bn cash to buy beauty and personal care brands</a:t>
            </a:r>
            <a:endParaRPr lang="en-US" sz="1200" dirty="0"/>
          </a:p>
        </p:txBody>
      </p:sp>
      <p:sp>
        <p:nvSpPr>
          <p:cNvPr id="7" name="card0"/>
          <p:cNvSpPr/>
          <p:nvPr/>
        </p:nvSpPr>
        <p:spPr>
          <a:xfrm>
            <a:off x="3703320" y="1234440"/>
            <a:ext cx="4983480" cy="804672"/>
          </a:xfrm>
          <a:prstGeom prst="roundRect">
            <a:avLst>
              <a:gd name="adj" fmla="val 11364"/>
            </a:avLst>
          </a:prstGeom>
          <a:solidFill>
            <a:srgbClr val="FFFFFF"/>
          </a:solidFill>
          <a:ln w="15875">
            <a:solidFill>
              <a:schemeClr val="accent1"/>
            </a:solidFill>
            <a:prstDash val="solid"/>
          </a:ln>
        </p:spPr>
      </p:sp>
      <p:sp>
        <p:nvSpPr>
          <p:cNvPr id="8" name="Text 6"/>
          <p:cNvSpPr txBox="1"/>
          <p:nvPr/>
        </p:nvSpPr>
        <p:spPr>
          <a:xfrm>
            <a:off x="3840480" y="1234440"/>
            <a:ext cx="914400" cy="804672"/>
          </a:xfrm>
          <a:prstGeom prst="rect">
            <a:avLst/>
          </a:prstGeom>
          <a:noFill/>
          <a:ln/>
        </p:spPr>
        <p:txBody>
          <a:bodyPr wrap="square" lIns="0" tIns="0" rIns="0" bIns="0" rtlCol="0" anchor="ctr"/>
          <a:lstStyle/>
          <a:p>
            <a:pPr indent="0" marL="0">
              <a:buNone/>
            </a:pPr>
            <a:r>
              <a:rPr lang="en-US" sz="1200" b="1" dirty="0">
                <a:solidFill>
                  <a:schemeClr val="accent4"/>
                </a:solidFill>
              </a:rPr>
              <a:t>Type</a:t>
            </a:r>
            <a:endParaRPr lang="en-US" sz="1200" dirty="0"/>
          </a:p>
        </p:txBody>
      </p:sp>
      <p:sp>
        <p:nvSpPr>
          <p:cNvPr id="9" name="Text 7"/>
          <p:cNvSpPr txBox="1"/>
          <p:nvPr/>
        </p:nvSpPr>
        <p:spPr>
          <a:xfrm>
            <a:off x="4709160" y="1234440"/>
            <a:ext cx="1600200" cy="804672"/>
          </a:xfrm>
          <a:prstGeom prst="rect">
            <a:avLst/>
          </a:prstGeom>
          <a:noFill/>
          <a:ln/>
        </p:spPr>
        <p:txBody>
          <a:bodyPr wrap="square" lIns="0" tIns="0" rIns="0" bIns="0" rtlCol="0" anchor="ctr"/>
          <a:lstStyle/>
          <a:p>
            <a:pPr indent="0" marL="0">
              <a:buNone/>
            </a:pPr>
            <a:r>
              <a:rPr lang="en-US" sz="1900" b="1" dirty="0">
                <a:solidFill>
                  <a:schemeClr val="accent1"/>
                </a:solidFill>
              </a:rPr>
              <a:t>Horizontal</a:t>
            </a:r>
            <a:endParaRPr lang="en-US" sz="1900" dirty="0"/>
          </a:p>
        </p:txBody>
      </p:sp>
      <p:sp>
        <p:nvSpPr>
          <p:cNvPr id="10" name="Text 8"/>
          <p:cNvSpPr txBox="1"/>
          <p:nvPr/>
        </p:nvSpPr>
        <p:spPr>
          <a:xfrm>
            <a:off x="6355080" y="1234440"/>
            <a:ext cx="2194560" cy="804672"/>
          </a:xfrm>
          <a:prstGeom prst="rect">
            <a:avLst/>
          </a:prstGeom>
          <a:noFill/>
          <a:ln/>
        </p:spPr>
        <p:txBody>
          <a:bodyPr wrap="square" lIns="0" tIns="0" rIns="0" bIns="0" rtlCol="0" anchor="ctr"/>
          <a:lstStyle/>
          <a:p>
            <a:pPr indent="0" marL="0">
              <a:buNone/>
            </a:pPr>
            <a:r>
              <a:rPr lang="en-US" sz="1100" dirty="0">
                <a:solidFill>
                  <a:schemeClr val="tx1"/>
                </a:solidFill>
              </a:rPr>
              <a:t>Both sell seasonings, sauces and condiments</a:t>
            </a:r>
            <a:endParaRPr lang="en-US" sz="1100" dirty="0"/>
          </a:p>
        </p:txBody>
      </p:sp>
      <p:sp>
        <p:nvSpPr>
          <p:cNvPr id="11" name="card1"/>
          <p:cNvSpPr/>
          <p:nvPr/>
        </p:nvSpPr>
        <p:spPr>
          <a:xfrm>
            <a:off x="3703320" y="2148840"/>
            <a:ext cx="4983480" cy="804672"/>
          </a:xfrm>
          <a:prstGeom prst="roundRect">
            <a:avLst>
              <a:gd name="adj" fmla="val 11364"/>
            </a:avLst>
          </a:prstGeom>
          <a:solidFill>
            <a:srgbClr val="FFFFFF"/>
          </a:solidFill>
          <a:ln w="15875">
            <a:solidFill>
              <a:schemeClr val="accent2"/>
            </a:solidFill>
            <a:prstDash val="solid"/>
          </a:ln>
        </p:spPr>
      </p:sp>
      <p:sp>
        <p:nvSpPr>
          <p:cNvPr id="12" name="Text 10"/>
          <p:cNvSpPr txBox="1"/>
          <p:nvPr/>
        </p:nvSpPr>
        <p:spPr>
          <a:xfrm>
            <a:off x="3840480" y="2148840"/>
            <a:ext cx="914400" cy="804672"/>
          </a:xfrm>
          <a:prstGeom prst="rect">
            <a:avLst/>
          </a:prstGeom>
          <a:noFill/>
          <a:ln/>
        </p:spPr>
        <p:txBody>
          <a:bodyPr wrap="square" lIns="0" tIns="0" rIns="0" bIns="0" rtlCol="0" anchor="ctr"/>
          <a:lstStyle/>
          <a:p>
            <a:pPr indent="0" marL="0">
              <a:buNone/>
            </a:pPr>
            <a:r>
              <a:rPr lang="en-US" sz="1200" b="1" dirty="0">
                <a:solidFill>
                  <a:schemeClr val="accent4"/>
                </a:solidFill>
              </a:rPr>
              <a:t>Synergy</a:t>
            </a:r>
            <a:endParaRPr lang="en-US" sz="1200" dirty="0"/>
          </a:p>
        </p:txBody>
      </p:sp>
      <p:sp>
        <p:nvSpPr>
          <p:cNvPr id="13" name="Text 11"/>
          <p:cNvSpPr txBox="1"/>
          <p:nvPr/>
        </p:nvSpPr>
        <p:spPr>
          <a:xfrm>
            <a:off x="4709160" y="2148840"/>
            <a:ext cx="1600200" cy="804672"/>
          </a:xfrm>
          <a:prstGeom prst="rect">
            <a:avLst/>
          </a:prstGeom>
          <a:noFill/>
          <a:ln/>
        </p:spPr>
        <p:txBody>
          <a:bodyPr wrap="square" lIns="0" tIns="0" rIns="0" bIns="0" rtlCol="0" anchor="ctr"/>
          <a:lstStyle/>
          <a:p>
            <a:pPr indent="0" marL="0">
              <a:buNone/>
            </a:pPr>
            <a:r>
              <a:rPr lang="en-US" sz="1900" b="1" dirty="0">
                <a:solidFill>
                  <a:schemeClr val="accent2"/>
                </a:solidFill>
              </a:rPr>
              <a:t>~$300m</a:t>
            </a:r>
            <a:endParaRPr lang="en-US" sz="1900" dirty="0"/>
          </a:p>
        </p:txBody>
      </p:sp>
      <p:sp>
        <p:nvSpPr>
          <p:cNvPr id="14" name="Text 12"/>
          <p:cNvSpPr txBox="1"/>
          <p:nvPr/>
        </p:nvSpPr>
        <p:spPr>
          <a:xfrm>
            <a:off x="6355080" y="2148840"/>
            <a:ext cx="2194560" cy="804672"/>
          </a:xfrm>
          <a:prstGeom prst="rect">
            <a:avLst/>
          </a:prstGeom>
          <a:noFill/>
          <a:ln/>
        </p:spPr>
        <p:txBody>
          <a:bodyPr wrap="square" lIns="0" tIns="0" rIns="0" bIns="0" rtlCol="0" anchor="ctr"/>
          <a:lstStyle/>
          <a:p>
            <a:pPr indent="0" marL="0">
              <a:buNone/>
            </a:pPr>
            <a:r>
              <a:rPr lang="en-US" sz="1100" dirty="0">
                <a:solidFill>
                  <a:schemeClr val="tx1"/>
                </a:solidFill>
              </a:rPr>
              <a:t>expected cost savings a year</a:t>
            </a:r>
            <a:endParaRPr lang="en-US" sz="1100" dirty="0"/>
          </a:p>
        </p:txBody>
      </p:sp>
      <p:sp>
        <p:nvSpPr>
          <p:cNvPr id="15" name="card2"/>
          <p:cNvSpPr/>
          <p:nvPr/>
        </p:nvSpPr>
        <p:spPr>
          <a:xfrm>
            <a:off x="3703320" y="3063240"/>
            <a:ext cx="4983480" cy="804672"/>
          </a:xfrm>
          <a:prstGeom prst="roundRect">
            <a:avLst>
              <a:gd name="adj" fmla="val 11364"/>
            </a:avLst>
          </a:prstGeom>
          <a:solidFill>
            <a:srgbClr val="FFFFFF"/>
          </a:solidFill>
          <a:ln w="15875">
            <a:solidFill>
              <a:schemeClr val="accent3"/>
            </a:solidFill>
            <a:prstDash val="solid"/>
          </a:ln>
        </p:spPr>
      </p:sp>
      <p:sp>
        <p:nvSpPr>
          <p:cNvPr id="16" name="Text 14"/>
          <p:cNvSpPr txBox="1"/>
          <p:nvPr/>
        </p:nvSpPr>
        <p:spPr>
          <a:xfrm>
            <a:off x="3840480" y="3063240"/>
            <a:ext cx="914400" cy="804672"/>
          </a:xfrm>
          <a:prstGeom prst="rect">
            <a:avLst/>
          </a:prstGeom>
          <a:noFill/>
          <a:ln/>
        </p:spPr>
        <p:txBody>
          <a:bodyPr wrap="square" lIns="0" tIns="0" rIns="0" bIns="0" rtlCol="0" anchor="ctr"/>
          <a:lstStyle/>
          <a:p>
            <a:pPr indent="0" marL="0">
              <a:buNone/>
            </a:pPr>
            <a:r>
              <a:rPr lang="en-US" sz="1200" b="1" dirty="0">
                <a:solidFill>
                  <a:schemeClr val="accent4"/>
                </a:solidFill>
              </a:rPr>
              <a:t>Risks</a:t>
            </a:r>
            <a:endParaRPr lang="en-US" sz="1200" dirty="0"/>
          </a:p>
        </p:txBody>
      </p:sp>
      <p:sp>
        <p:nvSpPr>
          <p:cNvPr id="17" name="Text 15"/>
          <p:cNvSpPr txBox="1"/>
          <p:nvPr/>
        </p:nvSpPr>
        <p:spPr>
          <a:xfrm>
            <a:off x="4709160" y="3063240"/>
            <a:ext cx="1600200" cy="804672"/>
          </a:xfrm>
          <a:prstGeom prst="rect">
            <a:avLst/>
          </a:prstGeom>
          <a:noFill/>
          <a:ln/>
        </p:spPr>
        <p:txBody>
          <a:bodyPr wrap="square" lIns="0" tIns="0" rIns="0" bIns="0" rtlCol="0" anchor="ctr"/>
          <a:lstStyle/>
          <a:p>
            <a:pPr indent="0" marL="0">
              <a:buNone/>
            </a:pPr>
            <a:r>
              <a:rPr lang="en-US" sz="1900" b="1" dirty="0">
                <a:solidFill>
                  <a:schemeClr val="accent3"/>
                </a:solidFill>
              </a:rPr>
              <a:t>3 to watch</a:t>
            </a:r>
            <a:endParaRPr lang="en-US" sz="1900" dirty="0"/>
          </a:p>
        </p:txBody>
      </p:sp>
      <p:sp>
        <p:nvSpPr>
          <p:cNvPr id="18" name="Text 16"/>
          <p:cNvSpPr txBox="1"/>
          <p:nvPr/>
        </p:nvSpPr>
        <p:spPr>
          <a:xfrm>
            <a:off x="6355080" y="3063240"/>
            <a:ext cx="2194560" cy="804672"/>
          </a:xfrm>
          <a:prstGeom prst="rect">
            <a:avLst/>
          </a:prstGeom>
          <a:noFill/>
          <a:ln/>
        </p:spPr>
        <p:txBody>
          <a:bodyPr wrap="square" lIns="0" tIns="0" rIns="0" bIns="0" rtlCol="0" anchor="ctr"/>
          <a:lstStyle/>
          <a:p>
            <a:pPr indent="0" marL="0">
              <a:buNone/>
            </a:pPr>
            <a:r>
              <a:rPr lang="en-US" sz="1100" dirty="0">
                <a:solidFill>
                  <a:schemeClr val="tx1"/>
                </a:solidFill>
              </a:rPr>
              <a:t>Integrating people · regulator approval · not closed until mid-2027</a:t>
            </a:r>
            <a:endParaRPr lang="en-US" sz="1100" dirty="0"/>
          </a:p>
        </p:txBody>
      </p:sp>
      <p:sp>
        <p:nvSpPr>
          <p:cNvPr id="19" name="concl"/>
          <p:cNvSpPr/>
          <p:nvPr/>
        </p:nvSpPr>
        <p:spPr>
          <a:xfrm>
            <a:off x="457200" y="4069080"/>
            <a:ext cx="8229600" cy="548640"/>
          </a:xfrm>
          <a:prstGeom prst="roundRect">
            <a:avLst>
              <a:gd name="adj" fmla="val 13333"/>
            </a:avLst>
          </a:prstGeom>
          <a:solidFill>
            <a:schemeClr val="accent1"/>
          </a:solidFill>
          <a:ln/>
        </p:spPr>
      </p:sp>
      <p:sp>
        <p:nvSpPr>
          <p:cNvPr id="20" name="Text 18"/>
          <p:cNvSpPr txBox="1"/>
          <p:nvPr/>
        </p:nvSpPr>
        <p:spPr>
          <a:xfrm>
            <a:off x="640080" y="4069080"/>
            <a:ext cx="7863840" cy="548640"/>
          </a:xfrm>
          <a:prstGeom prst="rect">
            <a:avLst/>
          </a:prstGeom>
          <a:noFill/>
          <a:ln/>
        </p:spPr>
        <p:txBody>
          <a:bodyPr wrap="square" lIns="0" tIns="0" rIns="0" bIns="0" rtlCol="0" anchor="ctr"/>
          <a:lstStyle/>
          <a:p>
            <a:pPr indent="0" marL="0">
              <a:buNone/>
            </a:pPr>
            <a:r>
              <a:rPr lang="en-US" sz="1300" b="1" dirty="0">
                <a:solidFill>
                  <a:srgbClr val="FFFFFF"/>
                </a:solidFill>
              </a:rPr>
              <a:t>Overall a success: M&amp;A helped Unilever grow and now helps it focus on beauty and personal care. But deals without synergy, like Dollar Shave Club, failed.</a:t>
            </a:r>
            <a:endParaRPr lang="en-US" sz="1300" dirty="0"/>
          </a:p>
        </p:txBody>
      </p:sp>
      <p:sp>
        <p:nvSpPr>
          <p:cNvPr id="21" name="Text 19"/>
          <p:cNvSpPr txBox="1"/>
          <p:nvPr/>
        </p:nvSpPr>
        <p:spPr>
          <a:xfrm>
            <a:off x="457200" y="4709160"/>
            <a:ext cx="8229600" cy="274320"/>
          </a:xfrm>
          <a:prstGeom prst="rect">
            <a:avLst/>
          </a:prstGeom>
          <a:noFill/>
          <a:ln/>
        </p:spPr>
        <p:txBody>
          <a:bodyPr wrap="square" lIns="0" tIns="0" rIns="0" bIns="0" rtlCol="0" anchor="ctr"/>
          <a:lstStyle/>
          <a:p>
            <a:pPr indent="0" marL="0">
              <a:buNone/>
            </a:pPr>
            <a:r>
              <a:rPr lang="en-US" sz="850" dirty="0">
                <a:solidFill>
                  <a:schemeClr val="accent4"/>
                </a:solidFill>
              </a:rPr>
              <a:t>Sources: Barber (2026); Valinsky (2026); Redmond (2026). Deal announced 31 March 2026, subject to regulatory approval.</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48640"/>
          </a:xfrm>
          <a:prstGeom prst="rect">
            <a:avLst/>
          </a:prstGeom>
          <a:noFill/>
          <a:ln/>
        </p:spPr>
        <p:txBody>
          <a:bodyPr wrap="square" lIns="0" tIns="0" rIns="0" bIns="0" rtlCol="0" anchor="t"/>
          <a:lstStyle/>
          <a:p>
            <a:pPr algn="l" indent="0" marL="0">
              <a:buNone/>
            </a:pPr>
            <a:r>
              <a:rPr lang="en-US" sz="2800" b="1" dirty="0">
                <a:solidFill>
                  <a:schemeClr val="tx2"/>
                </a:solidFill>
              </a:rPr>
              <a:t>References</a:t>
            </a:r>
            <a:endParaRPr lang="en-US" sz="2800" dirty="0"/>
          </a:p>
        </p:txBody>
      </p:sp>
      <p:sp>
        <p:nvSpPr>
          <p:cNvPr id="3" name="Text 1"/>
          <p:cNvSpPr txBox="1"/>
          <p:nvPr/>
        </p:nvSpPr>
        <p:spPr>
          <a:xfrm>
            <a:off x="457200" y="914400"/>
            <a:ext cx="4023360" cy="3977640"/>
          </a:xfrm>
          <a:prstGeom prst="rect">
            <a:avLst/>
          </a:prstGeom>
          <a:noFill/>
          <a:ln/>
        </p:spPr>
        <p:txBody>
          <a:bodyPr wrap="square" lIns="0" tIns="0" rIns="0" bIns="0" rtlCol="0" anchor="t"/>
          <a:lstStyle/>
          <a:p>
            <a:pPr indent="0" marL="0">
              <a:spcAft>
                <a:spcPts val="500"/>
              </a:spcAft>
              <a:buNone/>
            </a:pPr>
            <a:r>
              <a:rPr lang="en-US" sz="800" dirty="0">
                <a:solidFill>
                  <a:schemeClr val="tx1"/>
                </a:solidFill>
              </a:rPr>
              <a:t>Barber, L. (2026) 'Unilever confirms food spin-off sale talks as beauty portfolio takes centre stage', Cosmetics Business, 20 March. Available at: https://cosmeticsbusiness.com/unilever-confirms-food-sale-talks-beauty-focus (Accessed: 21 October 2026).</a:t>
            </a:r>
            <a:endParaRPr lang="en-US" sz="800" dirty="0"/>
          </a:p>
          <a:p>
            <a:pPr indent="0" marL="0">
              <a:spcAft>
                <a:spcPts val="500"/>
              </a:spcAft>
              <a:buNone/>
            </a:pPr>
            <a:r>
              <a:rPr lang="en-US" sz="800" dirty="0">
                <a:solidFill>
                  <a:schemeClr val="tx1"/>
                </a:solidFill>
              </a:rPr>
              <a:t>Christensen, C.M., Alton, R., Rising, C. and Waldeck, A. (2011) 'The new M&amp;A playbook', Harvard Business Review, 89(3), pp. 48–57.</a:t>
            </a:r>
            <a:endParaRPr lang="en-US" sz="800" dirty="0"/>
          </a:p>
          <a:p>
            <a:pPr indent="0" marL="0">
              <a:spcAft>
                <a:spcPts val="500"/>
              </a:spcAft>
              <a:buNone/>
            </a:pPr>
            <a:r>
              <a:rPr lang="en-US" sz="800" dirty="0">
                <a:solidFill>
                  <a:schemeClr val="tx1"/>
                </a:solidFill>
              </a:rPr>
              <a:t>CNNfn (2000) 'Unilever wins Bestfoods', CNNMoney, 6 June. Available at: https://money.cnn.com/2000/06/06/deals/bestfoods/ (Accessed: 21 October 2026).</a:t>
            </a:r>
            <a:endParaRPr lang="en-US" sz="800" dirty="0"/>
          </a:p>
          <a:p>
            <a:pPr indent="0" marL="0">
              <a:spcAft>
                <a:spcPts val="500"/>
              </a:spcAft>
              <a:buNone/>
            </a:pPr>
            <a:r>
              <a:rPr lang="en-US" sz="800" dirty="0">
                <a:solidFill>
                  <a:schemeClr val="tx1"/>
                </a:solidFill>
              </a:rPr>
              <a:t>James, D. (2023) 'Unilever to sell Dollar Shave Club', Retail Dive, 26 October. Available at: https://www.retaildive.com/news/unilever-sells-razor-subscription-brand-dollar-shave-club/697913 (Accessed: 21 October 2026).</a:t>
            </a:r>
            <a:endParaRPr lang="en-US" sz="800" dirty="0"/>
          </a:p>
          <a:p>
            <a:pPr indent="0" marL="0">
              <a:spcAft>
                <a:spcPts val="500"/>
              </a:spcAft>
              <a:buNone/>
            </a:pPr>
            <a:r>
              <a:rPr lang="en-US" sz="800" dirty="0">
                <a:solidFill>
                  <a:schemeClr val="tx1"/>
                </a:solidFill>
              </a:rPr>
              <a:t>Jobe, N. (2025) 'Unilever to pay $1.5 billion for men's grooming brand Dr. Squatch', Cosmetics Business, 1 July. Available at: https://cosmeticsbusiness.com/unilever-to-pay-1-5-billion-for-men-s-grooming (Accessed: 21 October 2026).</a:t>
            </a:r>
            <a:endParaRPr lang="en-US" sz="800" dirty="0"/>
          </a:p>
          <a:p>
            <a:pPr indent="0" marL="0">
              <a:spcAft>
                <a:spcPts val="500"/>
              </a:spcAft>
              <a:buNone/>
            </a:pPr>
            <a:r>
              <a:rPr lang="en-US" sz="800" dirty="0">
                <a:solidFill>
                  <a:schemeClr val="tx1"/>
                </a:solidFill>
              </a:rPr>
              <a:t>Primack, D. (2016) 'Unilever buys Dollar Shave Club for $1 billion', Fortune, 19 July. Available at: https://fortune.com/2016/07/19/unilever-buys-dollar-shave-club-for-1-billion (Accessed: 21 October 2026).</a:t>
            </a:r>
            <a:endParaRPr lang="en-US" sz="800" dirty="0"/>
          </a:p>
          <a:p>
            <a:pPr indent="0" marL="0">
              <a:spcAft>
                <a:spcPts val="500"/>
              </a:spcAft>
              <a:buNone/>
            </a:pPr>
            <a:r>
              <a:rPr lang="en-US" sz="800" dirty="0">
                <a:solidFill>
                  <a:schemeClr val="tx1"/>
                </a:solidFill>
              </a:rPr>
              <a:t>Redmond, K. (2026) 'McCormick to acquire Unilever's food business in $44.8B deal', NJBIZ, 1 April. Available at: https://njbiz.com/mccormick-unilever-food-business-44-8b-deal/ (Accessed: 21 October 2026).</a:t>
            </a:r>
            <a:endParaRPr lang="en-US" sz="800" dirty="0"/>
          </a:p>
        </p:txBody>
      </p:sp>
      <p:sp>
        <p:nvSpPr>
          <p:cNvPr id="4" name="Text 2"/>
          <p:cNvSpPr txBox="1"/>
          <p:nvPr/>
        </p:nvSpPr>
        <p:spPr>
          <a:xfrm>
            <a:off x="4663440" y="914400"/>
            <a:ext cx="4023360" cy="3977640"/>
          </a:xfrm>
          <a:prstGeom prst="rect">
            <a:avLst/>
          </a:prstGeom>
          <a:noFill/>
          <a:ln/>
        </p:spPr>
        <p:txBody>
          <a:bodyPr wrap="square" lIns="0" tIns="0" rIns="0" bIns="0" rtlCol="0" anchor="t"/>
          <a:lstStyle/>
          <a:p>
            <a:pPr indent="0" marL="0">
              <a:spcAft>
                <a:spcPts val="500"/>
              </a:spcAft>
              <a:buNone/>
            </a:pPr>
            <a:r>
              <a:rPr lang="en-US" sz="800" dirty="0">
                <a:solidFill>
                  <a:schemeClr val="tx1"/>
                </a:solidFill>
              </a:rPr>
              <a:t>Reuters (2025) 'Magnum Ice Cream valued at $9.1 billion in Amsterdam listing', MarketScreener, 8 December. Available at: https://www.marketscreener.com/news/unilever-completes-ice-cream-demerger-with-magnum-set-to-list-ce7d51dddc8df620 (Accessed: 21 October 2026).</a:t>
            </a:r>
            <a:endParaRPr lang="en-US" sz="800" dirty="0"/>
          </a:p>
          <a:p>
            <a:pPr indent="0" marL="0">
              <a:spcAft>
                <a:spcPts val="500"/>
              </a:spcAft>
              <a:buNone/>
            </a:pPr>
            <a:r>
              <a:rPr lang="en-US" sz="800" dirty="0">
                <a:solidFill>
                  <a:schemeClr val="tx1"/>
                </a:solidFill>
              </a:rPr>
              <a:t>Unilever PLC (2022) Annual Report on Form 20-F 2021. Available at: https://www.sec.gov/Archives/edgar/data/217410/000021741022000009/ul-20211231.htm (Accessed: 21 October 2026).</a:t>
            </a:r>
            <a:endParaRPr lang="en-US" sz="800" dirty="0"/>
          </a:p>
          <a:p>
            <a:pPr indent="0" marL="0">
              <a:spcAft>
                <a:spcPts val="500"/>
              </a:spcAft>
              <a:buNone/>
            </a:pPr>
            <a:r>
              <a:rPr lang="en-US" sz="800" dirty="0">
                <a:solidFill>
                  <a:schemeClr val="tx1"/>
                </a:solidFill>
              </a:rPr>
              <a:t>University of Greenwich (2026) 'Lecture 3: Diversification – M&amp;A and/or FDI?' [Lecture slides]. BUSI 1763 Dynamics of Global Business. Available at: Moodle (Accessed: 21 October 2026).</a:t>
            </a:r>
            <a:endParaRPr lang="en-US" sz="800" dirty="0"/>
          </a:p>
          <a:p>
            <a:pPr indent="0" marL="0">
              <a:spcAft>
                <a:spcPts val="500"/>
              </a:spcAft>
              <a:buNone/>
            </a:pPr>
            <a:r>
              <a:rPr lang="en-US" sz="800" dirty="0">
                <a:solidFill>
                  <a:schemeClr val="tx1"/>
                </a:solidFill>
              </a:rPr>
              <a:t>UPI (2000) 'Unilever buys Ben &amp; Jerry's', United Press International, 12 April. Available at: https://www.upi.com/Archives/2000/04/12/Unilever-buys-Ben-Jerrys/2054955512000/ (Accessed: 21 October 2026).</a:t>
            </a:r>
            <a:endParaRPr lang="en-US" sz="800" dirty="0"/>
          </a:p>
          <a:p>
            <a:pPr indent="0" marL="0">
              <a:spcAft>
                <a:spcPts val="500"/>
              </a:spcAft>
              <a:buNone/>
            </a:pPr>
            <a:r>
              <a:rPr lang="en-US" sz="800" dirty="0">
                <a:solidFill>
                  <a:schemeClr val="tx1"/>
                </a:solidFill>
              </a:rPr>
              <a:t>Valinsky, J. (2026) 'McCormick is merging with Unilever's food business', CNN, 31 March. Available at: https://kvia.com/news/business-technology/cnn-business-consumer/2026/03/31/mccormick-is-merging-with-unilevers-food-business/ (Accessed: 21 October 2026).</a:t>
            </a:r>
            <a:endParaRPr lang="en-US" sz="800" dirty="0"/>
          </a:p>
          <a:p>
            <a:pPr indent="0" marL="0">
              <a:spcAft>
                <a:spcPts val="500"/>
              </a:spcAft>
              <a:buNone/>
            </a:pPr>
            <a:r>
              <a:rPr lang="en-US" sz="800" dirty="0">
                <a:solidFill>
                  <a:schemeClr val="tx1"/>
                </a:solidFill>
              </a:rPr>
              <a:t>Williams, D. (2022) 'Unilever under pressure after GSK consumer bid flop', CHEManager, 25 January. Available at: https://www.chemanager-online.com/en/news/unilever-under-pressure-after-gsk-consumer-bid-flop (Accessed: 21 October 2026).</a:t>
            </a:r>
            <a:endParaRPr lang="en-US" sz="800" dirty="0"/>
          </a:p>
        </p:txBody>
      </p:sp>
    </p:spTree>
  </p:cSld>
  <p:clrMapOvr>
    <a:masterClrMapping/>
  </p:clrMapOvr>
</p:sld>
</file>

<file path=ppt/theme/theme1.xml><?xml version="1.0" encoding="utf-8"?>
<a:theme xmlns:a="http://schemas.openxmlformats.org/drawingml/2006/main" name="Unilever MA">
  <a:themeElements>
    <a:clrScheme name="Unilever MA">
      <a:dk1>
        <a:srgbClr val="1A1F36"/>
      </a:dk1>
      <a:lt1>
        <a:srgbClr val="FFFFFF"/>
      </a:lt1>
      <a:dk2>
        <a:srgbClr val="1F36C7"/>
      </a:dk2>
      <a:lt2>
        <a:srgbClr val="EEF1FB"/>
      </a:lt2>
      <a:accent1>
        <a:srgbClr val="1F36C7"/>
      </a:accent1>
      <a:accent2>
        <a:srgbClr val="0F8A6B"/>
      </a:accent2>
      <a:accent3>
        <a:srgbClr val="D9822B"/>
      </a:accent3>
      <a:accent4>
        <a:srgbClr val="6B7280"/>
      </a:accent4>
      <a:accent5>
        <a:srgbClr val="A5B4FC"/>
      </a:accent5>
      <a:accent6>
        <a:srgbClr val="F59E0B"/>
      </a:accent6>
      <a:hlink>
        <a:srgbClr val="1F36C7"/>
      </a:hlink>
      <a:folHlink>
        <a:srgbClr val="6B7280"/>
      </a:folHlink>
    </a:clrScheme>
    <a:fontScheme name="Unilever MA">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2026-10-24T04:35:49Z</dcterms:created>
  <dcterms:modified xsi:type="dcterms:W3CDTF">2026-10-24T04:35:49Z</dcterms:modified>
</cp:coreProperties>
</file>