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&amp;A" id="{633e3764-271a-32b0-f2c9-35a906aa02f5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M&amp;A means acquisition or merger. Unilever itself was born from a merger in 1929. First it grew by buying: Bestfoods for more power with supermarkets, Ben &amp; Jerry's kept standalone, Dollar Shave Club to learn online selling, but with no real synergy. Then the turning point: Kraft Heinz tried to buy Unilever in 2017, and shareholders blocked the GSK deal in 2022. Since 2023 Unilever has been selling: Dollar Shave Club, ice cream, and now food.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sell food? It grows slowly, a spin-off releases value and avoids the conglomerate discount, and the cash can buy beauty brands. Through M&amp;A theory: the deal is horizontal, the synergy is about 300 million dollars a year, and the risks are people integration, regulators, and a long timeline to 2027. My conclusion: overall a success, but deals without synergy failed. Cross-border M&amp;A is also one form of FDI.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Unilever M&amp;A: from buying to selling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Twenty years of growth by acquisition, then a turn to focus</a:t>
            </a:r>
            <a:endParaRPr lang="en-US" sz="1300" dirty="0"/>
          </a:p>
        </p:txBody>
      </p:sp>
      <p:sp>
        <p:nvSpPr>
          <p:cNvPr id="4" name="born"/>
          <p:cNvSpPr/>
          <p:nvPr/>
        </p:nvSpPr>
        <p:spPr>
          <a:xfrm>
            <a:off x="457200" y="1188720"/>
            <a:ext cx="822960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1929 · Born from a merger: Lever Brothers (UK) + Margarine Unie (NL)</a:t>
            </a:r>
            <a:endParaRPr lang="en-US" sz="1200" dirty="0"/>
          </a:p>
        </p:txBody>
      </p:sp>
      <p:sp>
        <p:nvSpPr>
          <p:cNvPr id="6" name="phase0"/>
          <p:cNvSpPr/>
          <p:nvPr/>
        </p:nvSpPr>
        <p:spPr>
          <a:xfrm>
            <a:off x="457200" y="1691640"/>
            <a:ext cx="260604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691640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BUY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Grow and enter new markets</a:t>
            </a:r>
            <a:endParaRPr lang="en-US" sz="1500" dirty="0"/>
          </a:p>
        </p:txBody>
      </p:sp>
      <p:sp>
        <p:nvSpPr>
          <p:cNvPr id="8" name="yr00"/>
          <p:cNvSpPr/>
          <p:nvPr/>
        </p:nvSpPr>
        <p:spPr>
          <a:xfrm>
            <a:off x="457200" y="241401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2000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37744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Bestfoods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$24.3bn · Knorr, Hellmann's</a:t>
            </a:r>
            <a:endParaRPr lang="en-US" sz="1250" dirty="0"/>
          </a:p>
        </p:txBody>
      </p:sp>
      <p:sp>
        <p:nvSpPr>
          <p:cNvPr id="11" name="yr01"/>
          <p:cNvSpPr/>
          <p:nvPr/>
        </p:nvSpPr>
        <p:spPr>
          <a:xfrm>
            <a:off x="457200" y="312724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2000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09067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Ben &amp; Jerry's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$326m · standalone, own board</a:t>
            </a:r>
            <a:endParaRPr lang="en-US" sz="1250" dirty="0"/>
          </a:p>
        </p:txBody>
      </p:sp>
      <p:sp>
        <p:nvSpPr>
          <p:cNvPr id="14" name="yr02"/>
          <p:cNvSpPr/>
          <p:nvPr/>
        </p:nvSpPr>
        <p:spPr>
          <a:xfrm>
            <a:off x="457200" y="38404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2016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803904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Dollar Shave Club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~$1bn · online direct-to-consumer</a:t>
            </a:r>
            <a:endParaRPr lang="en-US" sz="1250" dirty="0"/>
          </a:p>
        </p:txBody>
      </p:sp>
      <p:sp>
        <p:nvSpPr>
          <p:cNvPr id="17" name="phase1"/>
          <p:cNvSpPr/>
          <p:nvPr/>
        </p:nvSpPr>
        <p:spPr>
          <a:xfrm>
            <a:off x="3268980" y="1691640"/>
            <a:ext cx="260604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78708" y="1691640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TURNING POINT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Pressure from bidders, investors</a:t>
            </a:r>
            <a:endParaRPr lang="en-US" sz="1500" dirty="0"/>
          </a:p>
        </p:txBody>
      </p:sp>
      <p:sp>
        <p:nvSpPr>
          <p:cNvPr id="19" name="yr10"/>
          <p:cNvSpPr/>
          <p:nvPr/>
        </p:nvSpPr>
        <p:spPr>
          <a:xfrm>
            <a:off x="3268980" y="2414016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68980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2017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817620" y="237744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Kraft Heinz bid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$143bn offer rejected, then withdrawn</a:t>
            </a:r>
            <a:endParaRPr lang="en-US" sz="1250" dirty="0"/>
          </a:p>
        </p:txBody>
      </p:sp>
      <p:sp>
        <p:nvSpPr>
          <p:cNvPr id="22" name="yr11"/>
          <p:cNvSpPr/>
          <p:nvPr/>
        </p:nvSpPr>
        <p:spPr>
          <a:xfrm>
            <a:off x="3268980" y="3127248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6898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817620" y="309067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GSK Consumer Health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£50bn bid dropped after investors objected</a:t>
            </a:r>
            <a:endParaRPr lang="en-US" sz="1250" dirty="0"/>
          </a:p>
        </p:txBody>
      </p:sp>
      <p:sp>
        <p:nvSpPr>
          <p:cNvPr id="25" name="phase2"/>
          <p:cNvSpPr/>
          <p:nvPr/>
        </p:nvSpPr>
        <p:spPr>
          <a:xfrm>
            <a:off x="6080760" y="1691640"/>
            <a:ext cx="260604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90488" y="1691640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SELL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Simplify and focus on the core</a:t>
            </a:r>
            <a:endParaRPr lang="en-US" sz="1500" dirty="0"/>
          </a:p>
        </p:txBody>
      </p:sp>
      <p:sp>
        <p:nvSpPr>
          <p:cNvPr id="27" name="yr20"/>
          <p:cNvSpPr/>
          <p:nvPr/>
        </p:nvSpPr>
        <p:spPr>
          <a:xfrm>
            <a:off x="6080760" y="2414016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080760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237744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Dollar Shave Club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majority stake sold</a:t>
            </a:r>
            <a:endParaRPr lang="en-US" sz="1250" dirty="0"/>
          </a:p>
        </p:txBody>
      </p:sp>
      <p:sp>
        <p:nvSpPr>
          <p:cNvPr id="30" name="yr21"/>
          <p:cNvSpPr/>
          <p:nvPr/>
        </p:nvSpPr>
        <p:spPr>
          <a:xfrm>
            <a:off x="6080760" y="3127248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08076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2025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309067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Ice cream → Magnum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demerged and listed</a:t>
            </a:r>
            <a:endParaRPr lang="en-US" sz="1250" dirty="0"/>
          </a:p>
        </p:txBody>
      </p:sp>
      <p:sp>
        <p:nvSpPr>
          <p:cNvPr id="33" name="yr22"/>
          <p:cNvSpPr/>
          <p:nvPr/>
        </p:nvSpPr>
        <p:spPr>
          <a:xfrm>
            <a:off x="6080760" y="384048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80760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2026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629400" y="3803904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Food → McCormick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$44.8bn, announced; close expected 2027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4"/>
                </a:solidFill>
              </a:rPr>
              <a:t>Sources: CNN (2000); UPI (2000); Fortune (2016); NBC News (2017); CHEManager (2022); Retail Dive (2023); MarketScreener (2025); NJBIZ (2026).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McCormick deal: what M&amp;A theory says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Unilever sells its food business to focus on beauty and personal care</a:t>
            </a:r>
            <a:endParaRPr lang="en-US" sz="1300" dirty="0"/>
          </a:p>
        </p:txBody>
      </p:sp>
      <p:sp>
        <p:nvSpPr>
          <p:cNvPr id="4" name="why"/>
          <p:cNvSpPr/>
          <p:nvPr/>
        </p:nvSpPr>
        <p:spPr>
          <a:xfrm>
            <a:off x="457200" y="1234440"/>
            <a:ext cx="301752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Why Unilever sells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55648"/>
            <a:ext cx="2697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Food grew 2.5% in 2025 vs 4.3–4.7% in beauty and personal care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Spin-off releases value; avoids the conglomerate discount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$15.7bn cash to buy beauty and personal care brands</a:t>
            </a:r>
            <a:endParaRPr lang="en-US" sz="1200" dirty="0"/>
          </a:p>
        </p:txBody>
      </p:sp>
      <p:sp>
        <p:nvSpPr>
          <p:cNvPr id="7" name="card0"/>
          <p:cNvSpPr/>
          <p:nvPr/>
        </p:nvSpPr>
        <p:spPr>
          <a:xfrm>
            <a:off x="3703320" y="1234440"/>
            <a:ext cx="4983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0" y="123444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Type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23444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Horizontal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23444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Both sell seasonings, sauces and condiments</a:t>
            </a:r>
            <a:endParaRPr lang="en-US" sz="1100" dirty="0"/>
          </a:p>
        </p:txBody>
      </p:sp>
      <p:sp>
        <p:nvSpPr>
          <p:cNvPr id="11" name="card1"/>
          <p:cNvSpPr/>
          <p:nvPr/>
        </p:nvSpPr>
        <p:spPr>
          <a:xfrm>
            <a:off x="3703320" y="2148840"/>
            <a:ext cx="4983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214884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Synergy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14884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~$300m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14884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expected cost savings a year</a:t>
            </a:r>
            <a:endParaRPr lang="en-US" sz="1100" dirty="0"/>
          </a:p>
        </p:txBody>
      </p:sp>
      <p:sp>
        <p:nvSpPr>
          <p:cNvPr id="15" name="card2"/>
          <p:cNvSpPr/>
          <p:nvPr/>
        </p:nvSpPr>
        <p:spPr>
          <a:xfrm>
            <a:off x="3703320" y="3063240"/>
            <a:ext cx="4983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0" y="306324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Risks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06324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3 to watch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06324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Integrating people · regulator approval · not closed until mid-2027</a:t>
            </a:r>
            <a:endParaRPr lang="en-US" sz="1100" dirty="0"/>
          </a:p>
        </p:txBody>
      </p:sp>
      <p:sp>
        <p:nvSpPr>
          <p:cNvPr id="19" name="concl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Overall a success: M&amp;A built Unilever into a global giant. But deals without synergy, like Dollar Shave Club, failed.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Sources: Advisor Perspectives (2026); NJBIZ (2026); CNN (2026). Deal announced 31 March 2026, subject to regulatory approval.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lever MA">
  <a:themeElements>
    <a:clrScheme name="Unilever MA">
      <a:dk1>
        <a:srgbClr val="1A1F36"/>
      </a:dk1>
      <a:lt1>
        <a:srgbClr val="FFFFFF"/>
      </a:lt1>
      <a:dk2>
        <a:srgbClr val="1F36C7"/>
      </a:dk2>
      <a:lt2>
        <a:srgbClr val="EEF1FB"/>
      </a:lt2>
      <a:accent1>
        <a:srgbClr val="1F36C7"/>
      </a:accent1>
      <a:accent2>
        <a:srgbClr val="0F8A6B"/>
      </a:accent2>
      <a:accent3>
        <a:srgbClr val="D9822B"/>
      </a:accent3>
      <a:accent4>
        <a:srgbClr val="6B7280"/>
      </a:accent4>
      <a:accent5>
        <a:srgbClr val="A5B4FC"/>
      </a:accent5>
      <a:accent6>
        <a:srgbClr val="F59E0B"/>
      </a:accent6>
      <a:hlink>
        <a:srgbClr val="1F36C7"/>
      </a:hlink>
      <a:folHlink>
        <a:srgbClr val="6B7280"/>
      </a:folHlink>
    </a:clrScheme>
    <a:fontScheme name="Unilever M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2026-10-21T09:21:19Z</dcterms:created>
  <dcterms:modified xsi:type="dcterms:W3CDTF">2026-10-21T09:21:19Z</dcterms:modified>
</cp:coreProperties>
</file>